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PRINCIPLES OF MANAGEMENT — PART III</a:t>
            </a:r>
            <a:endParaRPr lang="en-US" sz="1500" dirty="0"/>
          </a:p>
        </p:txBody>
      </p:sp>
      <p:sp>
        <p:nvSpPr>
          <p:cNvPr id="5" name="Text 3"/>
          <p:cNvSpPr/>
          <p:nvPr/>
        </p:nvSpPr>
        <p:spPr>
          <a:xfrm>
            <a:off x="822960" y="1737360"/>
            <a:ext cx="9875520" cy="155448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Indian Ethos, Administration vs. Management</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&amp; 21st Century Challenges</a:t>
            </a:r>
            <a:endParaRPr lang="en-US" sz="3400" dirty="0"/>
          </a:p>
        </p:txBody>
      </p:sp>
      <p:sp>
        <p:nvSpPr>
          <p:cNvPr id="6" name="Text 4"/>
          <p:cNvSpPr/>
          <p:nvPr/>
        </p:nvSpPr>
        <p:spPr>
          <a:xfrm>
            <a:off x="822960" y="3246120"/>
            <a:ext cx="9784080" cy="640080"/>
          </a:xfrm>
          <a:prstGeom prst="rect">
            <a:avLst/>
          </a:prstGeom>
          <a:noFill/>
          <a:ln/>
        </p:spPr>
        <p:txBody>
          <a:bodyPr wrap="square" rtlCol="0" anchor="ctr"/>
          <a:lstStyle/>
          <a:p>
            <a:pPr indent="0" marL="0">
              <a:buNone/>
            </a:pPr>
            <a:r>
              <a:rPr lang="en-US" sz="1550" dirty="0">
                <a:solidFill>
                  <a:srgbClr val="CADCFC"/>
                </a:solidFill>
                <a:latin typeface="Calibri" pitchFamily="34" charset="0"/>
                <a:ea typeface="Calibri" pitchFamily="34" charset="-122"/>
                <a:cs typeface="Calibri" pitchFamily="34" charset="-120"/>
              </a:rPr>
              <a:t>Bhagavad Gita's Wisdom for Managers • Two Views on Administration &amp; Management • Leading in a VUCA World</a:t>
            </a:r>
            <a:endParaRPr lang="en-US" sz="1550" dirty="0"/>
          </a:p>
        </p:txBody>
      </p:sp>
      <p:sp>
        <p:nvSpPr>
          <p:cNvPr id="7" name="Shape 5"/>
          <p:cNvSpPr/>
          <p:nvPr/>
        </p:nvSpPr>
        <p:spPr>
          <a:xfrm>
            <a:off x="868680" y="3977640"/>
            <a:ext cx="2011680" cy="0"/>
          </a:xfrm>
          <a:prstGeom prst="line">
            <a:avLst/>
          </a:prstGeom>
          <a:noFill/>
          <a:ln w="25400">
            <a:solidFill>
              <a:srgbClr val="C9A24B"/>
            </a:solidFill>
            <a:prstDash val="solid"/>
          </a:ln>
        </p:spPr>
      </p:sp>
      <p:sp>
        <p:nvSpPr>
          <p:cNvPr id="8" name="Text 6"/>
          <p:cNvSpPr/>
          <p:nvPr/>
        </p:nvSpPr>
        <p:spPr>
          <a:xfrm>
            <a:off x="822960" y="576072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LECTURE ROADMAP</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What We Will Cover Today</a:t>
            </a:r>
            <a:endParaRPr lang="en-US" sz="2900" dirty="0"/>
          </a:p>
        </p:txBody>
      </p:sp>
      <p:sp>
        <p:nvSpPr>
          <p:cNvPr id="4" name="Shape 2"/>
          <p:cNvSpPr/>
          <p:nvPr/>
        </p:nvSpPr>
        <p:spPr>
          <a:xfrm>
            <a:off x="548640" y="1737360"/>
            <a:ext cx="11064240" cy="1188720"/>
          </a:xfrm>
          <a:prstGeom prst="roundRect">
            <a:avLst>
              <a:gd name="adj" fmla="val 6154"/>
            </a:avLst>
          </a:prstGeom>
          <a:solidFill>
            <a:srgbClr val="EEF3FC"/>
          </a:solidFill>
          <a:ln/>
        </p:spPr>
      </p:sp>
      <p:sp>
        <p:nvSpPr>
          <p:cNvPr id="5" name="Shape 3"/>
          <p:cNvSpPr/>
          <p:nvPr/>
        </p:nvSpPr>
        <p:spPr>
          <a:xfrm>
            <a:off x="822960" y="2011680"/>
            <a:ext cx="640080" cy="64008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89381" y="2178101"/>
            <a:ext cx="307238" cy="307238"/>
          </a:xfrm>
          <a:prstGeom prst="rect">
            <a:avLst/>
          </a:prstGeom>
        </p:spPr>
      </p:pic>
      <p:sp>
        <p:nvSpPr>
          <p:cNvPr id="7" name="Text 4"/>
          <p:cNvSpPr/>
          <p:nvPr/>
        </p:nvSpPr>
        <p:spPr>
          <a:xfrm>
            <a:off x="1691640" y="1883664"/>
            <a:ext cx="548640" cy="411480"/>
          </a:xfrm>
          <a:prstGeom prst="rect">
            <a:avLst/>
          </a:prstGeom>
          <a:noFill/>
          <a:ln/>
        </p:spPr>
        <p:txBody>
          <a:bodyPr wrap="square" lIns="0" tIns="0" rIns="0" bIns="0" rtlCol="0" anchor="ctr"/>
          <a:lstStyle/>
          <a:p>
            <a:pPr indent="0" marL="0">
              <a:buNone/>
            </a:pPr>
            <a:r>
              <a:rPr lang="en-US" sz="2000" b="1" dirty="0">
                <a:solidFill>
                  <a:srgbClr val="C9A24B"/>
                </a:solidFill>
                <a:latin typeface="Cambria" pitchFamily="34" charset="0"/>
                <a:ea typeface="Cambria" pitchFamily="34" charset="-122"/>
                <a:cs typeface="Cambria" pitchFamily="34" charset="-120"/>
              </a:rPr>
              <a:t>A</a:t>
            </a:r>
            <a:endParaRPr lang="en-US" sz="2000" dirty="0"/>
          </a:p>
        </p:txBody>
      </p:sp>
      <p:sp>
        <p:nvSpPr>
          <p:cNvPr id="8" name="Text 5"/>
          <p:cNvSpPr/>
          <p:nvPr/>
        </p:nvSpPr>
        <p:spPr>
          <a:xfrm>
            <a:off x="2331720" y="1847088"/>
            <a:ext cx="90525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Indian Ethos for Management — Lessons from the Bhagavad Gita</a:t>
            </a:r>
            <a:endParaRPr lang="en-US" sz="1700" dirty="0"/>
          </a:p>
        </p:txBody>
      </p:sp>
      <p:sp>
        <p:nvSpPr>
          <p:cNvPr id="9" name="Text 6"/>
          <p:cNvSpPr/>
          <p:nvPr/>
        </p:nvSpPr>
        <p:spPr>
          <a:xfrm>
            <a:off x="2331720" y="2331720"/>
            <a:ext cx="90525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Karma Yoga, Swadharma, the Gunas &amp; a coaching case-study 5,000 years old</a:t>
            </a:r>
            <a:endParaRPr lang="en-US" sz="1300" dirty="0"/>
          </a:p>
        </p:txBody>
      </p:sp>
      <p:sp>
        <p:nvSpPr>
          <p:cNvPr id="10" name="Shape 7"/>
          <p:cNvSpPr/>
          <p:nvPr/>
        </p:nvSpPr>
        <p:spPr>
          <a:xfrm>
            <a:off x="548640" y="3108960"/>
            <a:ext cx="11064240" cy="1188720"/>
          </a:xfrm>
          <a:prstGeom prst="roundRect">
            <a:avLst>
              <a:gd name="adj" fmla="val 6154"/>
            </a:avLst>
          </a:prstGeom>
          <a:solidFill>
            <a:srgbClr val="EEF3FC"/>
          </a:solidFill>
          <a:ln/>
        </p:spPr>
      </p:sp>
      <p:sp>
        <p:nvSpPr>
          <p:cNvPr id="11" name="Shape 8"/>
          <p:cNvSpPr/>
          <p:nvPr/>
        </p:nvSpPr>
        <p:spPr>
          <a:xfrm>
            <a:off x="822960" y="3383280"/>
            <a:ext cx="640080" cy="64008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989381" y="3549701"/>
            <a:ext cx="307238" cy="307238"/>
          </a:xfrm>
          <a:prstGeom prst="rect">
            <a:avLst/>
          </a:prstGeom>
        </p:spPr>
      </p:pic>
      <p:sp>
        <p:nvSpPr>
          <p:cNvPr id="13" name="Text 9"/>
          <p:cNvSpPr/>
          <p:nvPr/>
        </p:nvSpPr>
        <p:spPr>
          <a:xfrm>
            <a:off x="1691640" y="3255264"/>
            <a:ext cx="548640" cy="411480"/>
          </a:xfrm>
          <a:prstGeom prst="rect">
            <a:avLst/>
          </a:prstGeom>
          <a:noFill/>
          <a:ln/>
        </p:spPr>
        <p:txBody>
          <a:bodyPr wrap="square" lIns="0" tIns="0" rIns="0" bIns="0" rtlCol="0" anchor="ctr"/>
          <a:lstStyle/>
          <a:p>
            <a:pPr indent="0" marL="0">
              <a:buNone/>
            </a:pPr>
            <a:r>
              <a:rPr lang="en-US" sz="2000" b="1" dirty="0">
                <a:solidFill>
                  <a:srgbClr val="C9A24B"/>
                </a:solidFill>
                <a:latin typeface="Cambria" pitchFamily="34" charset="0"/>
                <a:ea typeface="Cambria" pitchFamily="34" charset="-122"/>
                <a:cs typeface="Cambria" pitchFamily="34" charset="-120"/>
              </a:rPr>
              <a:t>B</a:t>
            </a:r>
            <a:endParaRPr lang="en-US" sz="2000" dirty="0"/>
          </a:p>
        </p:txBody>
      </p:sp>
      <p:sp>
        <p:nvSpPr>
          <p:cNvPr id="14" name="Text 10"/>
          <p:cNvSpPr/>
          <p:nvPr/>
        </p:nvSpPr>
        <p:spPr>
          <a:xfrm>
            <a:off x="2331720" y="3218688"/>
            <a:ext cx="90525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Administration vs. Management</a:t>
            </a:r>
            <a:endParaRPr lang="en-US" sz="1700" dirty="0"/>
          </a:p>
        </p:txBody>
      </p:sp>
      <p:sp>
        <p:nvSpPr>
          <p:cNvPr id="15" name="Text 11"/>
          <p:cNvSpPr/>
          <p:nvPr/>
        </p:nvSpPr>
        <p:spPr>
          <a:xfrm>
            <a:off x="2331720" y="3703320"/>
            <a:ext cx="90525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Two schools of thought on how the terms relate to each other</a:t>
            </a:r>
            <a:endParaRPr lang="en-US" sz="1300" dirty="0"/>
          </a:p>
        </p:txBody>
      </p:sp>
      <p:sp>
        <p:nvSpPr>
          <p:cNvPr id="16" name="Shape 12"/>
          <p:cNvSpPr/>
          <p:nvPr/>
        </p:nvSpPr>
        <p:spPr>
          <a:xfrm>
            <a:off x="548640" y="4480560"/>
            <a:ext cx="11064240" cy="1188720"/>
          </a:xfrm>
          <a:prstGeom prst="roundRect">
            <a:avLst>
              <a:gd name="adj" fmla="val 6154"/>
            </a:avLst>
          </a:prstGeom>
          <a:solidFill>
            <a:srgbClr val="EEF3FC"/>
          </a:solidFill>
          <a:ln/>
        </p:spPr>
      </p:sp>
      <p:sp>
        <p:nvSpPr>
          <p:cNvPr id="17" name="Shape 13"/>
          <p:cNvSpPr/>
          <p:nvPr/>
        </p:nvSpPr>
        <p:spPr>
          <a:xfrm>
            <a:off x="822960" y="4754880"/>
            <a:ext cx="640080" cy="64008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89381" y="4921301"/>
            <a:ext cx="307238" cy="307238"/>
          </a:xfrm>
          <a:prstGeom prst="rect">
            <a:avLst/>
          </a:prstGeom>
        </p:spPr>
      </p:pic>
      <p:sp>
        <p:nvSpPr>
          <p:cNvPr id="19" name="Text 14"/>
          <p:cNvSpPr/>
          <p:nvPr/>
        </p:nvSpPr>
        <p:spPr>
          <a:xfrm>
            <a:off x="1691640" y="4626864"/>
            <a:ext cx="548640" cy="411480"/>
          </a:xfrm>
          <a:prstGeom prst="rect">
            <a:avLst/>
          </a:prstGeom>
          <a:noFill/>
          <a:ln/>
        </p:spPr>
        <p:txBody>
          <a:bodyPr wrap="square" lIns="0" tIns="0" rIns="0" bIns="0" rtlCol="0" anchor="ctr"/>
          <a:lstStyle/>
          <a:p>
            <a:pPr indent="0" marL="0">
              <a:buNone/>
            </a:pPr>
            <a:r>
              <a:rPr lang="en-US" sz="2000" b="1" dirty="0">
                <a:solidFill>
                  <a:srgbClr val="C9A24B"/>
                </a:solidFill>
                <a:latin typeface="Cambria" pitchFamily="34" charset="0"/>
                <a:ea typeface="Cambria" pitchFamily="34" charset="-122"/>
                <a:cs typeface="Cambria" pitchFamily="34" charset="-120"/>
              </a:rPr>
              <a:t>C</a:t>
            </a:r>
            <a:endParaRPr lang="en-US" sz="2000" dirty="0"/>
          </a:p>
        </p:txBody>
      </p:sp>
      <p:sp>
        <p:nvSpPr>
          <p:cNvPr id="20" name="Text 15"/>
          <p:cNvSpPr/>
          <p:nvPr/>
        </p:nvSpPr>
        <p:spPr>
          <a:xfrm>
            <a:off x="2331720" y="4590288"/>
            <a:ext cx="90525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Management Challenges in the 21st Century</a:t>
            </a:r>
            <a:endParaRPr lang="en-US" sz="1700" dirty="0"/>
          </a:p>
        </p:txBody>
      </p:sp>
      <p:sp>
        <p:nvSpPr>
          <p:cNvPr id="21" name="Text 16"/>
          <p:cNvSpPr/>
          <p:nvPr/>
        </p:nvSpPr>
        <p:spPr>
          <a:xfrm>
            <a:off x="2331720" y="5074920"/>
            <a:ext cx="90525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VUCA, AI, diversity, ESG, cybersecurity, wellbeing &amp; more</a:t>
            </a:r>
            <a:endParaRPr lang="en-US" sz="1300" dirty="0"/>
          </a:p>
        </p:txBody>
      </p:sp>
      <p:sp>
        <p:nvSpPr>
          <p:cNvPr id="22" name="Text 17"/>
          <p:cNvSpPr/>
          <p:nvPr/>
        </p:nvSpPr>
        <p:spPr>
          <a:xfrm>
            <a:off x="548640" y="5897880"/>
            <a:ext cx="10972800" cy="36576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Wraps up with Recall Questions and an animated Multiple-Choice Quiz.</a:t>
            </a:r>
            <a:endParaRPr lang="en-US" sz="1250" dirty="0"/>
          </a:p>
        </p:txBody>
      </p:sp>
      <p:sp>
        <p:nvSpPr>
          <p:cNvPr id="23" name="Text 1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24"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A</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Indian Ethos</a:t>
            </a:r>
            <a:endParaRPr lang="en-US" sz="32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Management Principles from the Bhagavad Gita</a:t>
            </a:r>
            <a:endParaRPr lang="en-US" sz="20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96112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How a 5,000-year-old dialogue on a battlefield offers a working model for modern decision-making, motivation and leadership.</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What is 'Indian Ethos' in Management?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Indian ethos in management refers to value-based management rooted in Indian philosophy — drawing on texts such as the Bhagavad Gita, the Upanishads, and Kautilya's Arthashastra.</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It complements Western management theory (systems, efficiency, structure) with an emphasis on meaning, inner motivation, ethics, and the holistic development of both the individual and the collective.</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The Bhagavad Gita is often treated as a management text because of its very structure: it is a dialogue in which a mentor (Krishna) coaches a capable but conflicted decision-maker (Arjuna) through a high-stakes crisis — a situation any manager will recognize.</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Ancient Wisdom, Modern Boardroom</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Executive coaching programmes today teach the very same skills Krishna models: reframing a crisis, restoring clarity, and helping someone else decide well.</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The Setting: Arjuna's Dilemma at Kurukshetra</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Arjuna, a skilled warrior-prince, stands on the battlefield of Kurukshetra and is suddenly paralyzed by doubt — torn between his duty as a warrior and his attachment to relatives and teachers arrayed on the opposing side.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This is a classic case of decision paralysis and role conflict — a situation familiar to any manager facing a hard call, such as a necessary layoff, a whistleblowing decision, or a choice between competing loyalties.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Krishna, acting as charioteer and counselor, does not simply take the decision away from Arjuna. Instead, he coaches Arjuna to reason through the dilemma himself — a model of mentoring rather than dictating.</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 Familiar Crisis</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plant manager torn between loyalty to a long-serving team and the hard business case for automation — Arjuna's dilemma, in a modern factory.</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Nishkama Karma — Karma Yoga (the Yoga of Action)</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i="1" dirty="0">
                <a:solidFill>
                  <a:srgbClr val="2B2B33"/>
                </a:solidFill>
                <a:latin typeface="Calibri" pitchFamily="34" charset="0"/>
                <a:ea typeface="Calibri" pitchFamily="34" charset="-122"/>
                <a:cs typeface="Calibri" pitchFamily="34" charset="-120"/>
              </a:rPr>
              <a:t>Bhagavad Gita 2.47: “You have a right to perform your duty, but you are never entitled to the fruits of your actions.”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This is the principle of Nishkama Karma — selfless, duty-bound action performed with full effort, without obsessive attachment to a particular outcome.</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The idea is not that results do not matter — rather, that fixating on results (fear of failure, craving for reward) distorts judgment and effort in the present moment. Focusing wholly on the quality of the action tends to produce better outcomes anyway.</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“Do. Don't Dwell.” — Act fully; release attachment to the result.</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Process Over Prize</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researcher who focuses on rigorous experiments rather than obsessing over a Nobel Prize usually does better work — and often ends up winning it.</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Swadharma — Duty According to One's Own Role</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Gita teaches that everyone has a role suited to their own nature and position — their swadharma. Performing one's own duty, even imperfectly, is considered better than performing someone else's duty perfectly.</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Applied to management, this is the principle of role clarity and person-job fit: employees perform best, and with greatest satisfaction, when placed in roles matched to their own aptitude and temperament — not forced into someone else's mould.</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This echoes Fayol's principle of 'Order' — the right person in the right place —ubut Swadharma adds an inner dimension: fulfilment comes from being true to one's own nature, not merely from correct job placement.</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Right Role, Real Fulfilment</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brilliant engineer forced into a pure sales role may underperform and feel lost; the same person thriving in R&amp;D is Swadharma at work.</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Sthitaprajna — The Person of Steady Wisdom</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Gita describes the sthitaprajna — a person of steady wisdom — as one who remains undisturbed by pleasure and pain, success and failure, praise and blame.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This equanimity is not indifference; it is composure that keeps judgment clear under both good news and bad. Such a person can absorb a setback without panic, and a triumph without complacency.</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This is directly parallel to modern ideas of emotional intelligence and resilience — qualities repeatedly identified as separating effective leaders from the rest, especially in a crisis.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Steady Under Pressure</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CEO who reacts to one bad quarter with the same calm, methodical review as a great quarter — neither panicking nor coasting.</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Buddhi Yoga — Decisiveness of the Intellect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Bhagavad Gita 2.41: the resolute intellect (buddhi) is single-pointed and firm, while the thoughts of the irresolute are described as many-branched and endless.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This is a direct parallel to goal clarity in management: a leader who commits to one clear, well-reasoned objective moves decisively, while one juggling many undefined or conflicting priorities drifts into analysis-paralysis.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Buddhi Yoga does not mean rushing to decide — it means using the intellect to cut through confusion and commit, rather than endlessly re-litigating the same choice.</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One Clear Goal</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start-up that commits to one product roadmap for the quarter typically outpaces a rival still debating five different pivots.</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The Three Gunas — Sattva, Rajas, Tamas</a:t>
            </a:r>
            <a:endParaRPr lang="en-US" sz="2900" dirty="0"/>
          </a:p>
        </p:txBody>
      </p:sp>
      <p:sp>
        <p:nvSpPr>
          <p:cNvPr id="4" name="Text 2"/>
          <p:cNvSpPr/>
          <p:nvPr/>
        </p:nvSpPr>
        <p:spPr>
          <a:xfrm>
            <a:off x="548640" y="1691640"/>
            <a:ext cx="11064240" cy="640080"/>
          </a:xfrm>
          <a:prstGeom prst="rect">
            <a:avLst/>
          </a:prstGeom>
          <a:noFill/>
          <a:ln/>
        </p:spPr>
        <p:txBody>
          <a:bodyPr wrap="square" rtlCol="0" anchor="ctr"/>
          <a:lstStyle/>
          <a:p>
            <a:pPr indent="0" marL="0">
              <a:buNone/>
            </a:pPr>
            <a:r>
              <a:rPr lang="en-US" sz="1450" i="1" dirty="0">
                <a:solidFill>
                  <a:srgbClr val="2B2B33"/>
                </a:solidFill>
                <a:latin typeface="Calibri" pitchFamily="34" charset="0"/>
                <a:ea typeface="Calibri" pitchFamily="34" charset="-122"/>
                <a:cs typeface="Calibri" pitchFamily="34" charset="-120"/>
              </a:rPr>
              <a:t>The Gita describes three fundamental qualities (gunas) present, in different proportions, in every person and every action — a useful lens for diagnosing one's own leadership style and team culture.</a:t>
            </a:r>
            <a:endParaRPr lang="en-US" sz="1450" dirty="0"/>
          </a:p>
        </p:txBody>
      </p:sp>
      <p:sp>
        <p:nvSpPr>
          <p:cNvPr id="5" name="Shape 3"/>
          <p:cNvSpPr/>
          <p:nvPr/>
        </p:nvSpPr>
        <p:spPr>
          <a:xfrm>
            <a:off x="548640" y="2468880"/>
            <a:ext cx="3566160" cy="3383280"/>
          </a:xfrm>
          <a:prstGeom prst="roundRect">
            <a:avLst>
              <a:gd name="adj" fmla="val 2432"/>
            </a:avLst>
          </a:prstGeom>
          <a:solidFill>
            <a:srgbClr val="EEF3FC"/>
          </a:solidFill>
          <a:ln/>
        </p:spPr>
      </p:sp>
      <p:sp>
        <p:nvSpPr>
          <p:cNvPr id="6" name="Shape 4"/>
          <p:cNvSpPr/>
          <p:nvPr/>
        </p:nvSpPr>
        <p:spPr>
          <a:xfrm>
            <a:off x="2034540" y="2697480"/>
            <a:ext cx="594360" cy="59436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2189074" y="2852014"/>
            <a:ext cx="285293" cy="285293"/>
          </a:xfrm>
          <a:prstGeom prst="rect">
            <a:avLst/>
          </a:prstGeom>
        </p:spPr>
      </p:pic>
      <p:sp>
        <p:nvSpPr>
          <p:cNvPr id="8" name="Text 5"/>
          <p:cNvSpPr/>
          <p:nvPr/>
        </p:nvSpPr>
        <p:spPr>
          <a:xfrm>
            <a:off x="548640" y="3429000"/>
            <a:ext cx="3566160" cy="41148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Sattva</a:t>
            </a:r>
            <a:endParaRPr lang="en-US" sz="1800" dirty="0"/>
          </a:p>
        </p:txBody>
      </p:sp>
      <p:sp>
        <p:nvSpPr>
          <p:cNvPr id="9" name="Text 6"/>
          <p:cNvSpPr/>
          <p:nvPr/>
        </p:nvSpPr>
        <p:spPr>
          <a:xfrm>
            <a:off x="548640" y="3794760"/>
            <a:ext cx="3566160" cy="320040"/>
          </a:xfrm>
          <a:prstGeom prst="rect">
            <a:avLst/>
          </a:prstGeom>
          <a:noFill/>
          <a:ln/>
        </p:spPr>
        <p:txBody>
          <a:bodyPr wrap="square" rtlCol="0" anchor="ctr"/>
          <a:lstStyle/>
          <a:p>
            <a:pPr algn="ctr" indent="0" marL="0">
              <a:buNone/>
            </a:pPr>
            <a:r>
              <a:rPr lang="en-US" sz="1200" i="1" dirty="0">
                <a:solidFill>
                  <a:srgbClr val="C9A24B"/>
                </a:solidFill>
                <a:latin typeface="Calibri" pitchFamily="34" charset="0"/>
                <a:ea typeface="Calibri" pitchFamily="34" charset="-122"/>
                <a:cs typeface="Calibri" pitchFamily="34" charset="-120"/>
              </a:rPr>
              <a:t>Clarity &amp; Balance</a:t>
            </a:r>
            <a:endParaRPr lang="en-US" sz="1200" dirty="0"/>
          </a:p>
        </p:txBody>
      </p:sp>
      <p:sp>
        <p:nvSpPr>
          <p:cNvPr id="10" name="Text 7"/>
          <p:cNvSpPr/>
          <p:nvPr/>
        </p:nvSpPr>
        <p:spPr>
          <a:xfrm>
            <a:off x="777240" y="4160520"/>
            <a:ext cx="3108960" cy="155448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Calm, knowledge-driven, balanced action. The ideal state for sound decision-making — clear-headed, ethical, and steady.</a:t>
            </a:r>
            <a:endParaRPr lang="en-US" sz="1150" dirty="0"/>
          </a:p>
        </p:txBody>
      </p:sp>
      <p:sp>
        <p:nvSpPr>
          <p:cNvPr id="11" name="Shape 8"/>
          <p:cNvSpPr/>
          <p:nvPr/>
        </p:nvSpPr>
        <p:spPr>
          <a:xfrm>
            <a:off x="4251960" y="2468880"/>
            <a:ext cx="3566160" cy="3383280"/>
          </a:xfrm>
          <a:prstGeom prst="roundRect">
            <a:avLst>
              <a:gd name="adj" fmla="val 2432"/>
            </a:avLst>
          </a:prstGeom>
          <a:solidFill>
            <a:srgbClr val="EEF3FC"/>
          </a:solidFill>
          <a:ln/>
        </p:spPr>
      </p:sp>
      <p:sp>
        <p:nvSpPr>
          <p:cNvPr id="12" name="Shape 9"/>
          <p:cNvSpPr/>
          <p:nvPr/>
        </p:nvSpPr>
        <p:spPr>
          <a:xfrm>
            <a:off x="5737860" y="2697480"/>
            <a:ext cx="594360" cy="59436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5892394" y="2852014"/>
            <a:ext cx="285293" cy="285293"/>
          </a:xfrm>
          <a:prstGeom prst="rect">
            <a:avLst/>
          </a:prstGeom>
        </p:spPr>
      </p:pic>
      <p:sp>
        <p:nvSpPr>
          <p:cNvPr id="14" name="Text 10"/>
          <p:cNvSpPr/>
          <p:nvPr/>
        </p:nvSpPr>
        <p:spPr>
          <a:xfrm>
            <a:off x="4251960" y="3429000"/>
            <a:ext cx="3566160" cy="41148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Rajas</a:t>
            </a:r>
            <a:endParaRPr lang="en-US" sz="1800" dirty="0"/>
          </a:p>
        </p:txBody>
      </p:sp>
      <p:sp>
        <p:nvSpPr>
          <p:cNvPr id="15" name="Text 11"/>
          <p:cNvSpPr/>
          <p:nvPr/>
        </p:nvSpPr>
        <p:spPr>
          <a:xfrm>
            <a:off x="4251960" y="3794760"/>
            <a:ext cx="3566160" cy="320040"/>
          </a:xfrm>
          <a:prstGeom prst="rect">
            <a:avLst/>
          </a:prstGeom>
          <a:noFill/>
          <a:ln/>
        </p:spPr>
        <p:txBody>
          <a:bodyPr wrap="square" rtlCol="0" anchor="ctr"/>
          <a:lstStyle/>
          <a:p>
            <a:pPr algn="ctr" indent="0" marL="0">
              <a:buNone/>
            </a:pPr>
            <a:r>
              <a:rPr lang="en-US" sz="1200" i="1" dirty="0">
                <a:solidFill>
                  <a:srgbClr val="C9A24B"/>
                </a:solidFill>
                <a:latin typeface="Calibri" pitchFamily="34" charset="0"/>
                <a:ea typeface="Calibri" pitchFamily="34" charset="-122"/>
                <a:cs typeface="Calibri" pitchFamily="34" charset="-120"/>
              </a:rPr>
              <a:t>Passion &amp; Drive</a:t>
            </a:r>
            <a:endParaRPr lang="en-US" sz="1200" dirty="0"/>
          </a:p>
        </p:txBody>
      </p:sp>
      <p:sp>
        <p:nvSpPr>
          <p:cNvPr id="16" name="Text 12"/>
          <p:cNvSpPr/>
          <p:nvPr/>
        </p:nvSpPr>
        <p:spPr>
          <a:xfrm>
            <a:off x="4480560" y="4160520"/>
            <a:ext cx="3108960" cy="155448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Ambition, restless energy, and activity. Drives achievement and results, but left unchecked can cause burnout, conflict, and short-termism.</a:t>
            </a:r>
            <a:endParaRPr lang="en-US" sz="1150" dirty="0"/>
          </a:p>
        </p:txBody>
      </p:sp>
      <p:sp>
        <p:nvSpPr>
          <p:cNvPr id="17" name="Shape 13"/>
          <p:cNvSpPr/>
          <p:nvPr/>
        </p:nvSpPr>
        <p:spPr>
          <a:xfrm>
            <a:off x="7955280" y="2468880"/>
            <a:ext cx="3566160" cy="3383280"/>
          </a:xfrm>
          <a:prstGeom prst="roundRect">
            <a:avLst>
              <a:gd name="adj" fmla="val 2432"/>
            </a:avLst>
          </a:prstGeom>
          <a:solidFill>
            <a:srgbClr val="EEF3FC"/>
          </a:solidFill>
          <a:ln/>
        </p:spPr>
      </p:sp>
      <p:sp>
        <p:nvSpPr>
          <p:cNvPr id="18" name="Shape 14"/>
          <p:cNvSpPr/>
          <p:nvPr/>
        </p:nvSpPr>
        <p:spPr>
          <a:xfrm>
            <a:off x="9441180" y="2697480"/>
            <a:ext cx="594360" cy="594360"/>
          </a:xfrm>
          <a:prstGeom prst="ellipse">
            <a:avLst/>
          </a:prstGeom>
          <a:solidFill>
            <a:srgbClr val="1E2761"/>
          </a:solidFill>
          <a:ln/>
        </p:spPr>
      </p:sp>
      <p:pic>
        <p:nvPicPr>
          <p:cNvPr id="19" name="Image 2" descr="preencoded.png">    </p:cNvPr>
          <p:cNvPicPr>
            <a:picLocks noChangeAspect="1"/>
          </p:cNvPicPr>
          <p:nvPr/>
        </p:nvPicPr>
        <p:blipFill>
          <a:blip r:embed="rId3"/>
          <a:stretch>
            <a:fillRect/>
          </a:stretch>
        </p:blipFill>
        <p:spPr>
          <a:xfrm>
            <a:off x="9595714" y="2852014"/>
            <a:ext cx="285293" cy="285293"/>
          </a:xfrm>
          <a:prstGeom prst="rect">
            <a:avLst/>
          </a:prstGeom>
        </p:spPr>
      </p:pic>
      <p:sp>
        <p:nvSpPr>
          <p:cNvPr id="20" name="Text 15"/>
          <p:cNvSpPr/>
          <p:nvPr/>
        </p:nvSpPr>
        <p:spPr>
          <a:xfrm>
            <a:off x="7955280" y="3429000"/>
            <a:ext cx="3566160" cy="41148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Tamas</a:t>
            </a:r>
            <a:endParaRPr lang="en-US" sz="1800" dirty="0"/>
          </a:p>
        </p:txBody>
      </p:sp>
      <p:sp>
        <p:nvSpPr>
          <p:cNvPr id="21" name="Text 16"/>
          <p:cNvSpPr/>
          <p:nvPr/>
        </p:nvSpPr>
        <p:spPr>
          <a:xfrm>
            <a:off x="7955280" y="3794760"/>
            <a:ext cx="3566160" cy="320040"/>
          </a:xfrm>
          <a:prstGeom prst="rect">
            <a:avLst/>
          </a:prstGeom>
          <a:noFill/>
          <a:ln/>
        </p:spPr>
        <p:txBody>
          <a:bodyPr wrap="square" rtlCol="0" anchor="ctr"/>
          <a:lstStyle/>
          <a:p>
            <a:pPr algn="ctr" indent="0" marL="0">
              <a:buNone/>
            </a:pPr>
            <a:r>
              <a:rPr lang="en-US" sz="1200" i="1" dirty="0">
                <a:solidFill>
                  <a:srgbClr val="C9A24B"/>
                </a:solidFill>
                <a:latin typeface="Calibri" pitchFamily="34" charset="0"/>
                <a:ea typeface="Calibri" pitchFamily="34" charset="-122"/>
                <a:cs typeface="Calibri" pitchFamily="34" charset="-120"/>
              </a:rPr>
              <a:t>Inertia &amp; Resistance</a:t>
            </a:r>
            <a:endParaRPr lang="en-US" sz="1200" dirty="0"/>
          </a:p>
        </p:txBody>
      </p:sp>
      <p:sp>
        <p:nvSpPr>
          <p:cNvPr id="22" name="Text 17"/>
          <p:cNvSpPr/>
          <p:nvPr/>
        </p:nvSpPr>
        <p:spPr>
          <a:xfrm>
            <a:off x="8183880" y="4160520"/>
            <a:ext cx="3108960" cy="155448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Dullness, delusion, and resistance to change. The quality every manager must recognize and overcome — in a team, or in themselves.</a:t>
            </a:r>
            <a:endParaRPr lang="en-US" sz="1150" dirty="0"/>
          </a:p>
        </p:txBody>
      </p:sp>
      <p:sp>
        <p:nvSpPr>
          <p:cNvPr id="23" name="Text 1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 THE THREE GUNAS</a:t>
            </a:r>
            <a:endParaRPr lang="en-US" sz="1100" dirty="0"/>
          </a:p>
        </p:txBody>
      </p:sp>
      <p:sp>
        <p:nvSpPr>
          <p:cNvPr id="24"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Self-Mastery — Managing the Mind and Senses</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Gita repeatedly emphasizes that control over the senses and the mind is a prerequisite for clear action — a mind pulled about by the senses, it says, has no steady wisdom or concentration.</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This maps directly onto modern stress management and mindful leadership: a manager whose decisions are driven by momentary anger, fear, or desire tends to make poorer choices than one who pauses to regain composure first.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Executive coaching today increasingly borrows this exact idea — building the discipline to observe an impulse before acting on it, rather than suppressing emotion altogether.</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Pause Before You React</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manager who takes a breath (or literally sleeps on it) before responding to an angry client email almost always sends a better reply.</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Krishna as Coach — Situational Leadership &amp; Mentoring</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Krishna adapts his counsel to Arjuna's specific state of mind — grief, confusion, self-doubt — rather than issuing a one-size-fits-all command. This is an early model of situational leadership: matching the style of guidance to the follower's readiness.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Crucially, after laying out the reasoning fully, Krishna does not simply order Arjuna to fight. Bhagavad Gita 18.63: “Having reflected on this fully, do as you think fit.”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This is participative, empowering leadership — the mentor equips the decision-maker with clarity and reasoning, then respects their ownership of the final call, rather than commanding compliance.</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Coach, Don't Command</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good manager who talks a struggling employee through the reasoning behind a hard decision — then lets them choose — builds far more commitment than one who simply issues orders.</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WHEEL OF GITA'S MANAGEMENT WISDOM</a:t>
            </a:r>
            <a:endParaRPr lang="en-US" sz="2200" dirty="0"/>
          </a:p>
        </p:txBody>
      </p:sp>
      <p:sp>
        <p:nvSpPr>
          <p:cNvPr id="3" name="Text 1"/>
          <p:cNvSpPr/>
          <p:nvPr/>
        </p:nvSpPr>
        <p:spPr>
          <a:xfrm>
            <a:off x="457200" y="868680"/>
            <a:ext cx="11247120" cy="36576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Seven ideas from the Bhagavad Gita, mapped to the manager's daily work</a:t>
            </a:r>
            <a:endParaRPr lang="en-US" sz="1400" dirty="0"/>
          </a:p>
        </p:txBody>
      </p:sp>
      <p:sp>
        <p:nvSpPr>
          <p:cNvPr id="4" name="Shape 2"/>
          <p:cNvSpPr/>
          <p:nvPr/>
        </p:nvSpPr>
        <p:spPr>
          <a:xfrm>
            <a:off x="6080760" y="1691640"/>
            <a:ext cx="9144" cy="2331720"/>
          </a:xfrm>
          <a:prstGeom prst="line">
            <a:avLst/>
          </a:prstGeom>
          <a:noFill/>
          <a:ln w="12700">
            <a:solidFill>
              <a:srgbClr val="C9A24B"/>
            </a:solidFill>
            <a:prstDash val="solid"/>
          </a:ln>
        </p:spPr>
      </p:sp>
      <p:sp>
        <p:nvSpPr>
          <p:cNvPr id="5" name="Shape 3"/>
          <p:cNvSpPr/>
          <p:nvPr/>
        </p:nvSpPr>
        <p:spPr>
          <a:xfrm>
            <a:off x="4937760" y="1303020"/>
            <a:ext cx="2286000" cy="777240"/>
          </a:xfrm>
          <a:prstGeom prst="roundRect">
            <a:avLst>
              <a:gd name="adj" fmla="val 8235"/>
            </a:avLst>
          </a:prstGeom>
          <a:solidFill>
            <a:srgbClr val="1E2761"/>
          </a:solidFill>
          <a:ln/>
        </p:spPr>
      </p:sp>
      <p:sp>
        <p:nvSpPr>
          <p:cNvPr id="6" name="Text 4"/>
          <p:cNvSpPr/>
          <p:nvPr/>
        </p:nvSpPr>
        <p:spPr>
          <a:xfrm>
            <a:off x="5029200" y="1303020"/>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Nishkama Karma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(Duty over reward)</a:t>
            </a:r>
            <a:endParaRPr lang="en-US" sz="1050" dirty="0"/>
          </a:p>
        </p:txBody>
      </p:sp>
      <p:sp>
        <p:nvSpPr>
          <p:cNvPr id="7" name="Shape 5"/>
          <p:cNvSpPr/>
          <p:nvPr/>
        </p:nvSpPr>
        <p:spPr>
          <a:xfrm>
            <a:off x="6080760" y="2569556"/>
            <a:ext cx="1823012" cy="1453804"/>
          </a:xfrm>
          <a:prstGeom prst="line">
            <a:avLst/>
          </a:prstGeom>
          <a:noFill/>
          <a:ln w="12700">
            <a:solidFill>
              <a:srgbClr val="C9A24B"/>
            </a:solidFill>
            <a:prstDash val="solid"/>
          </a:ln>
        </p:spPr>
      </p:sp>
      <p:sp>
        <p:nvSpPr>
          <p:cNvPr id="8" name="Shape 6"/>
          <p:cNvSpPr/>
          <p:nvPr/>
        </p:nvSpPr>
        <p:spPr>
          <a:xfrm>
            <a:off x="6760772" y="2180936"/>
            <a:ext cx="2286000" cy="777240"/>
          </a:xfrm>
          <a:prstGeom prst="roundRect">
            <a:avLst>
              <a:gd name="adj" fmla="val 8235"/>
            </a:avLst>
          </a:prstGeom>
          <a:solidFill>
            <a:srgbClr val="1E2761"/>
          </a:solidFill>
          <a:ln/>
        </p:spPr>
      </p:sp>
      <p:sp>
        <p:nvSpPr>
          <p:cNvPr id="9" name="Text 7"/>
          <p:cNvSpPr/>
          <p:nvPr/>
        </p:nvSpPr>
        <p:spPr>
          <a:xfrm>
            <a:off x="6852212" y="2180936"/>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Swadharma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(Role fit)</a:t>
            </a:r>
            <a:endParaRPr lang="en-US" sz="1050" dirty="0"/>
          </a:p>
        </p:txBody>
      </p:sp>
      <p:sp>
        <p:nvSpPr>
          <p:cNvPr id="10" name="Shape 8"/>
          <p:cNvSpPr/>
          <p:nvPr/>
        </p:nvSpPr>
        <p:spPr>
          <a:xfrm>
            <a:off x="6080760" y="4023360"/>
            <a:ext cx="2273259" cy="518857"/>
          </a:xfrm>
          <a:prstGeom prst="line">
            <a:avLst/>
          </a:prstGeom>
          <a:noFill/>
          <a:ln w="12700">
            <a:solidFill>
              <a:srgbClr val="C9A24B"/>
            </a:solidFill>
            <a:prstDash val="solid"/>
          </a:ln>
        </p:spPr>
      </p:sp>
      <p:sp>
        <p:nvSpPr>
          <p:cNvPr id="11" name="Shape 9"/>
          <p:cNvSpPr/>
          <p:nvPr/>
        </p:nvSpPr>
        <p:spPr>
          <a:xfrm>
            <a:off x="7211019" y="4153597"/>
            <a:ext cx="2286000" cy="777240"/>
          </a:xfrm>
          <a:prstGeom prst="roundRect">
            <a:avLst>
              <a:gd name="adj" fmla="val 8235"/>
            </a:avLst>
          </a:prstGeom>
          <a:solidFill>
            <a:srgbClr val="1E2761"/>
          </a:solidFill>
          <a:ln/>
        </p:spPr>
      </p:sp>
      <p:sp>
        <p:nvSpPr>
          <p:cNvPr id="12" name="Text 10"/>
          <p:cNvSpPr/>
          <p:nvPr/>
        </p:nvSpPr>
        <p:spPr>
          <a:xfrm>
            <a:off x="7302459" y="4153597"/>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Sthitaprajna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(Steady wisdom)</a:t>
            </a:r>
            <a:endParaRPr lang="en-US" sz="1050" dirty="0"/>
          </a:p>
        </p:txBody>
      </p:sp>
      <p:sp>
        <p:nvSpPr>
          <p:cNvPr id="13" name="Shape 11"/>
          <p:cNvSpPr/>
          <p:nvPr/>
        </p:nvSpPr>
        <p:spPr>
          <a:xfrm>
            <a:off x="6080760" y="4023360"/>
            <a:ext cx="1011695" cy="2100807"/>
          </a:xfrm>
          <a:prstGeom prst="line">
            <a:avLst/>
          </a:prstGeom>
          <a:noFill/>
          <a:ln w="12700">
            <a:solidFill>
              <a:srgbClr val="C9A24B"/>
            </a:solidFill>
            <a:prstDash val="solid"/>
          </a:ln>
        </p:spPr>
      </p:sp>
      <p:sp>
        <p:nvSpPr>
          <p:cNvPr id="14" name="Shape 12"/>
          <p:cNvSpPr/>
          <p:nvPr/>
        </p:nvSpPr>
        <p:spPr>
          <a:xfrm>
            <a:off x="5949455" y="5735547"/>
            <a:ext cx="2286000" cy="777240"/>
          </a:xfrm>
          <a:prstGeom prst="roundRect">
            <a:avLst>
              <a:gd name="adj" fmla="val 8235"/>
            </a:avLst>
          </a:prstGeom>
          <a:solidFill>
            <a:srgbClr val="1E2761"/>
          </a:solidFill>
          <a:ln/>
        </p:spPr>
      </p:sp>
      <p:sp>
        <p:nvSpPr>
          <p:cNvPr id="15" name="Text 13"/>
          <p:cNvSpPr/>
          <p:nvPr/>
        </p:nvSpPr>
        <p:spPr>
          <a:xfrm>
            <a:off x="6040895" y="5735547"/>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Buddhi Yoga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(Decisiveness)</a:t>
            </a:r>
            <a:endParaRPr lang="en-US" sz="1050" dirty="0"/>
          </a:p>
        </p:txBody>
      </p:sp>
      <p:sp>
        <p:nvSpPr>
          <p:cNvPr id="16" name="Shape 14"/>
          <p:cNvSpPr/>
          <p:nvPr/>
        </p:nvSpPr>
        <p:spPr>
          <a:xfrm>
            <a:off x="5069065" y="4023360"/>
            <a:ext cx="1011695" cy="2100807"/>
          </a:xfrm>
          <a:prstGeom prst="line">
            <a:avLst/>
          </a:prstGeom>
          <a:noFill/>
          <a:ln w="12700">
            <a:solidFill>
              <a:srgbClr val="C9A24B"/>
            </a:solidFill>
            <a:prstDash val="solid"/>
          </a:ln>
        </p:spPr>
      </p:sp>
      <p:sp>
        <p:nvSpPr>
          <p:cNvPr id="17" name="Shape 15"/>
          <p:cNvSpPr/>
          <p:nvPr/>
        </p:nvSpPr>
        <p:spPr>
          <a:xfrm>
            <a:off x="3926065" y="5735547"/>
            <a:ext cx="2286000" cy="777240"/>
          </a:xfrm>
          <a:prstGeom prst="roundRect">
            <a:avLst>
              <a:gd name="adj" fmla="val 8235"/>
            </a:avLst>
          </a:prstGeom>
          <a:solidFill>
            <a:srgbClr val="1E2761"/>
          </a:solidFill>
          <a:ln/>
        </p:spPr>
      </p:sp>
      <p:sp>
        <p:nvSpPr>
          <p:cNvPr id="18" name="Text 16"/>
          <p:cNvSpPr/>
          <p:nvPr/>
        </p:nvSpPr>
        <p:spPr>
          <a:xfrm>
            <a:off x="4017505" y="5735547"/>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Three Gunas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(Culture lens)</a:t>
            </a:r>
            <a:endParaRPr lang="en-US" sz="1050" dirty="0"/>
          </a:p>
        </p:txBody>
      </p:sp>
      <p:sp>
        <p:nvSpPr>
          <p:cNvPr id="19" name="Shape 17"/>
          <p:cNvSpPr/>
          <p:nvPr/>
        </p:nvSpPr>
        <p:spPr>
          <a:xfrm>
            <a:off x="3807501" y="4023360"/>
            <a:ext cx="2273259" cy="518857"/>
          </a:xfrm>
          <a:prstGeom prst="line">
            <a:avLst/>
          </a:prstGeom>
          <a:noFill/>
          <a:ln w="12700">
            <a:solidFill>
              <a:srgbClr val="C9A24B"/>
            </a:solidFill>
            <a:prstDash val="solid"/>
          </a:ln>
        </p:spPr>
      </p:sp>
      <p:sp>
        <p:nvSpPr>
          <p:cNvPr id="20" name="Shape 18"/>
          <p:cNvSpPr/>
          <p:nvPr/>
        </p:nvSpPr>
        <p:spPr>
          <a:xfrm>
            <a:off x="2664501" y="4153597"/>
            <a:ext cx="2286000" cy="777240"/>
          </a:xfrm>
          <a:prstGeom prst="roundRect">
            <a:avLst>
              <a:gd name="adj" fmla="val 8235"/>
            </a:avLst>
          </a:prstGeom>
          <a:solidFill>
            <a:srgbClr val="1E2761"/>
          </a:solidFill>
          <a:ln/>
        </p:spPr>
      </p:sp>
      <p:sp>
        <p:nvSpPr>
          <p:cNvPr id="21" name="Text 19"/>
          <p:cNvSpPr/>
          <p:nvPr/>
        </p:nvSpPr>
        <p:spPr>
          <a:xfrm>
            <a:off x="2755941" y="4153597"/>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Self-Mastery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(Composure)</a:t>
            </a:r>
            <a:endParaRPr lang="en-US" sz="1050" dirty="0"/>
          </a:p>
        </p:txBody>
      </p:sp>
      <p:sp>
        <p:nvSpPr>
          <p:cNvPr id="22" name="Shape 20"/>
          <p:cNvSpPr/>
          <p:nvPr/>
        </p:nvSpPr>
        <p:spPr>
          <a:xfrm>
            <a:off x="4257748" y="2569556"/>
            <a:ext cx="1823012" cy="1453804"/>
          </a:xfrm>
          <a:prstGeom prst="line">
            <a:avLst/>
          </a:prstGeom>
          <a:noFill/>
          <a:ln w="12700">
            <a:solidFill>
              <a:srgbClr val="C9A24B"/>
            </a:solidFill>
            <a:prstDash val="solid"/>
          </a:ln>
        </p:spPr>
      </p:sp>
      <p:sp>
        <p:nvSpPr>
          <p:cNvPr id="23" name="Shape 21"/>
          <p:cNvSpPr/>
          <p:nvPr/>
        </p:nvSpPr>
        <p:spPr>
          <a:xfrm>
            <a:off x="3114748" y="2180936"/>
            <a:ext cx="2286000" cy="777240"/>
          </a:xfrm>
          <a:prstGeom prst="roundRect">
            <a:avLst>
              <a:gd name="adj" fmla="val 8235"/>
            </a:avLst>
          </a:prstGeom>
          <a:solidFill>
            <a:srgbClr val="1E2761"/>
          </a:solidFill>
          <a:ln/>
        </p:spPr>
      </p:sp>
      <p:sp>
        <p:nvSpPr>
          <p:cNvPr id="24" name="Text 22"/>
          <p:cNvSpPr/>
          <p:nvPr/>
        </p:nvSpPr>
        <p:spPr>
          <a:xfrm>
            <a:off x="3206188" y="2180936"/>
            <a:ext cx="210312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Krishna's Counsel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(Situational coaching)</a:t>
            </a:r>
            <a:endParaRPr lang="en-US" sz="1050" dirty="0"/>
          </a:p>
        </p:txBody>
      </p:sp>
      <p:sp>
        <p:nvSpPr>
          <p:cNvPr id="25" name="Shape 23"/>
          <p:cNvSpPr/>
          <p:nvPr/>
        </p:nvSpPr>
        <p:spPr>
          <a:xfrm>
            <a:off x="4937760" y="3406140"/>
            <a:ext cx="2286000" cy="1234440"/>
          </a:xfrm>
          <a:prstGeom prst="ellipse">
            <a:avLst/>
          </a:prstGeom>
          <a:solidFill>
            <a:srgbClr val="C9A24B"/>
          </a:solidFill>
          <a:ln/>
        </p:spPr>
      </p:sp>
      <p:sp>
        <p:nvSpPr>
          <p:cNvPr id="26" name="Text 24"/>
          <p:cNvSpPr/>
          <p:nvPr/>
        </p:nvSpPr>
        <p:spPr>
          <a:xfrm>
            <a:off x="4937760" y="3406140"/>
            <a:ext cx="2286000" cy="1234440"/>
          </a:xfrm>
          <a:prstGeom prst="rect">
            <a:avLst/>
          </a:prstGeom>
          <a:noFill/>
          <a:ln/>
        </p:spPr>
        <p:txBody>
          <a:bodyPr wrap="square" rtlCol="0" anchor="ctr"/>
          <a:lstStyle/>
          <a:p>
            <a:pPr algn="ctr" indent="0" marL="0">
              <a:buNone/>
            </a:pPr>
            <a:r>
              <a:rPr lang="en-US" sz="1300" b="1" dirty="0">
                <a:solidFill>
                  <a:srgbClr val="141B48"/>
                </a:solidFill>
                <a:latin typeface="Cambria" pitchFamily="34" charset="0"/>
                <a:ea typeface="Cambria" pitchFamily="34" charset="-122"/>
                <a:cs typeface="Cambria" pitchFamily="34" charset="-120"/>
              </a:rPr>
              <a:t>Bhagavad Gita's</a:t>
            </a:r>
            <a:endParaRPr lang="en-US" sz="1300" dirty="0"/>
          </a:p>
          <a:p>
            <a:pPr algn="ctr" indent="0" marL="0">
              <a:buNone/>
            </a:pPr>
            <a:r>
              <a:rPr lang="en-US" sz="1300" b="1" dirty="0">
                <a:solidFill>
                  <a:srgbClr val="141B48"/>
                </a:solidFill>
                <a:latin typeface="Cambria" pitchFamily="34" charset="0"/>
                <a:ea typeface="Cambria" pitchFamily="34" charset="-122"/>
                <a:cs typeface="Cambria" pitchFamily="34" charset="-120"/>
              </a:rPr>
              <a:t>Management</a:t>
            </a:r>
            <a:endParaRPr lang="en-US" sz="1300" dirty="0"/>
          </a:p>
          <a:p>
            <a:pPr algn="ctr" indent="0" marL="0">
              <a:buNone/>
            </a:pPr>
            <a:r>
              <a:rPr lang="en-US" sz="1300" b="1" dirty="0">
                <a:solidFill>
                  <a:srgbClr val="141B48"/>
                </a:solidFill>
                <a:latin typeface="Cambria" pitchFamily="34" charset="0"/>
                <a:ea typeface="Cambria" pitchFamily="34" charset="-122"/>
                <a:cs typeface="Cambria" pitchFamily="34" charset="-120"/>
              </a:rPr>
              <a:t>Wisdom</a:t>
            </a:r>
            <a:endParaRPr lang="en-US" sz="1300" dirty="0"/>
          </a:p>
        </p:txBody>
      </p:sp>
      <p:sp>
        <p:nvSpPr>
          <p:cNvPr id="27" name="Text 25"/>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28" name="Text 2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INDIAN ETHOS FOR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Applying Gita Wisdom to Modern Management</a:t>
            </a:r>
            <a:endParaRPr lang="en-US" sz="2900" dirty="0"/>
          </a:p>
        </p:txBody>
      </p:sp>
      <p:sp>
        <p:nvSpPr>
          <p:cNvPr id="4" name="Shape 2"/>
          <p:cNvSpPr/>
          <p:nvPr/>
        </p:nvSpPr>
        <p:spPr>
          <a:xfrm>
            <a:off x="548640" y="1691640"/>
            <a:ext cx="2743200" cy="577215"/>
          </a:xfrm>
          <a:prstGeom prst="rect">
            <a:avLst/>
          </a:prstGeom>
          <a:solidFill>
            <a:srgbClr val="1E2761"/>
          </a:solidFill>
          <a:ln/>
        </p:spPr>
      </p:sp>
      <p:sp>
        <p:nvSpPr>
          <p:cNvPr id="5" name="Shape 3"/>
          <p:cNvSpPr/>
          <p:nvPr/>
        </p:nvSpPr>
        <p:spPr>
          <a:xfrm>
            <a:off x="3291840" y="1691640"/>
            <a:ext cx="4160520" cy="577215"/>
          </a:xfrm>
          <a:prstGeom prst="rect">
            <a:avLst/>
          </a:prstGeom>
          <a:solidFill>
            <a:srgbClr val="3A4A8C"/>
          </a:solidFill>
          <a:ln/>
        </p:spPr>
      </p:sp>
      <p:sp>
        <p:nvSpPr>
          <p:cNvPr id="6" name="Shape 4"/>
          <p:cNvSpPr/>
          <p:nvPr/>
        </p:nvSpPr>
        <p:spPr>
          <a:xfrm>
            <a:off x="7452360" y="1691640"/>
            <a:ext cx="4160520" cy="577215"/>
          </a:xfrm>
          <a:prstGeom prst="rect">
            <a:avLst/>
          </a:prstGeom>
          <a:solidFill>
            <a:srgbClr val="C9A24B"/>
          </a:solidFill>
          <a:ln/>
        </p:spPr>
      </p:sp>
      <p:sp>
        <p:nvSpPr>
          <p:cNvPr id="7" name="Text 5"/>
          <p:cNvSpPr/>
          <p:nvPr/>
        </p:nvSpPr>
        <p:spPr>
          <a:xfrm>
            <a:off x="548640" y="1691640"/>
            <a:ext cx="2743200" cy="577215"/>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BASIS</a:t>
            </a:r>
            <a:endParaRPr lang="en-US" sz="1300" dirty="0"/>
          </a:p>
        </p:txBody>
      </p:sp>
      <p:sp>
        <p:nvSpPr>
          <p:cNvPr id="8" name="Text 6"/>
          <p:cNvSpPr/>
          <p:nvPr/>
        </p:nvSpPr>
        <p:spPr>
          <a:xfrm>
            <a:off x="3291840" y="1691640"/>
            <a:ext cx="4160520" cy="577215"/>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Gita Concept</a:t>
            </a:r>
            <a:endParaRPr lang="en-US" sz="1300" dirty="0"/>
          </a:p>
        </p:txBody>
      </p:sp>
      <p:sp>
        <p:nvSpPr>
          <p:cNvPr id="9" name="Text 7"/>
          <p:cNvSpPr/>
          <p:nvPr/>
        </p:nvSpPr>
        <p:spPr>
          <a:xfrm>
            <a:off x="7452360" y="1691640"/>
            <a:ext cx="4160520" cy="577215"/>
          </a:xfrm>
          <a:prstGeom prst="rect">
            <a:avLst/>
          </a:prstGeom>
          <a:noFill/>
          <a:ln/>
        </p:spPr>
        <p:txBody>
          <a:bodyPr wrap="square" rtlCol="0" anchor="ctr"/>
          <a:lstStyle/>
          <a:p>
            <a:pPr algn="ctr" indent="0" marL="0">
              <a:buNone/>
            </a:pPr>
            <a:r>
              <a:rPr lang="en-US" sz="1300" b="1" dirty="0">
                <a:solidFill>
                  <a:srgbClr val="141B48"/>
                </a:solidFill>
                <a:latin typeface="Cambria" pitchFamily="34" charset="0"/>
                <a:ea typeface="Cambria" pitchFamily="34" charset="-122"/>
                <a:cs typeface="Cambria" pitchFamily="34" charset="-120"/>
              </a:rPr>
              <a:t>Modern Management Equivalent</a:t>
            </a:r>
            <a:endParaRPr lang="en-US" sz="1300" dirty="0"/>
          </a:p>
        </p:txBody>
      </p:sp>
      <p:sp>
        <p:nvSpPr>
          <p:cNvPr id="10" name="Shape 8"/>
          <p:cNvSpPr/>
          <p:nvPr/>
        </p:nvSpPr>
        <p:spPr>
          <a:xfrm>
            <a:off x="548640" y="2268855"/>
            <a:ext cx="2743200" cy="577215"/>
          </a:xfrm>
          <a:prstGeom prst="rect">
            <a:avLst/>
          </a:prstGeom>
          <a:solidFill>
            <a:srgbClr val="EEF3FC"/>
          </a:solidFill>
          <a:ln/>
        </p:spPr>
      </p:sp>
      <p:sp>
        <p:nvSpPr>
          <p:cNvPr id="11" name="Shape 9"/>
          <p:cNvSpPr/>
          <p:nvPr/>
        </p:nvSpPr>
        <p:spPr>
          <a:xfrm>
            <a:off x="3291840" y="2268855"/>
            <a:ext cx="4160520" cy="577215"/>
          </a:xfrm>
          <a:prstGeom prst="rect">
            <a:avLst/>
          </a:prstGeom>
          <a:solidFill>
            <a:srgbClr val="EEF3FC"/>
          </a:solidFill>
          <a:ln/>
        </p:spPr>
      </p:sp>
      <p:sp>
        <p:nvSpPr>
          <p:cNvPr id="12" name="Shape 10"/>
          <p:cNvSpPr/>
          <p:nvPr/>
        </p:nvSpPr>
        <p:spPr>
          <a:xfrm>
            <a:off x="7452360" y="2268855"/>
            <a:ext cx="4160520" cy="577215"/>
          </a:xfrm>
          <a:prstGeom prst="rect">
            <a:avLst/>
          </a:prstGeom>
          <a:solidFill>
            <a:srgbClr val="EEF3FC"/>
          </a:solidFill>
          <a:ln/>
        </p:spPr>
      </p:sp>
      <p:sp>
        <p:nvSpPr>
          <p:cNvPr id="13" name="Text 11"/>
          <p:cNvSpPr/>
          <p:nvPr/>
        </p:nvSpPr>
        <p:spPr>
          <a:xfrm>
            <a:off x="685800" y="226885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Nishkama Karma</a:t>
            </a:r>
            <a:endParaRPr lang="en-US" sz="1200" dirty="0"/>
          </a:p>
        </p:txBody>
      </p:sp>
      <p:sp>
        <p:nvSpPr>
          <p:cNvPr id="14" name="Text 12"/>
          <p:cNvSpPr/>
          <p:nvPr/>
        </p:nvSpPr>
        <p:spPr>
          <a:xfrm>
            <a:off x="3429000" y="226885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Duty without attachment to results</a:t>
            </a:r>
            <a:endParaRPr lang="en-US" sz="1150" dirty="0"/>
          </a:p>
        </p:txBody>
      </p:sp>
      <p:sp>
        <p:nvSpPr>
          <p:cNvPr id="15" name="Text 13"/>
          <p:cNvSpPr/>
          <p:nvPr/>
        </p:nvSpPr>
        <p:spPr>
          <a:xfrm>
            <a:off x="7589520" y="226885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Process-focus &amp; intrinsic motivation</a:t>
            </a:r>
            <a:endParaRPr lang="en-US" sz="1150" dirty="0"/>
          </a:p>
        </p:txBody>
      </p:sp>
      <p:sp>
        <p:nvSpPr>
          <p:cNvPr id="16" name="Shape 14"/>
          <p:cNvSpPr/>
          <p:nvPr/>
        </p:nvSpPr>
        <p:spPr>
          <a:xfrm>
            <a:off x="548640" y="2846070"/>
            <a:ext cx="2743200" cy="577215"/>
          </a:xfrm>
          <a:prstGeom prst="rect">
            <a:avLst/>
          </a:prstGeom>
          <a:solidFill>
            <a:srgbClr val="FFFFFF"/>
          </a:solidFill>
          <a:ln/>
        </p:spPr>
      </p:sp>
      <p:sp>
        <p:nvSpPr>
          <p:cNvPr id="17" name="Shape 15"/>
          <p:cNvSpPr/>
          <p:nvPr/>
        </p:nvSpPr>
        <p:spPr>
          <a:xfrm>
            <a:off x="3291840" y="2846070"/>
            <a:ext cx="4160520" cy="577215"/>
          </a:xfrm>
          <a:prstGeom prst="rect">
            <a:avLst/>
          </a:prstGeom>
          <a:solidFill>
            <a:srgbClr val="FFFFFF"/>
          </a:solidFill>
          <a:ln/>
        </p:spPr>
      </p:sp>
      <p:sp>
        <p:nvSpPr>
          <p:cNvPr id="18" name="Shape 16"/>
          <p:cNvSpPr/>
          <p:nvPr/>
        </p:nvSpPr>
        <p:spPr>
          <a:xfrm>
            <a:off x="7452360" y="2846070"/>
            <a:ext cx="4160520" cy="577215"/>
          </a:xfrm>
          <a:prstGeom prst="rect">
            <a:avLst/>
          </a:prstGeom>
          <a:solidFill>
            <a:srgbClr val="FFFFFF"/>
          </a:solidFill>
          <a:ln/>
        </p:spPr>
      </p:sp>
      <p:sp>
        <p:nvSpPr>
          <p:cNvPr id="19" name="Text 17"/>
          <p:cNvSpPr/>
          <p:nvPr/>
        </p:nvSpPr>
        <p:spPr>
          <a:xfrm>
            <a:off x="685800" y="2846070"/>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Swadharma</a:t>
            </a:r>
            <a:endParaRPr lang="en-US" sz="1200" dirty="0"/>
          </a:p>
        </p:txBody>
      </p:sp>
      <p:sp>
        <p:nvSpPr>
          <p:cNvPr id="20" name="Text 18"/>
          <p:cNvSpPr/>
          <p:nvPr/>
        </p:nvSpPr>
        <p:spPr>
          <a:xfrm>
            <a:off x="3429000" y="284607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Duty suited to one's own nature</a:t>
            </a:r>
            <a:endParaRPr lang="en-US" sz="1150" dirty="0"/>
          </a:p>
        </p:txBody>
      </p:sp>
      <p:sp>
        <p:nvSpPr>
          <p:cNvPr id="21" name="Text 19"/>
          <p:cNvSpPr/>
          <p:nvPr/>
        </p:nvSpPr>
        <p:spPr>
          <a:xfrm>
            <a:off x="7589520" y="284607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Role clarity &amp; person-job fit</a:t>
            </a:r>
            <a:endParaRPr lang="en-US" sz="1150" dirty="0"/>
          </a:p>
        </p:txBody>
      </p:sp>
      <p:sp>
        <p:nvSpPr>
          <p:cNvPr id="22" name="Shape 20"/>
          <p:cNvSpPr/>
          <p:nvPr/>
        </p:nvSpPr>
        <p:spPr>
          <a:xfrm>
            <a:off x="548640" y="3423285"/>
            <a:ext cx="2743200" cy="577215"/>
          </a:xfrm>
          <a:prstGeom prst="rect">
            <a:avLst/>
          </a:prstGeom>
          <a:solidFill>
            <a:srgbClr val="EEF3FC"/>
          </a:solidFill>
          <a:ln/>
        </p:spPr>
      </p:sp>
      <p:sp>
        <p:nvSpPr>
          <p:cNvPr id="23" name="Shape 21"/>
          <p:cNvSpPr/>
          <p:nvPr/>
        </p:nvSpPr>
        <p:spPr>
          <a:xfrm>
            <a:off x="3291840" y="3423285"/>
            <a:ext cx="4160520" cy="577215"/>
          </a:xfrm>
          <a:prstGeom prst="rect">
            <a:avLst/>
          </a:prstGeom>
          <a:solidFill>
            <a:srgbClr val="EEF3FC"/>
          </a:solidFill>
          <a:ln/>
        </p:spPr>
      </p:sp>
      <p:sp>
        <p:nvSpPr>
          <p:cNvPr id="24" name="Shape 22"/>
          <p:cNvSpPr/>
          <p:nvPr/>
        </p:nvSpPr>
        <p:spPr>
          <a:xfrm>
            <a:off x="7452360" y="3423285"/>
            <a:ext cx="4160520" cy="577215"/>
          </a:xfrm>
          <a:prstGeom prst="rect">
            <a:avLst/>
          </a:prstGeom>
          <a:solidFill>
            <a:srgbClr val="EEF3FC"/>
          </a:solidFill>
          <a:ln/>
        </p:spPr>
      </p:sp>
      <p:sp>
        <p:nvSpPr>
          <p:cNvPr id="25" name="Text 23"/>
          <p:cNvSpPr/>
          <p:nvPr/>
        </p:nvSpPr>
        <p:spPr>
          <a:xfrm>
            <a:off x="685800" y="342328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Sthitaprajna</a:t>
            </a:r>
            <a:endParaRPr lang="en-US" sz="1200" dirty="0"/>
          </a:p>
        </p:txBody>
      </p:sp>
      <p:sp>
        <p:nvSpPr>
          <p:cNvPr id="26" name="Text 24"/>
          <p:cNvSpPr/>
          <p:nvPr/>
        </p:nvSpPr>
        <p:spPr>
          <a:xfrm>
            <a:off x="3429000" y="342328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Steady wisdom in success/failure</a:t>
            </a:r>
            <a:endParaRPr lang="en-US" sz="1150" dirty="0"/>
          </a:p>
        </p:txBody>
      </p:sp>
      <p:sp>
        <p:nvSpPr>
          <p:cNvPr id="27" name="Text 25"/>
          <p:cNvSpPr/>
          <p:nvPr/>
        </p:nvSpPr>
        <p:spPr>
          <a:xfrm>
            <a:off x="7589520" y="342328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Emotional intelligence &amp; resilience</a:t>
            </a:r>
            <a:endParaRPr lang="en-US" sz="1150" dirty="0"/>
          </a:p>
        </p:txBody>
      </p:sp>
      <p:sp>
        <p:nvSpPr>
          <p:cNvPr id="28" name="Shape 26"/>
          <p:cNvSpPr/>
          <p:nvPr/>
        </p:nvSpPr>
        <p:spPr>
          <a:xfrm>
            <a:off x="548640" y="4000500"/>
            <a:ext cx="2743200" cy="577215"/>
          </a:xfrm>
          <a:prstGeom prst="rect">
            <a:avLst/>
          </a:prstGeom>
          <a:solidFill>
            <a:srgbClr val="FFFFFF"/>
          </a:solidFill>
          <a:ln/>
        </p:spPr>
      </p:sp>
      <p:sp>
        <p:nvSpPr>
          <p:cNvPr id="29" name="Shape 27"/>
          <p:cNvSpPr/>
          <p:nvPr/>
        </p:nvSpPr>
        <p:spPr>
          <a:xfrm>
            <a:off x="3291840" y="4000500"/>
            <a:ext cx="4160520" cy="577215"/>
          </a:xfrm>
          <a:prstGeom prst="rect">
            <a:avLst/>
          </a:prstGeom>
          <a:solidFill>
            <a:srgbClr val="FFFFFF"/>
          </a:solidFill>
          <a:ln/>
        </p:spPr>
      </p:sp>
      <p:sp>
        <p:nvSpPr>
          <p:cNvPr id="30" name="Shape 28"/>
          <p:cNvSpPr/>
          <p:nvPr/>
        </p:nvSpPr>
        <p:spPr>
          <a:xfrm>
            <a:off x="7452360" y="4000500"/>
            <a:ext cx="4160520" cy="577215"/>
          </a:xfrm>
          <a:prstGeom prst="rect">
            <a:avLst/>
          </a:prstGeom>
          <a:solidFill>
            <a:srgbClr val="FFFFFF"/>
          </a:solidFill>
          <a:ln/>
        </p:spPr>
      </p:sp>
      <p:sp>
        <p:nvSpPr>
          <p:cNvPr id="31" name="Text 29"/>
          <p:cNvSpPr/>
          <p:nvPr/>
        </p:nvSpPr>
        <p:spPr>
          <a:xfrm>
            <a:off x="685800" y="4000500"/>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Buddhi Yoga</a:t>
            </a:r>
            <a:endParaRPr lang="en-US" sz="1200" dirty="0"/>
          </a:p>
        </p:txBody>
      </p:sp>
      <p:sp>
        <p:nvSpPr>
          <p:cNvPr id="32" name="Text 30"/>
          <p:cNvSpPr/>
          <p:nvPr/>
        </p:nvSpPr>
        <p:spPr>
          <a:xfrm>
            <a:off x="3429000" y="400050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Single-pointed, resolute intellect</a:t>
            </a:r>
            <a:endParaRPr lang="en-US" sz="1150" dirty="0"/>
          </a:p>
        </p:txBody>
      </p:sp>
      <p:sp>
        <p:nvSpPr>
          <p:cNvPr id="33" name="Text 31"/>
          <p:cNvSpPr/>
          <p:nvPr/>
        </p:nvSpPr>
        <p:spPr>
          <a:xfrm>
            <a:off x="7589520" y="400050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Decisiveness &amp; goal clarity</a:t>
            </a:r>
            <a:endParaRPr lang="en-US" sz="1150" dirty="0"/>
          </a:p>
        </p:txBody>
      </p:sp>
      <p:sp>
        <p:nvSpPr>
          <p:cNvPr id="34" name="Shape 32"/>
          <p:cNvSpPr/>
          <p:nvPr/>
        </p:nvSpPr>
        <p:spPr>
          <a:xfrm>
            <a:off x="548640" y="4577715"/>
            <a:ext cx="2743200" cy="577215"/>
          </a:xfrm>
          <a:prstGeom prst="rect">
            <a:avLst/>
          </a:prstGeom>
          <a:solidFill>
            <a:srgbClr val="EEF3FC"/>
          </a:solidFill>
          <a:ln/>
        </p:spPr>
      </p:sp>
      <p:sp>
        <p:nvSpPr>
          <p:cNvPr id="35" name="Shape 33"/>
          <p:cNvSpPr/>
          <p:nvPr/>
        </p:nvSpPr>
        <p:spPr>
          <a:xfrm>
            <a:off x="3291840" y="4577715"/>
            <a:ext cx="4160520" cy="577215"/>
          </a:xfrm>
          <a:prstGeom prst="rect">
            <a:avLst/>
          </a:prstGeom>
          <a:solidFill>
            <a:srgbClr val="EEF3FC"/>
          </a:solidFill>
          <a:ln/>
        </p:spPr>
      </p:sp>
      <p:sp>
        <p:nvSpPr>
          <p:cNvPr id="36" name="Shape 34"/>
          <p:cNvSpPr/>
          <p:nvPr/>
        </p:nvSpPr>
        <p:spPr>
          <a:xfrm>
            <a:off x="7452360" y="4577715"/>
            <a:ext cx="4160520" cy="577215"/>
          </a:xfrm>
          <a:prstGeom prst="rect">
            <a:avLst/>
          </a:prstGeom>
          <a:solidFill>
            <a:srgbClr val="EEF3FC"/>
          </a:solidFill>
          <a:ln/>
        </p:spPr>
      </p:sp>
      <p:sp>
        <p:nvSpPr>
          <p:cNvPr id="37" name="Text 35"/>
          <p:cNvSpPr/>
          <p:nvPr/>
        </p:nvSpPr>
        <p:spPr>
          <a:xfrm>
            <a:off x="685800" y="457771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Three Gunas</a:t>
            </a:r>
            <a:endParaRPr lang="en-US" sz="1200" dirty="0"/>
          </a:p>
        </p:txBody>
      </p:sp>
      <p:sp>
        <p:nvSpPr>
          <p:cNvPr id="38" name="Text 36"/>
          <p:cNvSpPr/>
          <p:nvPr/>
        </p:nvSpPr>
        <p:spPr>
          <a:xfrm>
            <a:off x="3429000" y="457771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Sattva, Rajas, Tamas</a:t>
            </a:r>
            <a:endParaRPr lang="en-US" sz="1150" dirty="0"/>
          </a:p>
        </p:txBody>
      </p:sp>
      <p:sp>
        <p:nvSpPr>
          <p:cNvPr id="39" name="Text 37"/>
          <p:cNvSpPr/>
          <p:nvPr/>
        </p:nvSpPr>
        <p:spPr>
          <a:xfrm>
            <a:off x="7589520" y="457771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Diagnosing culture &amp; leadership style</a:t>
            </a:r>
            <a:endParaRPr lang="en-US" sz="1150" dirty="0"/>
          </a:p>
        </p:txBody>
      </p:sp>
      <p:sp>
        <p:nvSpPr>
          <p:cNvPr id="40" name="Shape 38"/>
          <p:cNvSpPr/>
          <p:nvPr/>
        </p:nvSpPr>
        <p:spPr>
          <a:xfrm>
            <a:off x="548640" y="5154930"/>
            <a:ext cx="2743200" cy="577215"/>
          </a:xfrm>
          <a:prstGeom prst="rect">
            <a:avLst/>
          </a:prstGeom>
          <a:solidFill>
            <a:srgbClr val="FFFFFF"/>
          </a:solidFill>
          <a:ln/>
        </p:spPr>
      </p:sp>
      <p:sp>
        <p:nvSpPr>
          <p:cNvPr id="41" name="Shape 39"/>
          <p:cNvSpPr/>
          <p:nvPr/>
        </p:nvSpPr>
        <p:spPr>
          <a:xfrm>
            <a:off x="3291840" y="5154930"/>
            <a:ext cx="4160520" cy="577215"/>
          </a:xfrm>
          <a:prstGeom prst="rect">
            <a:avLst/>
          </a:prstGeom>
          <a:solidFill>
            <a:srgbClr val="FFFFFF"/>
          </a:solidFill>
          <a:ln/>
        </p:spPr>
      </p:sp>
      <p:sp>
        <p:nvSpPr>
          <p:cNvPr id="42" name="Shape 40"/>
          <p:cNvSpPr/>
          <p:nvPr/>
        </p:nvSpPr>
        <p:spPr>
          <a:xfrm>
            <a:off x="7452360" y="5154930"/>
            <a:ext cx="4160520" cy="577215"/>
          </a:xfrm>
          <a:prstGeom prst="rect">
            <a:avLst/>
          </a:prstGeom>
          <a:solidFill>
            <a:srgbClr val="FFFFFF"/>
          </a:solidFill>
          <a:ln/>
        </p:spPr>
      </p:sp>
      <p:sp>
        <p:nvSpPr>
          <p:cNvPr id="43" name="Text 41"/>
          <p:cNvSpPr/>
          <p:nvPr/>
        </p:nvSpPr>
        <p:spPr>
          <a:xfrm>
            <a:off x="685800" y="5154930"/>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Self-Mastery</a:t>
            </a:r>
            <a:endParaRPr lang="en-US" sz="1200" dirty="0"/>
          </a:p>
        </p:txBody>
      </p:sp>
      <p:sp>
        <p:nvSpPr>
          <p:cNvPr id="44" name="Text 42"/>
          <p:cNvSpPr/>
          <p:nvPr/>
        </p:nvSpPr>
        <p:spPr>
          <a:xfrm>
            <a:off x="3429000" y="515493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Control over mind &amp; senses</a:t>
            </a:r>
            <a:endParaRPr lang="en-US" sz="1150" dirty="0"/>
          </a:p>
        </p:txBody>
      </p:sp>
      <p:sp>
        <p:nvSpPr>
          <p:cNvPr id="45" name="Text 43"/>
          <p:cNvSpPr/>
          <p:nvPr/>
        </p:nvSpPr>
        <p:spPr>
          <a:xfrm>
            <a:off x="7589520" y="515493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Stress management &amp; mindful leadership</a:t>
            </a:r>
            <a:endParaRPr lang="en-US" sz="1150" dirty="0"/>
          </a:p>
        </p:txBody>
      </p:sp>
      <p:sp>
        <p:nvSpPr>
          <p:cNvPr id="46" name="Shape 44"/>
          <p:cNvSpPr/>
          <p:nvPr/>
        </p:nvSpPr>
        <p:spPr>
          <a:xfrm>
            <a:off x="548640" y="5732145"/>
            <a:ext cx="2743200" cy="577215"/>
          </a:xfrm>
          <a:prstGeom prst="rect">
            <a:avLst/>
          </a:prstGeom>
          <a:solidFill>
            <a:srgbClr val="EEF3FC"/>
          </a:solidFill>
          <a:ln/>
        </p:spPr>
      </p:sp>
      <p:sp>
        <p:nvSpPr>
          <p:cNvPr id="47" name="Shape 45"/>
          <p:cNvSpPr/>
          <p:nvPr/>
        </p:nvSpPr>
        <p:spPr>
          <a:xfrm>
            <a:off x="3291840" y="5732145"/>
            <a:ext cx="4160520" cy="577215"/>
          </a:xfrm>
          <a:prstGeom prst="rect">
            <a:avLst/>
          </a:prstGeom>
          <a:solidFill>
            <a:srgbClr val="EEF3FC"/>
          </a:solidFill>
          <a:ln/>
        </p:spPr>
      </p:sp>
      <p:sp>
        <p:nvSpPr>
          <p:cNvPr id="48" name="Shape 46"/>
          <p:cNvSpPr/>
          <p:nvPr/>
        </p:nvSpPr>
        <p:spPr>
          <a:xfrm>
            <a:off x="7452360" y="5732145"/>
            <a:ext cx="4160520" cy="577215"/>
          </a:xfrm>
          <a:prstGeom prst="rect">
            <a:avLst/>
          </a:prstGeom>
          <a:solidFill>
            <a:srgbClr val="EEF3FC"/>
          </a:solidFill>
          <a:ln/>
        </p:spPr>
      </p:sp>
      <p:sp>
        <p:nvSpPr>
          <p:cNvPr id="49" name="Text 47"/>
          <p:cNvSpPr/>
          <p:nvPr/>
        </p:nvSpPr>
        <p:spPr>
          <a:xfrm>
            <a:off x="685800" y="573214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Krishna's Counsel</a:t>
            </a:r>
            <a:endParaRPr lang="en-US" sz="1200" dirty="0"/>
          </a:p>
        </p:txBody>
      </p:sp>
      <p:sp>
        <p:nvSpPr>
          <p:cNvPr id="50" name="Text 48"/>
          <p:cNvSpPr/>
          <p:nvPr/>
        </p:nvSpPr>
        <p:spPr>
          <a:xfrm>
            <a:off x="3429000" y="573214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Coach, then let the person decide</a:t>
            </a:r>
            <a:endParaRPr lang="en-US" sz="1150" dirty="0"/>
          </a:p>
        </p:txBody>
      </p:sp>
      <p:sp>
        <p:nvSpPr>
          <p:cNvPr id="51" name="Text 49"/>
          <p:cNvSpPr/>
          <p:nvPr/>
        </p:nvSpPr>
        <p:spPr>
          <a:xfrm>
            <a:off x="7589520" y="573214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Situational &amp; participative leadership</a:t>
            </a:r>
            <a:endParaRPr lang="en-US" sz="1150" dirty="0"/>
          </a:p>
        </p:txBody>
      </p:sp>
      <p:sp>
        <p:nvSpPr>
          <p:cNvPr id="52" name="Text 50"/>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INDIAN ETHOS FOR MANAGEMENT</a:t>
            </a:r>
            <a:endParaRPr lang="en-US" sz="1100" dirty="0"/>
          </a:p>
        </p:txBody>
      </p:sp>
      <p:sp>
        <p:nvSpPr>
          <p:cNvPr id="53" name="Text 51"/>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B</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Schools of Thought</a:t>
            </a:r>
            <a:endParaRPr lang="en-US" sz="32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Administration vs. Management</a:t>
            </a:r>
            <a:endParaRPr lang="en-US" sz="20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96112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Are these the same activity under two names — or two distinct levels of organizational work?</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ADMINISTRATION VS.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Meaning of 'Administration'</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Administration is the process of determining the objectives, policies, and overall direction of an organization — deciding what is to be done and why.</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word derives from the Latin 'administrare' — to manage or to serve.</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The term is used most often in government, non-profit, educational, and public-service contexts: 'public administration', 'university administration', 'hospital administration'.</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Setting Direction</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university's governing council deciding to open a new campus and setting admission policy — an administrative decision.</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ADMINISTRATION VS.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ADMINISTRATION VS.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Meaning of 'Management'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Management is the process of executing plans, organizing resources, and directing people to achieve the objectives already set by administration — deciding how it is to be done.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It is the more common term in commercial and business contexts — 'sales management', 'plant management', 'brand management'.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Where administration asks 'what should we achieve?', management asks 'how do we get it done, with the people and resources we have?'</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Getting It Done</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The Registrar's office implementing the new campus opening — hiring staff, setting timetables, running admissions day-to-day — is management in action.</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ADMINISTRATION VS.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ADMINISTRATION VS.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Viewpoint 1: Administration and Management are One and the Same</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b="1" dirty="0">
                <a:solidFill>
                  <a:srgbClr val="2B2B33"/>
                </a:solidFill>
                <a:latin typeface="Calibri" pitchFamily="34" charset="0"/>
                <a:ea typeface="Calibri" pitchFamily="34" charset="-122"/>
                <a:cs typeface="Calibri" pitchFamily="34" charset="-120"/>
              </a:rPr>
              <a:t>Proponents: Henri Fayol, William Newman, Koontz &amp; O'Donnell, Ernest Dale.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Their argument: both activities involve the same core functions — planning, organizing, staffing, directing, coordinating, and controlling. The distinction, they argue, lies only in the label used by context (Administration in government/non-profits, Management in business) — not in the substance of the work.</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William Newman makes no distinction at all — he treats both as instruments of guidance, leadership, and control of the efforts of a group toward common goals.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Same Job, Different Sign</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city 'Municipal Commissioner' and a company 'General Manager' both plan, organize, staff, direct and control — only their title and setting differ.</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ADMINISTRATION VS.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ADMINISTRATION VS.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Viewpoint 2: Administration is a Higher-Level Function</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b="1" dirty="0">
                <a:solidFill>
                  <a:srgbClr val="2B2B33"/>
                </a:solidFill>
                <a:latin typeface="Calibri" pitchFamily="34" charset="0"/>
                <a:ea typeface="Calibri" pitchFamily="34" charset="-122"/>
                <a:cs typeface="Calibri" pitchFamily="34" charset="-120"/>
              </a:rPr>
              <a:t>Proponents: Oliver Sheldon, Ordway Tead, Lawrence Lowell.</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Their argument: Administration is the top-level, policy-determining ('thinking') function — it sets objectives and broad policy. Management is the middle/lower-level, policy-executing ('doing') function — it implements within the limits Administration has set.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As Oliver Sheldon put it: Administration decides what is to be done and why; Management decides how it is to be done and by whom.</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Thinker vs. Doer</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company's Board approving a five-year strategy (Administration) while divisional managers turn it into quarterly targets and daily tasks (Management).</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ADMINISTRATION VS.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ADMINISTRATION VS.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Basis of Distinction (Viewpoint 2)</a:t>
            </a:r>
            <a:endParaRPr lang="en-US" sz="2900" dirty="0"/>
          </a:p>
        </p:txBody>
      </p:sp>
      <p:sp>
        <p:nvSpPr>
          <p:cNvPr id="4" name="Shape 2"/>
          <p:cNvSpPr/>
          <p:nvPr/>
        </p:nvSpPr>
        <p:spPr>
          <a:xfrm>
            <a:off x="548640" y="1691640"/>
            <a:ext cx="2743200" cy="577215"/>
          </a:xfrm>
          <a:prstGeom prst="rect">
            <a:avLst/>
          </a:prstGeom>
          <a:solidFill>
            <a:srgbClr val="1E2761"/>
          </a:solidFill>
          <a:ln/>
        </p:spPr>
      </p:sp>
      <p:sp>
        <p:nvSpPr>
          <p:cNvPr id="5" name="Shape 3"/>
          <p:cNvSpPr/>
          <p:nvPr/>
        </p:nvSpPr>
        <p:spPr>
          <a:xfrm>
            <a:off x="3291840" y="1691640"/>
            <a:ext cx="4160520" cy="577215"/>
          </a:xfrm>
          <a:prstGeom prst="rect">
            <a:avLst/>
          </a:prstGeom>
          <a:solidFill>
            <a:srgbClr val="3A4A8C"/>
          </a:solidFill>
          <a:ln/>
        </p:spPr>
      </p:sp>
      <p:sp>
        <p:nvSpPr>
          <p:cNvPr id="6" name="Shape 4"/>
          <p:cNvSpPr/>
          <p:nvPr/>
        </p:nvSpPr>
        <p:spPr>
          <a:xfrm>
            <a:off x="7452360" y="1691640"/>
            <a:ext cx="4160520" cy="577215"/>
          </a:xfrm>
          <a:prstGeom prst="rect">
            <a:avLst/>
          </a:prstGeom>
          <a:solidFill>
            <a:srgbClr val="C9A24B"/>
          </a:solidFill>
          <a:ln/>
        </p:spPr>
      </p:sp>
      <p:sp>
        <p:nvSpPr>
          <p:cNvPr id="7" name="Text 5"/>
          <p:cNvSpPr/>
          <p:nvPr/>
        </p:nvSpPr>
        <p:spPr>
          <a:xfrm>
            <a:off x="548640" y="1691640"/>
            <a:ext cx="2743200" cy="577215"/>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BASIS</a:t>
            </a:r>
            <a:endParaRPr lang="en-US" sz="1300" dirty="0"/>
          </a:p>
        </p:txBody>
      </p:sp>
      <p:sp>
        <p:nvSpPr>
          <p:cNvPr id="8" name="Text 6"/>
          <p:cNvSpPr/>
          <p:nvPr/>
        </p:nvSpPr>
        <p:spPr>
          <a:xfrm>
            <a:off x="3291840" y="1691640"/>
            <a:ext cx="4160520" cy="577215"/>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Administration</a:t>
            </a:r>
            <a:endParaRPr lang="en-US" sz="1300" dirty="0"/>
          </a:p>
        </p:txBody>
      </p:sp>
      <p:sp>
        <p:nvSpPr>
          <p:cNvPr id="9" name="Text 7"/>
          <p:cNvSpPr/>
          <p:nvPr/>
        </p:nvSpPr>
        <p:spPr>
          <a:xfrm>
            <a:off x="7452360" y="1691640"/>
            <a:ext cx="4160520" cy="577215"/>
          </a:xfrm>
          <a:prstGeom prst="rect">
            <a:avLst/>
          </a:prstGeom>
          <a:noFill/>
          <a:ln/>
        </p:spPr>
        <p:txBody>
          <a:bodyPr wrap="square" rtlCol="0" anchor="ctr"/>
          <a:lstStyle/>
          <a:p>
            <a:pPr algn="ctr" indent="0" marL="0">
              <a:buNone/>
            </a:pPr>
            <a:r>
              <a:rPr lang="en-US" sz="1300" b="1" dirty="0">
                <a:solidFill>
                  <a:srgbClr val="141B48"/>
                </a:solidFill>
                <a:latin typeface="Cambria" pitchFamily="34" charset="0"/>
                <a:ea typeface="Cambria" pitchFamily="34" charset="-122"/>
                <a:cs typeface="Cambria" pitchFamily="34" charset="-120"/>
              </a:rPr>
              <a:t>Management</a:t>
            </a:r>
            <a:endParaRPr lang="en-US" sz="1300" dirty="0"/>
          </a:p>
        </p:txBody>
      </p:sp>
      <p:sp>
        <p:nvSpPr>
          <p:cNvPr id="10" name="Shape 8"/>
          <p:cNvSpPr/>
          <p:nvPr/>
        </p:nvSpPr>
        <p:spPr>
          <a:xfrm>
            <a:off x="548640" y="2268855"/>
            <a:ext cx="2743200" cy="577215"/>
          </a:xfrm>
          <a:prstGeom prst="rect">
            <a:avLst/>
          </a:prstGeom>
          <a:solidFill>
            <a:srgbClr val="EEF3FC"/>
          </a:solidFill>
          <a:ln/>
        </p:spPr>
      </p:sp>
      <p:sp>
        <p:nvSpPr>
          <p:cNvPr id="11" name="Shape 9"/>
          <p:cNvSpPr/>
          <p:nvPr/>
        </p:nvSpPr>
        <p:spPr>
          <a:xfrm>
            <a:off x="3291840" y="2268855"/>
            <a:ext cx="4160520" cy="577215"/>
          </a:xfrm>
          <a:prstGeom prst="rect">
            <a:avLst/>
          </a:prstGeom>
          <a:solidFill>
            <a:srgbClr val="EEF3FC"/>
          </a:solidFill>
          <a:ln/>
        </p:spPr>
      </p:sp>
      <p:sp>
        <p:nvSpPr>
          <p:cNvPr id="12" name="Shape 10"/>
          <p:cNvSpPr/>
          <p:nvPr/>
        </p:nvSpPr>
        <p:spPr>
          <a:xfrm>
            <a:off x="7452360" y="2268855"/>
            <a:ext cx="4160520" cy="577215"/>
          </a:xfrm>
          <a:prstGeom prst="rect">
            <a:avLst/>
          </a:prstGeom>
          <a:solidFill>
            <a:srgbClr val="EEF3FC"/>
          </a:solidFill>
          <a:ln/>
        </p:spPr>
      </p:sp>
      <p:sp>
        <p:nvSpPr>
          <p:cNvPr id="13" name="Text 11"/>
          <p:cNvSpPr/>
          <p:nvPr/>
        </p:nvSpPr>
        <p:spPr>
          <a:xfrm>
            <a:off x="685800" y="226885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Nature of function</a:t>
            </a:r>
            <a:endParaRPr lang="en-US" sz="1200" dirty="0"/>
          </a:p>
        </p:txBody>
      </p:sp>
      <p:sp>
        <p:nvSpPr>
          <p:cNvPr id="14" name="Text 12"/>
          <p:cNvSpPr/>
          <p:nvPr/>
        </p:nvSpPr>
        <p:spPr>
          <a:xfrm>
            <a:off x="3429000" y="226885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Thinking / determinative</a:t>
            </a:r>
            <a:endParaRPr lang="en-US" sz="1150" dirty="0"/>
          </a:p>
        </p:txBody>
      </p:sp>
      <p:sp>
        <p:nvSpPr>
          <p:cNvPr id="15" name="Text 13"/>
          <p:cNvSpPr/>
          <p:nvPr/>
        </p:nvSpPr>
        <p:spPr>
          <a:xfrm>
            <a:off x="7589520" y="226885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Doing / executive</a:t>
            </a:r>
            <a:endParaRPr lang="en-US" sz="1150" dirty="0"/>
          </a:p>
        </p:txBody>
      </p:sp>
      <p:sp>
        <p:nvSpPr>
          <p:cNvPr id="16" name="Shape 14"/>
          <p:cNvSpPr/>
          <p:nvPr/>
        </p:nvSpPr>
        <p:spPr>
          <a:xfrm>
            <a:off x="548640" y="2846070"/>
            <a:ext cx="2743200" cy="577215"/>
          </a:xfrm>
          <a:prstGeom prst="rect">
            <a:avLst/>
          </a:prstGeom>
          <a:solidFill>
            <a:srgbClr val="FFFFFF"/>
          </a:solidFill>
          <a:ln/>
        </p:spPr>
      </p:sp>
      <p:sp>
        <p:nvSpPr>
          <p:cNvPr id="17" name="Shape 15"/>
          <p:cNvSpPr/>
          <p:nvPr/>
        </p:nvSpPr>
        <p:spPr>
          <a:xfrm>
            <a:off x="3291840" y="2846070"/>
            <a:ext cx="4160520" cy="577215"/>
          </a:xfrm>
          <a:prstGeom prst="rect">
            <a:avLst/>
          </a:prstGeom>
          <a:solidFill>
            <a:srgbClr val="FFFFFF"/>
          </a:solidFill>
          <a:ln/>
        </p:spPr>
      </p:sp>
      <p:sp>
        <p:nvSpPr>
          <p:cNvPr id="18" name="Shape 16"/>
          <p:cNvSpPr/>
          <p:nvPr/>
        </p:nvSpPr>
        <p:spPr>
          <a:xfrm>
            <a:off x="7452360" y="2846070"/>
            <a:ext cx="4160520" cy="577215"/>
          </a:xfrm>
          <a:prstGeom prst="rect">
            <a:avLst/>
          </a:prstGeom>
          <a:solidFill>
            <a:srgbClr val="FFFFFF"/>
          </a:solidFill>
          <a:ln/>
        </p:spPr>
      </p:sp>
      <p:sp>
        <p:nvSpPr>
          <p:cNvPr id="19" name="Text 17"/>
          <p:cNvSpPr/>
          <p:nvPr/>
        </p:nvSpPr>
        <p:spPr>
          <a:xfrm>
            <a:off x="685800" y="2846070"/>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Level in organization</a:t>
            </a:r>
            <a:endParaRPr lang="en-US" sz="1200" dirty="0"/>
          </a:p>
        </p:txBody>
      </p:sp>
      <p:sp>
        <p:nvSpPr>
          <p:cNvPr id="20" name="Text 18"/>
          <p:cNvSpPr/>
          <p:nvPr/>
        </p:nvSpPr>
        <p:spPr>
          <a:xfrm>
            <a:off x="3429000" y="284607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Top-level</a:t>
            </a:r>
            <a:endParaRPr lang="en-US" sz="1150" dirty="0"/>
          </a:p>
        </p:txBody>
      </p:sp>
      <p:sp>
        <p:nvSpPr>
          <p:cNvPr id="21" name="Text 19"/>
          <p:cNvSpPr/>
          <p:nvPr/>
        </p:nvSpPr>
        <p:spPr>
          <a:xfrm>
            <a:off x="7589520" y="284607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Middle &amp; lower-level</a:t>
            </a:r>
            <a:endParaRPr lang="en-US" sz="1150" dirty="0"/>
          </a:p>
        </p:txBody>
      </p:sp>
      <p:sp>
        <p:nvSpPr>
          <p:cNvPr id="22" name="Shape 20"/>
          <p:cNvSpPr/>
          <p:nvPr/>
        </p:nvSpPr>
        <p:spPr>
          <a:xfrm>
            <a:off x="548640" y="3423285"/>
            <a:ext cx="2743200" cy="577215"/>
          </a:xfrm>
          <a:prstGeom prst="rect">
            <a:avLst/>
          </a:prstGeom>
          <a:solidFill>
            <a:srgbClr val="EEF3FC"/>
          </a:solidFill>
          <a:ln/>
        </p:spPr>
      </p:sp>
      <p:sp>
        <p:nvSpPr>
          <p:cNvPr id="23" name="Shape 21"/>
          <p:cNvSpPr/>
          <p:nvPr/>
        </p:nvSpPr>
        <p:spPr>
          <a:xfrm>
            <a:off x="3291840" y="3423285"/>
            <a:ext cx="4160520" cy="577215"/>
          </a:xfrm>
          <a:prstGeom prst="rect">
            <a:avLst/>
          </a:prstGeom>
          <a:solidFill>
            <a:srgbClr val="EEF3FC"/>
          </a:solidFill>
          <a:ln/>
        </p:spPr>
      </p:sp>
      <p:sp>
        <p:nvSpPr>
          <p:cNvPr id="24" name="Shape 22"/>
          <p:cNvSpPr/>
          <p:nvPr/>
        </p:nvSpPr>
        <p:spPr>
          <a:xfrm>
            <a:off x="7452360" y="3423285"/>
            <a:ext cx="4160520" cy="577215"/>
          </a:xfrm>
          <a:prstGeom prst="rect">
            <a:avLst/>
          </a:prstGeom>
          <a:solidFill>
            <a:srgbClr val="EEF3FC"/>
          </a:solidFill>
          <a:ln/>
        </p:spPr>
      </p:sp>
      <p:sp>
        <p:nvSpPr>
          <p:cNvPr id="25" name="Text 23"/>
          <p:cNvSpPr/>
          <p:nvPr/>
        </p:nvSpPr>
        <p:spPr>
          <a:xfrm>
            <a:off x="685800" y="342328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Main activities</a:t>
            </a:r>
            <a:endParaRPr lang="en-US" sz="1200" dirty="0"/>
          </a:p>
        </p:txBody>
      </p:sp>
      <p:sp>
        <p:nvSpPr>
          <p:cNvPr id="26" name="Text 24"/>
          <p:cNvSpPr/>
          <p:nvPr/>
        </p:nvSpPr>
        <p:spPr>
          <a:xfrm>
            <a:off x="3429000" y="342328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Planning, policy-making</a:t>
            </a:r>
            <a:endParaRPr lang="en-US" sz="1150" dirty="0"/>
          </a:p>
        </p:txBody>
      </p:sp>
      <p:sp>
        <p:nvSpPr>
          <p:cNvPr id="27" name="Text 25"/>
          <p:cNvSpPr/>
          <p:nvPr/>
        </p:nvSpPr>
        <p:spPr>
          <a:xfrm>
            <a:off x="7589520" y="342328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Organizing, directing, controlling</a:t>
            </a:r>
            <a:endParaRPr lang="en-US" sz="1150" dirty="0"/>
          </a:p>
        </p:txBody>
      </p:sp>
      <p:sp>
        <p:nvSpPr>
          <p:cNvPr id="28" name="Shape 26"/>
          <p:cNvSpPr/>
          <p:nvPr/>
        </p:nvSpPr>
        <p:spPr>
          <a:xfrm>
            <a:off x="548640" y="4000500"/>
            <a:ext cx="2743200" cy="577215"/>
          </a:xfrm>
          <a:prstGeom prst="rect">
            <a:avLst/>
          </a:prstGeom>
          <a:solidFill>
            <a:srgbClr val="FFFFFF"/>
          </a:solidFill>
          <a:ln/>
        </p:spPr>
      </p:sp>
      <p:sp>
        <p:nvSpPr>
          <p:cNvPr id="29" name="Shape 27"/>
          <p:cNvSpPr/>
          <p:nvPr/>
        </p:nvSpPr>
        <p:spPr>
          <a:xfrm>
            <a:off x="3291840" y="4000500"/>
            <a:ext cx="4160520" cy="577215"/>
          </a:xfrm>
          <a:prstGeom prst="rect">
            <a:avLst/>
          </a:prstGeom>
          <a:solidFill>
            <a:srgbClr val="FFFFFF"/>
          </a:solidFill>
          <a:ln/>
        </p:spPr>
      </p:sp>
      <p:sp>
        <p:nvSpPr>
          <p:cNvPr id="30" name="Shape 28"/>
          <p:cNvSpPr/>
          <p:nvPr/>
        </p:nvSpPr>
        <p:spPr>
          <a:xfrm>
            <a:off x="7452360" y="4000500"/>
            <a:ext cx="4160520" cy="577215"/>
          </a:xfrm>
          <a:prstGeom prst="rect">
            <a:avLst/>
          </a:prstGeom>
          <a:solidFill>
            <a:srgbClr val="FFFFFF"/>
          </a:solidFill>
          <a:ln/>
        </p:spPr>
      </p:sp>
      <p:sp>
        <p:nvSpPr>
          <p:cNvPr id="31" name="Text 29"/>
          <p:cNvSpPr/>
          <p:nvPr/>
        </p:nvSpPr>
        <p:spPr>
          <a:xfrm>
            <a:off x="685800" y="4000500"/>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Skills needed most</a:t>
            </a:r>
            <a:endParaRPr lang="en-US" sz="1200" dirty="0"/>
          </a:p>
        </p:txBody>
      </p:sp>
      <p:sp>
        <p:nvSpPr>
          <p:cNvPr id="32" name="Text 30"/>
          <p:cNvSpPr/>
          <p:nvPr/>
        </p:nvSpPr>
        <p:spPr>
          <a:xfrm>
            <a:off x="3429000" y="400050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Conceptual &amp; human skills</a:t>
            </a:r>
            <a:endParaRPr lang="en-US" sz="1150" dirty="0"/>
          </a:p>
        </p:txBody>
      </p:sp>
      <p:sp>
        <p:nvSpPr>
          <p:cNvPr id="33" name="Text 31"/>
          <p:cNvSpPr/>
          <p:nvPr/>
        </p:nvSpPr>
        <p:spPr>
          <a:xfrm>
            <a:off x="7589520" y="400050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Technical &amp; human skills</a:t>
            </a:r>
            <a:endParaRPr lang="en-US" sz="1150" dirty="0"/>
          </a:p>
        </p:txBody>
      </p:sp>
      <p:sp>
        <p:nvSpPr>
          <p:cNvPr id="34" name="Shape 32"/>
          <p:cNvSpPr/>
          <p:nvPr/>
        </p:nvSpPr>
        <p:spPr>
          <a:xfrm>
            <a:off x="548640" y="4577715"/>
            <a:ext cx="2743200" cy="577215"/>
          </a:xfrm>
          <a:prstGeom prst="rect">
            <a:avLst/>
          </a:prstGeom>
          <a:solidFill>
            <a:srgbClr val="EEF3FC"/>
          </a:solidFill>
          <a:ln/>
        </p:spPr>
      </p:sp>
      <p:sp>
        <p:nvSpPr>
          <p:cNvPr id="35" name="Shape 33"/>
          <p:cNvSpPr/>
          <p:nvPr/>
        </p:nvSpPr>
        <p:spPr>
          <a:xfrm>
            <a:off x="3291840" y="4577715"/>
            <a:ext cx="4160520" cy="577215"/>
          </a:xfrm>
          <a:prstGeom prst="rect">
            <a:avLst/>
          </a:prstGeom>
          <a:solidFill>
            <a:srgbClr val="EEF3FC"/>
          </a:solidFill>
          <a:ln/>
        </p:spPr>
      </p:sp>
      <p:sp>
        <p:nvSpPr>
          <p:cNvPr id="36" name="Shape 34"/>
          <p:cNvSpPr/>
          <p:nvPr/>
        </p:nvSpPr>
        <p:spPr>
          <a:xfrm>
            <a:off x="7452360" y="4577715"/>
            <a:ext cx="4160520" cy="577215"/>
          </a:xfrm>
          <a:prstGeom prst="rect">
            <a:avLst/>
          </a:prstGeom>
          <a:solidFill>
            <a:srgbClr val="EEF3FC"/>
          </a:solidFill>
          <a:ln/>
        </p:spPr>
      </p:sp>
      <p:sp>
        <p:nvSpPr>
          <p:cNvPr id="37" name="Text 35"/>
          <p:cNvSpPr/>
          <p:nvPr/>
        </p:nvSpPr>
        <p:spPr>
          <a:xfrm>
            <a:off x="685800" y="457771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Typical setting</a:t>
            </a:r>
            <a:endParaRPr lang="en-US" sz="1200" dirty="0"/>
          </a:p>
        </p:txBody>
      </p:sp>
      <p:sp>
        <p:nvSpPr>
          <p:cNvPr id="38" name="Text 36"/>
          <p:cNvSpPr/>
          <p:nvPr/>
        </p:nvSpPr>
        <p:spPr>
          <a:xfrm>
            <a:off x="3429000" y="457771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Government, clubs, non-profits</a:t>
            </a:r>
            <a:endParaRPr lang="en-US" sz="1150" dirty="0"/>
          </a:p>
        </p:txBody>
      </p:sp>
      <p:sp>
        <p:nvSpPr>
          <p:cNvPr id="39" name="Text 37"/>
          <p:cNvSpPr/>
          <p:nvPr/>
        </p:nvSpPr>
        <p:spPr>
          <a:xfrm>
            <a:off x="7589520" y="457771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Business enterprises</a:t>
            </a:r>
            <a:endParaRPr lang="en-US" sz="1150" dirty="0"/>
          </a:p>
        </p:txBody>
      </p:sp>
      <p:sp>
        <p:nvSpPr>
          <p:cNvPr id="40" name="Shape 38"/>
          <p:cNvSpPr/>
          <p:nvPr/>
        </p:nvSpPr>
        <p:spPr>
          <a:xfrm>
            <a:off x="548640" y="5154930"/>
            <a:ext cx="2743200" cy="577215"/>
          </a:xfrm>
          <a:prstGeom prst="rect">
            <a:avLst/>
          </a:prstGeom>
          <a:solidFill>
            <a:srgbClr val="FFFFFF"/>
          </a:solidFill>
          <a:ln/>
        </p:spPr>
      </p:sp>
      <p:sp>
        <p:nvSpPr>
          <p:cNvPr id="41" name="Shape 39"/>
          <p:cNvSpPr/>
          <p:nvPr/>
        </p:nvSpPr>
        <p:spPr>
          <a:xfrm>
            <a:off x="3291840" y="5154930"/>
            <a:ext cx="4160520" cy="577215"/>
          </a:xfrm>
          <a:prstGeom prst="rect">
            <a:avLst/>
          </a:prstGeom>
          <a:solidFill>
            <a:srgbClr val="FFFFFF"/>
          </a:solidFill>
          <a:ln/>
        </p:spPr>
      </p:sp>
      <p:sp>
        <p:nvSpPr>
          <p:cNvPr id="42" name="Shape 40"/>
          <p:cNvSpPr/>
          <p:nvPr/>
        </p:nvSpPr>
        <p:spPr>
          <a:xfrm>
            <a:off x="7452360" y="5154930"/>
            <a:ext cx="4160520" cy="577215"/>
          </a:xfrm>
          <a:prstGeom prst="rect">
            <a:avLst/>
          </a:prstGeom>
          <a:solidFill>
            <a:srgbClr val="FFFFFF"/>
          </a:solidFill>
          <a:ln/>
        </p:spPr>
      </p:sp>
      <p:sp>
        <p:nvSpPr>
          <p:cNvPr id="43" name="Text 41"/>
          <p:cNvSpPr/>
          <p:nvPr/>
        </p:nvSpPr>
        <p:spPr>
          <a:xfrm>
            <a:off x="685800" y="5154930"/>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Decision scope</a:t>
            </a:r>
            <a:endParaRPr lang="en-US" sz="1200" dirty="0"/>
          </a:p>
        </p:txBody>
      </p:sp>
      <p:sp>
        <p:nvSpPr>
          <p:cNvPr id="44" name="Text 42"/>
          <p:cNvSpPr/>
          <p:nvPr/>
        </p:nvSpPr>
        <p:spPr>
          <a:xfrm>
            <a:off x="3429000" y="515493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Broad, long-term</a:t>
            </a:r>
            <a:endParaRPr lang="en-US" sz="1150" dirty="0"/>
          </a:p>
        </p:txBody>
      </p:sp>
      <p:sp>
        <p:nvSpPr>
          <p:cNvPr id="45" name="Text 43"/>
          <p:cNvSpPr/>
          <p:nvPr/>
        </p:nvSpPr>
        <p:spPr>
          <a:xfrm>
            <a:off x="7589520" y="5154930"/>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Narrow, short/medium-term</a:t>
            </a:r>
            <a:endParaRPr lang="en-US" sz="1150" dirty="0"/>
          </a:p>
        </p:txBody>
      </p:sp>
      <p:sp>
        <p:nvSpPr>
          <p:cNvPr id="46" name="Shape 44"/>
          <p:cNvSpPr/>
          <p:nvPr/>
        </p:nvSpPr>
        <p:spPr>
          <a:xfrm>
            <a:off x="548640" y="5732145"/>
            <a:ext cx="2743200" cy="577215"/>
          </a:xfrm>
          <a:prstGeom prst="rect">
            <a:avLst/>
          </a:prstGeom>
          <a:solidFill>
            <a:srgbClr val="EEF3FC"/>
          </a:solidFill>
          <a:ln/>
        </p:spPr>
      </p:sp>
      <p:sp>
        <p:nvSpPr>
          <p:cNvPr id="47" name="Shape 45"/>
          <p:cNvSpPr/>
          <p:nvPr/>
        </p:nvSpPr>
        <p:spPr>
          <a:xfrm>
            <a:off x="3291840" y="5732145"/>
            <a:ext cx="4160520" cy="577215"/>
          </a:xfrm>
          <a:prstGeom prst="rect">
            <a:avLst/>
          </a:prstGeom>
          <a:solidFill>
            <a:srgbClr val="EEF3FC"/>
          </a:solidFill>
          <a:ln/>
        </p:spPr>
      </p:sp>
      <p:sp>
        <p:nvSpPr>
          <p:cNvPr id="48" name="Shape 46"/>
          <p:cNvSpPr/>
          <p:nvPr/>
        </p:nvSpPr>
        <p:spPr>
          <a:xfrm>
            <a:off x="7452360" y="5732145"/>
            <a:ext cx="4160520" cy="577215"/>
          </a:xfrm>
          <a:prstGeom prst="rect">
            <a:avLst/>
          </a:prstGeom>
          <a:solidFill>
            <a:srgbClr val="EEF3FC"/>
          </a:solidFill>
          <a:ln/>
        </p:spPr>
      </p:sp>
      <p:sp>
        <p:nvSpPr>
          <p:cNvPr id="49" name="Text 47"/>
          <p:cNvSpPr/>
          <p:nvPr/>
        </p:nvSpPr>
        <p:spPr>
          <a:xfrm>
            <a:off x="685800" y="5732145"/>
            <a:ext cx="2468880" cy="577215"/>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Who performs it</a:t>
            </a:r>
            <a:endParaRPr lang="en-US" sz="1200" dirty="0"/>
          </a:p>
        </p:txBody>
      </p:sp>
      <p:sp>
        <p:nvSpPr>
          <p:cNvPr id="50" name="Text 48"/>
          <p:cNvSpPr/>
          <p:nvPr/>
        </p:nvSpPr>
        <p:spPr>
          <a:xfrm>
            <a:off x="3429000" y="573214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Owners / Board of Directors</a:t>
            </a:r>
            <a:endParaRPr lang="en-US" sz="1150" dirty="0"/>
          </a:p>
        </p:txBody>
      </p:sp>
      <p:sp>
        <p:nvSpPr>
          <p:cNvPr id="51" name="Text 49"/>
          <p:cNvSpPr/>
          <p:nvPr/>
        </p:nvSpPr>
        <p:spPr>
          <a:xfrm>
            <a:off x="7589520" y="5732145"/>
            <a:ext cx="3886200" cy="577215"/>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Paid, professional managers</a:t>
            </a:r>
            <a:endParaRPr lang="en-US" sz="1150" dirty="0"/>
          </a:p>
        </p:txBody>
      </p:sp>
      <p:sp>
        <p:nvSpPr>
          <p:cNvPr id="52" name="Text 50"/>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ADMINISTRATION VS. MANAGEMENT</a:t>
            </a:r>
            <a:endParaRPr lang="en-US" sz="1100" dirty="0"/>
          </a:p>
        </p:txBody>
      </p:sp>
      <p:sp>
        <p:nvSpPr>
          <p:cNvPr id="53" name="Text 51"/>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ADMINISTRATION VS.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Which View Should We Accept? — A Reconciliation</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modern consensus is that the distinction is one of degree and emphasis rather than of kind. Every manager, at every level, performs some 'thinking' (administrative) work and some 'doing' (management) work — the proportion simply shifts with seniority.</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Top management spends more time on policy and direction (more 'administration'); supervisory management spends more time on execution and control (more 'management'). Middle management sits in between, translating one into the other.</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Practical takeaway: use whichever term fits the organizational context — what matters is that both the thinking function (policy) and the doing function (execution) are performed well, and are properly connected to each other.</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“Top Thinks, Bottom Does, Middle Bridges” — the same continuum, different emphasis by level.</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One Continuum</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branch manager spends most of the day 'managing' daily operations, but still does some 'administering' when setting the branch's own local targets.</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ADMINISTRATION VS.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C</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Leading Today</a:t>
            </a:r>
            <a:endParaRPr lang="en-US" sz="32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Management Challenges in the 21st Century</a:t>
            </a:r>
            <a:endParaRPr lang="en-US" sz="20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96112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The forces reshaping how organizations must be planned, organized, directed and controlled today.</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411480"/>
            <a:ext cx="1106424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21ST CENTURY MANAGEMENT CHALLENGES</a:t>
            </a:r>
            <a:endParaRPr lang="en-US" sz="2200" dirty="0"/>
          </a:p>
        </p:txBody>
      </p:sp>
      <p:sp>
        <p:nvSpPr>
          <p:cNvPr id="3" name="Shape 1"/>
          <p:cNvSpPr/>
          <p:nvPr/>
        </p:nvSpPr>
        <p:spPr>
          <a:xfrm>
            <a:off x="548640" y="1554480"/>
            <a:ext cx="2081174" cy="2103120"/>
          </a:xfrm>
          <a:prstGeom prst="roundRect">
            <a:avLst>
              <a:gd name="adj" fmla="val 3954"/>
            </a:avLst>
          </a:prstGeom>
          <a:solidFill>
            <a:srgbClr val="1E2761"/>
          </a:solidFill>
          <a:ln/>
        </p:spPr>
      </p:sp>
      <p:sp>
        <p:nvSpPr>
          <p:cNvPr id="4" name="Shape 2"/>
          <p:cNvSpPr/>
          <p:nvPr/>
        </p:nvSpPr>
        <p:spPr>
          <a:xfrm>
            <a:off x="731520" y="1737360"/>
            <a:ext cx="502920" cy="50292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62279" y="1868119"/>
            <a:ext cx="241402" cy="241402"/>
          </a:xfrm>
          <a:prstGeom prst="rect">
            <a:avLst/>
          </a:prstGeom>
        </p:spPr>
      </p:pic>
      <p:sp>
        <p:nvSpPr>
          <p:cNvPr id="6" name="Text 3"/>
          <p:cNvSpPr/>
          <p:nvPr/>
        </p:nvSpPr>
        <p:spPr>
          <a:xfrm>
            <a:off x="203545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1</a:t>
            </a:r>
            <a:endParaRPr lang="en-US" sz="1700" dirty="0"/>
          </a:p>
        </p:txBody>
      </p:sp>
      <p:sp>
        <p:nvSpPr>
          <p:cNvPr id="7" name="Text 4"/>
          <p:cNvSpPr/>
          <p:nvPr/>
        </p:nvSpPr>
        <p:spPr>
          <a:xfrm>
            <a:off x="731520" y="233172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The VUCA World</a:t>
            </a:r>
            <a:endParaRPr lang="en-US" sz="1300" dirty="0"/>
          </a:p>
        </p:txBody>
      </p:sp>
      <p:sp>
        <p:nvSpPr>
          <p:cNvPr id="8" name="Shape 5"/>
          <p:cNvSpPr/>
          <p:nvPr/>
        </p:nvSpPr>
        <p:spPr>
          <a:xfrm>
            <a:off x="2794406" y="1554480"/>
            <a:ext cx="2081174" cy="2103120"/>
          </a:xfrm>
          <a:prstGeom prst="roundRect">
            <a:avLst>
              <a:gd name="adj" fmla="val 3954"/>
            </a:avLst>
          </a:prstGeom>
          <a:solidFill>
            <a:srgbClr val="1E2761"/>
          </a:solidFill>
          <a:ln/>
        </p:spPr>
      </p:sp>
      <p:sp>
        <p:nvSpPr>
          <p:cNvPr id="9" name="Shape 6"/>
          <p:cNvSpPr/>
          <p:nvPr/>
        </p:nvSpPr>
        <p:spPr>
          <a:xfrm>
            <a:off x="2977286" y="1737360"/>
            <a:ext cx="502920" cy="50292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108046" y="1868119"/>
            <a:ext cx="241402" cy="241402"/>
          </a:xfrm>
          <a:prstGeom prst="rect">
            <a:avLst/>
          </a:prstGeom>
        </p:spPr>
      </p:pic>
      <p:sp>
        <p:nvSpPr>
          <p:cNvPr id="11" name="Text 7"/>
          <p:cNvSpPr/>
          <p:nvPr/>
        </p:nvSpPr>
        <p:spPr>
          <a:xfrm>
            <a:off x="4281221"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2</a:t>
            </a:r>
            <a:endParaRPr lang="en-US" sz="1700" dirty="0"/>
          </a:p>
        </p:txBody>
      </p:sp>
      <p:sp>
        <p:nvSpPr>
          <p:cNvPr id="12" name="Text 8"/>
          <p:cNvSpPr/>
          <p:nvPr/>
        </p:nvSpPr>
        <p:spPr>
          <a:xfrm>
            <a:off x="2977286" y="233172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Globalization &amp; Cross-Cultural Teams</a:t>
            </a:r>
            <a:endParaRPr lang="en-US" sz="1300" dirty="0"/>
          </a:p>
        </p:txBody>
      </p:sp>
      <p:sp>
        <p:nvSpPr>
          <p:cNvPr id="13" name="Shape 9"/>
          <p:cNvSpPr/>
          <p:nvPr/>
        </p:nvSpPr>
        <p:spPr>
          <a:xfrm>
            <a:off x="5040173" y="1554480"/>
            <a:ext cx="2081174" cy="2103120"/>
          </a:xfrm>
          <a:prstGeom prst="roundRect">
            <a:avLst>
              <a:gd name="adj" fmla="val 3954"/>
            </a:avLst>
          </a:prstGeom>
          <a:solidFill>
            <a:srgbClr val="1E2761"/>
          </a:solidFill>
          <a:ln/>
        </p:spPr>
      </p:sp>
      <p:sp>
        <p:nvSpPr>
          <p:cNvPr id="14" name="Shape 10"/>
          <p:cNvSpPr/>
          <p:nvPr/>
        </p:nvSpPr>
        <p:spPr>
          <a:xfrm>
            <a:off x="5223053" y="1737360"/>
            <a:ext cx="502920" cy="50292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5353812" y="1868119"/>
            <a:ext cx="241402" cy="241402"/>
          </a:xfrm>
          <a:prstGeom prst="rect">
            <a:avLst/>
          </a:prstGeom>
        </p:spPr>
      </p:pic>
      <p:sp>
        <p:nvSpPr>
          <p:cNvPr id="16" name="Text 11"/>
          <p:cNvSpPr/>
          <p:nvPr/>
        </p:nvSpPr>
        <p:spPr>
          <a:xfrm>
            <a:off x="6526987"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3</a:t>
            </a:r>
            <a:endParaRPr lang="en-US" sz="1700" dirty="0"/>
          </a:p>
        </p:txBody>
      </p:sp>
      <p:sp>
        <p:nvSpPr>
          <p:cNvPr id="17" name="Text 12"/>
          <p:cNvSpPr/>
          <p:nvPr/>
        </p:nvSpPr>
        <p:spPr>
          <a:xfrm>
            <a:off x="5223053" y="233172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AI, Automation &amp; Digital Disruption</a:t>
            </a:r>
            <a:endParaRPr lang="en-US" sz="1300" dirty="0"/>
          </a:p>
        </p:txBody>
      </p:sp>
      <p:sp>
        <p:nvSpPr>
          <p:cNvPr id="18" name="Shape 13"/>
          <p:cNvSpPr/>
          <p:nvPr/>
        </p:nvSpPr>
        <p:spPr>
          <a:xfrm>
            <a:off x="7285939" y="1554480"/>
            <a:ext cx="2081174" cy="2103120"/>
          </a:xfrm>
          <a:prstGeom prst="roundRect">
            <a:avLst>
              <a:gd name="adj" fmla="val 3954"/>
            </a:avLst>
          </a:prstGeom>
          <a:solidFill>
            <a:srgbClr val="1E2761"/>
          </a:solidFill>
          <a:ln/>
        </p:spPr>
      </p:sp>
      <p:sp>
        <p:nvSpPr>
          <p:cNvPr id="19" name="Shape 14"/>
          <p:cNvSpPr/>
          <p:nvPr/>
        </p:nvSpPr>
        <p:spPr>
          <a:xfrm>
            <a:off x="7468819" y="1737360"/>
            <a:ext cx="502920" cy="50292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7599578" y="1868119"/>
            <a:ext cx="241402" cy="241402"/>
          </a:xfrm>
          <a:prstGeom prst="rect">
            <a:avLst/>
          </a:prstGeom>
        </p:spPr>
      </p:pic>
      <p:sp>
        <p:nvSpPr>
          <p:cNvPr id="21" name="Text 15"/>
          <p:cNvSpPr/>
          <p:nvPr/>
        </p:nvSpPr>
        <p:spPr>
          <a:xfrm>
            <a:off x="877275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4</a:t>
            </a:r>
            <a:endParaRPr lang="en-US" sz="1700" dirty="0"/>
          </a:p>
        </p:txBody>
      </p:sp>
      <p:sp>
        <p:nvSpPr>
          <p:cNvPr id="22" name="Text 16"/>
          <p:cNvSpPr/>
          <p:nvPr/>
        </p:nvSpPr>
        <p:spPr>
          <a:xfrm>
            <a:off x="7468819" y="233172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Diverse, Multigenerational Workforce</a:t>
            </a:r>
            <a:endParaRPr lang="en-US" sz="1300" dirty="0"/>
          </a:p>
        </p:txBody>
      </p:sp>
      <p:sp>
        <p:nvSpPr>
          <p:cNvPr id="23" name="Shape 17"/>
          <p:cNvSpPr/>
          <p:nvPr/>
        </p:nvSpPr>
        <p:spPr>
          <a:xfrm>
            <a:off x="9531706" y="1554480"/>
            <a:ext cx="2081174" cy="2103120"/>
          </a:xfrm>
          <a:prstGeom prst="roundRect">
            <a:avLst>
              <a:gd name="adj" fmla="val 3954"/>
            </a:avLst>
          </a:prstGeom>
          <a:solidFill>
            <a:srgbClr val="1E2761"/>
          </a:solidFill>
          <a:ln/>
        </p:spPr>
      </p:sp>
      <p:sp>
        <p:nvSpPr>
          <p:cNvPr id="24" name="Shape 18"/>
          <p:cNvSpPr/>
          <p:nvPr/>
        </p:nvSpPr>
        <p:spPr>
          <a:xfrm>
            <a:off x="9714586" y="1737360"/>
            <a:ext cx="502920" cy="50292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9845345" y="1868119"/>
            <a:ext cx="241402" cy="241402"/>
          </a:xfrm>
          <a:prstGeom prst="rect">
            <a:avLst/>
          </a:prstGeom>
        </p:spPr>
      </p:pic>
      <p:sp>
        <p:nvSpPr>
          <p:cNvPr id="26" name="Text 19"/>
          <p:cNvSpPr/>
          <p:nvPr/>
        </p:nvSpPr>
        <p:spPr>
          <a:xfrm>
            <a:off x="11018520"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5</a:t>
            </a:r>
            <a:endParaRPr lang="en-US" sz="1700" dirty="0"/>
          </a:p>
        </p:txBody>
      </p:sp>
      <p:sp>
        <p:nvSpPr>
          <p:cNvPr id="27" name="Text 20"/>
          <p:cNvSpPr/>
          <p:nvPr/>
        </p:nvSpPr>
        <p:spPr>
          <a:xfrm>
            <a:off x="9714586" y="233172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Remote &amp; Hybrid Work</a:t>
            </a:r>
            <a:endParaRPr lang="en-US" sz="1300" dirty="0"/>
          </a:p>
        </p:txBody>
      </p:sp>
      <p:sp>
        <p:nvSpPr>
          <p:cNvPr id="28" name="Shape 21"/>
          <p:cNvSpPr/>
          <p:nvPr/>
        </p:nvSpPr>
        <p:spPr>
          <a:xfrm>
            <a:off x="548640" y="3886200"/>
            <a:ext cx="2081174" cy="2103120"/>
          </a:xfrm>
          <a:prstGeom prst="roundRect">
            <a:avLst>
              <a:gd name="adj" fmla="val 3954"/>
            </a:avLst>
          </a:prstGeom>
          <a:solidFill>
            <a:srgbClr val="1E2761"/>
          </a:solidFill>
          <a:ln/>
        </p:spPr>
      </p:sp>
      <p:sp>
        <p:nvSpPr>
          <p:cNvPr id="29" name="Shape 22"/>
          <p:cNvSpPr/>
          <p:nvPr/>
        </p:nvSpPr>
        <p:spPr>
          <a:xfrm>
            <a:off x="731520" y="4069080"/>
            <a:ext cx="502920" cy="50292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62279" y="4199839"/>
            <a:ext cx="241402" cy="241402"/>
          </a:xfrm>
          <a:prstGeom prst="rect">
            <a:avLst/>
          </a:prstGeom>
        </p:spPr>
      </p:pic>
      <p:sp>
        <p:nvSpPr>
          <p:cNvPr id="31" name="Text 23"/>
          <p:cNvSpPr/>
          <p:nvPr/>
        </p:nvSpPr>
        <p:spPr>
          <a:xfrm>
            <a:off x="2035454" y="401421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6</a:t>
            </a:r>
            <a:endParaRPr lang="en-US" sz="1700" dirty="0"/>
          </a:p>
        </p:txBody>
      </p:sp>
      <p:sp>
        <p:nvSpPr>
          <p:cNvPr id="32" name="Text 24"/>
          <p:cNvSpPr/>
          <p:nvPr/>
        </p:nvSpPr>
        <p:spPr>
          <a:xfrm>
            <a:off x="731520" y="466344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War for Talent &amp; the Gig Economy</a:t>
            </a:r>
            <a:endParaRPr lang="en-US" sz="1300" dirty="0"/>
          </a:p>
        </p:txBody>
      </p:sp>
      <p:sp>
        <p:nvSpPr>
          <p:cNvPr id="33" name="Shape 25"/>
          <p:cNvSpPr/>
          <p:nvPr/>
        </p:nvSpPr>
        <p:spPr>
          <a:xfrm>
            <a:off x="2794406" y="3886200"/>
            <a:ext cx="2081174" cy="2103120"/>
          </a:xfrm>
          <a:prstGeom prst="roundRect">
            <a:avLst>
              <a:gd name="adj" fmla="val 3954"/>
            </a:avLst>
          </a:prstGeom>
          <a:solidFill>
            <a:srgbClr val="1E2761"/>
          </a:solidFill>
          <a:ln/>
        </p:spPr>
      </p:sp>
      <p:sp>
        <p:nvSpPr>
          <p:cNvPr id="34" name="Shape 26"/>
          <p:cNvSpPr/>
          <p:nvPr/>
        </p:nvSpPr>
        <p:spPr>
          <a:xfrm>
            <a:off x="2977286" y="4069080"/>
            <a:ext cx="502920" cy="50292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3108046" y="4199839"/>
            <a:ext cx="241402" cy="241402"/>
          </a:xfrm>
          <a:prstGeom prst="rect">
            <a:avLst/>
          </a:prstGeom>
        </p:spPr>
      </p:pic>
      <p:sp>
        <p:nvSpPr>
          <p:cNvPr id="36" name="Text 27"/>
          <p:cNvSpPr/>
          <p:nvPr/>
        </p:nvSpPr>
        <p:spPr>
          <a:xfrm>
            <a:off x="4281221" y="401421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7</a:t>
            </a:r>
            <a:endParaRPr lang="en-US" sz="1700" dirty="0"/>
          </a:p>
        </p:txBody>
      </p:sp>
      <p:sp>
        <p:nvSpPr>
          <p:cNvPr id="37" name="Text 28"/>
          <p:cNvSpPr/>
          <p:nvPr/>
        </p:nvSpPr>
        <p:spPr>
          <a:xfrm>
            <a:off x="2977286" y="466344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Sustainability, ESG &amp; CSR</a:t>
            </a:r>
            <a:endParaRPr lang="en-US" sz="1300" dirty="0"/>
          </a:p>
        </p:txBody>
      </p:sp>
      <p:sp>
        <p:nvSpPr>
          <p:cNvPr id="38" name="Shape 29"/>
          <p:cNvSpPr/>
          <p:nvPr/>
        </p:nvSpPr>
        <p:spPr>
          <a:xfrm>
            <a:off x="5040173" y="3886200"/>
            <a:ext cx="2081174" cy="2103120"/>
          </a:xfrm>
          <a:prstGeom prst="roundRect">
            <a:avLst>
              <a:gd name="adj" fmla="val 3954"/>
            </a:avLst>
          </a:prstGeom>
          <a:solidFill>
            <a:srgbClr val="1E2761"/>
          </a:solidFill>
          <a:ln/>
        </p:spPr>
      </p:sp>
      <p:sp>
        <p:nvSpPr>
          <p:cNvPr id="39" name="Shape 30"/>
          <p:cNvSpPr/>
          <p:nvPr/>
        </p:nvSpPr>
        <p:spPr>
          <a:xfrm>
            <a:off x="5223053" y="4069080"/>
            <a:ext cx="502920" cy="502920"/>
          </a:xfrm>
          <a:prstGeom prst="ellipse">
            <a:avLst/>
          </a:prstGeom>
          <a:solidFill>
            <a:srgbClr val="C9A24B"/>
          </a:solidFill>
          <a:ln/>
        </p:spPr>
      </p:sp>
      <p:pic>
        <p:nvPicPr>
          <p:cNvPr id="40" name="Image 7" descr="preencoded.png">    </p:cNvPr>
          <p:cNvPicPr>
            <a:picLocks noChangeAspect="1"/>
          </p:cNvPicPr>
          <p:nvPr/>
        </p:nvPicPr>
        <p:blipFill>
          <a:blip r:embed="rId8"/>
          <a:stretch>
            <a:fillRect/>
          </a:stretch>
        </p:blipFill>
        <p:spPr>
          <a:xfrm>
            <a:off x="5353812" y="4199839"/>
            <a:ext cx="241402" cy="241402"/>
          </a:xfrm>
          <a:prstGeom prst="rect">
            <a:avLst/>
          </a:prstGeom>
        </p:spPr>
      </p:pic>
      <p:sp>
        <p:nvSpPr>
          <p:cNvPr id="41" name="Text 31"/>
          <p:cNvSpPr/>
          <p:nvPr/>
        </p:nvSpPr>
        <p:spPr>
          <a:xfrm>
            <a:off x="6526987" y="401421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8</a:t>
            </a:r>
            <a:endParaRPr lang="en-US" sz="1700" dirty="0"/>
          </a:p>
        </p:txBody>
      </p:sp>
      <p:sp>
        <p:nvSpPr>
          <p:cNvPr id="42" name="Text 32"/>
          <p:cNvSpPr/>
          <p:nvPr/>
        </p:nvSpPr>
        <p:spPr>
          <a:xfrm>
            <a:off x="5223053" y="466344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Ethics, Governance &amp; Trust</a:t>
            </a:r>
            <a:endParaRPr lang="en-US" sz="1300" dirty="0"/>
          </a:p>
        </p:txBody>
      </p:sp>
      <p:sp>
        <p:nvSpPr>
          <p:cNvPr id="43" name="Shape 33"/>
          <p:cNvSpPr/>
          <p:nvPr/>
        </p:nvSpPr>
        <p:spPr>
          <a:xfrm>
            <a:off x="7285939" y="3886200"/>
            <a:ext cx="2081174" cy="2103120"/>
          </a:xfrm>
          <a:prstGeom prst="roundRect">
            <a:avLst>
              <a:gd name="adj" fmla="val 3954"/>
            </a:avLst>
          </a:prstGeom>
          <a:solidFill>
            <a:srgbClr val="1E2761"/>
          </a:solidFill>
          <a:ln/>
        </p:spPr>
      </p:sp>
      <p:sp>
        <p:nvSpPr>
          <p:cNvPr id="44" name="Shape 34"/>
          <p:cNvSpPr/>
          <p:nvPr/>
        </p:nvSpPr>
        <p:spPr>
          <a:xfrm>
            <a:off x="7468819" y="4069080"/>
            <a:ext cx="502920" cy="502920"/>
          </a:xfrm>
          <a:prstGeom prst="ellipse">
            <a:avLst/>
          </a:prstGeom>
          <a:solidFill>
            <a:srgbClr val="C9A24B"/>
          </a:solidFill>
          <a:ln/>
        </p:spPr>
      </p:sp>
      <p:pic>
        <p:nvPicPr>
          <p:cNvPr id="45" name="Image 8" descr="preencoded.png">    </p:cNvPr>
          <p:cNvPicPr>
            <a:picLocks noChangeAspect="1"/>
          </p:cNvPicPr>
          <p:nvPr/>
        </p:nvPicPr>
        <p:blipFill>
          <a:blip r:embed="rId9"/>
          <a:stretch>
            <a:fillRect/>
          </a:stretch>
        </p:blipFill>
        <p:spPr>
          <a:xfrm>
            <a:off x="7599578" y="4199839"/>
            <a:ext cx="241402" cy="241402"/>
          </a:xfrm>
          <a:prstGeom prst="rect">
            <a:avLst/>
          </a:prstGeom>
        </p:spPr>
      </p:pic>
      <p:sp>
        <p:nvSpPr>
          <p:cNvPr id="46" name="Text 35"/>
          <p:cNvSpPr/>
          <p:nvPr/>
        </p:nvSpPr>
        <p:spPr>
          <a:xfrm>
            <a:off x="8772754" y="401421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9</a:t>
            </a:r>
            <a:endParaRPr lang="en-US" sz="1700" dirty="0"/>
          </a:p>
        </p:txBody>
      </p:sp>
      <p:sp>
        <p:nvSpPr>
          <p:cNvPr id="47" name="Text 36"/>
          <p:cNvSpPr/>
          <p:nvPr/>
        </p:nvSpPr>
        <p:spPr>
          <a:xfrm>
            <a:off x="7468819" y="466344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Cybersecurity &amp; Data Privacy</a:t>
            </a:r>
            <a:endParaRPr lang="en-US" sz="1300" dirty="0"/>
          </a:p>
        </p:txBody>
      </p:sp>
      <p:sp>
        <p:nvSpPr>
          <p:cNvPr id="48" name="Shape 37"/>
          <p:cNvSpPr/>
          <p:nvPr/>
        </p:nvSpPr>
        <p:spPr>
          <a:xfrm>
            <a:off x="9531706" y="3886200"/>
            <a:ext cx="2081174" cy="2103120"/>
          </a:xfrm>
          <a:prstGeom prst="roundRect">
            <a:avLst>
              <a:gd name="adj" fmla="val 3954"/>
            </a:avLst>
          </a:prstGeom>
          <a:solidFill>
            <a:srgbClr val="1E2761"/>
          </a:solidFill>
          <a:ln/>
        </p:spPr>
      </p:sp>
      <p:sp>
        <p:nvSpPr>
          <p:cNvPr id="49" name="Shape 38"/>
          <p:cNvSpPr/>
          <p:nvPr/>
        </p:nvSpPr>
        <p:spPr>
          <a:xfrm>
            <a:off x="9714586" y="4069080"/>
            <a:ext cx="502920" cy="502920"/>
          </a:xfrm>
          <a:prstGeom prst="ellipse">
            <a:avLst/>
          </a:prstGeom>
          <a:solidFill>
            <a:srgbClr val="C9A24B"/>
          </a:solidFill>
          <a:ln/>
        </p:spPr>
      </p:sp>
      <p:pic>
        <p:nvPicPr>
          <p:cNvPr id="50" name="Image 9" descr="preencoded.png">    </p:cNvPr>
          <p:cNvPicPr>
            <a:picLocks noChangeAspect="1"/>
          </p:cNvPicPr>
          <p:nvPr/>
        </p:nvPicPr>
        <p:blipFill>
          <a:blip r:embed="rId10"/>
          <a:stretch>
            <a:fillRect/>
          </a:stretch>
        </p:blipFill>
        <p:spPr>
          <a:xfrm>
            <a:off x="9845345" y="4199839"/>
            <a:ext cx="241402" cy="241402"/>
          </a:xfrm>
          <a:prstGeom prst="rect">
            <a:avLst/>
          </a:prstGeom>
        </p:spPr>
      </p:pic>
      <p:sp>
        <p:nvSpPr>
          <p:cNvPr id="51" name="Text 39"/>
          <p:cNvSpPr/>
          <p:nvPr/>
        </p:nvSpPr>
        <p:spPr>
          <a:xfrm>
            <a:off x="11018520" y="401421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10</a:t>
            </a:r>
            <a:endParaRPr lang="en-US" sz="1700" dirty="0"/>
          </a:p>
        </p:txBody>
      </p:sp>
      <p:sp>
        <p:nvSpPr>
          <p:cNvPr id="52" name="Text 40"/>
          <p:cNvSpPr/>
          <p:nvPr/>
        </p:nvSpPr>
        <p:spPr>
          <a:xfrm>
            <a:off x="9714586" y="4663440"/>
            <a:ext cx="1715414" cy="123444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Employee Wellbeing &amp; Mental Health</a:t>
            </a:r>
            <a:endParaRPr lang="en-US" sz="1300" dirty="0"/>
          </a:p>
        </p:txBody>
      </p:sp>
      <p:sp>
        <p:nvSpPr>
          <p:cNvPr id="53" name="Text 4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21ST CENTURY MANAGEMENT CHALLENGES</a:t>
            </a:r>
            <a:endParaRPr lang="en-US" sz="1100" dirty="0"/>
          </a:p>
        </p:txBody>
      </p:sp>
      <p:sp>
        <p:nvSpPr>
          <p:cNvPr id="54" name="Text 4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21ST CENTURY MANAGEMENT CHALLENGES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The VUCA World</a:t>
            </a:r>
            <a:endParaRPr lang="en-US" sz="2900" dirty="0"/>
          </a:p>
        </p:txBody>
      </p:sp>
      <p:sp>
        <p:nvSpPr>
          <p:cNvPr id="4" name="Shape 2"/>
          <p:cNvSpPr/>
          <p:nvPr/>
        </p:nvSpPr>
        <p:spPr>
          <a:xfrm>
            <a:off x="548640" y="1783080"/>
            <a:ext cx="2624328" cy="3200400"/>
          </a:xfrm>
          <a:prstGeom prst="roundRect">
            <a:avLst>
              <a:gd name="adj" fmla="val 3136"/>
            </a:avLst>
          </a:prstGeom>
          <a:solidFill>
            <a:srgbClr val="EEF3FC"/>
          </a:solidFill>
          <a:ln/>
        </p:spPr>
      </p:sp>
      <p:sp>
        <p:nvSpPr>
          <p:cNvPr id="5" name="Shape 3"/>
          <p:cNvSpPr/>
          <p:nvPr/>
        </p:nvSpPr>
        <p:spPr>
          <a:xfrm>
            <a:off x="1586484" y="201168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29130" y="2154326"/>
            <a:ext cx="263347" cy="263347"/>
          </a:xfrm>
          <a:prstGeom prst="rect">
            <a:avLst/>
          </a:prstGeom>
        </p:spPr>
      </p:pic>
      <p:sp>
        <p:nvSpPr>
          <p:cNvPr id="7" name="Text 4"/>
          <p:cNvSpPr/>
          <p:nvPr/>
        </p:nvSpPr>
        <p:spPr>
          <a:xfrm>
            <a:off x="548640" y="2697480"/>
            <a:ext cx="2624328" cy="411480"/>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Volatility</a:t>
            </a:r>
            <a:endParaRPr lang="en-US" sz="1600" dirty="0"/>
          </a:p>
        </p:txBody>
      </p:sp>
      <p:sp>
        <p:nvSpPr>
          <p:cNvPr id="8" name="Text 5"/>
          <p:cNvSpPr/>
          <p:nvPr/>
        </p:nvSpPr>
        <p:spPr>
          <a:xfrm>
            <a:off x="731520" y="3154680"/>
            <a:ext cx="2258568" cy="173736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Rapid, unpredictable change in magnitude or speed — e.g., sudden commodity price swings or pandemic-driven demand shocks.</a:t>
            </a:r>
            <a:endParaRPr lang="en-US" sz="1150" dirty="0"/>
          </a:p>
        </p:txBody>
      </p:sp>
      <p:sp>
        <p:nvSpPr>
          <p:cNvPr id="9" name="Shape 6"/>
          <p:cNvSpPr/>
          <p:nvPr/>
        </p:nvSpPr>
        <p:spPr>
          <a:xfrm>
            <a:off x="3310128" y="1783080"/>
            <a:ext cx="2624328" cy="3200400"/>
          </a:xfrm>
          <a:prstGeom prst="roundRect">
            <a:avLst>
              <a:gd name="adj" fmla="val 3136"/>
            </a:avLst>
          </a:prstGeom>
          <a:solidFill>
            <a:srgbClr val="EEF3FC"/>
          </a:solidFill>
          <a:ln/>
        </p:spPr>
      </p:sp>
      <p:sp>
        <p:nvSpPr>
          <p:cNvPr id="10" name="Shape 7"/>
          <p:cNvSpPr/>
          <p:nvPr/>
        </p:nvSpPr>
        <p:spPr>
          <a:xfrm>
            <a:off x="4347972" y="2011680"/>
            <a:ext cx="548640" cy="54864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490618" y="2154326"/>
            <a:ext cx="263347" cy="263347"/>
          </a:xfrm>
          <a:prstGeom prst="rect">
            <a:avLst/>
          </a:prstGeom>
        </p:spPr>
      </p:pic>
      <p:sp>
        <p:nvSpPr>
          <p:cNvPr id="12" name="Text 8"/>
          <p:cNvSpPr/>
          <p:nvPr/>
        </p:nvSpPr>
        <p:spPr>
          <a:xfrm>
            <a:off x="3310128" y="2697480"/>
            <a:ext cx="2624328" cy="411480"/>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Uncertainty</a:t>
            </a:r>
            <a:endParaRPr lang="en-US" sz="1600" dirty="0"/>
          </a:p>
        </p:txBody>
      </p:sp>
      <p:sp>
        <p:nvSpPr>
          <p:cNvPr id="13" name="Text 9"/>
          <p:cNvSpPr/>
          <p:nvPr/>
        </p:nvSpPr>
        <p:spPr>
          <a:xfrm>
            <a:off x="3493008" y="3154680"/>
            <a:ext cx="2258568" cy="173736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Lack of predictability of events and outcomes — e.g., unclear or fast-changing regulatory environments.</a:t>
            </a:r>
            <a:endParaRPr lang="en-US" sz="1150" dirty="0"/>
          </a:p>
        </p:txBody>
      </p:sp>
      <p:sp>
        <p:nvSpPr>
          <p:cNvPr id="14" name="Shape 10"/>
          <p:cNvSpPr/>
          <p:nvPr/>
        </p:nvSpPr>
        <p:spPr>
          <a:xfrm>
            <a:off x="6071616" y="1783080"/>
            <a:ext cx="2624328" cy="3200400"/>
          </a:xfrm>
          <a:prstGeom prst="roundRect">
            <a:avLst>
              <a:gd name="adj" fmla="val 3136"/>
            </a:avLst>
          </a:prstGeom>
          <a:solidFill>
            <a:srgbClr val="EEF3FC"/>
          </a:solidFill>
          <a:ln/>
        </p:spPr>
      </p:sp>
      <p:sp>
        <p:nvSpPr>
          <p:cNvPr id="15" name="Shape 11"/>
          <p:cNvSpPr/>
          <p:nvPr/>
        </p:nvSpPr>
        <p:spPr>
          <a:xfrm>
            <a:off x="7109460" y="2011680"/>
            <a:ext cx="548640" cy="548640"/>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252106" y="2154326"/>
            <a:ext cx="263347" cy="263347"/>
          </a:xfrm>
          <a:prstGeom prst="rect">
            <a:avLst/>
          </a:prstGeom>
        </p:spPr>
      </p:pic>
      <p:sp>
        <p:nvSpPr>
          <p:cNvPr id="17" name="Text 12"/>
          <p:cNvSpPr/>
          <p:nvPr/>
        </p:nvSpPr>
        <p:spPr>
          <a:xfrm>
            <a:off x="6071616" y="2697480"/>
            <a:ext cx="2624328" cy="411480"/>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Complexity</a:t>
            </a:r>
            <a:endParaRPr lang="en-US" sz="1600" dirty="0"/>
          </a:p>
        </p:txBody>
      </p:sp>
      <p:sp>
        <p:nvSpPr>
          <p:cNvPr id="18" name="Text 13"/>
          <p:cNvSpPr/>
          <p:nvPr/>
        </p:nvSpPr>
        <p:spPr>
          <a:xfrm>
            <a:off x="6254496" y="3154680"/>
            <a:ext cx="2258568" cy="173736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Many interconnected factors with no single, clear cause-effect chain — e.g., global, multi-tier supply chains.</a:t>
            </a:r>
            <a:endParaRPr lang="en-US" sz="1150" dirty="0"/>
          </a:p>
        </p:txBody>
      </p:sp>
      <p:sp>
        <p:nvSpPr>
          <p:cNvPr id="19" name="Shape 14"/>
          <p:cNvSpPr/>
          <p:nvPr/>
        </p:nvSpPr>
        <p:spPr>
          <a:xfrm>
            <a:off x="8833104" y="1783080"/>
            <a:ext cx="2624328" cy="3200400"/>
          </a:xfrm>
          <a:prstGeom prst="roundRect">
            <a:avLst>
              <a:gd name="adj" fmla="val 3136"/>
            </a:avLst>
          </a:prstGeom>
          <a:solidFill>
            <a:srgbClr val="EEF3FC"/>
          </a:solidFill>
          <a:ln/>
        </p:spPr>
      </p:sp>
      <p:sp>
        <p:nvSpPr>
          <p:cNvPr id="20" name="Shape 15"/>
          <p:cNvSpPr/>
          <p:nvPr/>
        </p:nvSpPr>
        <p:spPr>
          <a:xfrm>
            <a:off x="9870948" y="2011680"/>
            <a:ext cx="548640" cy="548640"/>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013594" y="2154326"/>
            <a:ext cx="263347" cy="263347"/>
          </a:xfrm>
          <a:prstGeom prst="rect">
            <a:avLst/>
          </a:prstGeom>
        </p:spPr>
      </p:pic>
      <p:sp>
        <p:nvSpPr>
          <p:cNvPr id="22" name="Text 16"/>
          <p:cNvSpPr/>
          <p:nvPr/>
        </p:nvSpPr>
        <p:spPr>
          <a:xfrm>
            <a:off x="8833104" y="2697480"/>
            <a:ext cx="2624328" cy="411480"/>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Ambiguity</a:t>
            </a:r>
            <a:endParaRPr lang="en-US" sz="1600" dirty="0"/>
          </a:p>
        </p:txBody>
      </p:sp>
      <p:sp>
        <p:nvSpPr>
          <p:cNvPr id="23" name="Text 17"/>
          <p:cNvSpPr/>
          <p:nvPr/>
        </p:nvSpPr>
        <p:spPr>
          <a:xfrm>
            <a:off x="9015984" y="3154680"/>
            <a:ext cx="2258568" cy="173736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Unclear meaning of a situation; multiple plausible interpretations — e.g., mixed or conflicting market signals.</a:t>
            </a:r>
            <a:endParaRPr lang="en-US" sz="1150" dirty="0"/>
          </a:p>
        </p:txBody>
      </p:sp>
      <p:sp>
        <p:nvSpPr>
          <p:cNvPr id="24" name="Shape 18"/>
          <p:cNvSpPr/>
          <p:nvPr/>
        </p:nvSpPr>
        <p:spPr>
          <a:xfrm>
            <a:off x="548640" y="5166360"/>
            <a:ext cx="11064240" cy="868680"/>
          </a:xfrm>
          <a:prstGeom prst="roundRect">
            <a:avLst>
              <a:gd name="adj" fmla="val 8421"/>
            </a:avLst>
          </a:prstGeom>
          <a:solidFill>
            <a:srgbClr val="FFF6E0"/>
          </a:solidFill>
          <a:ln w="12700">
            <a:solidFill>
              <a:srgbClr val="C9A24B"/>
            </a:solidFill>
            <a:prstDash val="solid"/>
          </a:ln>
        </p:spPr>
      </p:sp>
      <p:sp>
        <p:nvSpPr>
          <p:cNvPr id="25" name="Text 19"/>
          <p:cNvSpPr/>
          <p:nvPr/>
        </p:nvSpPr>
        <p:spPr>
          <a:xfrm>
            <a:off x="731520" y="5239512"/>
            <a:ext cx="1069848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26" name="Text 20"/>
          <p:cNvSpPr/>
          <p:nvPr/>
        </p:nvSpPr>
        <p:spPr>
          <a:xfrm>
            <a:off x="731520" y="5513832"/>
            <a:ext cx="1069848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“VUCA” is itself the mnemonic: Volatility, Uncertainty, Complexity, Ambiguity — the four faces of a fast-changing world.</a:t>
            </a:r>
            <a:endParaRPr lang="en-US" sz="1250" dirty="0"/>
          </a:p>
        </p:txBody>
      </p:sp>
      <p:sp>
        <p:nvSpPr>
          <p:cNvPr id="27" name="Text 2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21ST CENTURY CHALLENGES — VUCA</a:t>
            </a:r>
            <a:endParaRPr lang="en-US" sz="1100" dirty="0"/>
          </a:p>
        </p:txBody>
      </p:sp>
      <p:sp>
        <p:nvSpPr>
          <p:cNvPr id="28" name="Text 2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21ST CENTURY MANAGEMENT CHALLENGES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Globalization, AI &amp; Workforce Diversity</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Globalization &amp; Cross-Cultural Teams</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Managing teams, suppliers and customers across countries requires cultural intelligence — e.g., reconciling very different communication norms between teams in different regions.</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AI, Automation &amp; Digital Disruption</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AI and automation are reshaping job roles and demanding continuous reskilling — managers must decide how to divide tasks between people and intelligent systems.</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3</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Diverse, Multigenerational Workforce</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Gen Z, Millennials, Gen X and Baby Boomers work side by side with different expectations of flexibility, purpose and stability — requiring inclusive, adaptive management.</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21ST CENTURY MANAGEMENT CHALLENGES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21ST CENTURY MANAGEMENT CHALLENGES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Remote Work, Talent &amp; Sustainability</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4</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Remote &amp; Hybrid Work Management</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Maintaining productivity, culture and trust without co-location — shifting from presence-based supervision to output-based, outcome-driven management.</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5</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War for Talent &amp; the Gig Economy</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High attrition and a growing freelance/gig workforce demand stronger employer branding and flexible engagement models to attract and retain talent.</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6</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Sustainability, ESG &amp; CSR</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Rising pressure from investors, regulators and customers for environmental and social responsibility — e.g., companies committing to measurable net-zero targets.</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21ST CENTURY MANAGEMENT CHALLENGES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21ST CENTURY MANAGEMENT CHALLENGES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Ethics, Cybersecurity &amp; Wellbeing</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7</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Ethics, Governance &amp; Trust</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Maintaining stakeholder trust in the face of corporate scandals requires transparent governance and genuine protection for whistleblowers.</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8</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Cybersecurity &amp; Data Privacy</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Protecting company and customer data, and complying with regulations, is now a core management responsibility — a single ransomware attack can halt operations entirely.</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9</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Employee Wellbeing &amp; Mental Health</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Rising rates of burnout demand genuine mental-health support and flexible policies — not just as a perk, but as a core condition for sustained performance.</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21ST CENTURY MANAGEMENT CHALLENGES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21ST CENTURY MANAGEMENT CHALLENGES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Continuous Change &amp; Innovation Management</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Perhaps the deepest 21st-century challenge is that organizations must now innovate continuously — or risk being disrupted, often quite suddenly.</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Kodak invented the digital camera but was too slow to shift its business model away from film. Nokia dominated mobile handsets but underestimated the shift to smartphones. Both are now standard cautionary tales in management classrooms.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The lesson for managers: building a culture that welcomes change, experiments quickly, and reallocates resources away from declining models — before a crisis forces the issue — is now a core management competency, not an occasional project.</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“Innovate or Evaporate” — continuous change is now the default condition, not the exception.</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Innovate or Be Disrupted</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Kodak (digital photography) and Nokia (smartphones) both invented or led the very technology that eventually displaced them — because their management was too slow to act on it.</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21ST CENTURY MANAGEMENT CHALLENGES</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RECALL — PART 1</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Recall Questions — Part 1</a:t>
            </a:r>
            <a:endParaRPr lang="en-US" sz="2900" dirty="0"/>
          </a:p>
        </p:txBody>
      </p:sp>
      <p:sp>
        <p:nvSpPr>
          <p:cNvPr id="4" name="Text 2"/>
          <p:cNvSpPr/>
          <p:nvPr/>
        </p:nvSpPr>
        <p:spPr>
          <a:xfrm>
            <a:off x="548640" y="1417320"/>
            <a:ext cx="1097280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Test yourself before checking the notes.</a:t>
            </a:r>
            <a:endParaRPr lang="en-US" sz="1400" dirty="0"/>
          </a:p>
        </p:txBody>
      </p:sp>
      <p:sp>
        <p:nvSpPr>
          <p:cNvPr id="5" name="Shape 3"/>
          <p:cNvSpPr/>
          <p:nvPr/>
        </p:nvSpPr>
        <p:spPr>
          <a:xfrm>
            <a:off x="548640" y="2005149"/>
            <a:ext cx="457200" cy="457200"/>
          </a:xfrm>
          <a:prstGeom prst="ellipse">
            <a:avLst/>
          </a:prstGeom>
          <a:solidFill>
            <a:srgbClr val="1E2761"/>
          </a:solidFill>
          <a:ln/>
        </p:spPr>
      </p:sp>
      <p:sp>
        <p:nvSpPr>
          <p:cNvPr id="6" name="Text 4"/>
          <p:cNvSpPr/>
          <p:nvPr/>
        </p:nvSpPr>
        <p:spPr>
          <a:xfrm>
            <a:off x="548640" y="2005149"/>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34440" y="1920240"/>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does Nishkama Karma teach about the relationship between effort and results?</a:t>
            </a:r>
            <a:endParaRPr lang="en-US" sz="1450" dirty="0"/>
          </a:p>
        </p:txBody>
      </p:sp>
      <p:sp>
        <p:nvSpPr>
          <p:cNvPr id="8" name="Shape 6"/>
          <p:cNvSpPr/>
          <p:nvPr/>
        </p:nvSpPr>
        <p:spPr>
          <a:xfrm>
            <a:off x="548640" y="2632166"/>
            <a:ext cx="457200" cy="457200"/>
          </a:xfrm>
          <a:prstGeom prst="ellipse">
            <a:avLst/>
          </a:prstGeom>
          <a:solidFill>
            <a:srgbClr val="1E2761"/>
          </a:solidFill>
          <a:ln/>
        </p:spPr>
      </p:sp>
      <p:sp>
        <p:nvSpPr>
          <p:cNvPr id="9" name="Text 7"/>
          <p:cNvSpPr/>
          <p:nvPr/>
        </p:nvSpPr>
        <p:spPr>
          <a:xfrm>
            <a:off x="548640" y="2632166"/>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234440" y="2547257"/>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is Swadharma, and how does it relate to modern 'person-job fit'?</a:t>
            </a:r>
            <a:endParaRPr lang="en-US" sz="1450" dirty="0"/>
          </a:p>
        </p:txBody>
      </p:sp>
      <p:sp>
        <p:nvSpPr>
          <p:cNvPr id="11" name="Shape 9"/>
          <p:cNvSpPr/>
          <p:nvPr/>
        </p:nvSpPr>
        <p:spPr>
          <a:xfrm>
            <a:off x="548640" y="3259183"/>
            <a:ext cx="457200" cy="457200"/>
          </a:xfrm>
          <a:prstGeom prst="ellipse">
            <a:avLst/>
          </a:prstGeom>
          <a:solidFill>
            <a:srgbClr val="1E2761"/>
          </a:solidFill>
          <a:ln/>
        </p:spPr>
      </p:sp>
      <p:sp>
        <p:nvSpPr>
          <p:cNvPr id="12" name="Text 10"/>
          <p:cNvSpPr/>
          <p:nvPr/>
        </p:nvSpPr>
        <p:spPr>
          <a:xfrm>
            <a:off x="548640" y="3259183"/>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1234440" y="3174274"/>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How does the Gita describe a person of 'steady wisdom' (Sthitaprajna)?</a:t>
            </a:r>
            <a:endParaRPr lang="en-US" sz="1450" dirty="0"/>
          </a:p>
        </p:txBody>
      </p:sp>
      <p:sp>
        <p:nvSpPr>
          <p:cNvPr id="14" name="Shape 12"/>
          <p:cNvSpPr/>
          <p:nvPr/>
        </p:nvSpPr>
        <p:spPr>
          <a:xfrm>
            <a:off x="548640" y="3886200"/>
            <a:ext cx="457200" cy="457200"/>
          </a:xfrm>
          <a:prstGeom prst="ellipse">
            <a:avLst/>
          </a:prstGeom>
          <a:solidFill>
            <a:srgbClr val="1E2761"/>
          </a:solidFill>
          <a:ln/>
        </p:spPr>
      </p:sp>
      <p:sp>
        <p:nvSpPr>
          <p:cNvPr id="15" name="Text 13"/>
          <p:cNvSpPr/>
          <p:nvPr/>
        </p:nvSpPr>
        <p:spPr>
          <a:xfrm>
            <a:off x="548640" y="388620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234440" y="3801291"/>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does Bhagavad Gita 2.41 say about a 'resolute' vs an 'irresolute' intellect?</a:t>
            </a:r>
            <a:endParaRPr lang="en-US" sz="1450" dirty="0"/>
          </a:p>
        </p:txBody>
      </p:sp>
      <p:sp>
        <p:nvSpPr>
          <p:cNvPr id="17" name="Shape 15"/>
          <p:cNvSpPr/>
          <p:nvPr/>
        </p:nvSpPr>
        <p:spPr>
          <a:xfrm>
            <a:off x="548640" y="4513217"/>
            <a:ext cx="457200" cy="457200"/>
          </a:xfrm>
          <a:prstGeom prst="ellipse">
            <a:avLst/>
          </a:prstGeom>
          <a:solidFill>
            <a:srgbClr val="1E2761"/>
          </a:solidFill>
          <a:ln/>
        </p:spPr>
      </p:sp>
      <p:sp>
        <p:nvSpPr>
          <p:cNvPr id="18" name="Text 16"/>
          <p:cNvSpPr/>
          <p:nvPr/>
        </p:nvSpPr>
        <p:spPr>
          <a:xfrm>
            <a:off x="548640" y="4513217"/>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5</a:t>
            </a:r>
            <a:endParaRPr lang="en-US" sz="1400" dirty="0"/>
          </a:p>
        </p:txBody>
      </p:sp>
      <p:sp>
        <p:nvSpPr>
          <p:cNvPr id="19" name="Text 17"/>
          <p:cNvSpPr/>
          <p:nvPr/>
        </p:nvSpPr>
        <p:spPr>
          <a:xfrm>
            <a:off x="1234440" y="4428309"/>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Name the three Gunas and one management implication of each.</a:t>
            </a:r>
            <a:endParaRPr lang="en-US" sz="1450" dirty="0"/>
          </a:p>
        </p:txBody>
      </p:sp>
      <p:sp>
        <p:nvSpPr>
          <p:cNvPr id="20" name="Shape 18"/>
          <p:cNvSpPr/>
          <p:nvPr/>
        </p:nvSpPr>
        <p:spPr>
          <a:xfrm>
            <a:off x="548640" y="5140234"/>
            <a:ext cx="457200" cy="457200"/>
          </a:xfrm>
          <a:prstGeom prst="ellipse">
            <a:avLst/>
          </a:prstGeom>
          <a:solidFill>
            <a:srgbClr val="1E2761"/>
          </a:solidFill>
          <a:ln/>
        </p:spPr>
      </p:sp>
      <p:sp>
        <p:nvSpPr>
          <p:cNvPr id="21" name="Text 19"/>
          <p:cNvSpPr/>
          <p:nvPr/>
        </p:nvSpPr>
        <p:spPr>
          <a:xfrm>
            <a:off x="548640" y="5140234"/>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6</a:t>
            </a:r>
            <a:endParaRPr lang="en-US" sz="1400" dirty="0"/>
          </a:p>
        </p:txBody>
      </p:sp>
      <p:sp>
        <p:nvSpPr>
          <p:cNvPr id="22" name="Text 20"/>
          <p:cNvSpPr/>
          <p:nvPr/>
        </p:nvSpPr>
        <p:spPr>
          <a:xfrm>
            <a:off x="1234440" y="5055326"/>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In what way is Krishna's counsel to Arjuna a model of 'situational leadership'?</a:t>
            </a:r>
            <a:endParaRPr lang="en-US" sz="1450" dirty="0"/>
          </a:p>
        </p:txBody>
      </p:sp>
      <p:sp>
        <p:nvSpPr>
          <p:cNvPr id="23" name="Shape 21"/>
          <p:cNvSpPr/>
          <p:nvPr/>
        </p:nvSpPr>
        <p:spPr>
          <a:xfrm>
            <a:off x="548640" y="5767251"/>
            <a:ext cx="457200" cy="457200"/>
          </a:xfrm>
          <a:prstGeom prst="ellipse">
            <a:avLst/>
          </a:prstGeom>
          <a:solidFill>
            <a:srgbClr val="1E2761"/>
          </a:solidFill>
          <a:ln/>
        </p:spPr>
      </p:sp>
      <p:sp>
        <p:nvSpPr>
          <p:cNvPr id="24" name="Text 22"/>
          <p:cNvSpPr/>
          <p:nvPr/>
        </p:nvSpPr>
        <p:spPr>
          <a:xfrm>
            <a:off x="548640" y="5767251"/>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7</a:t>
            </a:r>
            <a:endParaRPr lang="en-US" sz="1400" dirty="0"/>
          </a:p>
        </p:txBody>
      </p:sp>
      <p:sp>
        <p:nvSpPr>
          <p:cNvPr id="25" name="Text 23"/>
          <p:cNvSpPr/>
          <p:nvPr/>
        </p:nvSpPr>
        <p:spPr>
          <a:xfrm>
            <a:off x="1234440" y="5682343"/>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Which management thinkers argue that Administration and Management are 'one and the same'?</a:t>
            </a:r>
            <a:endParaRPr lang="en-US" sz="145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RECALL — PART 2</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Recall Questions — Part 2</a:t>
            </a:r>
            <a:endParaRPr lang="en-US" sz="2900" dirty="0"/>
          </a:p>
        </p:txBody>
      </p:sp>
      <p:sp>
        <p:nvSpPr>
          <p:cNvPr id="4" name="Text 2"/>
          <p:cNvSpPr/>
          <p:nvPr/>
        </p:nvSpPr>
        <p:spPr>
          <a:xfrm>
            <a:off x="548640" y="1417320"/>
            <a:ext cx="1097280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Test yourself before checking the notes.</a:t>
            </a:r>
            <a:endParaRPr lang="en-US" sz="1400" dirty="0"/>
          </a:p>
        </p:txBody>
      </p:sp>
      <p:sp>
        <p:nvSpPr>
          <p:cNvPr id="5" name="Shape 3"/>
          <p:cNvSpPr/>
          <p:nvPr/>
        </p:nvSpPr>
        <p:spPr>
          <a:xfrm>
            <a:off x="548640" y="2005149"/>
            <a:ext cx="457200" cy="457200"/>
          </a:xfrm>
          <a:prstGeom prst="ellipse">
            <a:avLst/>
          </a:prstGeom>
          <a:solidFill>
            <a:srgbClr val="1E2761"/>
          </a:solidFill>
          <a:ln/>
        </p:spPr>
      </p:sp>
      <p:sp>
        <p:nvSpPr>
          <p:cNvPr id="6" name="Text 4"/>
          <p:cNvSpPr/>
          <p:nvPr/>
        </p:nvSpPr>
        <p:spPr>
          <a:xfrm>
            <a:off x="548640" y="2005149"/>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34440" y="1920240"/>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According to Oliver Sheldon, what is the key difference between Administration and Management?</a:t>
            </a:r>
            <a:endParaRPr lang="en-US" sz="1450" dirty="0"/>
          </a:p>
        </p:txBody>
      </p:sp>
      <p:sp>
        <p:nvSpPr>
          <p:cNvPr id="8" name="Shape 6"/>
          <p:cNvSpPr/>
          <p:nvPr/>
        </p:nvSpPr>
        <p:spPr>
          <a:xfrm>
            <a:off x="548640" y="2632166"/>
            <a:ext cx="457200" cy="457200"/>
          </a:xfrm>
          <a:prstGeom prst="ellipse">
            <a:avLst/>
          </a:prstGeom>
          <a:solidFill>
            <a:srgbClr val="1E2761"/>
          </a:solidFill>
          <a:ln/>
        </p:spPr>
      </p:sp>
      <p:sp>
        <p:nvSpPr>
          <p:cNvPr id="9" name="Text 7"/>
          <p:cNvSpPr/>
          <p:nvPr/>
        </p:nvSpPr>
        <p:spPr>
          <a:xfrm>
            <a:off x="548640" y="2632166"/>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234440" y="2547257"/>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is the practical 'reconciliation' between the two viewpoints on Administration vs. Management?</a:t>
            </a:r>
            <a:endParaRPr lang="en-US" sz="1450" dirty="0"/>
          </a:p>
        </p:txBody>
      </p:sp>
      <p:sp>
        <p:nvSpPr>
          <p:cNvPr id="11" name="Shape 9"/>
          <p:cNvSpPr/>
          <p:nvPr/>
        </p:nvSpPr>
        <p:spPr>
          <a:xfrm>
            <a:off x="548640" y="3259183"/>
            <a:ext cx="457200" cy="457200"/>
          </a:xfrm>
          <a:prstGeom prst="ellipse">
            <a:avLst/>
          </a:prstGeom>
          <a:solidFill>
            <a:srgbClr val="1E2761"/>
          </a:solidFill>
          <a:ln/>
        </p:spPr>
      </p:sp>
      <p:sp>
        <p:nvSpPr>
          <p:cNvPr id="12" name="Text 10"/>
          <p:cNvSpPr/>
          <p:nvPr/>
        </p:nvSpPr>
        <p:spPr>
          <a:xfrm>
            <a:off x="548640" y="3259183"/>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1234440" y="3174274"/>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Expand the acronym VUCA and give one business example of each element.</a:t>
            </a:r>
            <a:endParaRPr lang="en-US" sz="1450" dirty="0"/>
          </a:p>
        </p:txBody>
      </p:sp>
      <p:sp>
        <p:nvSpPr>
          <p:cNvPr id="14" name="Shape 12"/>
          <p:cNvSpPr/>
          <p:nvPr/>
        </p:nvSpPr>
        <p:spPr>
          <a:xfrm>
            <a:off x="548640" y="3886200"/>
            <a:ext cx="457200" cy="457200"/>
          </a:xfrm>
          <a:prstGeom prst="ellipse">
            <a:avLst/>
          </a:prstGeom>
          <a:solidFill>
            <a:srgbClr val="1E2761"/>
          </a:solidFill>
          <a:ln/>
        </p:spPr>
      </p:sp>
      <p:sp>
        <p:nvSpPr>
          <p:cNvPr id="15" name="Text 13"/>
          <p:cNvSpPr/>
          <p:nvPr/>
        </p:nvSpPr>
        <p:spPr>
          <a:xfrm>
            <a:off x="548640" y="388620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234440" y="3801291"/>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Name any three of the ten 21st-century management challenges discussed.</a:t>
            </a:r>
            <a:endParaRPr lang="en-US" sz="1450" dirty="0"/>
          </a:p>
        </p:txBody>
      </p:sp>
      <p:sp>
        <p:nvSpPr>
          <p:cNvPr id="17" name="Shape 15"/>
          <p:cNvSpPr/>
          <p:nvPr/>
        </p:nvSpPr>
        <p:spPr>
          <a:xfrm>
            <a:off x="548640" y="4513217"/>
            <a:ext cx="457200" cy="457200"/>
          </a:xfrm>
          <a:prstGeom prst="ellipse">
            <a:avLst/>
          </a:prstGeom>
          <a:solidFill>
            <a:srgbClr val="1E2761"/>
          </a:solidFill>
          <a:ln/>
        </p:spPr>
      </p:sp>
      <p:sp>
        <p:nvSpPr>
          <p:cNvPr id="18" name="Text 16"/>
          <p:cNvSpPr/>
          <p:nvPr/>
        </p:nvSpPr>
        <p:spPr>
          <a:xfrm>
            <a:off x="548640" y="4513217"/>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5</a:t>
            </a:r>
            <a:endParaRPr lang="en-US" sz="1400" dirty="0"/>
          </a:p>
        </p:txBody>
      </p:sp>
      <p:sp>
        <p:nvSpPr>
          <p:cNvPr id="19" name="Text 17"/>
          <p:cNvSpPr/>
          <p:nvPr/>
        </p:nvSpPr>
        <p:spPr>
          <a:xfrm>
            <a:off x="1234440" y="4428309"/>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Why are Kodak and Nokia commonly used as cautionary examples in management courses?</a:t>
            </a:r>
            <a:endParaRPr lang="en-US" sz="1450" dirty="0"/>
          </a:p>
        </p:txBody>
      </p:sp>
      <p:sp>
        <p:nvSpPr>
          <p:cNvPr id="20" name="Shape 18"/>
          <p:cNvSpPr/>
          <p:nvPr/>
        </p:nvSpPr>
        <p:spPr>
          <a:xfrm>
            <a:off x="548640" y="5140234"/>
            <a:ext cx="457200" cy="457200"/>
          </a:xfrm>
          <a:prstGeom prst="ellipse">
            <a:avLst/>
          </a:prstGeom>
          <a:solidFill>
            <a:srgbClr val="1E2761"/>
          </a:solidFill>
          <a:ln/>
        </p:spPr>
      </p:sp>
      <p:sp>
        <p:nvSpPr>
          <p:cNvPr id="21" name="Text 19"/>
          <p:cNvSpPr/>
          <p:nvPr/>
        </p:nvSpPr>
        <p:spPr>
          <a:xfrm>
            <a:off x="548640" y="5140234"/>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6</a:t>
            </a:r>
            <a:endParaRPr lang="en-US" sz="1400" dirty="0"/>
          </a:p>
        </p:txBody>
      </p:sp>
      <p:sp>
        <p:nvSpPr>
          <p:cNvPr id="22" name="Text 20"/>
          <p:cNvSpPr/>
          <p:nvPr/>
        </p:nvSpPr>
        <p:spPr>
          <a:xfrm>
            <a:off x="1234440" y="5055326"/>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is the difference between managing remote/hybrid teams and managing a co-located team?</a:t>
            </a:r>
            <a:endParaRPr lang="en-US" sz="1450" dirty="0"/>
          </a:p>
        </p:txBody>
      </p:sp>
      <p:sp>
        <p:nvSpPr>
          <p:cNvPr id="23" name="Shape 21"/>
          <p:cNvSpPr/>
          <p:nvPr/>
        </p:nvSpPr>
        <p:spPr>
          <a:xfrm>
            <a:off x="548640" y="5767251"/>
            <a:ext cx="457200" cy="457200"/>
          </a:xfrm>
          <a:prstGeom prst="ellipse">
            <a:avLst/>
          </a:prstGeom>
          <a:solidFill>
            <a:srgbClr val="1E2761"/>
          </a:solidFill>
          <a:ln/>
        </p:spPr>
      </p:sp>
      <p:sp>
        <p:nvSpPr>
          <p:cNvPr id="24" name="Text 22"/>
          <p:cNvSpPr/>
          <p:nvPr/>
        </p:nvSpPr>
        <p:spPr>
          <a:xfrm>
            <a:off x="548640" y="5767251"/>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7</a:t>
            </a:r>
            <a:endParaRPr lang="en-US" sz="1400" dirty="0"/>
          </a:p>
        </p:txBody>
      </p:sp>
      <p:sp>
        <p:nvSpPr>
          <p:cNvPr id="25" name="Text 23"/>
          <p:cNvSpPr/>
          <p:nvPr/>
        </p:nvSpPr>
        <p:spPr>
          <a:xfrm>
            <a:off x="1234440" y="5682343"/>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Why has cybersecurity become a core management responsibility rather than just an IT issue?</a:t>
            </a:r>
            <a:endParaRPr lang="en-US" sz="145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591556" y="1920240"/>
            <a:ext cx="1005840" cy="100584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5853074" y="2181758"/>
            <a:ext cx="482803" cy="482803"/>
          </a:xfrm>
          <a:prstGeom prst="rect">
            <a:avLst/>
          </a:prstGeom>
        </p:spPr>
      </p:pic>
      <p:sp>
        <p:nvSpPr>
          <p:cNvPr id="4" name="Text 1"/>
          <p:cNvSpPr/>
          <p:nvPr/>
        </p:nvSpPr>
        <p:spPr>
          <a:xfrm>
            <a:off x="548640" y="3200400"/>
            <a:ext cx="11064240" cy="5486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MULTIPLE CHOICE QUIZ</a:t>
            </a:r>
            <a:endParaRPr lang="en-US" sz="2600" dirty="0"/>
          </a:p>
        </p:txBody>
      </p:sp>
      <p:sp>
        <p:nvSpPr>
          <p:cNvPr id="5" name="Text 2"/>
          <p:cNvSpPr/>
          <p:nvPr/>
        </p:nvSpPr>
        <p:spPr>
          <a:xfrm>
            <a:off x="548640" y="3794760"/>
            <a:ext cx="11064240" cy="457200"/>
          </a:xfrm>
          <a:prstGeom prst="rect">
            <a:avLst/>
          </a:prstGeom>
          <a:noFill/>
          <a:ln/>
        </p:spPr>
        <p:txBody>
          <a:bodyPr wrap="square"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8 quick questions — click / press a key on each slide to reveal the correct answer.</a:t>
            </a:r>
            <a:endParaRPr lang="en-US" sz="1500" dirty="0"/>
          </a:p>
        </p:txBody>
      </p:sp>
      <p:sp>
        <p:nvSpPr>
          <p:cNvPr id="6" name="Text 3"/>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MULTIPLE CHOICE QUIZ</a:t>
            </a:r>
            <a:endParaRPr lang="en-US" sz="11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Which Bhagavad Gita concept refers to performing one's duty without attachment to the results?</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Swadharma</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Nishkama Karma</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Sthitaprajna</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Buddhi Yoga</a:t>
            </a:r>
            <a:endParaRPr lang="en-US" sz="1500" dirty="0"/>
          </a:p>
        </p:txBody>
      </p:sp>
      <p:sp>
        <p:nvSpPr>
          <p:cNvPr id="22" name="ans_1"/>
          <p:cNvSpPr/>
          <p:nvPr/>
        </p:nvSpPr>
        <p:spPr>
          <a:xfrm>
            <a:off x="548640" y="3502152"/>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1_b"/>
          <p:cNvSpPr/>
          <p:nvPr/>
        </p:nvSpPr>
        <p:spPr>
          <a:xfrm>
            <a:off x="777240" y="3717036"/>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762756"/>
            <a:ext cx="411480" cy="411480"/>
          </a:xfrm>
          <a:prstGeom prst="rect">
            <a:avLst/>
          </a:prstGeom>
        </p:spPr>
      </p:pic>
      <p:sp>
        <p:nvSpPr>
          <p:cNvPr id="25" name="Text 21"/>
          <p:cNvSpPr/>
          <p:nvPr/>
        </p:nvSpPr>
        <p:spPr>
          <a:xfrm>
            <a:off x="1508760" y="3502152"/>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Nishkama Karma</a:t>
            </a:r>
            <a:endParaRPr lang="en-US" sz="1500" dirty="0"/>
          </a:p>
        </p:txBody>
      </p:sp>
      <p:sp>
        <p:nvSpPr>
          <p:cNvPr id="26" name="Text 22"/>
          <p:cNvSpPr/>
          <p:nvPr/>
        </p:nvSpPr>
        <p:spPr>
          <a:xfrm>
            <a:off x="10332720" y="3502152"/>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2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acts as Arjuna's charioteer and counselor in the Bhagavad Gita?</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Bhishma</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Krishna</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Drona</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Yudhishthira</a:t>
            </a:r>
            <a:endParaRPr lang="en-US" sz="1500" dirty="0"/>
          </a:p>
        </p:txBody>
      </p:sp>
      <p:sp>
        <p:nvSpPr>
          <p:cNvPr id="22" name="ans_2"/>
          <p:cNvSpPr/>
          <p:nvPr/>
        </p:nvSpPr>
        <p:spPr>
          <a:xfrm>
            <a:off x="548640" y="3502152"/>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2_b"/>
          <p:cNvSpPr/>
          <p:nvPr/>
        </p:nvSpPr>
        <p:spPr>
          <a:xfrm>
            <a:off x="777240" y="3717036"/>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762756"/>
            <a:ext cx="411480" cy="411480"/>
          </a:xfrm>
          <a:prstGeom prst="rect">
            <a:avLst/>
          </a:prstGeom>
        </p:spPr>
      </p:pic>
      <p:sp>
        <p:nvSpPr>
          <p:cNvPr id="25" name="Text 21"/>
          <p:cNvSpPr/>
          <p:nvPr/>
        </p:nvSpPr>
        <p:spPr>
          <a:xfrm>
            <a:off x="1508760" y="3502152"/>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Krishna</a:t>
            </a:r>
            <a:endParaRPr lang="en-US" sz="1500" dirty="0"/>
          </a:p>
        </p:txBody>
      </p:sp>
      <p:sp>
        <p:nvSpPr>
          <p:cNvPr id="26" name="Text 22"/>
          <p:cNvSpPr/>
          <p:nvPr/>
        </p:nvSpPr>
        <p:spPr>
          <a:xfrm>
            <a:off x="10332720" y="3502152"/>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3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Which of the three Gunas is associated with clarity, balance and knowledge-driven action?</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Rajas</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Tamas</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Sattva</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Ahimsa</a:t>
            </a:r>
            <a:endParaRPr lang="en-US" sz="1500" dirty="0"/>
          </a:p>
        </p:txBody>
      </p:sp>
      <p:sp>
        <p:nvSpPr>
          <p:cNvPr id="22" name="ans_3"/>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3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Sattva</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4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According to Bhagavad Gita 2.41, the thoughts of an irresolute (unclear) mind are described as:</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Single-pointed</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Many-branched and endless</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Silent and still</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Perfectly balanced</a:t>
            </a:r>
            <a:endParaRPr lang="en-US" sz="1500" dirty="0"/>
          </a:p>
        </p:txBody>
      </p:sp>
      <p:sp>
        <p:nvSpPr>
          <p:cNvPr id="22" name="ans_4"/>
          <p:cNvSpPr/>
          <p:nvPr/>
        </p:nvSpPr>
        <p:spPr>
          <a:xfrm>
            <a:off x="548640" y="3502152"/>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4_b"/>
          <p:cNvSpPr/>
          <p:nvPr/>
        </p:nvSpPr>
        <p:spPr>
          <a:xfrm>
            <a:off x="777240" y="3717036"/>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762756"/>
            <a:ext cx="411480" cy="411480"/>
          </a:xfrm>
          <a:prstGeom prst="rect">
            <a:avLst/>
          </a:prstGeom>
        </p:spPr>
      </p:pic>
      <p:sp>
        <p:nvSpPr>
          <p:cNvPr id="25" name="Text 21"/>
          <p:cNvSpPr/>
          <p:nvPr/>
        </p:nvSpPr>
        <p:spPr>
          <a:xfrm>
            <a:off x="1508760" y="3502152"/>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Many-branched and endless</a:t>
            </a:r>
            <a:endParaRPr lang="en-US" sz="1500" dirty="0"/>
          </a:p>
        </p:txBody>
      </p:sp>
      <p:sp>
        <p:nvSpPr>
          <p:cNvPr id="26" name="Text 22"/>
          <p:cNvSpPr/>
          <p:nvPr/>
        </p:nvSpPr>
        <p:spPr>
          <a:xfrm>
            <a:off x="10332720" y="3502152"/>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5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Which group of thinkers argued that Administration and Management are 'one and the same'?</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Oliver Sheldon &amp; Ordway Tead</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Frederick Taylor &amp; Frank Gilbreth</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William Newman &amp; Henri Fayol</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Peter Drucker &amp; Mary Parker Follet</a:t>
            </a:r>
            <a:endParaRPr lang="en-US" sz="1500" dirty="0"/>
          </a:p>
        </p:txBody>
      </p:sp>
      <p:sp>
        <p:nvSpPr>
          <p:cNvPr id="22" name="ans_5"/>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5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William Newman &amp; Henri Fayol</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6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In the 'Administration is higher than Management' viewpoint, who determines broad policy ('what' and 'why')?</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Management</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Administration</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Supervisors</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Trade unions</a:t>
            </a:r>
            <a:endParaRPr lang="en-US" sz="1500" dirty="0"/>
          </a:p>
        </p:txBody>
      </p:sp>
      <p:sp>
        <p:nvSpPr>
          <p:cNvPr id="22" name="ans_6"/>
          <p:cNvSpPr/>
          <p:nvPr/>
        </p:nvSpPr>
        <p:spPr>
          <a:xfrm>
            <a:off x="548640" y="3502152"/>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6_b"/>
          <p:cNvSpPr/>
          <p:nvPr/>
        </p:nvSpPr>
        <p:spPr>
          <a:xfrm>
            <a:off x="777240" y="3717036"/>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762756"/>
            <a:ext cx="411480" cy="411480"/>
          </a:xfrm>
          <a:prstGeom prst="rect">
            <a:avLst/>
          </a:prstGeom>
        </p:spPr>
      </p:pic>
      <p:sp>
        <p:nvSpPr>
          <p:cNvPr id="25" name="Text 21"/>
          <p:cNvSpPr/>
          <p:nvPr/>
        </p:nvSpPr>
        <p:spPr>
          <a:xfrm>
            <a:off x="1508760" y="3502152"/>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Administration</a:t>
            </a:r>
            <a:endParaRPr lang="en-US" sz="1500" dirty="0"/>
          </a:p>
        </p:txBody>
      </p:sp>
      <p:sp>
        <p:nvSpPr>
          <p:cNvPr id="26" name="Text 22"/>
          <p:cNvSpPr/>
          <p:nvPr/>
        </p:nvSpPr>
        <p:spPr>
          <a:xfrm>
            <a:off x="10332720" y="3502152"/>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7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In the acronym VUCA, what does the letter 'V' stand for?</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Value</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Vision</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Volatility</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Verification</a:t>
            </a:r>
            <a:endParaRPr lang="en-US" sz="1500" dirty="0"/>
          </a:p>
        </p:txBody>
      </p:sp>
      <p:sp>
        <p:nvSpPr>
          <p:cNvPr id="22" name="ans_7"/>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7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Volatility</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8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Kodak and Nokia are most commonly cited as cautionary examples of failing to manage which 21st-century challenge?</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Cybersecurity</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Continuous change &amp; innovation</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Employee wellbeing</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Cross-cultural management</a:t>
            </a:r>
            <a:endParaRPr lang="en-US" sz="1500" dirty="0"/>
          </a:p>
        </p:txBody>
      </p:sp>
      <p:sp>
        <p:nvSpPr>
          <p:cNvPr id="22" name="ans_8"/>
          <p:cNvSpPr/>
          <p:nvPr/>
        </p:nvSpPr>
        <p:spPr>
          <a:xfrm>
            <a:off x="548640" y="3502152"/>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8_b"/>
          <p:cNvSpPr/>
          <p:nvPr/>
        </p:nvSpPr>
        <p:spPr>
          <a:xfrm>
            <a:off x="777240" y="3717036"/>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762756"/>
            <a:ext cx="411480" cy="411480"/>
          </a:xfrm>
          <a:prstGeom prst="rect">
            <a:avLst/>
          </a:prstGeom>
        </p:spPr>
      </p:pic>
      <p:sp>
        <p:nvSpPr>
          <p:cNvPr id="25" name="Text 21"/>
          <p:cNvSpPr/>
          <p:nvPr/>
        </p:nvSpPr>
        <p:spPr>
          <a:xfrm>
            <a:off x="1508760" y="3502152"/>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Continuous change &amp; innovation</a:t>
            </a:r>
            <a:endParaRPr lang="en-US" sz="1500" dirty="0"/>
          </a:p>
        </p:txBody>
      </p:sp>
      <p:sp>
        <p:nvSpPr>
          <p:cNvPr id="26" name="Text 22"/>
          <p:cNvSpPr/>
          <p:nvPr/>
        </p:nvSpPr>
        <p:spPr>
          <a:xfrm>
            <a:off x="10332720" y="3502152"/>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100584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Recap of Today's Lecture</a:t>
            </a:r>
            <a:endParaRPr lang="en-US" sz="3200" dirty="0"/>
          </a:p>
        </p:txBody>
      </p:sp>
      <p:sp>
        <p:nvSpPr>
          <p:cNvPr id="5" name="Text 3"/>
          <p:cNvSpPr/>
          <p:nvPr/>
        </p:nvSpPr>
        <p:spPr>
          <a:xfrm>
            <a:off x="822960" y="196596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Indian Ethos: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The Gita's Nishkama Karma, Swadharma, Sthitaprajna, Buddhi Yoga, the Gunas, self-mastery, and Krishna's coaching model all map onto core modern management skills.</a:t>
            </a:r>
            <a:endParaRPr lang="en-US" sz="1500" dirty="0"/>
          </a:p>
        </p:txBody>
      </p:sp>
      <p:sp>
        <p:nvSpPr>
          <p:cNvPr id="6" name="Text 4"/>
          <p:cNvSpPr/>
          <p:nvPr/>
        </p:nvSpPr>
        <p:spPr>
          <a:xfrm>
            <a:off x="822960" y="306324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Administration vs. Management: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Either the same activity under different labels, or a higher policy-making function versus a lower policy-executing one — in practice, a matter of emphasis by level.</a:t>
            </a:r>
            <a:endParaRPr lang="en-US" sz="1500" dirty="0"/>
          </a:p>
        </p:txBody>
      </p:sp>
      <p:sp>
        <p:nvSpPr>
          <p:cNvPr id="7" name="Text 5"/>
          <p:cNvSpPr/>
          <p:nvPr/>
        </p:nvSpPr>
        <p:spPr>
          <a:xfrm>
            <a:off x="822960" y="416052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21st Century Challenges: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VUCA, globalization, AI, workforce diversity, remote work, talent wars, ESG, ethics, cybersecurity and wellbeing all demand continuous adaptation.</a:t>
            </a:r>
            <a:endParaRPr lang="en-US" sz="1500" dirty="0"/>
          </a:p>
        </p:txBody>
      </p:sp>
      <p:sp>
        <p:nvSpPr>
          <p:cNvPr id="8" name="Text 6"/>
          <p:cNvSpPr/>
          <p:nvPr/>
        </p:nvSpPr>
        <p:spPr>
          <a:xfrm>
            <a:off x="822960" y="525780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The Common Thread: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Whether ancient or brand-new, every challenge comes back to the same task: clear thinking, steady judgment, and getting things done through people.</a:t>
            </a:r>
            <a:endParaRPr lang="en-US" sz="1500" dirty="0"/>
          </a:p>
        </p:txBody>
      </p:sp>
      <p:sp>
        <p:nvSpPr>
          <p:cNvPr id="9" name="Text 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 - Part III</dc:title>
  <dc:subject>PptxGenJS Presentation</dc:subject>
  <dc:creator>Dr. Rajakrishnan Manivel</dc:creator>
  <cp:lastModifiedBy>Dr. Rajakrishnan Manivel</cp:lastModifiedBy>
  <cp:revision>1</cp:revision>
  <dcterms:created xsi:type="dcterms:W3CDTF">2026-07-29T06:42:49Z</dcterms:created>
  <dcterms:modified xsi:type="dcterms:W3CDTF">2026-07-29T06:42:50Z</dcterms:modified>
</cp:coreProperties>
</file>