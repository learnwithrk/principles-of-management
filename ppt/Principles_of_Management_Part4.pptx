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0268712" y="4480560"/>
            <a:ext cx="2926080" cy="2926080"/>
          </a:xfrm>
          <a:prstGeom prst="ellipse">
            <a:avLst/>
          </a:prstGeom>
          <a:solidFill>
            <a:srgbClr val="1E2761"/>
          </a:solidFill>
          <a:ln/>
        </p:spPr>
      </p:sp>
      <p:sp>
        <p:nvSpPr>
          <p:cNvPr id="4" name="Text 2"/>
          <p:cNvSpPr/>
          <p:nvPr/>
        </p:nvSpPr>
        <p:spPr>
          <a:xfrm>
            <a:off x="822960" y="1234440"/>
            <a:ext cx="91440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PRINCIPLES OF MANAGEMENT — PART IV</a:t>
            </a:r>
            <a:endParaRPr lang="en-US" sz="1500" dirty="0"/>
          </a:p>
        </p:txBody>
      </p:sp>
      <p:sp>
        <p:nvSpPr>
          <p:cNvPr id="5" name="Text 3"/>
          <p:cNvSpPr/>
          <p:nvPr/>
        </p:nvSpPr>
        <p:spPr>
          <a:xfrm>
            <a:off x="822960" y="1600200"/>
            <a:ext cx="1024128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Planning: Meaning, Nature, Steps &amp; Types of Plans</a:t>
            </a:r>
            <a:endParaRPr lang="en-US" sz="3200" dirty="0"/>
          </a:p>
        </p:txBody>
      </p:sp>
      <p:sp>
        <p:nvSpPr>
          <p:cNvPr id="6" name="Text 4"/>
          <p:cNvSpPr/>
          <p:nvPr/>
        </p:nvSpPr>
        <p:spPr>
          <a:xfrm>
            <a:off x="822960" y="2514600"/>
            <a:ext cx="10058400" cy="822960"/>
          </a:xfrm>
          <a:prstGeom prst="rect">
            <a:avLst/>
          </a:prstGeom>
          <a:noFill/>
          <a:ln/>
        </p:spPr>
        <p:txBody>
          <a:bodyPr wrap="square" rtlCol="0" anchor="t"/>
          <a:lstStyle/>
          <a:p>
            <a:pPr indent="0" marL="0">
              <a:buNone/>
            </a:pPr>
            <a:r>
              <a:rPr lang="en-US" sz="1600" dirty="0">
                <a:solidFill>
                  <a:srgbClr val="CADCFC"/>
                </a:solidFill>
                <a:latin typeface="Calibri" pitchFamily="34" charset="0"/>
                <a:ea typeface="Calibri" pitchFamily="34" charset="-122"/>
                <a:cs typeface="Calibri" pitchFamily="34" charset="-120"/>
              </a:rPr>
              <a:t>with Forecasting • MBO &amp; MBE • Decision-Making • Arthashastra's Strategic Wisdom • SDGs in Planning</a:t>
            </a:r>
            <a:endParaRPr lang="en-US" sz="1600" dirty="0"/>
          </a:p>
        </p:txBody>
      </p:sp>
      <p:sp>
        <p:nvSpPr>
          <p:cNvPr id="7" name="Shape 5"/>
          <p:cNvSpPr/>
          <p:nvPr/>
        </p:nvSpPr>
        <p:spPr>
          <a:xfrm>
            <a:off x="868680" y="3566160"/>
            <a:ext cx="2011680" cy="0"/>
          </a:xfrm>
          <a:prstGeom prst="line">
            <a:avLst/>
          </a:prstGeom>
          <a:noFill/>
          <a:ln w="25400">
            <a:solidFill>
              <a:srgbClr val="C9A24B"/>
            </a:solidFill>
            <a:prstDash val="solid"/>
          </a:ln>
        </p:spPr>
      </p:sp>
      <p:sp>
        <p:nvSpPr>
          <p:cNvPr id="8" name="Text 6"/>
          <p:cNvSpPr/>
          <p:nvPr/>
        </p:nvSpPr>
        <p:spPr>
          <a:xfrm>
            <a:off x="822960" y="5760720"/>
            <a:ext cx="7315200" cy="914400"/>
          </a:xfrm>
          <a:prstGeom prst="rect">
            <a:avLst/>
          </a:prstGeom>
          <a:noFill/>
          <a:ln/>
        </p:spPr>
        <p:txBody>
          <a:bodyPr wrap="square" rtlCol="0" anchor="ctr"/>
          <a:lstStyle/>
          <a:p>
            <a:pPr indent="0" marL="0">
              <a:lnSpc>
                <a:spcPct val="120000"/>
              </a:lnSpc>
              <a:buNone/>
            </a:pPr>
            <a:r>
              <a:rPr lang="en-US" sz="1300" b="1" dirty="0">
                <a:solidFill>
                  <a:srgbClr val="CADCFC"/>
                </a:solidFill>
                <a:latin typeface="Calibri" pitchFamily="34" charset="0"/>
                <a:ea typeface="Calibri" pitchFamily="34" charset="-122"/>
                <a:cs typeface="Calibri" pitchFamily="34" charset="-120"/>
              </a:rPr>
              <a:t>Dr. Rajakrishnan Manivel</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Assistant Professor, Department of Commerce (CA)</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PSG College of Arts &amp; Science, Coimbatore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LECTURE ROADMAP</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We Will Cover Today</a:t>
            </a:r>
            <a:endParaRPr lang="en-US" sz="2700" dirty="0"/>
          </a:p>
        </p:txBody>
      </p:sp>
      <p:sp>
        <p:nvSpPr>
          <p:cNvPr id="4" name="Shape 2"/>
          <p:cNvSpPr/>
          <p:nvPr/>
        </p:nvSpPr>
        <p:spPr>
          <a:xfrm>
            <a:off x="548640" y="1508760"/>
            <a:ext cx="11064240" cy="621792"/>
          </a:xfrm>
          <a:prstGeom prst="roundRect">
            <a:avLst>
              <a:gd name="adj" fmla="val 10294"/>
            </a:avLst>
          </a:prstGeom>
          <a:solidFill>
            <a:srgbClr val="EEF3FC"/>
          </a:solidFill>
          <a:ln/>
        </p:spPr>
      </p:sp>
      <p:sp>
        <p:nvSpPr>
          <p:cNvPr id="5" name="Shape 3"/>
          <p:cNvSpPr/>
          <p:nvPr/>
        </p:nvSpPr>
        <p:spPr>
          <a:xfrm>
            <a:off x="713232" y="1600200"/>
            <a:ext cx="438912" cy="43891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827349" y="1714317"/>
            <a:ext cx="210678" cy="210678"/>
          </a:xfrm>
          <a:prstGeom prst="rect">
            <a:avLst/>
          </a:prstGeom>
        </p:spPr>
      </p:pic>
      <p:sp>
        <p:nvSpPr>
          <p:cNvPr id="7" name="Text 4"/>
          <p:cNvSpPr/>
          <p:nvPr/>
        </p:nvSpPr>
        <p:spPr>
          <a:xfrm>
            <a:off x="1280160" y="1581912"/>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A</a:t>
            </a:r>
            <a:endParaRPr lang="en-US" sz="1500" dirty="0"/>
          </a:p>
        </p:txBody>
      </p:sp>
      <p:sp>
        <p:nvSpPr>
          <p:cNvPr id="8" name="Text 5"/>
          <p:cNvSpPr/>
          <p:nvPr/>
        </p:nvSpPr>
        <p:spPr>
          <a:xfrm>
            <a:off x="1691640" y="1536192"/>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Meaning, Nature &amp; Importance of Planning</a:t>
            </a:r>
            <a:endParaRPr lang="en-US" sz="1350" dirty="0"/>
          </a:p>
        </p:txBody>
      </p:sp>
      <p:sp>
        <p:nvSpPr>
          <p:cNvPr id="9" name="Text 6"/>
          <p:cNvSpPr/>
          <p:nvPr/>
        </p:nvSpPr>
        <p:spPr>
          <a:xfrm>
            <a:off x="8732520" y="1536192"/>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7.2–7.4</a:t>
            </a:r>
            <a:endParaRPr lang="en-US" sz="1100" dirty="0"/>
          </a:p>
        </p:txBody>
      </p:sp>
      <p:sp>
        <p:nvSpPr>
          <p:cNvPr id="10" name="Shape 7"/>
          <p:cNvSpPr/>
          <p:nvPr/>
        </p:nvSpPr>
        <p:spPr>
          <a:xfrm>
            <a:off x="548640" y="2221992"/>
            <a:ext cx="11064240" cy="621792"/>
          </a:xfrm>
          <a:prstGeom prst="roundRect">
            <a:avLst>
              <a:gd name="adj" fmla="val 10294"/>
            </a:avLst>
          </a:prstGeom>
          <a:solidFill>
            <a:srgbClr val="EEF3FC"/>
          </a:solidFill>
          <a:ln/>
        </p:spPr>
      </p:sp>
      <p:sp>
        <p:nvSpPr>
          <p:cNvPr id="11" name="Shape 8"/>
          <p:cNvSpPr/>
          <p:nvPr/>
        </p:nvSpPr>
        <p:spPr>
          <a:xfrm>
            <a:off x="713232" y="2313432"/>
            <a:ext cx="438912" cy="43891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27349" y="2427549"/>
            <a:ext cx="210678" cy="210678"/>
          </a:xfrm>
          <a:prstGeom prst="rect">
            <a:avLst/>
          </a:prstGeom>
        </p:spPr>
      </p:pic>
      <p:sp>
        <p:nvSpPr>
          <p:cNvPr id="13" name="Text 9"/>
          <p:cNvSpPr/>
          <p:nvPr/>
        </p:nvSpPr>
        <p:spPr>
          <a:xfrm>
            <a:off x="1280160" y="2295144"/>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B</a:t>
            </a:r>
            <a:endParaRPr lang="en-US" sz="1500" dirty="0"/>
          </a:p>
        </p:txBody>
      </p:sp>
      <p:sp>
        <p:nvSpPr>
          <p:cNvPr id="14" name="Text 10"/>
          <p:cNvSpPr/>
          <p:nvPr/>
        </p:nvSpPr>
        <p:spPr>
          <a:xfrm>
            <a:off x="1691640" y="2249424"/>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Major Steps in Planning</a:t>
            </a:r>
            <a:endParaRPr lang="en-US" sz="1350" dirty="0"/>
          </a:p>
        </p:txBody>
      </p:sp>
      <p:sp>
        <p:nvSpPr>
          <p:cNvPr id="15" name="Text 11"/>
          <p:cNvSpPr/>
          <p:nvPr/>
        </p:nvSpPr>
        <p:spPr>
          <a:xfrm>
            <a:off x="8732520" y="2249424"/>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8.2</a:t>
            </a:r>
            <a:endParaRPr lang="en-US" sz="1100" dirty="0"/>
          </a:p>
        </p:txBody>
      </p:sp>
      <p:sp>
        <p:nvSpPr>
          <p:cNvPr id="16" name="Shape 12"/>
          <p:cNvSpPr/>
          <p:nvPr/>
        </p:nvSpPr>
        <p:spPr>
          <a:xfrm>
            <a:off x="548640" y="2935224"/>
            <a:ext cx="11064240" cy="621792"/>
          </a:xfrm>
          <a:prstGeom prst="roundRect">
            <a:avLst>
              <a:gd name="adj" fmla="val 10294"/>
            </a:avLst>
          </a:prstGeom>
          <a:solidFill>
            <a:srgbClr val="EEF3FC"/>
          </a:solidFill>
          <a:ln/>
        </p:spPr>
      </p:sp>
      <p:sp>
        <p:nvSpPr>
          <p:cNvPr id="17" name="Shape 13"/>
          <p:cNvSpPr/>
          <p:nvPr/>
        </p:nvSpPr>
        <p:spPr>
          <a:xfrm>
            <a:off x="713232" y="3026664"/>
            <a:ext cx="438912" cy="43891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27349" y="3140781"/>
            <a:ext cx="210678" cy="210678"/>
          </a:xfrm>
          <a:prstGeom prst="rect">
            <a:avLst/>
          </a:prstGeom>
        </p:spPr>
      </p:pic>
      <p:sp>
        <p:nvSpPr>
          <p:cNvPr id="19" name="Text 14"/>
          <p:cNvSpPr/>
          <p:nvPr/>
        </p:nvSpPr>
        <p:spPr>
          <a:xfrm>
            <a:off x="1280160" y="3008376"/>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C</a:t>
            </a:r>
            <a:endParaRPr lang="en-US" sz="1500" dirty="0"/>
          </a:p>
        </p:txBody>
      </p:sp>
      <p:sp>
        <p:nvSpPr>
          <p:cNvPr id="20" name="Text 15"/>
          <p:cNvSpPr/>
          <p:nvPr/>
        </p:nvSpPr>
        <p:spPr>
          <a:xfrm>
            <a:off x="1691640" y="2962656"/>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Types of Plans &amp; Objectives</a:t>
            </a:r>
            <a:endParaRPr lang="en-US" sz="1350" dirty="0"/>
          </a:p>
        </p:txBody>
      </p:sp>
      <p:sp>
        <p:nvSpPr>
          <p:cNvPr id="21" name="Text 16"/>
          <p:cNvSpPr/>
          <p:nvPr/>
        </p:nvSpPr>
        <p:spPr>
          <a:xfrm>
            <a:off x="8732520" y="2962656"/>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10.5–10.10 — Drucker &amp; Perrow</a:t>
            </a:r>
            <a:endParaRPr lang="en-US" sz="1100" dirty="0"/>
          </a:p>
        </p:txBody>
      </p:sp>
      <p:sp>
        <p:nvSpPr>
          <p:cNvPr id="22" name="Shape 17"/>
          <p:cNvSpPr/>
          <p:nvPr/>
        </p:nvSpPr>
        <p:spPr>
          <a:xfrm>
            <a:off x="548640" y="3648456"/>
            <a:ext cx="11064240" cy="621792"/>
          </a:xfrm>
          <a:prstGeom prst="roundRect">
            <a:avLst>
              <a:gd name="adj" fmla="val 10294"/>
            </a:avLst>
          </a:prstGeom>
          <a:solidFill>
            <a:srgbClr val="EEF3FC"/>
          </a:solidFill>
          <a:ln/>
        </p:spPr>
      </p:sp>
      <p:sp>
        <p:nvSpPr>
          <p:cNvPr id="23" name="Shape 18"/>
          <p:cNvSpPr/>
          <p:nvPr/>
        </p:nvSpPr>
        <p:spPr>
          <a:xfrm>
            <a:off x="713232" y="3739896"/>
            <a:ext cx="438912" cy="438912"/>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827349" y="3854013"/>
            <a:ext cx="210678" cy="210678"/>
          </a:xfrm>
          <a:prstGeom prst="rect">
            <a:avLst/>
          </a:prstGeom>
        </p:spPr>
      </p:pic>
      <p:sp>
        <p:nvSpPr>
          <p:cNvPr id="25" name="Text 19"/>
          <p:cNvSpPr/>
          <p:nvPr/>
        </p:nvSpPr>
        <p:spPr>
          <a:xfrm>
            <a:off x="1280160" y="3721608"/>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D</a:t>
            </a:r>
            <a:endParaRPr lang="en-US" sz="1500" dirty="0"/>
          </a:p>
        </p:txBody>
      </p:sp>
      <p:sp>
        <p:nvSpPr>
          <p:cNvPr id="26" name="Text 20"/>
          <p:cNvSpPr/>
          <p:nvPr/>
        </p:nvSpPr>
        <p:spPr>
          <a:xfrm>
            <a:off x="1691640" y="3675888"/>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Forecasting — Process &amp; Techniques</a:t>
            </a:r>
            <a:endParaRPr lang="en-US" sz="1350" dirty="0"/>
          </a:p>
        </p:txBody>
      </p:sp>
      <p:sp>
        <p:nvSpPr>
          <p:cNvPr id="27" name="Text 21"/>
          <p:cNvSpPr/>
          <p:nvPr/>
        </p:nvSpPr>
        <p:spPr>
          <a:xfrm>
            <a:off x="8732520" y="3675888"/>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New Topic</a:t>
            </a:r>
            <a:endParaRPr lang="en-US" sz="1100" dirty="0"/>
          </a:p>
        </p:txBody>
      </p:sp>
      <p:sp>
        <p:nvSpPr>
          <p:cNvPr id="28" name="Shape 22"/>
          <p:cNvSpPr/>
          <p:nvPr/>
        </p:nvSpPr>
        <p:spPr>
          <a:xfrm>
            <a:off x="548640" y="4361688"/>
            <a:ext cx="11064240" cy="621792"/>
          </a:xfrm>
          <a:prstGeom prst="roundRect">
            <a:avLst>
              <a:gd name="adj" fmla="val 10294"/>
            </a:avLst>
          </a:prstGeom>
          <a:solidFill>
            <a:srgbClr val="EEF3FC"/>
          </a:solidFill>
          <a:ln/>
        </p:spPr>
      </p:sp>
      <p:sp>
        <p:nvSpPr>
          <p:cNvPr id="29" name="Shape 23"/>
          <p:cNvSpPr/>
          <p:nvPr/>
        </p:nvSpPr>
        <p:spPr>
          <a:xfrm>
            <a:off x="713232" y="4453128"/>
            <a:ext cx="438912" cy="438912"/>
          </a:xfrm>
          <a:prstGeom prst="ellipse">
            <a:avLst/>
          </a:prstGeom>
          <a:solidFill>
            <a:srgbClr val="1E2761"/>
          </a:solidFill>
          <a:ln/>
        </p:spPr>
      </p:sp>
      <p:pic>
        <p:nvPicPr>
          <p:cNvPr id="30" name="Image 4" descr="preencoded.png">    </p:cNvPr>
          <p:cNvPicPr>
            <a:picLocks noChangeAspect="1"/>
          </p:cNvPicPr>
          <p:nvPr/>
        </p:nvPicPr>
        <p:blipFill>
          <a:blip r:embed="rId5"/>
          <a:stretch>
            <a:fillRect/>
          </a:stretch>
        </p:blipFill>
        <p:spPr>
          <a:xfrm>
            <a:off x="827349" y="4567245"/>
            <a:ext cx="210678" cy="210678"/>
          </a:xfrm>
          <a:prstGeom prst="rect">
            <a:avLst/>
          </a:prstGeom>
        </p:spPr>
      </p:pic>
      <p:sp>
        <p:nvSpPr>
          <p:cNvPr id="31" name="Text 24"/>
          <p:cNvSpPr/>
          <p:nvPr/>
        </p:nvSpPr>
        <p:spPr>
          <a:xfrm>
            <a:off x="1280160" y="4434840"/>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E</a:t>
            </a:r>
            <a:endParaRPr lang="en-US" sz="1500" dirty="0"/>
          </a:p>
        </p:txBody>
      </p:sp>
      <p:sp>
        <p:nvSpPr>
          <p:cNvPr id="32" name="Text 25"/>
          <p:cNvSpPr/>
          <p:nvPr/>
        </p:nvSpPr>
        <p:spPr>
          <a:xfrm>
            <a:off x="1691640" y="4389120"/>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MBO, MBE &amp; Decision-Making</a:t>
            </a:r>
            <a:endParaRPr lang="en-US" sz="1350" dirty="0"/>
          </a:p>
        </p:txBody>
      </p:sp>
      <p:sp>
        <p:nvSpPr>
          <p:cNvPr id="33" name="Text 26"/>
          <p:cNvSpPr/>
          <p:nvPr/>
        </p:nvSpPr>
        <p:spPr>
          <a:xfrm>
            <a:off x="8732520" y="4389120"/>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Process, Tools &amp; Techniques</a:t>
            </a:r>
            <a:endParaRPr lang="en-US" sz="1100" dirty="0"/>
          </a:p>
        </p:txBody>
      </p:sp>
      <p:sp>
        <p:nvSpPr>
          <p:cNvPr id="34" name="Shape 27"/>
          <p:cNvSpPr/>
          <p:nvPr/>
        </p:nvSpPr>
        <p:spPr>
          <a:xfrm>
            <a:off x="548640" y="5074920"/>
            <a:ext cx="11064240" cy="621792"/>
          </a:xfrm>
          <a:prstGeom prst="roundRect">
            <a:avLst>
              <a:gd name="adj" fmla="val 10294"/>
            </a:avLst>
          </a:prstGeom>
          <a:solidFill>
            <a:srgbClr val="EEF3FC"/>
          </a:solidFill>
          <a:ln/>
        </p:spPr>
      </p:sp>
      <p:sp>
        <p:nvSpPr>
          <p:cNvPr id="35" name="Shape 28"/>
          <p:cNvSpPr/>
          <p:nvPr/>
        </p:nvSpPr>
        <p:spPr>
          <a:xfrm>
            <a:off x="713232" y="5166360"/>
            <a:ext cx="438912" cy="438912"/>
          </a:xfrm>
          <a:prstGeom prst="ellipse">
            <a:avLst/>
          </a:prstGeom>
          <a:solidFill>
            <a:srgbClr val="1E2761"/>
          </a:solidFill>
          <a:ln/>
        </p:spPr>
      </p:sp>
      <p:pic>
        <p:nvPicPr>
          <p:cNvPr id="36" name="Image 5" descr="preencoded.png">    </p:cNvPr>
          <p:cNvPicPr>
            <a:picLocks noChangeAspect="1"/>
          </p:cNvPicPr>
          <p:nvPr/>
        </p:nvPicPr>
        <p:blipFill>
          <a:blip r:embed="rId6"/>
          <a:stretch>
            <a:fillRect/>
          </a:stretch>
        </p:blipFill>
        <p:spPr>
          <a:xfrm>
            <a:off x="827349" y="5280477"/>
            <a:ext cx="210678" cy="210678"/>
          </a:xfrm>
          <a:prstGeom prst="rect">
            <a:avLst/>
          </a:prstGeom>
        </p:spPr>
      </p:pic>
      <p:sp>
        <p:nvSpPr>
          <p:cNvPr id="37" name="Text 29"/>
          <p:cNvSpPr/>
          <p:nvPr/>
        </p:nvSpPr>
        <p:spPr>
          <a:xfrm>
            <a:off x="1280160" y="5148072"/>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F</a:t>
            </a:r>
            <a:endParaRPr lang="en-US" sz="1500" dirty="0"/>
          </a:p>
        </p:txBody>
      </p:sp>
      <p:sp>
        <p:nvSpPr>
          <p:cNvPr id="38" name="Text 30"/>
          <p:cNvSpPr/>
          <p:nvPr/>
        </p:nvSpPr>
        <p:spPr>
          <a:xfrm>
            <a:off x="1691640" y="5102352"/>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Strategic Planning &amp; Chanakya's Arthashastra</a:t>
            </a:r>
            <a:endParaRPr lang="en-US" sz="1350" dirty="0"/>
          </a:p>
        </p:txBody>
      </p:sp>
      <p:sp>
        <p:nvSpPr>
          <p:cNvPr id="39" name="Text 31"/>
          <p:cNvSpPr/>
          <p:nvPr/>
        </p:nvSpPr>
        <p:spPr>
          <a:xfrm>
            <a:off x="8732520" y="5102352"/>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Policy-Making &amp; Decision-Making</a:t>
            </a:r>
            <a:endParaRPr lang="en-US" sz="1100" dirty="0"/>
          </a:p>
        </p:txBody>
      </p:sp>
      <p:sp>
        <p:nvSpPr>
          <p:cNvPr id="40" name="Shape 32"/>
          <p:cNvSpPr/>
          <p:nvPr/>
        </p:nvSpPr>
        <p:spPr>
          <a:xfrm>
            <a:off x="548640" y="5788152"/>
            <a:ext cx="11064240" cy="621792"/>
          </a:xfrm>
          <a:prstGeom prst="roundRect">
            <a:avLst>
              <a:gd name="adj" fmla="val 10294"/>
            </a:avLst>
          </a:prstGeom>
          <a:solidFill>
            <a:srgbClr val="EEF3FC"/>
          </a:solidFill>
          <a:ln/>
        </p:spPr>
      </p:sp>
      <p:sp>
        <p:nvSpPr>
          <p:cNvPr id="41" name="Shape 33"/>
          <p:cNvSpPr/>
          <p:nvPr/>
        </p:nvSpPr>
        <p:spPr>
          <a:xfrm>
            <a:off x="713232" y="5879592"/>
            <a:ext cx="438912" cy="438912"/>
          </a:xfrm>
          <a:prstGeom prst="ellipse">
            <a:avLst/>
          </a:prstGeom>
          <a:solidFill>
            <a:srgbClr val="1E2761"/>
          </a:solidFill>
          <a:ln/>
        </p:spPr>
      </p:sp>
      <p:pic>
        <p:nvPicPr>
          <p:cNvPr id="42" name="Image 6" descr="preencoded.png">    </p:cNvPr>
          <p:cNvPicPr>
            <a:picLocks noChangeAspect="1"/>
          </p:cNvPicPr>
          <p:nvPr/>
        </p:nvPicPr>
        <p:blipFill>
          <a:blip r:embed="rId7"/>
          <a:stretch>
            <a:fillRect/>
          </a:stretch>
        </p:blipFill>
        <p:spPr>
          <a:xfrm>
            <a:off x="827349" y="5993709"/>
            <a:ext cx="210678" cy="210678"/>
          </a:xfrm>
          <a:prstGeom prst="rect">
            <a:avLst/>
          </a:prstGeom>
        </p:spPr>
      </p:pic>
      <p:sp>
        <p:nvSpPr>
          <p:cNvPr id="43" name="Text 34"/>
          <p:cNvSpPr/>
          <p:nvPr/>
        </p:nvSpPr>
        <p:spPr>
          <a:xfrm>
            <a:off x="1280160" y="5861304"/>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G</a:t>
            </a:r>
            <a:endParaRPr lang="en-US" sz="1500" dirty="0"/>
          </a:p>
        </p:txBody>
      </p:sp>
      <p:sp>
        <p:nvSpPr>
          <p:cNvPr id="44" name="Text 35"/>
          <p:cNvSpPr/>
          <p:nvPr/>
        </p:nvSpPr>
        <p:spPr>
          <a:xfrm>
            <a:off x="1691640" y="5815584"/>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Inclusion of SDGs in Management Planning</a:t>
            </a:r>
            <a:endParaRPr lang="en-US" sz="1350" dirty="0"/>
          </a:p>
        </p:txBody>
      </p:sp>
      <p:sp>
        <p:nvSpPr>
          <p:cNvPr id="45" name="Text 36"/>
          <p:cNvSpPr/>
          <p:nvPr/>
        </p:nvSpPr>
        <p:spPr>
          <a:xfrm>
            <a:off x="8732520" y="5815584"/>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New Topic</a:t>
            </a:r>
            <a:endParaRPr lang="en-US" sz="1100" dirty="0"/>
          </a:p>
        </p:txBody>
      </p:sp>
      <p:sp>
        <p:nvSpPr>
          <p:cNvPr id="46" name="Text 37"/>
          <p:cNvSpPr/>
          <p:nvPr/>
        </p:nvSpPr>
        <p:spPr>
          <a:xfrm>
            <a:off x="548640" y="6547104"/>
            <a:ext cx="1097280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Wraps up with Recall Questions and an animated Multiple-Choice Quiz.</a:t>
            </a:r>
            <a:endParaRPr lang="en-US" sz="1200" dirty="0"/>
          </a:p>
        </p:txBody>
      </p:sp>
      <p:sp>
        <p:nvSpPr>
          <p:cNvPr id="47" name="Text 3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48" name="Text 3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A</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7.2 – 7.4</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Meaning, Nature &amp; Importance of Planning</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Planning is the first and most fundamental management function — everything else in the organization follows from it.</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7.2. MEANING OF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(1)–(2) Bridging the Gap &amp; Fixing Objectives</a:t>
            </a:r>
            <a:endParaRPr lang="en-US" sz="2700" dirty="0"/>
          </a:p>
        </p:txBody>
      </p:sp>
      <p:sp>
        <p:nvSpPr>
          <p:cNvPr id="4" name="Text 2"/>
          <p:cNvSpPr/>
          <p:nvPr/>
        </p:nvSpPr>
        <p:spPr>
          <a:xfrm>
            <a:off x="548640" y="1645920"/>
            <a:ext cx="11064240" cy="4480560"/>
          </a:xfrm>
          <a:prstGeom prst="rect">
            <a:avLst/>
          </a:prstGeom>
          <a:noFill/>
          <a:ln/>
        </p:spPr>
        <p:txBody>
          <a:bodyPr wrap="square" rtlCol="0" anchor="t"/>
          <a:lstStyle/>
          <a:p>
            <a:pPr indent="0" marL="0">
              <a:lnSpc>
                <a:spcPct val="110000"/>
              </a:lnSpc>
              <a:spcAft>
                <a:spcPts val="600"/>
              </a:spcAft>
              <a:buNone/>
            </a:pPr>
            <a:r>
              <a:rPr lang="en-US" sz="1450" b="1" dirty="0">
                <a:solidFill>
                  <a:srgbClr val="2B2B33"/>
                </a:solidFill>
                <a:latin typeface="Calibri" pitchFamily="34" charset="0"/>
                <a:ea typeface="Calibri" pitchFamily="34" charset="-122"/>
                <a:cs typeface="Calibri" pitchFamily="34" charset="-120"/>
              </a:rPr>
              <a:t>(1) Bridging the gap between where one is and where one wants to go</a:t>
            </a:r>
            <a:endParaRPr lang="en-US" sz="1450" dirty="0"/>
          </a:p>
          <a:p>
            <a:pPr indent="0" marL="0">
              <a:lnSpc>
                <a:spcPct val="110000"/>
              </a:lnSpc>
              <a:spcAft>
                <a:spcPts val="1200"/>
              </a:spcAft>
              <a:buNone/>
            </a:pPr>
            <a:r>
              <a:rPr lang="en-US" sz="1450" dirty="0">
                <a:solidFill>
                  <a:srgbClr val="2B2B33"/>
                </a:solidFill>
                <a:latin typeface="Calibri" pitchFamily="34" charset="0"/>
                <a:ea typeface="Calibri" pitchFamily="34" charset="-122"/>
                <a:cs typeface="Calibri" pitchFamily="34" charset="-120"/>
              </a:rPr>
              <a:t>Koontz and O'Donnel say planning is deciding in advance what to do, how and when to do it, and who is to do it. Planning bridges the gap between where we are and where we want to go — it makes it possible for things to happen which would not otherwise happen.</a:t>
            </a:r>
            <a:endParaRPr lang="en-US" sz="1450" dirty="0"/>
          </a:p>
          <a:p>
            <a:pPr indent="0" marL="0">
              <a:lnSpc>
                <a:spcPct val="110000"/>
              </a:lnSpc>
              <a:spcAft>
                <a:spcPts val="600"/>
              </a:spcAft>
              <a:buNone/>
            </a:pPr>
            <a:r>
              <a:rPr lang="en-US" sz="1450" b="1" dirty="0">
                <a:solidFill>
                  <a:srgbClr val="2B2B33"/>
                </a:solidFill>
                <a:latin typeface="Calibri" pitchFamily="34" charset="0"/>
                <a:ea typeface="Calibri" pitchFamily="34" charset="-122"/>
                <a:cs typeface="Calibri" pitchFamily="34" charset="-120"/>
              </a:rPr>
              <a:t>(2) Fixing objectives and deciding plans to achieve them</a:t>
            </a:r>
            <a:endParaRPr lang="en-US" sz="1450" dirty="0"/>
          </a:p>
          <a:p>
            <a:pPr indent="0" marL="0">
              <a:lnSpc>
                <a:spcPct val="110000"/>
              </a:lnSpc>
              <a:spcAft>
                <a:spcPts val="1000"/>
              </a:spcAft>
              <a:buNone/>
            </a:pPr>
            <a:r>
              <a:rPr lang="en-US" sz="1450" dirty="0">
                <a:solidFill>
                  <a:srgbClr val="2B2B33"/>
                </a:solidFill>
                <a:latin typeface="Calibri" pitchFamily="34" charset="0"/>
                <a:ea typeface="Calibri" pitchFamily="34" charset="-122"/>
                <a:cs typeface="Calibri" pitchFamily="34" charset="-120"/>
              </a:rPr>
              <a:t>Theo Haimann calls planning the function that determines in advance what should be done. It begins with selecting organization objectives; the manager must decide which alternative plans are to be followed and executed. Planning is intellectual, mental work — looking ahead and preparing for the future.</a:t>
            </a:r>
            <a:endParaRPr lang="en-US" sz="1450" dirty="0"/>
          </a:p>
          <a:p>
            <a:pPr indent="0" marL="0">
              <a:lnSpc>
                <a:spcPct val="110000"/>
              </a:lnSpc>
              <a:buNone/>
            </a:pPr>
            <a:r>
              <a:rPr lang="en-US" sz="1450" dirty="0">
                <a:solidFill>
                  <a:srgbClr val="2B2B33"/>
                </a:solidFill>
                <a:latin typeface="Calibri" pitchFamily="34" charset="0"/>
                <a:ea typeface="Calibri" pitchFamily="34" charset="-122"/>
                <a:cs typeface="Calibri" pitchFamily="34" charset="-120"/>
              </a:rPr>
              <a:t>McFarland describes planning as a concept of executive action that embodies the skills of anticipating, influencing and controlling the nature and direction of change.</a:t>
            </a:r>
            <a:endParaRPr lang="en-US" sz="1450" dirty="0"/>
          </a:p>
        </p:txBody>
      </p:sp>
      <p:sp>
        <p:nvSpPr>
          <p:cNvPr id="5" name="Text 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7.2 MEANING OF PLANNING</a:t>
            </a:r>
            <a:endParaRPr lang="en-US" sz="1100" dirty="0"/>
          </a:p>
        </p:txBody>
      </p:sp>
      <p:sp>
        <p:nvSpPr>
          <p:cNvPr id="6"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7.3. NATURE OF PLANNING</a:t>
            </a:r>
            <a:endParaRPr lang="en-US" sz="2000" dirty="0"/>
          </a:p>
        </p:txBody>
      </p:sp>
      <p:sp>
        <p:nvSpPr>
          <p:cNvPr id="3" name="Shape 1"/>
          <p:cNvSpPr/>
          <p:nvPr/>
        </p:nvSpPr>
        <p:spPr>
          <a:xfrm>
            <a:off x="548640" y="1508760"/>
            <a:ext cx="2656332"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265633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Thinking process — an intellectual exercise</a:t>
            </a:r>
            <a:endParaRPr lang="en-US" sz="1200" dirty="0"/>
          </a:p>
        </p:txBody>
      </p:sp>
      <p:sp>
        <p:nvSpPr>
          <p:cNvPr id="8" name="Shape 5"/>
          <p:cNvSpPr/>
          <p:nvPr/>
        </p:nvSpPr>
        <p:spPr>
          <a:xfrm>
            <a:off x="3351276" y="1508760"/>
            <a:ext cx="2656332" cy="1965960"/>
          </a:xfrm>
          <a:prstGeom prst="roundRect">
            <a:avLst>
              <a:gd name="adj" fmla="val 4186"/>
            </a:avLst>
          </a:prstGeom>
          <a:solidFill>
            <a:srgbClr val="1E2761"/>
          </a:solidFill>
          <a:ln/>
        </p:spPr>
      </p:sp>
      <p:sp>
        <p:nvSpPr>
          <p:cNvPr id="9" name="Shape 6"/>
          <p:cNvSpPr/>
          <p:nvPr/>
        </p:nvSpPr>
        <p:spPr>
          <a:xfrm>
            <a:off x="3515868"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634740" y="1792224"/>
            <a:ext cx="219456" cy="219456"/>
          </a:xfrm>
          <a:prstGeom prst="rect">
            <a:avLst/>
          </a:prstGeom>
        </p:spPr>
      </p:pic>
      <p:sp>
        <p:nvSpPr>
          <p:cNvPr id="11" name="Text 7"/>
          <p:cNvSpPr/>
          <p:nvPr/>
        </p:nvSpPr>
        <p:spPr>
          <a:xfrm>
            <a:off x="5458968"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3515868"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Different from 'forecasting'</a:t>
            </a:r>
            <a:endParaRPr lang="en-US" sz="1200" dirty="0"/>
          </a:p>
        </p:txBody>
      </p:sp>
      <p:sp>
        <p:nvSpPr>
          <p:cNvPr id="13" name="Shape 9"/>
          <p:cNvSpPr/>
          <p:nvPr/>
        </p:nvSpPr>
        <p:spPr>
          <a:xfrm>
            <a:off x="6153912" y="1508760"/>
            <a:ext cx="2656332" cy="1965960"/>
          </a:xfrm>
          <a:prstGeom prst="roundRect">
            <a:avLst>
              <a:gd name="adj" fmla="val 4186"/>
            </a:avLst>
          </a:prstGeom>
          <a:solidFill>
            <a:srgbClr val="1E2761"/>
          </a:solidFill>
          <a:ln/>
        </p:spPr>
      </p:sp>
      <p:sp>
        <p:nvSpPr>
          <p:cNvPr id="14" name="Shape 10"/>
          <p:cNvSpPr/>
          <p:nvPr/>
        </p:nvSpPr>
        <p:spPr>
          <a:xfrm>
            <a:off x="6318504"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6437376" y="1792224"/>
            <a:ext cx="219456" cy="219456"/>
          </a:xfrm>
          <a:prstGeom prst="rect">
            <a:avLst/>
          </a:prstGeom>
        </p:spPr>
      </p:pic>
      <p:sp>
        <p:nvSpPr>
          <p:cNvPr id="16" name="Text 11"/>
          <p:cNvSpPr/>
          <p:nvPr/>
        </p:nvSpPr>
        <p:spPr>
          <a:xfrm>
            <a:off x="826160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6318504"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Accomplishment of group objectives</a:t>
            </a:r>
            <a:endParaRPr lang="en-US" sz="1200" dirty="0"/>
          </a:p>
        </p:txBody>
      </p:sp>
      <p:sp>
        <p:nvSpPr>
          <p:cNvPr id="18" name="Shape 13"/>
          <p:cNvSpPr/>
          <p:nvPr/>
        </p:nvSpPr>
        <p:spPr>
          <a:xfrm>
            <a:off x="8956548" y="1508760"/>
            <a:ext cx="2656332" cy="1965960"/>
          </a:xfrm>
          <a:prstGeom prst="roundRect">
            <a:avLst>
              <a:gd name="adj" fmla="val 4186"/>
            </a:avLst>
          </a:prstGeom>
          <a:solidFill>
            <a:srgbClr val="1E2761"/>
          </a:solidFill>
          <a:ln/>
        </p:spPr>
      </p:sp>
      <p:sp>
        <p:nvSpPr>
          <p:cNvPr id="19" name="Shape 14"/>
          <p:cNvSpPr/>
          <p:nvPr/>
        </p:nvSpPr>
        <p:spPr>
          <a:xfrm>
            <a:off x="9121140" y="1673352"/>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9240012" y="1792224"/>
            <a:ext cx="219456" cy="219456"/>
          </a:xfrm>
          <a:prstGeom prst="rect">
            <a:avLst/>
          </a:prstGeom>
        </p:spPr>
      </p:pic>
      <p:sp>
        <p:nvSpPr>
          <p:cNvPr id="21" name="Text 15"/>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9121140"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Involves choice between alternatives</a:t>
            </a:r>
            <a:endParaRPr lang="en-US" sz="1200" dirty="0"/>
          </a:p>
        </p:txBody>
      </p:sp>
      <p:sp>
        <p:nvSpPr>
          <p:cNvPr id="23" name="Shape 17"/>
          <p:cNvSpPr/>
          <p:nvPr/>
        </p:nvSpPr>
        <p:spPr>
          <a:xfrm>
            <a:off x="548640" y="3675888"/>
            <a:ext cx="2656332" cy="1965960"/>
          </a:xfrm>
          <a:prstGeom prst="roundRect">
            <a:avLst>
              <a:gd name="adj" fmla="val 4186"/>
            </a:avLst>
          </a:prstGeom>
          <a:solidFill>
            <a:srgbClr val="1E2761"/>
          </a:solidFill>
          <a:ln/>
        </p:spPr>
      </p:sp>
      <p:sp>
        <p:nvSpPr>
          <p:cNvPr id="24" name="Shape 18"/>
          <p:cNvSpPr/>
          <p:nvPr/>
        </p:nvSpPr>
        <p:spPr>
          <a:xfrm>
            <a:off x="713232"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832104" y="3959352"/>
            <a:ext cx="219456" cy="219456"/>
          </a:xfrm>
          <a:prstGeom prst="rect">
            <a:avLst/>
          </a:prstGeom>
        </p:spPr>
      </p:pic>
      <p:sp>
        <p:nvSpPr>
          <p:cNvPr id="26" name="Text 19"/>
          <p:cNvSpPr/>
          <p:nvPr/>
        </p:nvSpPr>
        <p:spPr>
          <a:xfrm>
            <a:off x="265633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713232"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Pervasiveness of planning</a:t>
            </a:r>
            <a:endParaRPr lang="en-US" sz="1200" dirty="0"/>
          </a:p>
        </p:txBody>
      </p:sp>
      <p:sp>
        <p:nvSpPr>
          <p:cNvPr id="28" name="Shape 21"/>
          <p:cNvSpPr/>
          <p:nvPr/>
        </p:nvSpPr>
        <p:spPr>
          <a:xfrm>
            <a:off x="3351276" y="3675888"/>
            <a:ext cx="2656332" cy="1965960"/>
          </a:xfrm>
          <a:prstGeom prst="roundRect">
            <a:avLst>
              <a:gd name="adj" fmla="val 4186"/>
            </a:avLst>
          </a:prstGeom>
          <a:solidFill>
            <a:srgbClr val="1E2761"/>
          </a:solidFill>
          <a:ln/>
        </p:spPr>
      </p:sp>
      <p:sp>
        <p:nvSpPr>
          <p:cNvPr id="29" name="Shape 22"/>
          <p:cNvSpPr/>
          <p:nvPr/>
        </p:nvSpPr>
        <p:spPr>
          <a:xfrm>
            <a:off x="351586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3634740" y="3959352"/>
            <a:ext cx="219456" cy="219456"/>
          </a:xfrm>
          <a:prstGeom prst="rect">
            <a:avLst/>
          </a:prstGeom>
        </p:spPr>
      </p:pic>
      <p:sp>
        <p:nvSpPr>
          <p:cNvPr id="31" name="Text 23"/>
          <p:cNvSpPr/>
          <p:nvPr/>
        </p:nvSpPr>
        <p:spPr>
          <a:xfrm>
            <a:off x="5458968"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3515868"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Must be flexible</a:t>
            </a:r>
            <a:endParaRPr lang="en-US" sz="1200" dirty="0"/>
          </a:p>
        </p:txBody>
      </p:sp>
      <p:sp>
        <p:nvSpPr>
          <p:cNvPr id="33" name="Shape 25"/>
          <p:cNvSpPr/>
          <p:nvPr/>
        </p:nvSpPr>
        <p:spPr>
          <a:xfrm>
            <a:off x="6153912" y="3675888"/>
            <a:ext cx="2656332" cy="1965960"/>
          </a:xfrm>
          <a:prstGeom prst="roundRect">
            <a:avLst>
              <a:gd name="adj" fmla="val 4186"/>
            </a:avLst>
          </a:prstGeom>
          <a:solidFill>
            <a:srgbClr val="1E2761"/>
          </a:solidFill>
          <a:ln/>
        </p:spPr>
      </p:sp>
      <p:sp>
        <p:nvSpPr>
          <p:cNvPr id="34" name="Shape 26"/>
          <p:cNvSpPr/>
          <p:nvPr/>
        </p:nvSpPr>
        <p:spPr>
          <a:xfrm>
            <a:off x="6318504" y="3840480"/>
            <a:ext cx="457200" cy="457200"/>
          </a:xfrm>
          <a:prstGeom prst="ellipse">
            <a:avLst/>
          </a:prstGeom>
          <a:solidFill>
            <a:srgbClr val="C9A24B"/>
          </a:solidFill>
          <a:ln/>
        </p:spPr>
      </p:sp>
      <p:pic>
        <p:nvPicPr>
          <p:cNvPr id="35" name="Image 6" descr="preencoded.png">    </p:cNvPr>
          <p:cNvPicPr>
            <a:picLocks noChangeAspect="1"/>
          </p:cNvPicPr>
          <p:nvPr/>
        </p:nvPicPr>
        <p:blipFill>
          <a:blip r:embed="rId7"/>
          <a:stretch>
            <a:fillRect/>
          </a:stretch>
        </p:blipFill>
        <p:spPr>
          <a:xfrm>
            <a:off x="6437376" y="3959352"/>
            <a:ext cx="219456" cy="219456"/>
          </a:xfrm>
          <a:prstGeom prst="rect">
            <a:avLst/>
          </a:prstGeom>
        </p:spPr>
      </p:pic>
      <p:sp>
        <p:nvSpPr>
          <p:cNvPr id="36" name="Text 27"/>
          <p:cNvSpPr/>
          <p:nvPr/>
        </p:nvSpPr>
        <p:spPr>
          <a:xfrm>
            <a:off x="826160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7</a:t>
            </a:r>
            <a:endParaRPr lang="en-US" sz="1600" dirty="0"/>
          </a:p>
        </p:txBody>
      </p:sp>
      <p:sp>
        <p:nvSpPr>
          <p:cNvPr id="37" name="Text 28"/>
          <p:cNvSpPr/>
          <p:nvPr/>
        </p:nvSpPr>
        <p:spPr>
          <a:xfrm>
            <a:off x="6318504"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Integrates objectives with action-plans</a:t>
            </a:r>
            <a:endParaRPr lang="en-US" sz="1200" dirty="0"/>
          </a:p>
        </p:txBody>
      </p:sp>
      <p:sp>
        <p:nvSpPr>
          <p:cNvPr id="38" name="Text 29"/>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7.3. NATURE OF PLANNING</a:t>
            </a:r>
            <a:endParaRPr lang="en-US" sz="1100" dirty="0"/>
          </a:p>
        </p:txBody>
      </p:sp>
      <p:sp>
        <p:nvSpPr>
          <p:cNvPr id="39" name="Text 30"/>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7.3. NATURE OF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Thinking Process, Forecasting vs. Planning, Group Objectives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Planning is Thinking — An Intellectual Exercise</a:t>
            </a:r>
            <a:endParaRPr lang="en-US" sz="1350" dirty="0"/>
          </a:p>
        </p:txBody>
      </p:sp>
      <p:sp>
        <p:nvSpPr>
          <p:cNvPr id="9" name="Text 6"/>
          <p:cNvSpPr/>
          <p:nvPr/>
        </p:nvSpPr>
        <p:spPr>
          <a:xfrm>
            <a:off x="694944"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Planning means creatively thinking how resources may be adjusted to exploit emerging opportunities. Timely thinking on what, when/where/how, and who is to do it can save an organization from regretting a lost opportunity for life. Sense of judgment, courage to take risk and hard work made Bill Gates and Dhirubhai Ambani's sons among the world's richest.</a:t>
            </a:r>
            <a:endParaRPr lang="en-US" sz="108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Difference Between 'Forecasting' and 'Planning'</a:t>
            </a:r>
            <a:endParaRPr lang="en-US" sz="1350" dirty="0"/>
          </a:p>
        </p:txBody>
      </p:sp>
      <p:sp>
        <p:nvSpPr>
          <p:cNvPr id="15" name="Text 11"/>
          <p:cNvSpPr/>
          <p:nvPr/>
        </p:nvSpPr>
        <p:spPr>
          <a:xfrm>
            <a:off x="4425696"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Forecasting describes what one expects to happen if he does nothing to escape it; planning describes what one wants to happen and does everything possible to make it happen. Forecasting may inspire some planning (e.g., depleting fossil fuels prompting solar/wind investment), but it bears no comparison with planning organization objectives.</a:t>
            </a:r>
            <a:endParaRPr lang="en-US" sz="108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Accomplishment of Group Objectives</a:t>
            </a:r>
            <a:endParaRPr lang="en-US" sz="1350" dirty="0"/>
          </a:p>
        </p:txBody>
      </p:sp>
      <p:sp>
        <p:nvSpPr>
          <p:cNvPr id="21" name="Text 16"/>
          <p:cNvSpPr/>
          <p:nvPr/>
        </p:nvSpPr>
        <p:spPr>
          <a:xfrm>
            <a:off x="8156448"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A modern work-organization is a mixed group of people with different personality, attitude, skill and motivation. They will work together effectively only if this promises satisfaction of their own personal objectives — adequate return on capital, interest on money lent, and salary/perks that assure comfortable living.</a:t>
            </a:r>
            <a:endParaRPr lang="en-US" sz="108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7.3. NATURE OF PLANNING</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7.3. NATURE OF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Choice, Pervasiveness &amp; Flexibility</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Involves Choice Between Alternatives</a:t>
            </a:r>
            <a:endParaRPr lang="en-US" sz="1350" dirty="0"/>
          </a:p>
        </p:txBody>
      </p:sp>
      <p:sp>
        <p:nvSpPr>
          <p:cNvPr id="9" name="Text 6"/>
          <p:cNvSpPr/>
          <p:nvPr/>
        </p:nvSpPr>
        <p:spPr>
          <a:xfrm>
            <a:off x="694944"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External environment is never constant. Management must choose the ideal alternative from among existing ones, remembering that a mix of resources that worked in the past may not work now. First choice: objectives (profit, growth, market dominance...). Next: strategy. Then: assignment of tasks and allocation of resources.</a:t>
            </a:r>
            <a:endParaRPr lang="en-US" sz="108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Pervasiveness of Planning</a:t>
            </a:r>
            <a:endParaRPr lang="en-US" sz="1350" dirty="0"/>
          </a:p>
        </p:txBody>
      </p:sp>
      <p:sp>
        <p:nvSpPr>
          <p:cNvPr id="15" name="Text 11"/>
          <p:cNvSpPr/>
          <p:nvPr/>
        </p:nvSpPr>
        <p:spPr>
          <a:xfrm>
            <a:off x="4425696"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Planning is the basic condition for an objective-oriented organization. Managers at all levels — top, middle, lower — are engaged in planning. Top management sets long-term objectives; lower levels handle operational detail. Involving middle/lower management gives them a sense of belonging and ego-boost.</a:t>
            </a:r>
            <a:endParaRPr lang="en-US" sz="108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Planning to be Flexible</a:t>
            </a:r>
            <a:endParaRPr lang="en-US" sz="1350" dirty="0"/>
          </a:p>
        </p:txBody>
      </p:sp>
      <p:sp>
        <p:nvSpPr>
          <p:cNvPr id="21" name="Text 16"/>
          <p:cNvSpPr/>
          <p:nvPr/>
        </p:nvSpPr>
        <p:spPr>
          <a:xfrm>
            <a:off x="8156448"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Successful running of an organization involves adjusting and adapting internal resources (knowledge, skills, motivation, machines, finances) to solve problems and exploit opportunities. Since the business environment keeps changing, planning must provide for varying the mix of resources to meet a given situation.</a:t>
            </a:r>
            <a:endParaRPr lang="en-US" sz="108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7.3. NATURE OF PLANNING</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7.3. NATURE OF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(7) Planning Integrates Objectives with Action-Plans</a:t>
            </a:r>
            <a:endParaRPr lang="en-US" sz="2700" dirty="0"/>
          </a:p>
        </p:txBody>
      </p:sp>
      <p:sp>
        <p:nvSpPr>
          <p:cNvPr id="4" name="Text 2"/>
          <p:cNvSpPr/>
          <p:nvPr/>
        </p:nvSpPr>
        <p:spPr>
          <a:xfrm>
            <a:off x="548640" y="1645920"/>
            <a:ext cx="6035040" cy="4480560"/>
          </a:xfrm>
          <a:prstGeom prst="rect">
            <a:avLst/>
          </a:prstGeom>
          <a:noFill/>
          <a:ln/>
        </p:spPr>
        <p:txBody>
          <a:bodyPr wrap="square" rtlCol="0" anchor="t"/>
          <a:lstStyle/>
          <a:p>
            <a:pPr indent="0" marL="0">
              <a:lnSpc>
                <a:spcPct val="112000"/>
              </a:lnSpc>
              <a:spcAft>
                <a:spcPts val="1000"/>
              </a:spcAft>
              <a:buNone/>
            </a:pPr>
            <a:r>
              <a:rPr lang="en-US" sz="1400" dirty="0">
                <a:solidFill>
                  <a:srgbClr val="2B2B33"/>
                </a:solidFill>
                <a:latin typeface="Calibri" pitchFamily="34" charset="0"/>
                <a:ea typeface="Calibri" pitchFamily="34" charset="-122"/>
                <a:cs typeface="Calibri" pitchFamily="34" charset="-120"/>
              </a:rPr>
              <a:t>In the selection of objectives and the course of action to accomplish them, there may be a difference of opinion among personnel immediately responsible for executing the proposed courses of action.</a:t>
            </a:r>
            <a:endParaRPr lang="en-US" sz="1400" dirty="0"/>
          </a:p>
          <a:p>
            <a:pPr indent="0" marL="0">
              <a:lnSpc>
                <a:spcPct val="112000"/>
              </a:lnSpc>
              <a:spcAft>
                <a:spcPts val="1000"/>
              </a:spcAft>
              <a:buNone/>
            </a:pPr>
            <a:r>
              <a:rPr lang="en-US" sz="1400" dirty="0">
                <a:solidFill>
                  <a:srgbClr val="2B2B33"/>
                </a:solidFill>
                <a:latin typeface="Calibri" pitchFamily="34" charset="0"/>
                <a:ea typeface="Calibri" pitchFamily="34" charset="-122"/>
                <a:cs typeface="Calibri" pitchFamily="34" charset="-120"/>
              </a:rPr>
              <a:t>For example, if the objective of an automobile company is to push sales, the sales manager may suggest production of ever-new brands to meet consumer preference; the production manager, fearing shop-floor workers might not handle high-tech equipment, may only advise adding some new features to existing brands.</a:t>
            </a:r>
            <a:endParaRPr lang="en-US" sz="1400" dirty="0"/>
          </a:p>
          <a:p>
            <a:pPr indent="0" marL="0">
              <a:lnSpc>
                <a:spcPct val="112000"/>
              </a:lnSpc>
              <a:buNone/>
            </a:pPr>
            <a:r>
              <a:rPr lang="en-US" sz="1400" dirty="0">
                <a:solidFill>
                  <a:srgbClr val="2B2B33"/>
                </a:solidFill>
                <a:latin typeface="Calibri" pitchFamily="34" charset="0"/>
                <a:ea typeface="Calibri" pitchFamily="34" charset="-122"/>
                <a:cs typeface="Calibri" pitchFamily="34" charset="-120"/>
              </a:rPr>
              <a:t>Effective planning should take into account conflicting views and, after weighing each alternative carefully, arrive at a decision that satisfies all and assures maximum return on investment.</a:t>
            </a:r>
            <a:endParaRPr lang="en-US" sz="1400" dirty="0"/>
          </a:p>
        </p:txBody>
      </p:sp>
      <p:sp>
        <p:nvSpPr>
          <p:cNvPr id="5" name="Text 3"/>
          <p:cNvSpPr/>
          <p:nvPr/>
        </p:nvSpPr>
        <p:spPr>
          <a:xfrm>
            <a:off x="6858000" y="1783080"/>
            <a:ext cx="2286000" cy="32004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Integrated Planning</a:t>
            </a:r>
            <a:endParaRPr lang="en-US" sz="1200" dirty="0"/>
          </a:p>
        </p:txBody>
      </p:sp>
      <p:sp>
        <p:nvSpPr>
          <p:cNvPr id="6" name="Text 4"/>
          <p:cNvSpPr/>
          <p:nvPr/>
        </p:nvSpPr>
        <p:spPr>
          <a:xfrm>
            <a:off x="6858000" y="2103120"/>
            <a:ext cx="2286000" cy="274320"/>
          </a:xfrm>
          <a:prstGeom prst="rect">
            <a:avLst/>
          </a:prstGeom>
          <a:noFill/>
          <a:ln/>
        </p:spPr>
        <p:txBody>
          <a:bodyPr wrap="square"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Objectives</a:t>
            </a:r>
            <a:endParaRPr lang="en-US" sz="1050" dirty="0"/>
          </a:p>
        </p:txBody>
      </p:sp>
      <p:sp>
        <p:nvSpPr>
          <p:cNvPr id="7" name="Shape 5"/>
          <p:cNvSpPr/>
          <p:nvPr/>
        </p:nvSpPr>
        <p:spPr>
          <a:xfrm>
            <a:off x="6858000" y="2468880"/>
            <a:ext cx="2286000" cy="457200"/>
          </a:xfrm>
          <a:prstGeom prst="rect">
            <a:avLst/>
          </a:prstGeom>
          <a:solidFill>
            <a:srgbClr val="EEF3FC"/>
          </a:solidFill>
          <a:ln w="12700">
            <a:solidFill>
              <a:srgbClr val="1E2761"/>
            </a:solidFill>
            <a:prstDash val="solid"/>
          </a:ln>
        </p:spPr>
      </p:sp>
      <p:sp>
        <p:nvSpPr>
          <p:cNvPr id="8" name="Text 6"/>
          <p:cNvSpPr/>
          <p:nvPr/>
        </p:nvSpPr>
        <p:spPr>
          <a:xfrm>
            <a:off x="6858000" y="2468880"/>
            <a:ext cx="2286000" cy="457200"/>
          </a:xfrm>
          <a:prstGeom prst="rect">
            <a:avLst/>
          </a:prstGeom>
          <a:noFill/>
          <a:ln/>
        </p:spPr>
        <p:txBody>
          <a:bodyPr wrap="square" rtlCol="0" anchor="ctr"/>
          <a:lstStyle/>
          <a:p>
            <a:pPr algn="ctr" indent="0" marL="0">
              <a:buNone/>
            </a:pPr>
            <a:r>
              <a:rPr lang="en-US" sz="1000" dirty="0">
                <a:solidFill>
                  <a:srgbClr val="141B48"/>
                </a:solidFill>
                <a:latin typeface="Calibri" pitchFamily="34" charset="0"/>
                <a:ea typeface="Calibri" pitchFamily="34" charset="-122"/>
                <a:cs typeface="Calibri" pitchFamily="34" charset="-120"/>
              </a:rPr>
              <a:t>Operating plans</a:t>
            </a:r>
            <a:endParaRPr lang="en-US" sz="1000" dirty="0"/>
          </a:p>
        </p:txBody>
      </p:sp>
      <p:sp>
        <p:nvSpPr>
          <p:cNvPr id="9" name="Shape 7"/>
          <p:cNvSpPr/>
          <p:nvPr/>
        </p:nvSpPr>
        <p:spPr>
          <a:xfrm>
            <a:off x="6858000" y="2971800"/>
            <a:ext cx="2286000" cy="457200"/>
          </a:xfrm>
          <a:prstGeom prst="rect">
            <a:avLst/>
          </a:prstGeom>
          <a:solidFill>
            <a:srgbClr val="EEF3FC"/>
          </a:solidFill>
          <a:ln w="12700">
            <a:solidFill>
              <a:srgbClr val="1E2761"/>
            </a:solidFill>
            <a:prstDash val="solid"/>
          </a:ln>
        </p:spPr>
      </p:sp>
      <p:sp>
        <p:nvSpPr>
          <p:cNvPr id="10" name="Shape 8"/>
          <p:cNvSpPr/>
          <p:nvPr/>
        </p:nvSpPr>
        <p:spPr>
          <a:xfrm>
            <a:off x="6858000" y="3474720"/>
            <a:ext cx="2286000" cy="457200"/>
          </a:xfrm>
          <a:prstGeom prst="rect">
            <a:avLst/>
          </a:prstGeom>
          <a:solidFill>
            <a:srgbClr val="EEF3FC"/>
          </a:solidFill>
          <a:ln w="12700">
            <a:solidFill>
              <a:srgbClr val="1E2761"/>
            </a:solidFill>
            <a:prstDash val="solid"/>
          </a:ln>
        </p:spPr>
      </p:sp>
      <p:sp>
        <p:nvSpPr>
          <p:cNvPr id="11" name="Text 9"/>
          <p:cNvSpPr/>
          <p:nvPr/>
        </p:nvSpPr>
        <p:spPr>
          <a:xfrm>
            <a:off x="9418320" y="1783080"/>
            <a:ext cx="2286000" cy="32004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Unintegrated Planning</a:t>
            </a:r>
            <a:endParaRPr lang="en-US" sz="1200" dirty="0"/>
          </a:p>
        </p:txBody>
      </p:sp>
      <p:sp>
        <p:nvSpPr>
          <p:cNvPr id="12" name="Text 10"/>
          <p:cNvSpPr/>
          <p:nvPr/>
        </p:nvSpPr>
        <p:spPr>
          <a:xfrm>
            <a:off x="9418320" y="2103120"/>
            <a:ext cx="2286000" cy="274320"/>
          </a:xfrm>
          <a:prstGeom prst="rect">
            <a:avLst/>
          </a:prstGeom>
          <a:noFill/>
          <a:ln/>
        </p:spPr>
        <p:txBody>
          <a:bodyPr wrap="square"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Objectives</a:t>
            </a:r>
            <a:endParaRPr lang="en-US" sz="1050" dirty="0"/>
          </a:p>
        </p:txBody>
      </p:sp>
      <p:sp>
        <p:nvSpPr>
          <p:cNvPr id="13" name="Shape 11"/>
          <p:cNvSpPr/>
          <p:nvPr/>
        </p:nvSpPr>
        <p:spPr>
          <a:xfrm>
            <a:off x="9418320" y="2468880"/>
            <a:ext cx="1005840" cy="457200"/>
          </a:xfrm>
          <a:prstGeom prst="ellipse">
            <a:avLst/>
          </a:prstGeom>
          <a:solidFill>
            <a:srgbClr val="FBE0E0"/>
          </a:solidFill>
          <a:ln w="12700">
            <a:solidFill>
              <a:srgbClr val="1E2761"/>
            </a:solidFill>
            <a:prstDash val="solid"/>
          </a:ln>
        </p:spPr>
      </p:sp>
      <p:sp>
        <p:nvSpPr>
          <p:cNvPr id="14" name="Text 12"/>
          <p:cNvSpPr/>
          <p:nvPr/>
        </p:nvSpPr>
        <p:spPr>
          <a:xfrm>
            <a:off x="9418320" y="2468880"/>
            <a:ext cx="1005840" cy="457200"/>
          </a:xfrm>
          <a:prstGeom prst="rect">
            <a:avLst/>
          </a:prstGeom>
          <a:noFill/>
          <a:ln/>
        </p:spPr>
        <p:txBody>
          <a:bodyPr wrap="square" rtlCol="0" anchor="ctr"/>
          <a:lstStyle/>
          <a:p>
            <a:pPr algn="ctr" indent="0" marL="0">
              <a:buNone/>
            </a:pPr>
            <a:r>
              <a:rPr lang="en-US" sz="850" dirty="0">
                <a:solidFill>
                  <a:srgbClr val="141B48"/>
                </a:solidFill>
                <a:latin typeface="Calibri" pitchFamily="34" charset="0"/>
                <a:ea typeface="Calibri" pitchFamily="34" charset="-122"/>
                <a:cs typeface="Calibri" pitchFamily="34" charset="-120"/>
              </a:rPr>
              <a:t>Operating</a:t>
            </a:r>
            <a:endParaRPr lang="en-US" sz="850" dirty="0"/>
          </a:p>
          <a:p>
            <a:pPr algn="ctr" indent="0" marL="0">
              <a:buNone/>
            </a:pPr>
            <a:r>
              <a:rPr lang="en-US" sz="850" dirty="0">
                <a:solidFill>
                  <a:srgbClr val="141B48"/>
                </a:solidFill>
                <a:latin typeface="Calibri" pitchFamily="34" charset="0"/>
                <a:ea typeface="Calibri" pitchFamily="34" charset="-122"/>
                <a:cs typeface="Calibri" pitchFamily="34" charset="-120"/>
              </a:rPr>
              <a:t>plans</a:t>
            </a:r>
            <a:endParaRPr lang="en-US" sz="850" dirty="0"/>
          </a:p>
        </p:txBody>
      </p:sp>
      <p:sp>
        <p:nvSpPr>
          <p:cNvPr id="15" name="Shape 13"/>
          <p:cNvSpPr/>
          <p:nvPr/>
        </p:nvSpPr>
        <p:spPr>
          <a:xfrm>
            <a:off x="10607040" y="2468880"/>
            <a:ext cx="1005840" cy="457200"/>
          </a:xfrm>
          <a:prstGeom prst="triangle">
            <a:avLst/>
          </a:prstGeom>
          <a:solidFill>
            <a:srgbClr val="FBE0E0"/>
          </a:solidFill>
          <a:ln w="12700">
            <a:solidFill>
              <a:srgbClr val="1E2761"/>
            </a:solidFill>
            <a:prstDash val="solid"/>
          </a:ln>
        </p:spPr>
      </p:sp>
      <p:sp>
        <p:nvSpPr>
          <p:cNvPr id="16" name="Shape 14"/>
          <p:cNvSpPr/>
          <p:nvPr/>
        </p:nvSpPr>
        <p:spPr>
          <a:xfrm>
            <a:off x="9418320" y="3063240"/>
            <a:ext cx="502920" cy="502920"/>
          </a:xfrm>
          <a:prstGeom prst="ellipse">
            <a:avLst/>
          </a:prstGeom>
          <a:solidFill>
            <a:srgbClr val="FBE0E0"/>
          </a:solidFill>
          <a:ln w="12700">
            <a:solidFill>
              <a:srgbClr val="1E2761"/>
            </a:solidFill>
            <a:prstDash val="solid"/>
          </a:ln>
        </p:spPr>
      </p:sp>
      <p:sp>
        <p:nvSpPr>
          <p:cNvPr id="17" name="Shape 15"/>
          <p:cNvSpPr/>
          <p:nvPr/>
        </p:nvSpPr>
        <p:spPr>
          <a:xfrm>
            <a:off x="10058400" y="3063240"/>
            <a:ext cx="502920" cy="502920"/>
          </a:xfrm>
          <a:prstGeom prst="rect">
            <a:avLst/>
          </a:prstGeom>
          <a:solidFill>
            <a:srgbClr val="FBE0E0"/>
          </a:solidFill>
          <a:ln w="12700">
            <a:solidFill>
              <a:srgbClr val="1E2761"/>
            </a:solidFill>
            <a:prstDash val="solid"/>
          </a:ln>
        </p:spPr>
      </p:sp>
      <p:sp>
        <p:nvSpPr>
          <p:cNvPr id="18" name="Text 16"/>
          <p:cNvSpPr/>
          <p:nvPr/>
        </p:nvSpPr>
        <p:spPr>
          <a:xfrm>
            <a:off x="6766560" y="4114800"/>
            <a:ext cx="4846320" cy="1005840"/>
          </a:xfrm>
          <a:prstGeom prst="rect">
            <a:avLst/>
          </a:prstGeom>
          <a:noFill/>
          <a:ln/>
        </p:spPr>
        <p:txBody>
          <a:bodyPr wrap="square"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Integrated planning links objectives cleanly through to consistent operating plans at every level. Unintegrated planning produces operating plans that don't fit together — mismatched, uncoordinated 'shapes' that undermine the objective.</a:t>
            </a:r>
            <a:endParaRPr lang="en-US" sz="1050" dirty="0"/>
          </a:p>
        </p:txBody>
      </p:sp>
      <p:sp>
        <p:nvSpPr>
          <p:cNvPr id="19"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7.3 NATURE OF PLANNING</a:t>
            </a:r>
            <a:endParaRPr lang="en-US" sz="1100" dirty="0"/>
          </a:p>
        </p:txBody>
      </p:sp>
      <p:sp>
        <p:nvSpPr>
          <p:cNvPr id="20"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7.4. IMPORTANCE OF PLANNING</a:t>
            </a:r>
            <a:endParaRPr lang="en-US" sz="2000" dirty="0"/>
          </a:p>
        </p:txBody>
      </p:sp>
      <p:sp>
        <p:nvSpPr>
          <p:cNvPr id="3" name="Shape 1"/>
          <p:cNvSpPr/>
          <p:nvPr/>
        </p:nvSpPr>
        <p:spPr>
          <a:xfrm>
            <a:off x="548640" y="1508760"/>
            <a:ext cx="2656332"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265633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Planning for immediate &amp; distant future</a:t>
            </a:r>
            <a:endParaRPr lang="en-US" sz="1200" dirty="0"/>
          </a:p>
        </p:txBody>
      </p:sp>
      <p:sp>
        <p:nvSpPr>
          <p:cNvPr id="8" name="Shape 5"/>
          <p:cNvSpPr/>
          <p:nvPr/>
        </p:nvSpPr>
        <p:spPr>
          <a:xfrm>
            <a:off x="3351276" y="1508760"/>
            <a:ext cx="2656332" cy="1965960"/>
          </a:xfrm>
          <a:prstGeom prst="roundRect">
            <a:avLst>
              <a:gd name="adj" fmla="val 4186"/>
            </a:avLst>
          </a:prstGeom>
          <a:solidFill>
            <a:srgbClr val="1E2761"/>
          </a:solidFill>
          <a:ln/>
        </p:spPr>
      </p:sp>
      <p:sp>
        <p:nvSpPr>
          <p:cNvPr id="9" name="Shape 6"/>
          <p:cNvSpPr/>
          <p:nvPr/>
        </p:nvSpPr>
        <p:spPr>
          <a:xfrm>
            <a:off x="3515868"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634740" y="1792224"/>
            <a:ext cx="219456" cy="219456"/>
          </a:xfrm>
          <a:prstGeom prst="rect">
            <a:avLst/>
          </a:prstGeom>
        </p:spPr>
      </p:pic>
      <p:sp>
        <p:nvSpPr>
          <p:cNvPr id="11" name="Text 7"/>
          <p:cNvSpPr/>
          <p:nvPr/>
        </p:nvSpPr>
        <p:spPr>
          <a:xfrm>
            <a:off x="5458968"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3515868"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Selection of 'optimum' goals</a:t>
            </a:r>
            <a:endParaRPr lang="en-US" sz="1200" dirty="0"/>
          </a:p>
        </p:txBody>
      </p:sp>
      <p:sp>
        <p:nvSpPr>
          <p:cNvPr id="13" name="Shape 9"/>
          <p:cNvSpPr/>
          <p:nvPr/>
        </p:nvSpPr>
        <p:spPr>
          <a:xfrm>
            <a:off x="6153912" y="1508760"/>
            <a:ext cx="2656332" cy="1965960"/>
          </a:xfrm>
          <a:prstGeom prst="roundRect">
            <a:avLst>
              <a:gd name="adj" fmla="val 4186"/>
            </a:avLst>
          </a:prstGeom>
          <a:solidFill>
            <a:srgbClr val="1E2761"/>
          </a:solidFill>
          <a:ln/>
        </p:spPr>
      </p:sp>
      <p:sp>
        <p:nvSpPr>
          <p:cNvPr id="14" name="Shape 10"/>
          <p:cNvSpPr/>
          <p:nvPr/>
        </p:nvSpPr>
        <p:spPr>
          <a:xfrm>
            <a:off x="6318504"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6437376" y="1792224"/>
            <a:ext cx="219456" cy="219456"/>
          </a:xfrm>
          <a:prstGeom prst="rect">
            <a:avLst/>
          </a:prstGeom>
        </p:spPr>
      </p:pic>
      <p:sp>
        <p:nvSpPr>
          <p:cNvPr id="16" name="Text 11"/>
          <p:cNvSpPr/>
          <p:nvPr/>
        </p:nvSpPr>
        <p:spPr>
          <a:xfrm>
            <a:off x="826160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6318504"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Sorting out complex situations</a:t>
            </a:r>
            <a:endParaRPr lang="en-US" sz="1200" dirty="0"/>
          </a:p>
        </p:txBody>
      </p:sp>
      <p:sp>
        <p:nvSpPr>
          <p:cNvPr id="18" name="Shape 13"/>
          <p:cNvSpPr/>
          <p:nvPr/>
        </p:nvSpPr>
        <p:spPr>
          <a:xfrm>
            <a:off x="8956548" y="1508760"/>
            <a:ext cx="2656332" cy="1965960"/>
          </a:xfrm>
          <a:prstGeom prst="roundRect">
            <a:avLst>
              <a:gd name="adj" fmla="val 4186"/>
            </a:avLst>
          </a:prstGeom>
          <a:solidFill>
            <a:srgbClr val="1E2761"/>
          </a:solidFill>
          <a:ln/>
        </p:spPr>
      </p:sp>
      <p:sp>
        <p:nvSpPr>
          <p:cNvPr id="19" name="Shape 14"/>
          <p:cNvSpPr/>
          <p:nvPr/>
        </p:nvSpPr>
        <p:spPr>
          <a:xfrm>
            <a:off x="9121140" y="1673352"/>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9240012" y="1792224"/>
            <a:ext cx="219456" cy="219456"/>
          </a:xfrm>
          <a:prstGeom prst="rect">
            <a:avLst/>
          </a:prstGeom>
        </p:spPr>
      </p:pic>
      <p:sp>
        <p:nvSpPr>
          <p:cNvPr id="21" name="Text 15"/>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9121140"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Meeting changes in external environment</a:t>
            </a:r>
            <a:endParaRPr lang="en-US" sz="1200" dirty="0"/>
          </a:p>
        </p:txBody>
      </p:sp>
      <p:sp>
        <p:nvSpPr>
          <p:cNvPr id="23" name="Shape 17"/>
          <p:cNvSpPr/>
          <p:nvPr/>
        </p:nvSpPr>
        <p:spPr>
          <a:xfrm>
            <a:off x="548640" y="3675888"/>
            <a:ext cx="2656332" cy="1965960"/>
          </a:xfrm>
          <a:prstGeom prst="roundRect">
            <a:avLst>
              <a:gd name="adj" fmla="val 4186"/>
            </a:avLst>
          </a:prstGeom>
          <a:solidFill>
            <a:srgbClr val="1E2761"/>
          </a:solidFill>
          <a:ln/>
        </p:spPr>
      </p:sp>
      <p:sp>
        <p:nvSpPr>
          <p:cNvPr id="24" name="Shape 18"/>
          <p:cNvSpPr/>
          <p:nvPr/>
        </p:nvSpPr>
        <p:spPr>
          <a:xfrm>
            <a:off x="713232"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832104" y="3959352"/>
            <a:ext cx="219456" cy="219456"/>
          </a:xfrm>
          <a:prstGeom prst="rect">
            <a:avLst/>
          </a:prstGeom>
        </p:spPr>
      </p:pic>
      <p:sp>
        <p:nvSpPr>
          <p:cNvPr id="26" name="Text 19"/>
          <p:cNvSpPr/>
          <p:nvPr/>
        </p:nvSpPr>
        <p:spPr>
          <a:xfrm>
            <a:off x="265633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713232"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Safeguard against business failures</a:t>
            </a:r>
            <a:endParaRPr lang="en-US" sz="1200" dirty="0"/>
          </a:p>
        </p:txBody>
      </p:sp>
      <p:sp>
        <p:nvSpPr>
          <p:cNvPr id="28" name="Shape 21"/>
          <p:cNvSpPr/>
          <p:nvPr/>
        </p:nvSpPr>
        <p:spPr>
          <a:xfrm>
            <a:off x="3351276" y="3675888"/>
            <a:ext cx="2656332" cy="1965960"/>
          </a:xfrm>
          <a:prstGeom prst="roundRect">
            <a:avLst>
              <a:gd name="adj" fmla="val 4186"/>
            </a:avLst>
          </a:prstGeom>
          <a:solidFill>
            <a:srgbClr val="1E2761"/>
          </a:solidFill>
          <a:ln/>
        </p:spPr>
      </p:sp>
      <p:sp>
        <p:nvSpPr>
          <p:cNvPr id="29" name="Shape 22"/>
          <p:cNvSpPr/>
          <p:nvPr/>
        </p:nvSpPr>
        <p:spPr>
          <a:xfrm>
            <a:off x="351586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3634740" y="3959352"/>
            <a:ext cx="219456" cy="219456"/>
          </a:xfrm>
          <a:prstGeom prst="rect">
            <a:avLst/>
          </a:prstGeom>
        </p:spPr>
      </p:pic>
      <p:sp>
        <p:nvSpPr>
          <p:cNvPr id="31" name="Text 23"/>
          <p:cNvSpPr/>
          <p:nvPr/>
        </p:nvSpPr>
        <p:spPr>
          <a:xfrm>
            <a:off x="5458968"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3515868"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Unity of purpose and action</a:t>
            </a:r>
            <a:endParaRPr lang="en-US" sz="1200" dirty="0"/>
          </a:p>
        </p:txBody>
      </p:sp>
      <p:sp>
        <p:nvSpPr>
          <p:cNvPr id="33" name="Shape 25"/>
          <p:cNvSpPr/>
          <p:nvPr/>
        </p:nvSpPr>
        <p:spPr>
          <a:xfrm>
            <a:off x="6153912" y="3675888"/>
            <a:ext cx="2656332" cy="1965960"/>
          </a:xfrm>
          <a:prstGeom prst="roundRect">
            <a:avLst>
              <a:gd name="adj" fmla="val 4186"/>
            </a:avLst>
          </a:prstGeom>
          <a:solidFill>
            <a:srgbClr val="1E2761"/>
          </a:solidFill>
          <a:ln/>
        </p:spPr>
      </p:sp>
      <p:sp>
        <p:nvSpPr>
          <p:cNvPr id="34" name="Shape 26"/>
          <p:cNvSpPr/>
          <p:nvPr/>
        </p:nvSpPr>
        <p:spPr>
          <a:xfrm>
            <a:off x="6318504" y="3840480"/>
            <a:ext cx="457200" cy="457200"/>
          </a:xfrm>
          <a:prstGeom prst="ellipse">
            <a:avLst/>
          </a:prstGeom>
          <a:solidFill>
            <a:srgbClr val="C9A24B"/>
          </a:solidFill>
          <a:ln/>
        </p:spPr>
      </p:sp>
      <p:pic>
        <p:nvPicPr>
          <p:cNvPr id="35" name="Image 6" descr="preencoded.png">    </p:cNvPr>
          <p:cNvPicPr>
            <a:picLocks noChangeAspect="1"/>
          </p:cNvPicPr>
          <p:nvPr/>
        </p:nvPicPr>
        <p:blipFill>
          <a:blip r:embed="rId7"/>
          <a:stretch>
            <a:fillRect/>
          </a:stretch>
        </p:blipFill>
        <p:spPr>
          <a:xfrm>
            <a:off x="6437376" y="3959352"/>
            <a:ext cx="219456" cy="219456"/>
          </a:xfrm>
          <a:prstGeom prst="rect">
            <a:avLst/>
          </a:prstGeom>
        </p:spPr>
      </p:pic>
      <p:sp>
        <p:nvSpPr>
          <p:cNvPr id="36" name="Text 27"/>
          <p:cNvSpPr/>
          <p:nvPr/>
        </p:nvSpPr>
        <p:spPr>
          <a:xfrm>
            <a:off x="826160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7</a:t>
            </a:r>
            <a:endParaRPr lang="en-US" sz="1600" dirty="0"/>
          </a:p>
        </p:txBody>
      </p:sp>
      <p:sp>
        <p:nvSpPr>
          <p:cNvPr id="37" name="Text 28"/>
          <p:cNvSpPr/>
          <p:nvPr/>
        </p:nvSpPr>
        <p:spPr>
          <a:xfrm>
            <a:off x="6318504"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Effective coordination and control</a:t>
            </a:r>
            <a:endParaRPr lang="en-US" sz="1200" dirty="0"/>
          </a:p>
        </p:txBody>
      </p:sp>
      <p:sp>
        <p:nvSpPr>
          <p:cNvPr id="38" name="Text 29"/>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7.4. IMPORTANCE OF PLANNING</a:t>
            </a:r>
            <a:endParaRPr lang="en-US" sz="1100" dirty="0"/>
          </a:p>
        </p:txBody>
      </p:sp>
      <p:sp>
        <p:nvSpPr>
          <p:cNvPr id="39" name="Text 30"/>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7.4. IMPORTANCE OF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Future, Optimum Goals &amp; Complex Situations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Planning for the Immediate &amp; Distant Future</a:t>
            </a:r>
            <a:endParaRPr lang="en-US" sz="1350" dirty="0"/>
          </a:p>
        </p:txBody>
      </p:sp>
      <p:sp>
        <p:nvSpPr>
          <p:cNvPr id="9" name="Text 6"/>
          <p:cNvSpPr/>
          <p:nvPr/>
        </p:nvSpPr>
        <p:spPr>
          <a:xfrm>
            <a:off x="694944"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Increasing pace of environmental change demands anticipating near and distant developments. A management that doesn't identify emerging situations will soon find its very existence threatened. Raghuram Rajan, as RBI Governor, is credited with predicting the 2008 global crisis and suggesting corrective measures.</a:t>
            </a:r>
            <a:endParaRPr lang="en-US" sz="108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Selection of 'Optimum' Goals &amp; Objectives</a:t>
            </a:r>
            <a:endParaRPr lang="en-US" sz="1350" dirty="0"/>
          </a:p>
        </p:txBody>
      </p:sp>
      <p:sp>
        <p:nvSpPr>
          <p:cNvPr id="15" name="Text 11"/>
          <p:cNvSpPr/>
          <p:nvPr/>
        </p:nvSpPr>
        <p:spPr>
          <a:xfrm>
            <a:off x="4425696"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Planning involves rational thinking and decision-making to select one set of objectives and action-plans, rejecting others, in line with resource availability and economic/social/political conditions. To optimize efficiency of key operations, it may be necessary to sub-optimize certain others.</a:t>
            </a:r>
            <a:endParaRPr lang="en-US" sz="108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Sorting Out Complex Situations</a:t>
            </a:r>
            <a:endParaRPr lang="en-US" sz="1350" dirty="0"/>
          </a:p>
        </p:txBody>
      </p:sp>
      <p:sp>
        <p:nvSpPr>
          <p:cNvPr id="21" name="Text 16"/>
          <p:cNvSpPr/>
          <p:nvPr/>
        </p:nvSpPr>
        <p:spPr>
          <a:xfrm>
            <a:off x="8156448"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An organization is a varied group with different socio-cultural and educational backgrounds. They work together effectively if they've had a say in decision-making — treating objectives as common property for which they share equal responsibility, promoting cooperation and participation.</a:t>
            </a:r>
            <a:endParaRPr lang="en-US" sz="108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7.4. IMPORTANCE OF PLANNING</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7.4. IMPORTANCE OF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(4)–(7) External Change, Safeguard, Unity &amp; Coordination</a:t>
            </a:r>
            <a:endParaRPr lang="en-US" sz="2700" dirty="0"/>
          </a:p>
        </p:txBody>
      </p:sp>
      <p:sp>
        <p:nvSpPr>
          <p:cNvPr id="4" name="Shape 2"/>
          <p:cNvSpPr/>
          <p:nvPr/>
        </p:nvSpPr>
        <p:spPr>
          <a:xfrm>
            <a:off x="548640" y="1691640"/>
            <a:ext cx="2624328" cy="4343400"/>
          </a:xfrm>
          <a:prstGeom prst="roundRect">
            <a:avLst>
              <a:gd name="adj" fmla="val 3136"/>
            </a:avLst>
          </a:prstGeom>
          <a:solidFill>
            <a:srgbClr val="EEF3FC"/>
          </a:solidFill>
          <a:ln/>
        </p:spPr>
      </p:sp>
      <p:sp>
        <p:nvSpPr>
          <p:cNvPr id="5" name="Shape 3"/>
          <p:cNvSpPr/>
          <p:nvPr/>
        </p:nvSpPr>
        <p:spPr>
          <a:xfrm>
            <a:off x="1609344" y="1874520"/>
            <a:ext cx="502920" cy="50292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40103" y="2005279"/>
            <a:ext cx="241402" cy="241402"/>
          </a:xfrm>
          <a:prstGeom prst="rect">
            <a:avLst/>
          </a:prstGeom>
        </p:spPr>
      </p:pic>
      <p:sp>
        <p:nvSpPr>
          <p:cNvPr id="7" name="Text 4"/>
          <p:cNvSpPr/>
          <p:nvPr/>
        </p:nvSpPr>
        <p:spPr>
          <a:xfrm>
            <a:off x="548640" y="2468880"/>
            <a:ext cx="262432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58368" y="2724912"/>
            <a:ext cx="2404872" cy="685800"/>
          </a:xfrm>
          <a:prstGeom prst="rect">
            <a:avLst/>
          </a:prstGeom>
          <a:noFill/>
          <a:ln/>
        </p:spPr>
        <p:txBody>
          <a:bodyPr wrap="square" rtlCol="0" anchor="t"/>
          <a:lstStyle/>
          <a:p>
            <a:pPr algn="ctr" indent="0" marL="0">
              <a:buNone/>
            </a:pPr>
            <a:r>
              <a:rPr lang="en-US" sz="1150" b="1" dirty="0">
                <a:solidFill>
                  <a:srgbClr val="1E2761"/>
                </a:solidFill>
                <a:latin typeface="Cambria" pitchFamily="34" charset="0"/>
                <a:ea typeface="Cambria" pitchFamily="34" charset="-122"/>
                <a:cs typeface="Cambria" pitchFamily="34" charset="-120"/>
              </a:rPr>
              <a:t>Meeting Changes in External Environment</a:t>
            </a:r>
            <a:endParaRPr lang="en-US" sz="1150" dirty="0"/>
          </a:p>
        </p:txBody>
      </p:sp>
      <p:sp>
        <p:nvSpPr>
          <p:cNvPr id="9" name="Text 6"/>
          <p:cNvSpPr/>
          <p:nvPr/>
        </p:nvSpPr>
        <p:spPr>
          <a:xfrm>
            <a:off x="676656" y="3429000"/>
            <a:ext cx="2368296" cy="2468880"/>
          </a:xfrm>
          <a:prstGeom prst="rect">
            <a:avLst/>
          </a:prstGeom>
          <a:noFill/>
          <a:ln/>
        </p:spPr>
        <p:txBody>
          <a:bodyPr wrap="square"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Business environment changes are difficult to predict — social values, competition, tastes, social unrest. A competent management foresees these and keeps standby plans ready, adjusting input and worker requirements and production processes.</a:t>
            </a:r>
            <a:endParaRPr lang="en-US" sz="950" dirty="0"/>
          </a:p>
        </p:txBody>
      </p:sp>
      <p:sp>
        <p:nvSpPr>
          <p:cNvPr id="10" name="Shape 7"/>
          <p:cNvSpPr/>
          <p:nvPr/>
        </p:nvSpPr>
        <p:spPr>
          <a:xfrm>
            <a:off x="3310128" y="1691640"/>
            <a:ext cx="2624328" cy="4343400"/>
          </a:xfrm>
          <a:prstGeom prst="roundRect">
            <a:avLst>
              <a:gd name="adj" fmla="val 3136"/>
            </a:avLst>
          </a:prstGeom>
          <a:solidFill>
            <a:srgbClr val="EEF3FC"/>
          </a:solidFill>
          <a:ln/>
        </p:spPr>
      </p:sp>
      <p:sp>
        <p:nvSpPr>
          <p:cNvPr id="11" name="Shape 8"/>
          <p:cNvSpPr/>
          <p:nvPr/>
        </p:nvSpPr>
        <p:spPr>
          <a:xfrm>
            <a:off x="4370832" y="1874520"/>
            <a:ext cx="502920" cy="50292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4501591" y="2005279"/>
            <a:ext cx="241402" cy="241402"/>
          </a:xfrm>
          <a:prstGeom prst="rect">
            <a:avLst/>
          </a:prstGeom>
        </p:spPr>
      </p:pic>
      <p:sp>
        <p:nvSpPr>
          <p:cNvPr id="13" name="Text 9"/>
          <p:cNvSpPr/>
          <p:nvPr/>
        </p:nvSpPr>
        <p:spPr>
          <a:xfrm>
            <a:off x="3310128" y="2468880"/>
            <a:ext cx="262432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3419856" y="2724912"/>
            <a:ext cx="2404872" cy="685800"/>
          </a:xfrm>
          <a:prstGeom prst="rect">
            <a:avLst/>
          </a:prstGeom>
          <a:noFill/>
          <a:ln/>
        </p:spPr>
        <p:txBody>
          <a:bodyPr wrap="square" rtlCol="0" anchor="t"/>
          <a:lstStyle/>
          <a:p>
            <a:pPr algn="ctr" indent="0" marL="0">
              <a:buNone/>
            </a:pPr>
            <a:r>
              <a:rPr lang="en-US" sz="1150" b="1" dirty="0">
                <a:solidFill>
                  <a:srgbClr val="1E2761"/>
                </a:solidFill>
                <a:latin typeface="Cambria" pitchFamily="34" charset="0"/>
                <a:ea typeface="Cambria" pitchFamily="34" charset="-122"/>
                <a:cs typeface="Cambria" pitchFamily="34" charset="-120"/>
              </a:rPr>
              <a:t>Safeguard Against Business Failures</a:t>
            </a:r>
            <a:endParaRPr lang="en-US" sz="1150" dirty="0"/>
          </a:p>
        </p:txBody>
      </p:sp>
      <p:sp>
        <p:nvSpPr>
          <p:cNvPr id="15" name="Text 11"/>
          <p:cNvSpPr/>
          <p:nvPr/>
        </p:nvSpPr>
        <p:spPr>
          <a:xfrm>
            <a:off x="3438144" y="3429000"/>
            <a:ext cx="2368296" cy="2468880"/>
          </a:xfrm>
          <a:prstGeom prst="rect">
            <a:avLst/>
          </a:prstGeom>
          <a:noFill/>
          <a:ln/>
        </p:spPr>
        <p:txBody>
          <a:bodyPr wrap="square"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Failures are often blamed on cut-throat competition, unpredictable demand, technological change, and economic/political developments. Planning cannot be a panacea, but it keeps management on its toes to identify problems and opportunities and follow the most effective course.</a:t>
            </a:r>
            <a:endParaRPr lang="en-US" sz="950" dirty="0"/>
          </a:p>
        </p:txBody>
      </p:sp>
      <p:sp>
        <p:nvSpPr>
          <p:cNvPr id="16" name="Shape 12"/>
          <p:cNvSpPr/>
          <p:nvPr/>
        </p:nvSpPr>
        <p:spPr>
          <a:xfrm>
            <a:off x="6071616" y="1691640"/>
            <a:ext cx="2624328" cy="4343400"/>
          </a:xfrm>
          <a:prstGeom prst="roundRect">
            <a:avLst>
              <a:gd name="adj" fmla="val 3136"/>
            </a:avLst>
          </a:prstGeom>
          <a:solidFill>
            <a:srgbClr val="EEF3FC"/>
          </a:solidFill>
          <a:ln/>
        </p:spPr>
      </p:sp>
      <p:sp>
        <p:nvSpPr>
          <p:cNvPr id="17" name="Shape 13"/>
          <p:cNvSpPr/>
          <p:nvPr/>
        </p:nvSpPr>
        <p:spPr>
          <a:xfrm>
            <a:off x="7132320" y="1874520"/>
            <a:ext cx="502920" cy="50292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7263079" y="2005279"/>
            <a:ext cx="241402" cy="241402"/>
          </a:xfrm>
          <a:prstGeom prst="rect">
            <a:avLst/>
          </a:prstGeom>
        </p:spPr>
      </p:pic>
      <p:sp>
        <p:nvSpPr>
          <p:cNvPr id="19" name="Text 14"/>
          <p:cNvSpPr/>
          <p:nvPr/>
        </p:nvSpPr>
        <p:spPr>
          <a:xfrm>
            <a:off x="6071616" y="2468880"/>
            <a:ext cx="262432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6181344" y="2724912"/>
            <a:ext cx="2404872" cy="685800"/>
          </a:xfrm>
          <a:prstGeom prst="rect">
            <a:avLst/>
          </a:prstGeom>
          <a:noFill/>
          <a:ln/>
        </p:spPr>
        <p:txBody>
          <a:bodyPr wrap="square" rtlCol="0" anchor="t"/>
          <a:lstStyle/>
          <a:p>
            <a:pPr algn="ctr" indent="0" marL="0">
              <a:buNone/>
            </a:pPr>
            <a:r>
              <a:rPr lang="en-US" sz="1150" b="1" dirty="0">
                <a:solidFill>
                  <a:srgbClr val="1E2761"/>
                </a:solidFill>
                <a:latin typeface="Cambria" pitchFamily="34" charset="0"/>
                <a:ea typeface="Cambria" pitchFamily="34" charset="-122"/>
                <a:cs typeface="Cambria" pitchFamily="34" charset="-120"/>
              </a:rPr>
              <a:t>Unity of Purpose and Action</a:t>
            </a:r>
            <a:endParaRPr lang="en-US" sz="1150" dirty="0"/>
          </a:p>
        </p:txBody>
      </p:sp>
      <p:sp>
        <p:nvSpPr>
          <p:cNvPr id="21" name="Text 16"/>
          <p:cNvSpPr/>
          <p:nvPr/>
        </p:nvSpPr>
        <p:spPr>
          <a:xfrm>
            <a:off x="6199632" y="3429000"/>
            <a:ext cx="2368296" cy="2468880"/>
          </a:xfrm>
          <a:prstGeom prst="rect">
            <a:avLst/>
          </a:prstGeom>
          <a:noFill/>
          <a:ln/>
        </p:spPr>
        <p:txBody>
          <a:bodyPr wrap="square"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Planning enables personnel to utilize their knowledge and skills toward organization goals — arising from awareness that they can satisfy personal needs only if they work harmoniously to accomplish organizational objectives.</a:t>
            </a:r>
            <a:endParaRPr lang="en-US" sz="950" dirty="0"/>
          </a:p>
        </p:txBody>
      </p:sp>
      <p:sp>
        <p:nvSpPr>
          <p:cNvPr id="22" name="Shape 17"/>
          <p:cNvSpPr/>
          <p:nvPr/>
        </p:nvSpPr>
        <p:spPr>
          <a:xfrm>
            <a:off x="8833104" y="1691640"/>
            <a:ext cx="2624328" cy="4343400"/>
          </a:xfrm>
          <a:prstGeom prst="roundRect">
            <a:avLst>
              <a:gd name="adj" fmla="val 3136"/>
            </a:avLst>
          </a:prstGeom>
          <a:solidFill>
            <a:srgbClr val="EEF3FC"/>
          </a:solidFill>
          <a:ln/>
        </p:spPr>
      </p:sp>
      <p:sp>
        <p:nvSpPr>
          <p:cNvPr id="23" name="Shape 18"/>
          <p:cNvSpPr/>
          <p:nvPr/>
        </p:nvSpPr>
        <p:spPr>
          <a:xfrm>
            <a:off x="9893808" y="1874520"/>
            <a:ext cx="502920" cy="502920"/>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10024567" y="2005279"/>
            <a:ext cx="241402" cy="241402"/>
          </a:xfrm>
          <a:prstGeom prst="rect">
            <a:avLst/>
          </a:prstGeom>
        </p:spPr>
      </p:pic>
      <p:sp>
        <p:nvSpPr>
          <p:cNvPr id="25" name="Text 19"/>
          <p:cNvSpPr/>
          <p:nvPr/>
        </p:nvSpPr>
        <p:spPr>
          <a:xfrm>
            <a:off x="8833104" y="2468880"/>
            <a:ext cx="262432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(7)</a:t>
            </a:r>
            <a:endParaRPr lang="en-US" sz="1200" dirty="0"/>
          </a:p>
        </p:txBody>
      </p:sp>
      <p:sp>
        <p:nvSpPr>
          <p:cNvPr id="26" name="Text 20"/>
          <p:cNvSpPr/>
          <p:nvPr/>
        </p:nvSpPr>
        <p:spPr>
          <a:xfrm>
            <a:off x="8942832" y="2724912"/>
            <a:ext cx="2404872" cy="685800"/>
          </a:xfrm>
          <a:prstGeom prst="rect">
            <a:avLst/>
          </a:prstGeom>
          <a:noFill/>
          <a:ln/>
        </p:spPr>
        <p:txBody>
          <a:bodyPr wrap="square" rtlCol="0" anchor="t"/>
          <a:lstStyle/>
          <a:p>
            <a:pPr algn="ctr" indent="0" marL="0">
              <a:buNone/>
            </a:pPr>
            <a:r>
              <a:rPr lang="en-US" sz="1150" b="1" dirty="0">
                <a:solidFill>
                  <a:srgbClr val="1E2761"/>
                </a:solidFill>
                <a:latin typeface="Cambria" pitchFamily="34" charset="0"/>
                <a:ea typeface="Cambria" pitchFamily="34" charset="-122"/>
                <a:cs typeface="Cambria" pitchFamily="34" charset="-120"/>
              </a:rPr>
              <a:t>Effective Coordination and Control</a:t>
            </a:r>
            <a:endParaRPr lang="en-US" sz="1150" dirty="0"/>
          </a:p>
        </p:txBody>
      </p:sp>
      <p:sp>
        <p:nvSpPr>
          <p:cNvPr id="27" name="Text 21"/>
          <p:cNvSpPr/>
          <p:nvPr/>
        </p:nvSpPr>
        <p:spPr>
          <a:xfrm>
            <a:off x="8961120" y="3429000"/>
            <a:ext cx="2368296" cy="2468880"/>
          </a:xfrm>
          <a:prstGeom prst="rect">
            <a:avLst/>
          </a:prstGeom>
          <a:noFill/>
          <a:ln/>
        </p:spPr>
        <p:txBody>
          <a:bodyPr wrap="square"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Planning clearly defines objectives and the tasks necessary to achieve them, so workers know what is to be done, where, how and by whom — enabling monitoring of performance and quick correction of deviations from planned standards.</a:t>
            </a:r>
            <a:endParaRPr lang="en-US" sz="950" dirty="0"/>
          </a:p>
        </p:txBody>
      </p:sp>
      <p:sp>
        <p:nvSpPr>
          <p:cNvPr id="28" name="Text 2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7.4 IMPORTANCE OF PLANNING</a:t>
            </a:r>
            <a:endParaRPr lang="en-US" sz="1100" dirty="0"/>
          </a:p>
        </p:txBody>
      </p:sp>
      <p:sp>
        <p:nvSpPr>
          <p:cNvPr id="29" name="Text 2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B</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8.2</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Major Steps in Planning</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From spotting an opportunity to building a fully-branched action plan — the nine steps every planning exercise follows.</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8.2. MAJOR STEPS IN PLANNING</a:t>
            </a:r>
            <a:endParaRPr lang="en-US" sz="2000" dirty="0"/>
          </a:p>
        </p:txBody>
      </p:sp>
      <p:sp>
        <p:nvSpPr>
          <p:cNvPr id="3" name="Shape 1"/>
          <p:cNvSpPr/>
          <p:nvPr/>
        </p:nvSpPr>
        <p:spPr>
          <a:xfrm>
            <a:off x="548640" y="1508760"/>
            <a:ext cx="2095805"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2095805"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1766621"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Identification of problem/opportunity</a:t>
            </a:r>
            <a:endParaRPr lang="en-US" sz="1200" dirty="0"/>
          </a:p>
        </p:txBody>
      </p:sp>
      <p:sp>
        <p:nvSpPr>
          <p:cNvPr id="8" name="Shape 5"/>
          <p:cNvSpPr/>
          <p:nvPr/>
        </p:nvSpPr>
        <p:spPr>
          <a:xfrm>
            <a:off x="2790749" y="1508760"/>
            <a:ext cx="2095805" cy="1965960"/>
          </a:xfrm>
          <a:prstGeom prst="roundRect">
            <a:avLst>
              <a:gd name="adj" fmla="val 4186"/>
            </a:avLst>
          </a:prstGeom>
          <a:solidFill>
            <a:srgbClr val="1E2761"/>
          </a:solidFill>
          <a:ln/>
        </p:spPr>
      </p:sp>
      <p:sp>
        <p:nvSpPr>
          <p:cNvPr id="9" name="Shape 6"/>
          <p:cNvSpPr/>
          <p:nvPr/>
        </p:nvSpPr>
        <p:spPr>
          <a:xfrm>
            <a:off x="2955341"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074213" y="1792224"/>
            <a:ext cx="219456" cy="219456"/>
          </a:xfrm>
          <a:prstGeom prst="rect">
            <a:avLst/>
          </a:prstGeom>
        </p:spPr>
      </p:pic>
      <p:sp>
        <p:nvSpPr>
          <p:cNvPr id="11" name="Text 7"/>
          <p:cNvSpPr/>
          <p:nvPr/>
        </p:nvSpPr>
        <p:spPr>
          <a:xfrm>
            <a:off x="433791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2955341" y="2194560"/>
            <a:ext cx="1766621"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Collection &amp; analysis of information</a:t>
            </a:r>
            <a:endParaRPr lang="en-US" sz="1200" dirty="0"/>
          </a:p>
        </p:txBody>
      </p:sp>
      <p:sp>
        <p:nvSpPr>
          <p:cNvPr id="13" name="Shape 9"/>
          <p:cNvSpPr/>
          <p:nvPr/>
        </p:nvSpPr>
        <p:spPr>
          <a:xfrm>
            <a:off x="5032858" y="1508760"/>
            <a:ext cx="2095805" cy="1965960"/>
          </a:xfrm>
          <a:prstGeom prst="roundRect">
            <a:avLst>
              <a:gd name="adj" fmla="val 4186"/>
            </a:avLst>
          </a:prstGeom>
          <a:solidFill>
            <a:srgbClr val="1E2761"/>
          </a:solidFill>
          <a:ln/>
        </p:spPr>
      </p:sp>
      <p:sp>
        <p:nvSpPr>
          <p:cNvPr id="14" name="Shape 10"/>
          <p:cNvSpPr/>
          <p:nvPr/>
        </p:nvSpPr>
        <p:spPr>
          <a:xfrm>
            <a:off x="5197450"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5316322" y="1792224"/>
            <a:ext cx="219456" cy="219456"/>
          </a:xfrm>
          <a:prstGeom prst="rect">
            <a:avLst/>
          </a:prstGeom>
        </p:spPr>
      </p:pic>
      <p:sp>
        <p:nvSpPr>
          <p:cNvPr id="16" name="Text 11"/>
          <p:cNvSpPr/>
          <p:nvPr/>
        </p:nvSpPr>
        <p:spPr>
          <a:xfrm>
            <a:off x="658002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5197450" y="2194560"/>
            <a:ext cx="1766621"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Establishment of objectives</a:t>
            </a:r>
            <a:endParaRPr lang="en-US" sz="1200" dirty="0"/>
          </a:p>
        </p:txBody>
      </p:sp>
      <p:sp>
        <p:nvSpPr>
          <p:cNvPr id="18" name="Shape 13"/>
          <p:cNvSpPr/>
          <p:nvPr/>
        </p:nvSpPr>
        <p:spPr>
          <a:xfrm>
            <a:off x="7274966" y="1508760"/>
            <a:ext cx="2095805" cy="1965960"/>
          </a:xfrm>
          <a:prstGeom prst="roundRect">
            <a:avLst>
              <a:gd name="adj" fmla="val 4186"/>
            </a:avLst>
          </a:prstGeom>
          <a:solidFill>
            <a:srgbClr val="1E2761"/>
          </a:solidFill>
          <a:ln/>
        </p:spPr>
      </p:sp>
      <p:sp>
        <p:nvSpPr>
          <p:cNvPr id="19" name="Shape 14"/>
          <p:cNvSpPr/>
          <p:nvPr/>
        </p:nvSpPr>
        <p:spPr>
          <a:xfrm>
            <a:off x="7439558" y="1673352"/>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7558430" y="1792224"/>
            <a:ext cx="219456" cy="219456"/>
          </a:xfrm>
          <a:prstGeom prst="rect">
            <a:avLst/>
          </a:prstGeom>
        </p:spPr>
      </p:pic>
      <p:sp>
        <p:nvSpPr>
          <p:cNvPr id="21" name="Text 15"/>
          <p:cNvSpPr/>
          <p:nvPr/>
        </p:nvSpPr>
        <p:spPr>
          <a:xfrm>
            <a:off x="8822131"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7439558" y="2194560"/>
            <a:ext cx="1766621"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Determining planning premises</a:t>
            </a:r>
            <a:endParaRPr lang="en-US" sz="1200" dirty="0"/>
          </a:p>
        </p:txBody>
      </p:sp>
      <p:sp>
        <p:nvSpPr>
          <p:cNvPr id="23" name="Shape 17"/>
          <p:cNvSpPr/>
          <p:nvPr/>
        </p:nvSpPr>
        <p:spPr>
          <a:xfrm>
            <a:off x="9517075" y="1508760"/>
            <a:ext cx="2095805" cy="1965960"/>
          </a:xfrm>
          <a:prstGeom prst="roundRect">
            <a:avLst>
              <a:gd name="adj" fmla="val 4186"/>
            </a:avLst>
          </a:prstGeom>
          <a:solidFill>
            <a:srgbClr val="1E2761"/>
          </a:solidFill>
          <a:ln/>
        </p:spPr>
      </p:sp>
      <p:sp>
        <p:nvSpPr>
          <p:cNvPr id="24" name="Shape 18"/>
          <p:cNvSpPr/>
          <p:nvPr/>
        </p:nvSpPr>
        <p:spPr>
          <a:xfrm>
            <a:off x="9681667" y="1673352"/>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9800539" y="1792224"/>
            <a:ext cx="219456" cy="219456"/>
          </a:xfrm>
          <a:prstGeom prst="rect">
            <a:avLst/>
          </a:prstGeom>
        </p:spPr>
      </p:pic>
      <p:sp>
        <p:nvSpPr>
          <p:cNvPr id="26" name="Text 19"/>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9681667" y="2194560"/>
            <a:ext cx="1766621"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Examining alternative courses</a:t>
            </a:r>
            <a:endParaRPr lang="en-US" sz="1200" dirty="0"/>
          </a:p>
        </p:txBody>
      </p:sp>
      <p:sp>
        <p:nvSpPr>
          <p:cNvPr id="28" name="Shape 21"/>
          <p:cNvSpPr/>
          <p:nvPr/>
        </p:nvSpPr>
        <p:spPr>
          <a:xfrm>
            <a:off x="548640" y="3675888"/>
            <a:ext cx="2095805" cy="1965960"/>
          </a:xfrm>
          <a:prstGeom prst="roundRect">
            <a:avLst>
              <a:gd name="adj" fmla="val 4186"/>
            </a:avLst>
          </a:prstGeom>
          <a:solidFill>
            <a:srgbClr val="1E2761"/>
          </a:solidFill>
          <a:ln/>
        </p:spPr>
      </p:sp>
      <p:sp>
        <p:nvSpPr>
          <p:cNvPr id="29" name="Shape 22"/>
          <p:cNvSpPr/>
          <p:nvPr/>
        </p:nvSpPr>
        <p:spPr>
          <a:xfrm>
            <a:off x="713232"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832104" y="3959352"/>
            <a:ext cx="219456" cy="219456"/>
          </a:xfrm>
          <a:prstGeom prst="rect">
            <a:avLst/>
          </a:prstGeom>
        </p:spPr>
      </p:pic>
      <p:sp>
        <p:nvSpPr>
          <p:cNvPr id="31" name="Text 23"/>
          <p:cNvSpPr/>
          <p:nvPr/>
        </p:nvSpPr>
        <p:spPr>
          <a:xfrm>
            <a:off x="2095805"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713232" y="4361688"/>
            <a:ext cx="1766621"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Weighing alternative courses</a:t>
            </a:r>
            <a:endParaRPr lang="en-US" sz="1200" dirty="0"/>
          </a:p>
        </p:txBody>
      </p:sp>
      <p:sp>
        <p:nvSpPr>
          <p:cNvPr id="33" name="Shape 25"/>
          <p:cNvSpPr/>
          <p:nvPr/>
        </p:nvSpPr>
        <p:spPr>
          <a:xfrm>
            <a:off x="2790749" y="3675888"/>
            <a:ext cx="2095805" cy="1965960"/>
          </a:xfrm>
          <a:prstGeom prst="roundRect">
            <a:avLst>
              <a:gd name="adj" fmla="val 4186"/>
            </a:avLst>
          </a:prstGeom>
          <a:solidFill>
            <a:srgbClr val="1E2761"/>
          </a:solidFill>
          <a:ln/>
        </p:spPr>
      </p:sp>
      <p:sp>
        <p:nvSpPr>
          <p:cNvPr id="34" name="Shape 26"/>
          <p:cNvSpPr/>
          <p:nvPr/>
        </p:nvSpPr>
        <p:spPr>
          <a:xfrm>
            <a:off x="2955341" y="3840480"/>
            <a:ext cx="457200" cy="457200"/>
          </a:xfrm>
          <a:prstGeom prst="ellipse">
            <a:avLst/>
          </a:prstGeom>
          <a:solidFill>
            <a:srgbClr val="C9A24B"/>
          </a:solidFill>
          <a:ln/>
        </p:spPr>
      </p:sp>
      <p:pic>
        <p:nvPicPr>
          <p:cNvPr id="35" name="Image 6" descr="preencoded.png">    </p:cNvPr>
          <p:cNvPicPr>
            <a:picLocks noChangeAspect="1"/>
          </p:cNvPicPr>
          <p:nvPr/>
        </p:nvPicPr>
        <p:blipFill>
          <a:blip r:embed="rId7"/>
          <a:stretch>
            <a:fillRect/>
          </a:stretch>
        </p:blipFill>
        <p:spPr>
          <a:xfrm>
            <a:off x="3074213" y="3959352"/>
            <a:ext cx="219456" cy="219456"/>
          </a:xfrm>
          <a:prstGeom prst="rect">
            <a:avLst/>
          </a:prstGeom>
        </p:spPr>
      </p:pic>
      <p:sp>
        <p:nvSpPr>
          <p:cNvPr id="36" name="Text 27"/>
          <p:cNvSpPr/>
          <p:nvPr/>
        </p:nvSpPr>
        <p:spPr>
          <a:xfrm>
            <a:off x="433791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7</a:t>
            </a:r>
            <a:endParaRPr lang="en-US" sz="1600" dirty="0"/>
          </a:p>
        </p:txBody>
      </p:sp>
      <p:sp>
        <p:nvSpPr>
          <p:cNvPr id="37" name="Text 28"/>
          <p:cNvSpPr/>
          <p:nvPr/>
        </p:nvSpPr>
        <p:spPr>
          <a:xfrm>
            <a:off x="2955341" y="4361688"/>
            <a:ext cx="1766621"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Selecting ideal action-plan</a:t>
            </a:r>
            <a:endParaRPr lang="en-US" sz="1200" dirty="0"/>
          </a:p>
        </p:txBody>
      </p:sp>
      <p:sp>
        <p:nvSpPr>
          <p:cNvPr id="38" name="Shape 29"/>
          <p:cNvSpPr/>
          <p:nvPr/>
        </p:nvSpPr>
        <p:spPr>
          <a:xfrm>
            <a:off x="5032858" y="3675888"/>
            <a:ext cx="2095805" cy="1965960"/>
          </a:xfrm>
          <a:prstGeom prst="roundRect">
            <a:avLst>
              <a:gd name="adj" fmla="val 4186"/>
            </a:avLst>
          </a:prstGeom>
          <a:solidFill>
            <a:srgbClr val="1E2761"/>
          </a:solidFill>
          <a:ln/>
        </p:spPr>
      </p:sp>
      <p:sp>
        <p:nvSpPr>
          <p:cNvPr id="39" name="Shape 30"/>
          <p:cNvSpPr/>
          <p:nvPr/>
        </p:nvSpPr>
        <p:spPr>
          <a:xfrm>
            <a:off x="5197450" y="3840480"/>
            <a:ext cx="457200" cy="457200"/>
          </a:xfrm>
          <a:prstGeom prst="ellipse">
            <a:avLst/>
          </a:prstGeom>
          <a:solidFill>
            <a:srgbClr val="C9A24B"/>
          </a:solidFill>
          <a:ln/>
        </p:spPr>
      </p:sp>
      <p:pic>
        <p:nvPicPr>
          <p:cNvPr id="40" name="Image 7" descr="preencoded.png">    </p:cNvPr>
          <p:cNvPicPr>
            <a:picLocks noChangeAspect="1"/>
          </p:cNvPicPr>
          <p:nvPr/>
        </p:nvPicPr>
        <p:blipFill>
          <a:blip r:embed="rId8"/>
          <a:stretch>
            <a:fillRect/>
          </a:stretch>
        </p:blipFill>
        <p:spPr>
          <a:xfrm>
            <a:off x="5316322" y="3959352"/>
            <a:ext cx="219456" cy="219456"/>
          </a:xfrm>
          <a:prstGeom prst="rect">
            <a:avLst/>
          </a:prstGeom>
        </p:spPr>
      </p:pic>
      <p:sp>
        <p:nvSpPr>
          <p:cNvPr id="41" name="Text 31"/>
          <p:cNvSpPr/>
          <p:nvPr/>
        </p:nvSpPr>
        <p:spPr>
          <a:xfrm>
            <a:off x="658002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8</a:t>
            </a:r>
            <a:endParaRPr lang="en-US" sz="1600" dirty="0"/>
          </a:p>
        </p:txBody>
      </p:sp>
      <p:sp>
        <p:nvSpPr>
          <p:cNvPr id="42" name="Text 32"/>
          <p:cNvSpPr/>
          <p:nvPr/>
        </p:nvSpPr>
        <p:spPr>
          <a:xfrm>
            <a:off x="5197450" y="4361688"/>
            <a:ext cx="1766621"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Determining secondary plans</a:t>
            </a:r>
            <a:endParaRPr lang="en-US" sz="1200" dirty="0"/>
          </a:p>
        </p:txBody>
      </p:sp>
      <p:sp>
        <p:nvSpPr>
          <p:cNvPr id="43" name="Shape 33"/>
          <p:cNvSpPr/>
          <p:nvPr/>
        </p:nvSpPr>
        <p:spPr>
          <a:xfrm>
            <a:off x="7274966" y="3675888"/>
            <a:ext cx="2095805" cy="1965960"/>
          </a:xfrm>
          <a:prstGeom prst="roundRect">
            <a:avLst>
              <a:gd name="adj" fmla="val 4186"/>
            </a:avLst>
          </a:prstGeom>
          <a:solidFill>
            <a:srgbClr val="1E2761"/>
          </a:solidFill>
          <a:ln/>
        </p:spPr>
      </p:sp>
      <p:sp>
        <p:nvSpPr>
          <p:cNvPr id="44" name="Shape 34"/>
          <p:cNvSpPr/>
          <p:nvPr/>
        </p:nvSpPr>
        <p:spPr>
          <a:xfrm>
            <a:off x="7439558" y="3840480"/>
            <a:ext cx="457200" cy="457200"/>
          </a:xfrm>
          <a:prstGeom prst="ellipse">
            <a:avLst/>
          </a:prstGeom>
          <a:solidFill>
            <a:srgbClr val="C9A24B"/>
          </a:solidFill>
          <a:ln/>
        </p:spPr>
      </p:sp>
      <p:pic>
        <p:nvPicPr>
          <p:cNvPr id="45" name="Image 8" descr="preencoded.png">    </p:cNvPr>
          <p:cNvPicPr>
            <a:picLocks noChangeAspect="1"/>
          </p:cNvPicPr>
          <p:nvPr/>
        </p:nvPicPr>
        <p:blipFill>
          <a:blip r:embed="rId9"/>
          <a:stretch>
            <a:fillRect/>
          </a:stretch>
        </p:blipFill>
        <p:spPr>
          <a:xfrm>
            <a:off x="7558430" y="3959352"/>
            <a:ext cx="219456" cy="219456"/>
          </a:xfrm>
          <a:prstGeom prst="rect">
            <a:avLst/>
          </a:prstGeom>
        </p:spPr>
      </p:pic>
      <p:sp>
        <p:nvSpPr>
          <p:cNvPr id="46" name="Text 35"/>
          <p:cNvSpPr/>
          <p:nvPr/>
        </p:nvSpPr>
        <p:spPr>
          <a:xfrm>
            <a:off x="8822131"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9</a:t>
            </a:r>
            <a:endParaRPr lang="en-US" sz="1600" dirty="0"/>
          </a:p>
        </p:txBody>
      </p:sp>
      <p:sp>
        <p:nvSpPr>
          <p:cNvPr id="47" name="Text 36"/>
          <p:cNvSpPr/>
          <p:nvPr/>
        </p:nvSpPr>
        <p:spPr>
          <a:xfrm>
            <a:off x="7439558" y="4361688"/>
            <a:ext cx="1766621"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Providing for future evaluation</a:t>
            </a:r>
            <a:endParaRPr lang="en-US" sz="1200" dirty="0"/>
          </a:p>
        </p:txBody>
      </p:sp>
      <p:sp>
        <p:nvSpPr>
          <p:cNvPr id="48" name="Text 3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8.2. MAJOR STEPS IN PLANNING</a:t>
            </a:r>
            <a:endParaRPr lang="en-US" sz="1100" dirty="0"/>
          </a:p>
        </p:txBody>
      </p:sp>
      <p:sp>
        <p:nvSpPr>
          <p:cNvPr id="49" name="Text 3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8.2. MAJOR STEPS IN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Identify, Collect &amp; Establish Objectives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Identification of the Problem or Opportunity</a:t>
            </a:r>
            <a:endParaRPr lang="en-US" sz="1350" dirty="0"/>
          </a:p>
        </p:txBody>
      </p:sp>
      <p:sp>
        <p:nvSpPr>
          <p:cNvPr id="9" name="Text 6"/>
          <p:cNvSpPr/>
          <p:nvPr/>
        </p:nvSpPr>
        <p:spPr>
          <a:xfrm>
            <a:off x="694944"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External environment imposes constraints (legal, social, financial, technological, demand) but also offers opportunities. E.g., a new tax may be an opportunity to start a new product line; rising oil prices, an opportunity to explore new energy sources; more women taking outdoor jobs, a signal to close sewing-machine production.</a:t>
            </a:r>
            <a:endParaRPr lang="en-US" sz="108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Collection &amp; Analysis of Relevant Information</a:t>
            </a:r>
            <a:endParaRPr lang="en-US" sz="1350" dirty="0"/>
          </a:p>
        </p:txBody>
      </p:sp>
      <p:sp>
        <p:nvSpPr>
          <p:cNvPr id="15" name="Text 11"/>
          <p:cNvSpPr/>
          <p:nvPr/>
        </p:nvSpPr>
        <p:spPr>
          <a:xfrm>
            <a:off x="4425696"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Depends on quality, relevance and validity of data. Sources: external (customers, professionals, media) and internal (salespersons, staff reports). Methods: informal monitoring, formal scanning, or a dedicated department/official. Analysis uses trend projections, regression analysis, substitution effect, etc.</a:t>
            </a:r>
            <a:endParaRPr lang="en-US" sz="108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Establishment of Objectives</a:t>
            </a:r>
            <a:endParaRPr lang="en-US" sz="1350" dirty="0"/>
          </a:p>
        </p:txBody>
      </p:sp>
      <p:sp>
        <p:nvSpPr>
          <p:cNvPr id="21" name="Text 16"/>
          <p:cNvSpPr/>
          <p:nvPr/>
        </p:nvSpPr>
        <p:spPr>
          <a:xfrm>
            <a:off x="8156448"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Objectives must be set wherever performance/results impact survival and growth — stability, growth, stakeholder returns, market leadership, job creation, quality research. They must be split into specific, short-term, measurable objectives for each department.</a:t>
            </a:r>
            <a:endParaRPr lang="en-US" sz="108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8.2. MAJOR STEPS IN PLANNING</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8.2. MAJOR STEPS IN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Premises, Examining &amp; Weighing Alternatives</a:t>
            </a:r>
            <a:endParaRPr lang="en-US" sz="2700" dirty="0"/>
          </a:p>
        </p:txBody>
      </p:sp>
      <p:sp>
        <p:nvSpPr>
          <p:cNvPr id="4" name="Text 2"/>
          <p:cNvSpPr/>
          <p:nvPr/>
        </p:nvSpPr>
        <p:spPr>
          <a:xfrm>
            <a:off x="548640" y="1645920"/>
            <a:ext cx="11064240" cy="4480560"/>
          </a:xfrm>
          <a:prstGeom prst="rect">
            <a:avLst/>
          </a:prstGeom>
          <a:noFill/>
          <a:ln/>
        </p:spPr>
        <p:txBody>
          <a:bodyPr wrap="square" rtlCol="0" anchor="t"/>
          <a:lstStyle/>
          <a:p>
            <a:pPr indent="0" marL="0">
              <a:lnSpc>
                <a:spcPct val="108000"/>
              </a:lnSpc>
              <a:spcAft>
                <a:spcPts val="400"/>
              </a:spcAft>
              <a:buNone/>
            </a:pPr>
            <a:r>
              <a:rPr lang="en-US" sz="1320" b="1" dirty="0">
                <a:solidFill>
                  <a:srgbClr val="2B2B33"/>
                </a:solidFill>
                <a:latin typeface="Calibri" pitchFamily="34" charset="0"/>
                <a:ea typeface="Calibri" pitchFamily="34" charset="-122"/>
                <a:cs typeface="Calibri" pitchFamily="34" charset="-120"/>
              </a:rPr>
              <a:t>(4) Determination of Planning Premises</a:t>
            </a:r>
            <a:endParaRPr lang="en-US" sz="1320" dirty="0"/>
          </a:p>
          <a:p>
            <a:pPr indent="0" marL="0">
              <a:lnSpc>
                <a:spcPct val="108000"/>
              </a:lnSpc>
              <a:spcAft>
                <a:spcPts val="1000"/>
              </a:spcAft>
              <a:buNone/>
            </a:pPr>
            <a:r>
              <a:rPr lang="en-US" sz="1320" dirty="0">
                <a:solidFill>
                  <a:srgbClr val="2B2B33"/>
                </a:solidFill>
                <a:latin typeface="Calibri" pitchFamily="34" charset="0"/>
                <a:ea typeface="Calibri" pitchFamily="34" charset="-122"/>
                <a:cs typeface="Calibri" pitchFamily="34" charset="-120"/>
              </a:rPr>
              <a:t>Planning must assume: (a) behavior of market forces &amp; disposable income; (b) kinds/cost/price of goods; (c) expected sales volume; (d) competitors' plans; (e) change in production technology; (f) government policy; (g) change in economic conditions affecting material, capital &amp; manpower.</a:t>
            </a:r>
            <a:endParaRPr lang="en-US" sz="1320" dirty="0"/>
          </a:p>
          <a:p>
            <a:pPr indent="0" marL="0">
              <a:lnSpc>
                <a:spcPct val="108000"/>
              </a:lnSpc>
              <a:spcAft>
                <a:spcPts val="400"/>
              </a:spcAft>
              <a:buNone/>
            </a:pPr>
            <a:r>
              <a:rPr lang="en-US" sz="1320" b="1" dirty="0">
                <a:solidFill>
                  <a:srgbClr val="2B2B33"/>
                </a:solidFill>
                <a:latin typeface="Calibri" pitchFamily="34" charset="0"/>
                <a:ea typeface="Calibri" pitchFamily="34" charset="-122"/>
                <a:cs typeface="Calibri" pitchFamily="34" charset="-120"/>
              </a:rPr>
              <a:t>(5) Examining Alternative Courses of Action</a:t>
            </a:r>
            <a:endParaRPr lang="en-US" sz="1320" dirty="0"/>
          </a:p>
          <a:p>
            <a:pPr indent="0" marL="0">
              <a:lnSpc>
                <a:spcPct val="108000"/>
              </a:lnSpc>
              <a:spcAft>
                <a:spcPts val="1000"/>
              </a:spcAft>
              <a:buNone/>
            </a:pPr>
            <a:r>
              <a:rPr lang="en-US" sz="1320" dirty="0">
                <a:solidFill>
                  <a:srgbClr val="2B2B33"/>
                </a:solidFill>
                <a:latin typeface="Calibri" pitchFamily="34" charset="0"/>
                <a:ea typeface="Calibri" pitchFamily="34" charset="-122"/>
                <a:cs typeface="Calibri" pitchFamily="34" charset="-120"/>
              </a:rPr>
              <a:t>Often more than one action-plan can achieve an objective — e.g., to maximize profits: intensify sales in existing markets, test new markets, raise prices, or diversify. The number of alternatives a manager identifies depends on imagination, skill and experience.</a:t>
            </a:r>
            <a:endParaRPr lang="en-US" sz="1320" dirty="0"/>
          </a:p>
          <a:p>
            <a:pPr indent="0" marL="0">
              <a:lnSpc>
                <a:spcPct val="108000"/>
              </a:lnSpc>
              <a:spcAft>
                <a:spcPts val="400"/>
              </a:spcAft>
              <a:buNone/>
            </a:pPr>
            <a:r>
              <a:rPr lang="en-US" sz="1320" b="1" dirty="0">
                <a:solidFill>
                  <a:srgbClr val="2B2B33"/>
                </a:solidFill>
                <a:latin typeface="Calibri" pitchFamily="34" charset="0"/>
                <a:ea typeface="Calibri" pitchFamily="34" charset="-122"/>
                <a:cs typeface="Calibri" pitchFamily="34" charset="-120"/>
              </a:rPr>
              <a:t>(6) Weighing Alternative Courses of Action</a:t>
            </a:r>
            <a:endParaRPr lang="en-US" sz="1320" dirty="0"/>
          </a:p>
          <a:p>
            <a:pPr indent="0" marL="0">
              <a:lnSpc>
                <a:spcPct val="108000"/>
              </a:lnSpc>
              <a:buNone/>
            </a:pPr>
            <a:r>
              <a:rPr lang="en-US" sz="1320" dirty="0">
                <a:solidFill>
                  <a:srgbClr val="2B2B33"/>
                </a:solidFill>
                <a:latin typeface="Calibri" pitchFamily="34" charset="0"/>
                <a:ea typeface="Calibri" pitchFamily="34" charset="-122"/>
                <a:cs typeface="Calibri" pitchFamily="34" charset="-120"/>
              </a:rPr>
              <a:t>Each alternative is evaluated on: (a) effectiveness in achieving the result; (b) ability to face environmental change; and (c) integration with other on-going plans — while checking whether existing resources suffice or more are needed.</a:t>
            </a:r>
            <a:endParaRPr lang="en-US" sz="1320" dirty="0"/>
          </a:p>
        </p:txBody>
      </p:sp>
      <p:sp>
        <p:nvSpPr>
          <p:cNvPr id="5" name="Text 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8.2 MAJOR STEPS IN PLANNING</a:t>
            </a:r>
            <a:endParaRPr lang="en-US" sz="1100" dirty="0"/>
          </a:p>
        </p:txBody>
      </p:sp>
      <p:sp>
        <p:nvSpPr>
          <p:cNvPr id="6"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8.2. MAJOR STEPS IN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400" b="1" dirty="0">
                <a:solidFill>
                  <a:srgbClr val="1E2761"/>
                </a:solidFill>
                <a:latin typeface="Cambria" pitchFamily="34" charset="0"/>
                <a:ea typeface="Cambria" pitchFamily="34" charset="-122"/>
                <a:cs typeface="Cambria" pitchFamily="34" charset="-120"/>
              </a:rPr>
              <a:t>(7) Selecting the Ideal Action-Plan — Full Flowchart</a:t>
            </a:r>
            <a:endParaRPr lang="en-US" sz="2400" dirty="0"/>
          </a:p>
        </p:txBody>
      </p:sp>
      <p:sp>
        <p:nvSpPr>
          <p:cNvPr id="4" name="Shape 2"/>
          <p:cNvSpPr/>
          <p:nvPr/>
        </p:nvSpPr>
        <p:spPr>
          <a:xfrm>
            <a:off x="2331720" y="1417320"/>
            <a:ext cx="4754880" cy="347472"/>
          </a:xfrm>
          <a:prstGeom prst="roundRect">
            <a:avLst>
              <a:gd name="adj" fmla="val 13158"/>
            </a:avLst>
          </a:prstGeom>
          <a:solidFill>
            <a:srgbClr val="1E2761"/>
          </a:solidFill>
          <a:ln/>
        </p:spPr>
      </p:sp>
      <p:sp>
        <p:nvSpPr>
          <p:cNvPr id="5" name="Text 3"/>
          <p:cNvSpPr/>
          <p:nvPr/>
        </p:nvSpPr>
        <p:spPr>
          <a:xfrm>
            <a:off x="2423160" y="1417320"/>
            <a:ext cx="4572000" cy="347472"/>
          </a:xfrm>
          <a:prstGeom prst="rect">
            <a:avLst/>
          </a:prstGeom>
          <a:noFill/>
          <a:ln/>
        </p:spPr>
        <p:txBody>
          <a:bodyPr wrap="square" rtlCol="0" anchor="ctr"/>
          <a:lstStyle/>
          <a:p>
            <a:pPr algn="ctr" indent="0" marL="0">
              <a:buNone/>
            </a:pPr>
            <a:r>
              <a:rPr lang="en-US" sz="970" b="1" dirty="0">
                <a:solidFill>
                  <a:srgbClr val="FFFFFF"/>
                </a:solidFill>
                <a:latin typeface="Calibri" pitchFamily="34" charset="0"/>
                <a:ea typeface="Calibri" pitchFamily="34" charset="-122"/>
                <a:cs typeface="Calibri" pitchFamily="34" charset="-120"/>
              </a:rPr>
              <a:t>Awareness of business opportunity or problem</a:t>
            </a:r>
            <a:endParaRPr lang="en-US" sz="970" dirty="0"/>
          </a:p>
        </p:txBody>
      </p:sp>
      <p:sp>
        <p:nvSpPr>
          <p:cNvPr id="6" name="Text 4"/>
          <p:cNvSpPr/>
          <p:nvPr/>
        </p:nvSpPr>
        <p:spPr>
          <a:xfrm>
            <a:off x="457200" y="1417320"/>
            <a:ext cx="1783080" cy="347472"/>
          </a:xfrm>
          <a:prstGeom prst="rect">
            <a:avLst/>
          </a:prstGeom>
          <a:noFill/>
          <a:ln/>
        </p:spPr>
        <p:txBody>
          <a:bodyPr wrap="square" rtlCol="0" anchor="ctr"/>
          <a:lstStyle/>
          <a:p>
            <a:pPr algn="r" indent="0" marL="0">
              <a:buNone/>
            </a:pPr>
            <a:r>
              <a:rPr lang="en-US" sz="800" i="1" dirty="0">
                <a:solidFill>
                  <a:srgbClr val="6B7280"/>
                </a:solidFill>
                <a:latin typeface="Calibri" pitchFamily="34" charset="0"/>
                <a:ea typeface="Calibri" pitchFamily="34" charset="-122"/>
                <a:cs typeface="Calibri" pitchFamily="34" charset="-120"/>
              </a:rPr>
              <a:t>Alert observation, Quick perception</a:t>
            </a:r>
            <a:endParaRPr lang="en-US" sz="800" dirty="0"/>
          </a:p>
        </p:txBody>
      </p:sp>
      <p:sp>
        <p:nvSpPr>
          <p:cNvPr id="7" name="Text 5"/>
          <p:cNvSpPr/>
          <p:nvPr/>
        </p:nvSpPr>
        <p:spPr>
          <a:xfrm>
            <a:off x="7178040" y="1417320"/>
            <a:ext cx="1920240" cy="347472"/>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Correct identification, Accurate diagnosis</a:t>
            </a:r>
            <a:endParaRPr lang="en-US" sz="800" dirty="0"/>
          </a:p>
        </p:txBody>
      </p:sp>
      <p:sp>
        <p:nvSpPr>
          <p:cNvPr id="8" name="Shape 6"/>
          <p:cNvSpPr/>
          <p:nvPr/>
        </p:nvSpPr>
        <p:spPr>
          <a:xfrm>
            <a:off x="4709160" y="1764792"/>
            <a:ext cx="0" cy="64008"/>
          </a:xfrm>
          <a:prstGeom prst="line">
            <a:avLst/>
          </a:prstGeom>
          <a:noFill/>
          <a:ln w="19050">
            <a:solidFill>
              <a:srgbClr val="1E2761"/>
            </a:solidFill>
            <a:prstDash val="solid"/>
          </a:ln>
        </p:spPr>
      </p:sp>
      <p:sp>
        <p:nvSpPr>
          <p:cNvPr id="9" name="Shape 7"/>
          <p:cNvSpPr/>
          <p:nvPr/>
        </p:nvSpPr>
        <p:spPr>
          <a:xfrm>
            <a:off x="2331720" y="1828800"/>
            <a:ext cx="4754880" cy="347472"/>
          </a:xfrm>
          <a:prstGeom prst="roundRect">
            <a:avLst>
              <a:gd name="adj" fmla="val 13158"/>
            </a:avLst>
          </a:prstGeom>
          <a:solidFill>
            <a:srgbClr val="1E2761"/>
          </a:solidFill>
          <a:ln/>
        </p:spPr>
      </p:sp>
      <p:sp>
        <p:nvSpPr>
          <p:cNvPr id="10" name="Text 8"/>
          <p:cNvSpPr/>
          <p:nvPr/>
        </p:nvSpPr>
        <p:spPr>
          <a:xfrm>
            <a:off x="2423160" y="1828800"/>
            <a:ext cx="4572000" cy="347472"/>
          </a:xfrm>
          <a:prstGeom prst="rect">
            <a:avLst/>
          </a:prstGeom>
          <a:noFill/>
          <a:ln/>
        </p:spPr>
        <p:txBody>
          <a:bodyPr wrap="square" rtlCol="0" anchor="ctr"/>
          <a:lstStyle/>
          <a:p>
            <a:pPr algn="ctr" indent="0" marL="0">
              <a:buNone/>
            </a:pPr>
            <a:r>
              <a:rPr lang="en-US" sz="970" b="1" dirty="0">
                <a:solidFill>
                  <a:srgbClr val="FFFFFF"/>
                </a:solidFill>
                <a:latin typeface="Calibri" pitchFamily="34" charset="0"/>
                <a:ea typeface="Calibri" pitchFamily="34" charset="-122"/>
                <a:cs typeface="Calibri" pitchFamily="34" charset="-120"/>
              </a:rPr>
              <a:t>Collection of relevant information</a:t>
            </a:r>
            <a:endParaRPr lang="en-US" sz="970" dirty="0"/>
          </a:p>
        </p:txBody>
      </p:sp>
      <p:sp>
        <p:nvSpPr>
          <p:cNvPr id="11" name="Text 9"/>
          <p:cNvSpPr/>
          <p:nvPr/>
        </p:nvSpPr>
        <p:spPr>
          <a:xfrm>
            <a:off x="457200" y="1828800"/>
            <a:ext cx="1783080" cy="347472"/>
          </a:xfrm>
          <a:prstGeom prst="rect">
            <a:avLst/>
          </a:prstGeom>
          <a:noFill/>
          <a:ln/>
        </p:spPr>
        <p:txBody>
          <a:bodyPr wrap="square" rtlCol="0" anchor="ctr"/>
          <a:lstStyle/>
          <a:p>
            <a:pPr algn="r" indent="0" marL="0">
              <a:buNone/>
            </a:pPr>
            <a:r>
              <a:rPr lang="en-US" sz="800" i="1" dirty="0">
                <a:solidFill>
                  <a:srgbClr val="6B7280"/>
                </a:solidFill>
                <a:latin typeface="Calibri" pitchFamily="34" charset="0"/>
                <a:ea typeface="Calibri" pitchFamily="34" charset="-122"/>
                <a:cs typeface="Calibri" pitchFamily="34" charset="-120"/>
              </a:rPr>
              <a:t>Internal sources</a:t>
            </a:r>
            <a:endParaRPr lang="en-US" sz="800" dirty="0"/>
          </a:p>
        </p:txBody>
      </p:sp>
      <p:sp>
        <p:nvSpPr>
          <p:cNvPr id="12" name="Text 10"/>
          <p:cNvSpPr/>
          <p:nvPr/>
        </p:nvSpPr>
        <p:spPr>
          <a:xfrm>
            <a:off x="7178040" y="1828800"/>
            <a:ext cx="1920240" cy="347472"/>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External sources</a:t>
            </a:r>
            <a:endParaRPr lang="en-US" sz="800" dirty="0"/>
          </a:p>
        </p:txBody>
      </p:sp>
      <p:sp>
        <p:nvSpPr>
          <p:cNvPr id="13" name="Shape 11"/>
          <p:cNvSpPr/>
          <p:nvPr/>
        </p:nvSpPr>
        <p:spPr>
          <a:xfrm>
            <a:off x="4709160" y="2176272"/>
            <a:ext cx="0" cy="64008"/>
          </a:xfrm>
          <a:prstGeom prst="line">
            <a:avLst/>
          </a:prstGeom>
          <a:noFill/>
          <a:ln w="19050">
            <a:solidFill>
              <a:srgbClr val="1E2761"/>
            </a:solidFill>
            <a:prstDash val="solid"/>
          </a:ln>
        </p:spPr>
      </p:sp>
      <p:sp>
        <p:nvSpPr>
          <p:cNvPr id="14" name="Shape 12"/>
          <p:cNvSpPr/>
          <p:nvPr/>
        </p:nvSpPr>
        <p:spPr>
          <a:xfrm>
            <a:off x="2331720" y="2240280"/>
            <a:ext cx="4754880" cy="347472"/>
          </a:xfrm>
          <a:prstGeom prst="roundRect">
            <a:avLst>
              <a:gd name="adj" fmla="val 13158"/>
            </a:avLst>
          </a:prstGeom>
          <a:solidFill>
            <a:srgbClr val="1E2761"/>
          </a:solidFill>
          <a:ln/>
        </p:spPr>
      </p:sp>
      <p:sp>
        <p:nvSpPr>
          <p:cNvPr id="15" name="Text 13"/>
          <p:cNvSpPr/>
          <p:nvPr/>
        </p:nvSpPr>
        <p:spPr>
          <a:xfrm>
            <a:off x="2423160" y="2240280"/>
            <a:ext cx="4572000" cy="347472"/>
          </a:xfrm>
          <a:prstGeom prst="rect">
            <a:avLst/>
          </a:prstGeom>
          <a:noFill/>
          <a:ln/>
        </p:spPr>
        <p:txBody>
          <a:bodyPr wrap="square" rtlCol="0" anchor="ctr"/>
          <a:lstStyle/>
          <a:p>
            <a:pPr algn="ctr" indent="0" marL="0">
              <a:buNone/>
            </a:pPr>
            <a:r>
              <a:rPr lang="en-US" sz="970" b="1" dirty="0">
                <a:solidFill>
                  <a:srgbClr val="FFFFFF"/>
                </a:solidFill>
                <a:latin typeface="Calibri" pitchFamily="34" charset="0"/>
                <a:ea typeface="Calibri" pitchFamily="34" charset="-122"/>
                <a:cs typeface="Calibri" pitchFamily="34" charset="-120"/>
              </a:rPr>
              <a:t>Analysis of information</a:t>
            </a:r>
            <a:endParaRPr lang="en-US" sz="970" dirty="0"/>
          </a:p>
        </p:txBody>
      </p:sp>
      <p:sp>
        <p:nvSpPr>
          <p:cNvPr id="16" name="Text 14"/>
          <p:cNvSpPr/>
          <p:nvPr/>
        </p:nvSpPr>
        <p:spPr>
          <a:xfrm>
            <a:off x="457200" y="2240280"/>
            <a:ext cx="1783080" cy="347472"/>
          </a:xfrm>
          <a:prstGeom prst="rect">
            <a:avLst/>
          </a:prstGeom>
          <a:noFill/>
          <a:ln/>
        </p:spPr>
        <p:txBody>
          <a:bodyPr wrap="square" rtlCol="0" anchor="ctr"/>
          <a:lstStyle/>
          <a:p>
            <a:pPr algn="r" indent="0" marL="0">
              <a:buNone/>
            </a:pPr>
            <a:r>
              <a:rPr lang="en-US" sz="800" i="1" dirty="0">
                <a:solidFill>
                  <a:srgbClr val="6B7280"/>
                </a:solidFill>
                <a:latin typeface="Calibri" pitchFamily="34" charset="0"/>
                <a:ea typeface="Calibri" pitchFamily="34" charset="-122"/>
                <a:cs typeface="Calibri" pitchFamily="34" charset="-120"/>
              </a:rPr>
              <a:t>Cause-effect relationship</a:t>
            </a:r>
            <a:endParaRPr lang="en-US" sz="800" dirty="0"/>
          </a:p>
        </p:txBody>
      </p:sp>
      <p:sp>
        <p:nvSpPr>
          <p:cNvPr id="17" name="Text 15"/>
          <p:cNvSpPr/>
          <p:nvPr/>
        </p:nvSpPr>
        <p:spPr>
          <a:xfrm>
            <a:off x="7178040" y="2240280"/>
            <a:ext cx="1920240" cy="347472"/>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Other objective tests</a:t>
            </a:r>
            <a:endParaRPr lang="en-US" sz="800" dirty="0"/>
          </a:p>
        </p:txBody>
      </p:sp>
      <p:sp>
        <p:nvSpPr>
          <p:cNvPr id="18" name="Shape 16"/>
          <p:cNvSpPr/>
          <p:nvPr/>
        </p:nvSpPr>
        <p:spPr>
          <a:xfrm>
            <a:off x="4709160" y="2587752"/>
            <a:ext cx="0" cy="64008"/>
          </a:xfrm>
          <a:prstGeom prst="line">
            <a:avLst/>
          </a:prstGeom>
          <a:noFill/>
          <a:ln w="19050">
            <a:solidFill>
              <a:srgbClr val="1E2761"/>
            </a:solidFill>
            <a:prstDash val="solid"/>
          </a:ln>
        </p:spPr>
      </p:sp>
      <p:sp>
        <p:nvSpPr>
          <p:cNvPr id="19" name="Shape 17"/>
          <p:cNvSpPr/>
          <p:nvPr/>
        </p:nvSpPr>
        <p:spPr>
          <a:xfrm>
            <a:off x="2331720" y="2651760"/>
            <a:ext cx="4754880" cy="347472"/>
          </a:xfrm>
          <a:prstGeom prst="roundRect">
            <a:avLst>
              <a:gd name="adj" fmla="val 13158"/>
            </a:avLst>
          </a:prstGeom>
          <a:solidFill>
            <a:srgbClr val="1E2761"/>
          </a:solidFill>
          <a:ln/>
        </p:spPr>
      </p:sp>
      <p:sp>
        <p:nvSpPr>
          <p:cNvPr id="20" name="Text 18"/>
          <p:cNvSpPr/>
          <p:nvPr/>
        </p:nvSpPr>
        <p:spPr>
          <a:xfrm>
            <a:off x="2423160" y="2651760"/>
            <a:ext cx="4572000" cy="347472"/>
          </a:xfrm>
          <a:prstGeom prst="rect">
            <a:avLst/>
          </a:prstGeom>
          <a:noFill/>
          <a:ln/>
        </p:spPr>
        <p:txBody>
          <a:bodyPr wrap="square" rtlCol="0" anchor="ctr"/>
          <a:lstStyle/>
          <a:p>
            <a:pPr algn="ctr" indent="0" marL="0">
              <a:buNone/>
            </a:pPr>
            <a:r>
              <a:rPr lang="en-US" sz="970" b="1" dirty="0">
                <a:solidFill>
                  <a:srgbClr val="FFFFFF"/>
                </a:solidFill>
                <a:latin typeface="Calibri" pitchFamily="34" charset="0"/>
                <a:ea typeface="Calibri" pitchFamily="34" charset="-122"/>
                <a:cs typeface="Calibri" pitchFamily="34" charset="-120"/>
              </a:rPr>
              <a:t>Setting the objective — what is to be done</a:t>
            </a:r>
            <a:endParaRPr lang="en-US" sz="970" dirty="0"/>
          </a:p>
        </p:txBody>
      </p:sp>
      <p:sp>
        <p:nvSpPr>
          <p:cNvPr id="21" name="Text 19"/>
          <p:cNvSpPr/>
          <p:nvPr/>
        </p:nvSpPr>
        <p:spPr>
          <a:xfrm>
            <a:off x="457200" y="2651760"/>
            <a:ext cx="1783080" cy="347472"/>
          </a:xfrm>
          <a:prstGeom prst="rect">
            <a:avLst/>
          </a:prstGeom>
          <a:noFill/>
          <a:ln/>
        </p:spPr>
        <p:txBody>
          <a:bodyPr wrap="square" rtlCol="0" anchor="ctr"/>
          <a:lstStyle/>
          <a:p>
            <a:pPr algn="r" indent="0" marL="0">
              <a:buNone/>
            </a:pPr>
            <a:r>
              <a:rPr lang="en-US" sz="800" i="1" dirty="0">
                <a:solidFill>
                  <a:srgbClr val="6B7280"/>
                </a:solidFill>
                <a:latin typeface="Calibri" pitchFamily="34" charset="0"/>
                <a:ea typeface="Calibri" pitchFamily="34" charset="-122"/>
                <a:cs typeface="Calibri" pitchFamily="34" charset="-120"/>
              </a:rPr>
              <a:t>Past experience</a:t>
            </a:r>
            <a:endParaRPr lang="en-US" sz="800" dirty="0"/>
          </a:p>
        </p:txBody>
      </p:sp>
      <p:sp>
        <p:nvSpPr>
          <p:cNvPr id="22" name="Text 20"/>
          <p:cNvSpPr/>
          <p:nvPr/>
        </p:nvSpPr>
        <p:spPr>
          <a:xfrm>
            <a:off x="7178040" y="2651760"/>
            <a:ext cx="1920240" cy="347472"/>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New ideas</a:t>
            </a:r>
            <a:endParaRPr lang="en-US" sz="800" dirty="0"/>
          </a:p>
        </p:txBody>
      </p:sp>
      <p:sp>
        <p:nvSpPr>
          <p:cNvPr id="23" name="Shape 21"/>
          <p:cNvSpPr/>
          <p:nvPr/>
        </p:nvSpPr>
        <p:spPr>
          <a:xfrm>
            <a:off x="4709160" y="2999232"/>
            <a:ext cx="0" cy="64008"/>
          </a:xfrm>
          <a:prstGeom prst="line">
            <a:avLst/>
          </a:prstGeom>
          <a:noFill/>
          <a:ln w="19050">
            <a:solidFill>
              <a:srgbClr val="1E2761"/>
            </a:solidFill>
            <a:prstDash val="solid"/>
          </a:ln>
        </p:spPr>
      </p:sp>
      <p:sp>
        <p:nvSpPr>
          <p:cNvPr id="24" name="Shape 22"/>
          <p:cNvSpPr/>
          <p:nvPr/>
        </p:nvSpPr>
        <p:spPr>
          <a:xfrm>
            <a:off x="2331720" y="3063240"/>
            <a:ext cx="4754880" cy="347472"/>
          </a:xfrm>
          <a:prstGeom prst="roundRect">
            <a:avLst>
              <a:gd name="adj" fmla="val 13158"/>
            </a:avLst>
          </a:prstGeom>
          <a:solidFill>
            <a:srgbClr val="1E2761"/>
          </a:solidFill>
          <a:ln/>
        </p:spPr>
      </p:sp>
      <p:sp>
        <p:nvSpPr>
          <p:cNvPr id="25" name="Text 23"/>
          <p:cNvSpPr/>
          <p:nvPr/>
        </p:nvSpPr>
        <p:spPr>
          <a:xfrm>
            <a:off x="2423160" y="3063240"/>
            <a:ext cx="4572000" cy="347472"/>
          </a:xfrm>
          <a:prstGeom prst="rect">
            <a:avLst/>
          </a:prstGeom>
          <a:noFill/>
          <a:ln/>
        </p:spPr>
        <p:txBody>
          <a:bodyPr wrap="square" rtlCol="0" anchor="ctr"/>
          <a:lstStyle/>
          <a:p>
            <a:pPr algn="ctr" indent="0" marL="0">
              <a:buNone/>
            </a:pPr>
            <a:r>
              <a:rPr lang="en-US" sz="970" b="1" dirty="0">
                <a:solidFill>
                  <a:srgbClr val="FFFFFF"/>
                </a:solidFill>
                <a:latin typeface="Calibri" pitchFamily="34" charset="0"/>
                <a:ea typeface="Calibri" pitchFamily="34" charset="-122"/>
                <a:cs typeface="Calibri" pitchFamily="34" charset="-120"/>
              </a:rPr>
              <a:t>Determining limitations or premises</a:t>
            </a:r>
            <a:endParaRPr lang="en-US" sz="970" dirty="0"/>
          </a:p>
        </p:txBody>
      </p:sp>
      <p:sp>
        <p:nvSpPr>
          <p:cNvPr id="26" name="Text 24"/>
          <p:cNvSpPr/>
          <p:nvPr/>
        </p:nvSpPr>
        <p:spPr>
          <a:xfrm>
            <a:off x="457200" y="3063240"/>
            <a:ext cx="1783080" cy="347472"/>
          </a:xfrm>
          <a:prstGeom prst="rect">
            <a:avLst/>
          </a:prstGeom>
          <a:noFill/>
          <a:ln/>
        </p:spPr>
        <p:txBody>
          <a:bodyPr wrap="square" rtlCol="0" anchor="ctr"/>
          <a:lstStyle/>
          <a:p>
            <a:pPr algn="r" indent="0" marL="0">
              <a:buNone/>
            </a:pPr>
            <a:r>
              <a:rPr lang="en-US" sz="800" i="1" dirty="0">
                <a:solidFill>
                  <a:srgbClr val="6B7280"/>
                </a:solidFill>
                <a:latin typeface="Calibri" pitchFamily="34" charset="0"/>
                <a:ea typeface="Calibri" pitchFamily="34" charset="-122"/>
                <a:cs typeface="Calibri" pitchFamily="34" charset="-120"/>
              </a:rPr>
              <a:t>Internal limitations</a:t>
            </a:r>
            <a:endParaRPr lang="en-US" sz="800" dirty="0"/>
          </a:p>
        </p:txBody>
      </p:sp>
      <p:sp>
        <p:nvSpPr>
          <p:cNvPr id="27" name="Text 25"/>
          <p:cNvSpPr/>
          <p:nvPr/>
        </p:nvSpPr>
        <p:spPr>
          <a:xfrm>
            <a:off x="7178040" y="3063240"/>
            <a:ext cx="1920240" cy="347472"/>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External limitations</a:t>
            </a:r>
            <a:endParaRPr lang="en-US" sz="800" dirty="0"/>
          </a:p>
        </p:txBody>
      </p:sp>
      <p:sp>
        <p:nvSpPr>
          <p:cNvPr id="28" name="Shape 26"/>
          <p:cNvSpPr/>
          <p:nvPr/>
        </p:nvSpPr>
        <p:spPr>
          <a:xfrm>
            <a:off x="4709160" y="3410712"/>
            <a:ext cx="0" cy="64008"/>
          </a:xfrm>
          <a:prstGeom prst="line">
            <a:avLst/>
          </a:prstGeom>
          <a:noFill/>
          <a:ln w="19050">
            <a:solidFill>
              <a:srgbClr val="1E2761"/>
            </a:solidFill>
            <a:prstDash val="solid"/>
          </a:ln>
        </p:spPr>
      </p:sp>
      <p:sp>
        <p:nvSpPr>
          <p:cNvPr id="29" name="Shape 27"/>
          <p:cNvSpPr/>
          <p:nvPr/>
        </p:nvSpPr>
        <p:spPr>
          <a:xfrm>
            <a:off x="2331720" y="3474720"/>
            <a:ext cx="4754880" cy="347472"/>
          </a:xfrm>
          <a:prstGeom prst="roundRect">
            <a:avLst>
              <a:gd name="adj" fmla="val 13158"/>
            </a:avLst>
          </a:prstGeom>
          <a:solidFill>
            <a:srgbClr val="1E2761"/>
          </a:solidFill>
          <a:ln/>
        </p:spPr>
      </p:sp>
      <p:sp>
        <p:nvSpPr>
          <p:cNvPr id="30" name="Text 28"/>
          <p:cNvSpPr/>
          <p:nvPr/>
        </p:nvSpPr>
        <p:spPr>
          <a:xfrm>
            <a:off x="2423160" y="3474720"/>
            <a:ext cx="4572000" cy="347472"/>
          </a:xfrm>
          <a:prstGeom prst="rect">
            <a:avLst/>
          </a:prstGeom>
          <a:noFill/>
          <a:ln/>
        </p:spPr>
        <p:txBody>
          <a:bodyPr wrap="square" rtlCol="0" anchor="ctr"/>
          <a:lstStyle/>
          <a:p>
            <a:pPr algn="ctr" indent="0" marL="0">
              <a:buNone/>
            </a:pPr>
            <a:r>
              <a:rPr lang="en-US" sz="970" b="1" dirty="0">
                <a:solidFill>
                  <a:srgbClr val="FFFFFF"/>
                </a:solidFill>
                <a:latin typeface="Calibri" pitchFamily="34" charset="0"/>
                <a:ea typeface="Calibri" pitchFamily="34" charset="-122"/>
                <a:cs typeface="Calibri" pitchFamily="34" charset="-120"/>
              </a:rPr>
              <a:t>Examining alternative courses of action</a:t>
            </a:r>
            <a:endParaRPr lang="en-US" sz="970" dirty="0"/>
          </a:p>
        </p:txBody>
      </p:sp>
      <p:sp>
        <p:nvSpPr>
          <p:cNvPr id="31" name="Text 29"/>
          <p:cNvSpPr/>
          <p:nvPr/>
        </p:nvSpPr>
        <p:spPr>
          <a:xfrm>
            <a:off x="457200" y="3474720"/>
            <a:ext cx="1783080" cy="347472"/>
          </a:xfrm>
          <a:prstGeom prst="rect">
            <a:avLst/>
          </a:prstGeom>
          <a:noFill/>
          <a:ln/>
        </p:spPr>
        <p:txBody>
          <a:bodyPr wrap="square" rtlCol="0" anchor="ctr"/>
          <a:lstStyle/>
          <a:p>
            <a:pPr algn="r" indent="0" marL="0">
              <a:buNone/>
            </a:pPr>
            <a:r>
              <a:rPr lang="en-US" sz="800" i="1" dirty="0">
                <a:solidFill>
                  <a:srgbClr val="6B7280"/>
                </a:solidFill>
                <a:latin typeface="Calibri" pitchFamily="34" charset="0"/>
                <a:ea typeface="Calibri" pitchFamily="34" charset="-122"/>
                <a:cs typeface="Calibri" pitchFamily="34" charset="-120"/>
              </a:rPr>
              <a:t>Experience, skill, imagination</a:t>
            </a:r>
            <a:endParaRPr lang="en-US" sz="800" dirty="0"/>
          </a:p>
        </p:txBody>
      </p:sp>
      <p:sp>
        <p:nvSpPr>
          <p:cNvPr id="32" name="Shape 30"/>
          <p:cNvSpPr/>
          <p:nvPr/>
        </p:nvSpPr>
        <p:spPr>
          <a:xfrm>
            <a:off x="4709160" y="3822192"/>
            <a:ext cx="0" cy="64008"/>
          </a:xfrm>
          <a:prstGeom prst="line">
            <a:avLst/>
          </a:prstGeom>
          <a:noFill/>
          <a:ln w="19050">
            <a:solidFill>
              <a:srgbClr val="1E2761"/>
            </a:solidFill>
            <a:prstDash val="solid"/>
          </a:ln>
        </p:spPr>
      </p:sp>
      <p:sp>
        <p:nvSpPr>
          <p:cNvPr id="33" name="Shape 31"/>
          <p:cNvSpPr/>
          <p:nvPr/>
        </p:nvSpPr>
        <p:spPr>
          <a:xfrm>
            <a:off x="2331720" y="3886200"/>
            <a:ext cx="4754880" cy="347472"/>
          </a:xfrm>
          <a:prstGeom prst="roundRect">
            <a:avLst>
              <a:gd name="adj" fmla="val 13158"/>
            </a:avLst>
          </a:prstGeom>
          <a:solidFill>
            <a:srgbClr val="1E2761"/>
          </a:solidFill>
          <a:ln/>
        </p:spPr>
      </p:sp>
      <p:sp>
        <p:nvSpPr>
          <p:cNvPr id="34" name="Text 32"/>
          <p:cNvSpPr/>
          <p:nvPr/>
        </p:nvSpPr>
        <p:spPr>
          <a:xfrm>
            <a:off x="2423160" y="3886200"/>
            <a:ext cx="4572000" cy="347472"/>
          </a:xfrm>
          <a:prstGeom prst="rect">
            <a:avLst/>
          </a:prstGeom>
          <a:noFill/>
          <a:ln/>
        </p:spPr>
        <p:txBody>
          <a:bodyPr wrap="square" rtlCol="0" anchor="ctr"/>
          <a:lstStyle/>
          <a:p>
            <a:pPr algn="ctr" indent="0" marL="0">
              <a:buNone/>
            </a:pPr>
            <a:r>
              <a:rPr lang="en-US" sz="970" b="1" dirty="0">
                <a:solidFill>
                  <a:srgbClr val="FFFFFF"/>
                </a:solidFill>
                <a:latin typeface="Calibri" pitchFamily="34" charset="0"/>
                <a:ea typeface="Calibri" pitchFamily="34" charset="-122"/>
                <a:cs typeface="Calibri" pitchFamily="34" charset="-120"/>
              </a:rPr>
              <a:t>Weighing alternative courses — their merits</a:t>
            </a:r>
            <a:endParaRPr lang="en-US" sz="970" dirty="0"/>
          </a:p>
        </p:txBody>
      </p:sp>
      <p:sp>
        <p:nvSpPr>
          <p:cNvPr id="35" name="Text 33"/>
          <p:cNvSpPr/>
          <p:nvPr/>
        </p:nvSpPr>
        <p:spPr>
          <a:xfrm>
            <a:off x="457200" y="3886200"/>
            <a:ext cx="1783080" cy="347472"/>
          </a:xfrm>
          <a:prstGeom prst="rect">
            <a:avLst/>
          </a:prstGeom>
          <a:noFill/>
          <a:ln/>
        </p:spPr>
        <p:txBody>
          <a:bodyPr wrap="square" rtlCol="0" anchor="ctr"/>
          <a:lstStyle/>
          <a:p>
            <a:pPr algn="r" indent="0" marL="0">
              <a:buNone/>
            </a:pPr>
            <a:r>
              <a:rPr lang="en-US" sz="800" i="1" dirty="0">
                <a:solidFill>
                  <a:srgbClr val="6B7280"/>
                </a:solidFill>
                <a:latin typeface="Calibri" pitchFamily="34" charset="0"/>
                <a:ea typeface="Calibri" pitchFamily="34" charset="-122"/>
                <a:cs typeface="Calibri" pitchFamily="34" charset="-120"/>
              </a:rPr>
              <a:t>Resources, objective, efficiency, economy</a:t>
            </a:r>
            <a:endParaRPr lang="en-US" sz="800" dirty="0"/>
          </a:p>
        </p:txBody>
      </p:sp>
      <p:sp>
        <p:nvSpPr>
          <p:cNvPr id="36" name="Shape 34"/>
          <p:cNvSpPr/>
          <p:nvPr/>
        </p:nvSpPr>
        <p:spPr>
          <a:xfrm>
            <a:off x="4709160" y="4233672"/>
            <a:ext cx="0" cy="64008"/>
          </a:xfrm>
          <a:prstGeom prst="line">
            <a:avLst/>
          </a:prstGeom>
          <a:noFill/>
          <a:ln w="19050">
            <a:solidFill>
              <a:srgbClr val="1E2761"/>
            </a:solidFill>
            <a:prstDash val="solid"/>
          </a:ln>
        </p:spPr>
      </p:sp>
      <p:sp>
        <p:nvSpPr>
          <p:cNvPr id="37" name="Shape 35"/>
          <p:cNvSpPr/>
          <p:nvPr/>
        </p:nvSpPr>
        <p:spPr>
          <a:xfrm>
            <a:off x="2331720" y="4297680"/>
            <a:ext cx="4754880" cy="347472"/>
          </a:xfrm>
          <a:prstGeom prst="roundRect">
            <a:avLst>
              <a:gd name="adj" fmla="val 13158"/>
            </a:avLst>
          </a:prstGeom>
          <a:solidFill>
            <a:srgbClr val="1E2761"/>
          </a:solidFill>
          <a:ln/>
        </p:spPr>
      </p:sp>
      <p:sp>
        <p:nvSpPr>
          <p:cNvPr id="38" name="Text 36"/>
          <p:cNvSpPr/>
          <p:nvPr/>
        </p:nvSpPr>
        <p:spPr>
          <a:xfrm>
            <a:off x="2423160" y="4297680"/>
            <a:ext cx="4572000" cy="347472"/>
          </a:xfrm>
          <a:prstGeom prst="rect">
            <a:avLst/>
          </a:prstGeom>
          <a:noFill/>
          <a:ln/>
        </p:spPr>
        <p:txBody>
          <a:bodyPr wrap="square" rtlCol="0" anchor="ctr"/>
          <a:lstStyle/>
          <a:p>
            <a:pPr algn="ctr" indent="0" marL="0">
              <a:buNone/>
            </a:pPr>
            <a:r>
              <a:rPr lang="en-US" sz="970" b="1" dirty="0">
                <a:solidFill>
                  <a:srgbClr val="FFFFFF"/>
                </a:solidFill>
                <a:latin typeface="Calibri" pitchFamily="34" charset="0"/>
                <a:ea typeface="Calibri" pitchFamily="34" charset="-122"/>
                <a:cs typeface="Calibri" pitchFamily="34" charset="-120"/>
              </a:rPr>
              <a:t>Selecting the best course of action</a:t>
            </a:r>
            <a:endParaRPr lang="en-US" sz="970" dirty="0"/>
          </a:p>
        </p:txBody>
      </p:sp>
      <p:sp>
        <p:nvSpPr>
          <p:cNvPr id="39" name="Shape 37"/>
          <p:cNvSpPr/>
          <p:nvPr/>
        </p:nvSpPr>
        <p:spPr>
          <a:xfrm>
            <a:off x="4709160" y="4645152"/>
            <a:ext cx="0" cy="137160"/>
          </a:xfrm>
          <a:prstGeom prst="line">
            <a:avLst/>
          </a:prstGeom>
          <a:noFill/>
          <a:ln w="19050">
            <a:solidFill>
              <a:srgbClr val="1E2761"/>
            </a:solidFill>
            <a:prstDash val="solid"/>
          </a:ln>
        </p:spPr>
      </p:sp>
      <p:sp>
        <p:nvSpPr>
          <p:cNvPr id="40" name="Shape 38"/>
          <p:cNvSpPr/>
          <p:nvPr/>
        </p:nvSpPr>
        <p:spPr>
          <a:xfrm>
            <a:off x="3520440" y="4846320"/>
            <a:ext cx="2377440" cy="0"/>
          </a:xfrm>
          <a:prstGeom prst="line">
            <a:avLst/>
          </a:prstGeom>
          <a:noFill/>
          <a:ln w="19050">
            <a:solidFill>
              <a:srgbClr val="1E2761"/>
            </a:solidFill>
            <a:prstDash val="solid"/>
          </a:ln>
        </p:spPr>
      </p:sp>
      <p:sp>
        <p:nvSpPr>
          <p:cNvPr id="41" name="Shape 39"/>
          <p:cNvSpPr/>
          <p:nvPr/>
        </p:nvSpPr>
        <p:spPr>
          <a:xfrm>
            <a:off x="3520440" y="4846320"/>
            <a:ext cx="0" cy="182880"/>
          </a:xfrm>
          <a:prstGeom prst="line">
            <a:avLst/>
          </a:prstGeom>
          <a:noFill/>
          <a:ln w="19050">
            <a:solidFill>
              <a:srgbClr val="1E2761"/>
            </a:solidFill>
            <a:prstDash val="solid"/>
          </a:ln>
        </p:spPr>
      </p:sp>
      <p:sp>
        <p:nvSpPr>
          <p:cNvPr id="42" name="Shape 40"/>
          <p:cNvSpPr/>
          <p:nvPr/>
        </p:nvSpPr>
        <p:spPr>
          <a:xfrm>
            <a:off x="5897880" y="4846320"/>
            <a:ext cx="0" cy="182880"/>
          </a:xfrm>
          <a:prstGeom prst="line">
            <a:avLst/>
          </a:prstGeom>
          <a:noFill/>
          <a:ln w="19050">
            <a:solidFill>
              <a:srgbClr val="1E2761"/>
            </a:solidFill>
            <a:prstDash val="solid"/>
          </a:ln>
        </p:spPr>
      </p:sp>
      <p:sp>
        <p:nvSpPr>
          <p:cNvPr id="43" name="Shape 41"/>
          <p:cNvSpPr/>
          <p:nvPr/>
        </p:nvSpPr>
        <p:spPr>
          <a:xfrm>
            <a:off x="2057400" y="5029200"/>
            <a:ext cx="2286000" cy="502920"/>
          </a:xfrm>
          <a:prstGeom prst="roundRect">
            <a:avLst>
              <a:gd name="adj" fmla="val 9091"/>
            </a:avLst>
          </a:prstGeom>
          <a:solidFill>
            <a:srgbClr val="3A4A8C"/>
          </a:solidFill>
          <a:ln/>
        </p:spPr>
      </p:sp>
      <p:sp>
        <p:nvSpPr>
          <p:cNvPr id="44" name="Text 42"/>
          <p:cNvSpPr/>
          <p:nvPr/>
        </p:nvSpPr>
        <p:spPr>
          <a:xfrm>
            <a:off x="2103120" y="5029200"/>
            <a:ext cx="2377440" cy="502920"/>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Decisions on men, money, machines, materials &amp; methods</a:t>
            </a:r>
            <a:endParaRPr lang="en-US" sz="750" dirty="0"/>
          </a:p>
        </p:txBody>
      </p:sp>
      <p:sp>
        <p:nvSpPr>
          <p:cNvPr id="45" name="Shape 43"/>
          <p:cNvSpPr/>
          <p:nvPr/>
        </p:nvSpPr>
        <p:spPr>
          <a:xfrm>
            <a:off x="4846320" y="5029200"/>
            <a:ext cx="2514600" cy="502920"/>
          </a:xfrm>
          <a:prstGeom prst="roundRect">
            <a:avLst>
              <a:gd name="adj" fmla="val 9091"/>
            </a:avLst>
          </a:prstGeom>
          <a:solidFill>
            <a:srgbClr val="3A4A8C"/>
          </a:solidFill>
          <a:ln/>
        </p:spPr>
      </p:sp>
      <p:sp>
        <p:nvSpPr>
          <p:cNvPr id="46" name="Text 44"/>
          <p:cNvSpPr/>
          <p:nvPr/>
        </p:nvSpPr>
        <p:spPr>
          <a:xfrm>
            <a:off x="4892040" y="5029200"/>
            <a:ext cx="2423160" cy="502920"/>
          </a:xfrm>
          <a:prstGeom prst="rect">
            <a:avLst/>
          </a:prstGeom>
          <a:noFill/>
          <a:ln/>
        </p:spPr>
        <p:txBody>
          <a:bodyPr wrap="square"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Direction plans: policies, rules, work procedure — what, where, how &amp; by whom</a:t>
            </a:r>
            <a:endParaRPr lang="en-US" sz="750" dirty="0"/>
          </a:p>
        </p:txBody>
      </p:sp>
      <p:sp>
        <p:nvSpPr>
          <p:cNvPr id="47" name="Text 45"/>
          <p:cNvSpPr/>
          <p:nvPr/>
        </p:nvSpPr>
        <p:spPr>
          <a:xfrm>
            <a:off x="2331720" y="5623560"/>
            <a:ext cx="4754880" cy="274320"/>
          </a:xfrm>
          <a:prstGeom prst="rect">
            <a:avLst/>
          </a:prstGeom>
          <a:noFill/>
          <a:ln/>
        </p:spPr>
        <p:txBody>
          <a:bodyPr wrap="square"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Determining secondary or derivative plans</a:t>
            </a:r>
            <a:endParaRPr lang="en-US" sz="900" dirty="0"/>
          </a:p>
        </p:txBody>
      </p:sp>
      <p:sp>
        <p:nvSpPr>
          <p:cNvPr id="48" name="Text 46"/>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8.2 STEPS IN PLANNING</a:t>
            </a:r>
            <a:endParaRPr lang="en-US" sz="1100" dirty="0"/>
          </a:p>
        </p:txBody>
      </p:sp>
      <p:sp>
        <p:nvSpPr>
          <p:cNvPr id="49" name="Text 47"/>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8.2. MAJOR STEPS IN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(8)–(9) Secondary Plans &amp; Future Evaluation</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(8)</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Determining Secondary Plans</a:t>
            </a:r>
            <a:endParaRPr lang="en-US" sz="1350" dirty="0"/>
          </a:p>
        </p:txBody>
      </p:sp>
      <p:sp>
        <p:nvSpPr>
          <p:cNvPr id="9" name="Text 6"/>
          <p:cNvSpPr/>
          <p:nvPr/>
        </p:nvSpPr>
        <p:spPr>
          <a:xfrm>
            <a:off x="694944" y="3337560"/>
            <a:ext cx="5175504"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Secondary plans flow from the basic plan, meant to support and expedite it. For example, once the ideal production plan is decided, there will need to be decisions on where, how and at what price to procure material, consumable stores, technology, and to hire and train workers.</a:t>
            </a:r>
            <a:endParaRPr lang="en-US" sz="108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(9)</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Providing for Future Evaluation</a:t>
            </a:r>
            <a:endParaRPr lang="en-US" sz="1350" dirty="0"/>
          </a:p>
        </p:txBody>
      </p:sp>
      <p:sp>
        <p:nvSpPr>
          <p:cNvPr id="15" name="Text 11"/>
          <p:cNvSpPr/>
          <p:nvPr/>
        </p:nvSpPr>
        <p:spPr>
          <a:xfrm>
            <a:off x="6291072" y="3337560"/>
            <a:ext cx="5175504"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Since planning aims to achieve pre-determined objectives, it is necessary to devise a system for continuous evaluation and appraisal of the plan, and removal of any factors that impede its accomplishment.</a:t>
            </a:r>
            <a:endParaRPr lang="en-US" sz="108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8.2. MAJOR STEPS IN PLANNING</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C</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10.5 – 10.10</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Types of Plans &amp; Objectives</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How plans are classified, how objectives are framed by Drucker and Perrow, and why clarity of objectives matters.</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10.5. TYPES OF PLANS — 'STANDING' AND 'SINGLE-USE' PLANS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Classification &amp; the Objectives-to-Plans Flow</a:t>
            </a:r>
            <a:endParaRPr lang="en-US" sz="2700" dirty="0"/>
          </a:p>
        </p:txBody>
      </p:sp>
      <p:sp>
        <p:nvSpPr>
          <p:cNvPr id="4" name="Text 2"/>
          <p:cNvSpPr/>
          <p:nvPr/>
        </p:nvSpPr>
        <p:spPr>
          <a:xfrm>
            <a:off x="548640" y="1691640"/>
            <a:ext cx="5486400" cy="2743200"/>
          </a:xfrm>
          <a:prstGeom prst="rect">
            <a:avLst/>
          </a:prstGeom>
          <a:noFill/>
          <a:ln/>
        </p:spPr>
        <p:txBody>
          <a:bodyPr wrap="square" rtlCol="0" anchor="t"/>
          <a:lstStyle/>
          <a:p>
            <a:pPr indent="0" marL="0">
              <a:lnSpc>
                <a:spcPct val="115000"/>
              </a:lnSpc>
              <a:spcAft>
                <a:spcPts val="800"/>
              </a:spcAft>
              <a:buNone/>
            </a:pPr>
            <a:r>
              <a:rPr lang="en-US" sz="1450" dirty="0">
                <a:solidFill>
                  <a:srgbClr val="2B2B33"/>
                </a:solidFill>
                <a:latin typeface="Calibri" pitchFamily="34" charset="0"/>
                <a:ea typeface="Calibri" pitchFamily="34" charset="-122"/>
                <a:cs typeface="Calibri" pitchFamily="34" charset="-120"/>
              </a:rPr>
              <a:t>Depending on their nature and scope, plans can be broadly classified as follows:</a:t>
            </a:r>
            <a:endParaRPr lang="en-US" sz="1450" dirty="0"/>
          </a:p>
          <a:p>
            <a:pPr indent="0" marL="0">
              <a:lnSpc>
                <a:spcPct val="115000"/>
              </a:lnSpc>
              <a:spcAft>
                <a:spcPts val="200"/>
              </a:spcAft>
              <a:buNone/>
            </a:pPr>
            <a:r>
              <a:rPr lang="en-US" sz="1450" b="1" dirty="0">
                <a:solidFill>
                  <a:srgbClr val="2B2B33"/>
                </a:solidFill>
                <a:latin typeface="Calibri" pitchFamily="34" charset="0"/>
                <a:ea typeface="Calibri" pitchFamily="34" charset="-122"/>
                <a:cs typeface="Calibri" pitchFamily="34" charset="-120"/>
              </a:rPr>
              <a:t>(1) Standing or Repeated-Use Plans:</a:t>
            </a:r>
            <a:endParaRPr lang="en-US" sz="1450" dirty="0"/>
          </a:p>
          <a:p>
            <a:pPr indent="0" marL="0">
              <a:lnSpc>
                <a:spcPct val="115000"/>
              </a:lnSpc>
              <a:spcAft>
                <a:spcPts val="1000"/>
              </a:spcAft>
              <a:buNone/>
            </a:pPr>
            <a:r>
              <a:rPr lang="en-US" sz="1450" dirty="0">
                <a:solidFill>
                  <a:srgbClr val="2B2B33"/>
                </a:solidFill>
                <a:latin typeface="Calibri" pitchFamily="34" charset="0"/>
                <a:ea typeface="Calibri" pitchFamily="34" charset="-122"/>
                <a:cs typeface="Calibri" pitchFamily="34" charset="-120"/>
              </a:rPr>
              <a:t>Objectives • Policies • Procedures • Rules • Strategies</a:t>
            </a:r>
            <a:endParaRPr lang="en-US" sz="1450" dirty="0"/>
          </a:p>
          <a:p>
            <a:pPr indent="0" marL="0">
              <a:lnSpc>
                <a:spcPct val="115000"/>
              </a:lnSpc>
              <a:spcAft>
                <a:spcPts val="200"/>
              </a:spcAft>
              <a:buNone/>
            </a:pPr>
            <a:r>
              <a:rPr lang="en-US" sz="1450" b="1" dirty="0">
                <a:solidFill>
                  <a:srgbClr val="2B2B33"/>
                </a:solidFill>
                <a:latin typeface="Calibri" pitchFamily="34" charset="0"/>
                <a:ea typeface="Calibri" pitchFamily="34" charset="-122"/>
                <a:cs typeface="Calibri" pitchFamily="34" charset="-120"/>
              </a:rPr>
              <a:t>(2) Single-Use Plans:</a:t>
            </a:r>
            <a:endParaRPr lang="en-US" sz="1450" dirty="0"/>
          </a:p>
          <a:p>
            <a:pPr indent="0" marL="0">
              <a:lnSpc>
                <a:spcPct val="115000"/>
              </a:lnSpc>
              <a:buNone/>
            </a:pPr>
            <a:r>
              <a:rPr lang="en-US" sz="1450" dirty="0">
                <a:solidFill>
                  <a:srgbClr val="2B2B33"/>
                </a:solidFill>
                <a:latin typeface="Calibri" pitchFamily="34" charset="0"/>
                <a:ea typeface="Calibri" pitchFamily="34" charset="-122"/>
                <a:cs typeface="Calibri" pitchFamily="34" charset="-120"/>
              </a:rPr>
              <a:t>Programmes • Budgets</a:t>
            </a:r>
            <a:endParaRPr lang="en-US" sz="1450" dirty="0"/>
          </a:p>
        </p:txBody>
      </p:sp>
      <p:sp>
        <p:nvSpPr>
          <p:cNvPr id="5" name="Shape 3"/>
          <p:cNvSpPr/>
          <p:nvPr/>
        </p:nvSpPr>
        <p:spPr>
          <a:xfrm>
            <a:off x="548640" y="4663440"/>
            <a:ext cx="5486400" cy="822960"/>
          </a:xfrm>
          <a:prstGeom prst="roundRect">
            <a:avLst>
              <a:gd name="adj" fmla="val 8889"/>
            </a:avLst>
          </a:prstGeom>
          <a:solidFill>
            <a:srgbClr val="FFF6E0"/>
          </a:solidFill>
          <a:ln w="12700">
            <a:solidFill>
              <a:srgbClr val="C9A24B"/>
            </a:solidFill>
            <a:prstDash val="solid"/>
          </a:ln>
        </p:spPr>
      </p:sp>
      <p:sp>
        <p:nvSpPr>
          <p:cNvPr id="6" name="Text 4"/>
          <p:cNvSpPr/>
          <p:nvPr/>
        </p:nvSpPr>
        <p:spPr>
          <a:xfrm>
            <a:off x="731520" y="4727448"/>
            <a:ext cx="5120640" cy="256032"/>
          </a:xfrm>
          <a:prstGeom prst="rect">
            <a:avLst/>
          </a:prstGeom>
          <a:noFill/>
          <a:ln/>
        </p:spPr>
        <p:txBody>
          <a:bodyPr wrap="square" rtlCol="0" anchor="ctr"/>
          <a:lstStyle/>
          <a:p>
            <a:pPr indent="0" marL="0">
              <a:buNone/>
            </a:pPr>
            <a:r>
              <a:rPr lang="en-US" sz="1050" b="1" spc="100" kern="0" dirty="0">
                <a:solidFill>
                  <a:srgbClr val="8A6D1D"/>
                </a:solidFill>
                <a:latin typeface="Calibri" pitchFamily="34" charset="0"/>
                <a:ea typeface="Calibri" pitchFamily="34" charset="-122"/>
                <a:cs typeface="Calibri" pitchFamily="34" charset="-120"/>
              </a:rPr>
              <a:t>🧠  MNEMONIC</a:t>
            </a:r>
            <a:endParaRPr lang="en-US" sz="1050" dirty="0"/>
          </a:p>
        </p:txBody>
      </p:sp>
      <p:sp>
        <p:nvSpPr>
          <p:cNvPr id="7" name="Text 5"/>
          <p:cNvSpPr/>
          <p:nvPr/>
        </p:nvSpPr>
        <p:spPr>
          <a:xfrm>
            <a:off x="731520" y="4983480"/>
            <a:ext cx="5120640" cy="457200"/>
          </a:xfrm>
          <a:prstGeom prst="rect">
            <a:avLst/>
          </a:prstGeom>
          <a:noFill/>
          <a:ln/>
        </p:spPr>
        <p:txBody>
          <a:bodyPr wrap="square" rtlCol="0" anchor="t"/>
          <a:lstStyle/>
          <a:p>
            <a:pPr indent="0" marL="0">
              <a:buNone/>
            </a:pPr>
            <a:r>
              <a:rPr lang="en-US" sz="1200" i="1" dirty="0">
                <a:solidFill>
                  <a:srgbClr val="2B2B33"/>
                </a:solidFill>
                <a:latin typeface="Calibri" pitchFamily="34" charset="0"/>
                <a:ea typeface="Calibri" pitchFamily="34" charset="-122"/>
                <a:cs typeface="Calibri" pitchFamily="34" charset="-120"/>
              </a:rPr>
              <a:t>“OPPRS” for Standing Plans: Objectives, Policies, Procedures, Rules, Strategies.</a:t>
            </a:r>
            <a:endParaRPr lang="en-US" sz="1200" dirty="0"/>
          </a:p>
        </p:txBody>
      </p:sp>
      <p:sp>
        <p:nvSpPr>
          <p:cNvPr id="8" name="Shape 6"/>
          <p:cNvSpPr/>
          <p:nvPr/>
        </p:nvSpPr>
        <p:spPr>
          <a:xfrm>
            <a:off x="7955280" y="1691640"/>
            <a:ext cx="1828800" cy="457200"/>
          </a:xfrm>
          <a:prstGeom prst="roundRect">
            <a:avLst>
              <a:gd name="adj" fmla="val 10000"/>
            </a:avLst>
          </a:prstGeom>
          <a:solidFill>
            <a:srgbClr val="1E2761"/>
          </a:solidFill>
          <a:ln/>
        </p:spPr>
      </p:sp>
      <p:sp>
        <p:nvSpPr>
          <p:cNvPr id="9" name="Text 7"/>
          <p:cNvSpPr/>
          <p:nvPr/>
        </p:nvSpPr>
        <p:spPr>
          <a:xfrm>
            <a:off x="7955280" y="1691640"/>
            <a:ext cx="1828800" cy="45720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Goals</a:t>
            </a:r>
            <a:endParaRPr lang="en-US" sz="1200" dirty="0"/>
          </a:p>
        </p:txBody>
      </p:sp>
      <p:sp>
        <p:nvSpPr>
          <p:cNvPr id="10" name="Shape 8"/>
          <p:cNvSpPr/>
          <p:nvPr/>
        </p:nvSpPr>
        <p:spPr>
          <a:xfrm>
            <a:off x="8869680" y="2148840"/>
            <a:ext cx="0" cy="274320"/>
          </a:xfrm>
          <a:prstGeom prst="line">
            <a:avLst/>
          </a:prstGeom>
          <a:noFill/>
          <a:ln w="19050">
            <a:solidFill>
              <a:srgbClr val="1E2761"/>
            </a:solidFill>
            <a:prstDash val="solid"/>
          </a:ln>
        </p:spPr>
      </p:sp>
      <p:sp>
        <p:nvSpPr>
          <p:cNvPr id="11" name="Shape 9"/>
          <p:cNvSpPr/>
          <p:nvPr/>
        </p:nvSpPr>
        <p:spPr>
          <a:xfrm>
            <a:off x="7726680" y="2423160"/>
            <a:ext cx="2286000" cy="457200"/>
          </a:xfrm>
          <a:prstGeom prst="roundRect">
            <a:avLst>
              <a:gd name="adj" fmla="val 10000"/>
            </a:avLst>
          </a:prstGeom>
          <a:solidFill>
            <a:srgbClr val="3A4A8C"/>
          </a:solidFill>
          <a:ln/>
        </p:spPr>
      </p:sp>
      <p:sp>
        <p:nvSpPr>
          <p:cNvPr id="12" name="Text 10"/>
          <p:cNvSpPr/>
          <p:nvPr/>
        </p:nvSpPr>
        <p:spPr>
          <a:xfrm>
            <a:off x="7726680" y="2423160"/>
            <a:ext cx="2286000" cy="457200"/>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Strategic Plans</a:t>
            </a:r>
            <a:endParaRPr lang="en-US" sz="1150" dirty="0"/>
          </a:p>
        </p:txBody>
      </p:sp>
      <p:sp>
        <p:nvSpPr>
          <p:cNvPr id="13" name="Shape 11"/>
          <p:cNvSpPr/>
          <p:nvPr/>
        </p:nvSpPr>
        <p:spPr>
          <a:xfrm flipH="1">
            <a:off x="7406640" y="2880360"/>
            <a:ext cx="-914400" cy="320040"/>
          </a:xfrm>
          <a:prstGeom prst="line">
            <a:avLst/>
          </a:prstGeom>
          <a:noFill/>
          <a:ln w="19050">
            <a:solidFill>
              <a:srgbClr val="1E2761"/>
            </a:solidFill>
            <a:prstDash val="solid"/>
          </a:ln>
        </p:spPr>
      </p:sp>
      <p:sp>
        <p:nvSpPr>
          <p:cNvPr id="14" name="Shape 12"/>
          <p:cNvSpPr/>
          <p:nvPr/>
        </p:nvSpPr>
        <p:spPr>
          <a:xfrm>
            <a:off x="8869680" y="2880360"/>
            <a:ext cx="1463040" cy="320040"/>
          </a:xfrm>
          <a:prstGeom prst="line">
            <a:avLst/>
          </a:prstGeom>
          <a:noFill/>
          <a:ln w="19050">
            <a:solidFill>
              <a:srgbClr val="1E2761"/>
            </a:solidFill>
            <a:prstDash val="solid"/>
          </a:ln>
        </p:spPr>
      </p:sp>
      <p:sp>
        <p:nvSpPr>
          <p:cNvPr id="15" name="Shape 13"/>
          <p:cNvSpPr/>
          <p:nvPr/>
        </p:nvSpPr>
        <p:spPr>
          <a:xfrm>
            <a:off x="6309360" y="3200400"/>
            <a:ext cx="2377440" cy="411480"/>
          </a:xfrm>
          <a:prstGeom prst="roundRect">
            <a:avLst>
              <a:gd name="adj" fmla="val 11111"/>
            </a:avLst>
          </a:prstGeom>
          <a:solidFill>
            <a:srgbClr val="EEF3FC"/>
          </a:solidFill>
          <a:ln w="12700">
            <a:solidFill>
              <a:srgbClr val="1E2761"/>
            </a:solidFill>
            <a:prstDash val="solid"/>
          </a:ln>
        </p:spPr>
      </p:sp>
      <p:sp>
        <p:nvSpPr>
          <p:cNvPr id="16" name="Text 14"/>
          <p:cNvSpPr/>
          <p:nvPr/>
        </p:nvSpPr>
        <p:spPr>
          <a:xfrm>
            <a:off x="6309360" y="3200400"/>
            <a:ext cx="2377440" cy="411480"/>
          </a:xfrm>
          <a:prstGeom prst="rect">
            <a:avLst/>
          </a:prstGeom>
          <a:noFill/>
          <a:ln/>
        </p:spPr>
        <p:txBody>
          <a:bodyPr wrap="square" rtlCol="0" anchor="ctr"/>
          <a:lstStyle/>
          <a:p>
            <a:pPr algn="ctr" indent="0" marL="0">
              <a:buNone/>
            </a:pPr>
            <a:r>
              <a:rPr lang="en-US" sz="1050" b="1" dirty="0">
                <a:solidFill>
                  <a:srgbClr val="1E2761"/>
                </a:solidFill>
                <a:latin typeface="Cambria" pitchFamily="34" charset="0"/>
                <a:ea typeface="Cambria" pitchFamily="34" charset="-122"/>
                <a:cs typeface="Cambria" pitchFamily="34" charset="-120"/>
              </a:rPr>
              <a:t>Single-Use Plans</a:t>
            </a:r>
            <a:endParaRPr lang="en-US" sz="1050" dirty="0"/>
          </a:p>
        </p:txBody>
      </p:sp>
      <p:sp>
        <p:nvSpPr>
          <p:cNvPr id="17" name="Shape 15"/>
          <p:cNvSpPr/>
          <p:nvPr/>
        </p:nvSpPr>
        <p:spPr>
          <a:xfrm>
            <a:off x="6309360" y="3657600"/>
            <a:ext cx="2377440" cy="320040"/>
          </a:xfrm>
          <a:prstGeom prst="rect">
            <a:avLst/>
          </a:prstGeom>
          <a:solidFill>
            <a:srgbClr val="FFFFFF"/>
          </a:solidFill>
          <a:ln w="9525">
            <a:solidFill>
              <a:srgbClr val="3A4A8C"/>
            </a:solidFill>
            <a:prstDash val="solid"/>
          </a:ln>
        </p:spPr>
      </p:sp>
      <p:sp>
        <p:nvSpPr>
          <p:cNvPr id="18" name="Text 16"/>
          <p:cNvSpPr/>
          <p:nvPr/>
        </p:nvSpPr>
        <p:spPr>
          <a:xfrm>
            <a:off x="6400800" y="3657600"/>
            <a:ext cx="2194560" cy="320040"/>
          </a:xfrm>
          <a:prstGeom prst="rect">
            <a:avLst/>
          </a:prstGeom>
          <a:noFill/>
          <a:ln/>
        </p:spPr>
        <p:txBody>
          <a:bodyPr wrap="square" rtlCol="0" anchor="ctr"/>
          <a:lstStyle/>
          <a:p>
            <a:pPr indent="0" marL="0">
              <a:buNone/>
            </a:pPr>
            <a:r>
              <a:rPr lang="en-US" sz="950" dirty="0">
                <a:solidFill>
                  <a:srgbClr val="2B2B33"/>
                </a:solidFill>
                <a:latin typeface="Calibri" pitchFamily="34" charset="0"/>
                <a:ea typeface="Calibri" pitchFamily="34" charset="-122"/>
                <a:cs typeface="Calibri" pitchFamily="34" charset="-120"/>
              </a:rPr>
              <a:t>Programmes</a:t>
            </a:r>
            <a:endParaRPr lang="en-US" sz="950" dirty="0"/>
          </a:p>
        </p:txBody>
      </p:sp>
      <p:sp>
        <p:nvSpPr>
          <p:cNvPr id="19" name="Shape 17"/>
          <p:cNvSpPr/>
          <p:nvPr/>
        </p:nvSpPr>
        <p:spPr>
          <a:xfrm>
            <a:off x="6309360" y="4023360"/>
            <a:ext cx="2377440" cy="320040"/>
          </a:xfrm>
          <a:prstGeom prst="rect">
            <a:avLst/>
          </a:prstGeom>
          <a:solidFill>
            <a:srgbClr val="FFFFFF"/>
          </a:solidFill>
          <a:ln w="9525">
            <a:solidFill>
              <a:srgbClr val="3A4A8C"/>
            </a:solidFill>
            <a:prstDash val="solid"/>
          </a:ln>
        </p:spPr>
      </p:sp>
      <p:sp>
        <p:nvSpPr>
          <p:cNvPr id="20" name="Text 18"/>
          <p:cNvSpPr/>
          <p:nvPr/>
        </p:nvSpPr>
        <p:spPr>
          <a:xfrm>
            <a:off x="6400800" y="4023360"/>
            <a:ext cx="2194560" cy="320040"/>
          </a:xfrm>
          <a:prstGeom prst="rect">
            <a:avLst/>
          </a:prstGeom>
          <a:noFill/>
          <a:ln/>
        </p:spPr>
        <p:txBody>
          <a:bodyPr wrap="square" rtlCol="0" anchor="ctr"/>
          <a:lstStyle/>
          <a:p>
            <a:pPr indent="0" marL="0">
              <a:buNone/>
            </a:pPr>
            <a:r>
              <a:rPr lang="en-US" sz="950" dirty="0">
                <a:solidFill>
                  <a:srgbClr val="2B2B33"/>
                </a:solidFill>
                <a:latin typeface="Calibri" pitchFamily="34" charset="0"/>
                <a:ea typeface="Calibri" pitchFamily="34" charset="-122"/>
                <a:cs typeface="Calibri" pitchFamily="34" charset="-120"/>
              </a:rPr>
              <a:t>Budgets</a:t>
            </a:r>
            <a:endParaRPr lang="en-US" sz="950" dirty="0"/>
          </a:p>
        </p:txBody>
      </p:sp>
      <p:sp>
        <p:nvSpPr>
          <p:cNvPr id="21" name="Shape 19"/>
          <p:cNvSpPr/>
          <p:nvPr/>
        </p:nvSpPr>
        <p:spPr>
          <a:xfrm>
            <a:off x="6309360" y="4389120"/>
            <a:ext cx="2377440" cy="320040"/>
          </a:xfrm>
          <a:prstGeom prst="rect">
            <a:avLst/>
          </a:prstGeom>
          <a:solidFill>
            <a:srgbClr val="FFFFFF"/>
          </a:solidFill>
          <a:ln w="9525">
            <a:solidFill>
              <a:srgbClr val="3A4A8C"/>
            </a:solidFill>
            <a:prstDash val="solid"/>
          </a:ln>
        </p:spPr>
      </p:sp>
      <p:sp>
        <p:nvSpPr>
          <p:cNvPr id="22" name="Text 20"/>
          <p:cNvSpPr/>
          <p:nvPr/>
        </p:nvSpPr>
        <p:spPr>
          <a:xfrm>
            <a:off x="6400800" y="4389120"/>
            <a:ext cx="2194560" cy="320040"/>
          </a:xfrm>
          <a:prstGeom prst="rect">
            <a:avLst/>
          </a:prstGeom>
          <a:noFill/>
          <a:ln/>
        </p:spPr>
        <p:txBody>
          <a:bodyPr wrap="square" rtlCol="0" anchor="ctr"/>
          <a:lstStyle/>
          <a:p>
            <a:pPr indent="0" marL="0">
              <a:buNone/>
            </a:pPr>
            <a:r>
              <a:rPr lang="en-US" sz="950" dirty="0">
                <a:solidFill>
                  <a:srgbClr val="2B2B33"/>
                </a:solidFill>
                <a:latin typeface="Calibri" pitchFamily="34" charset="0"/>
                <a:ea typeface="Calibri" pitchFamily="34" charset="-122"/>
                <a:cs typeface="Calibri" pitchFamily="34" charset="-120"/>
              </a:rPr>
              <a:t>Strategies</a:t>
            </a:r>
            <a:endParaRPr lang="en-US" sz="950" dirty="0"/>
          </a:p>
        </p:txBody>
      </p:sp>
      <p:sp>
        <p:nvSpPr>
          <p:cNvPr id="23" name="Shape 21"/>
          <p:cNvSpPr/>
          <p:nvPr/>
        </p:nvSpPr>
        <p:spPr>
          <a:xfrm>
            <a:off x="9144000" y="3200400"/>
            <a:ext cx="2651760" cy="411480"/>
          </a:xfrm>
          <a:prstGeom prst="roundRect">
            <a:avLst>
              <a:gd name="adj" fmla="val 11111"/>
            </a:avLst>
          </a:prstGeom>
          <a:solidFill>
            <a:srgbClr val="EEF3FC"/>
          </a:solidFill>
          <a:ln w="12700">
            <a:solidFill>
              <a:srgbClr val="1E2761"/>
            </a:solidFill>
            <a:prstDash val="solid"/>
          </a:ln>
        </p:spPr>
      </p:sp>
      <p:sp>
        <p:nvSpPr>
          <p:cNvPr id="24" name="Text 22"/>
          <p:cNvSpPr/>
          <p:nvPr/>
        </p:nvSpPr>
        <p:spPr>
          <a:xfrm>
            <a:off x="9144000" y="3200400"/>
            <a:ext cx="2651760" cy="411480"/>
          </a:xfrm>
          <a:prstGeom prst="rect">
            <a:avLst/>
          </a:prstGeom>
          <a:noFill/>
          <a:ln/>
        </p:spPr>
        <p:txBody>
          <a:bodyPr wrap="square" rtlCol="0" anchor="ctr"/>
          <a:lstStyle/>
          <a:p>
            <a:pPr algn="ctr" indent="0" marL="0">
              <a:buNone/>
            </a:pPr>
            <a:r>
              <a:rPr lang="en-US" sz="1000" b="1" dirty="0">
                <a:solidFill>
                  <a:srgbClr val="1E2761"/>
                </a:solidFill>
                <a:latin typeface="Cambria" pitchFamily="34" charset="0"/>
                <a:ea typeface="Cambria" pitchFamily="34" charset="-122"/>
                <a:cs typeface="Cambria" pitchFamily="34" charset="-120"/>
              </a:rPr>
              <a:t>Repeated-Use / Standard Plans</a:t>
            </a:r>
            <a:endParaRPr lang="en-US" sz="1000" dirty="0"/>
          </a:p>
        </p:txBody>
      </p:sp>
      <p:sp>
        <p:nvSpPr>
          <p:cNvPr id="25" name="Shape 23"/>
          <p:cNvSpPr/>
          <p:nvPr/>
        </p:nvSpPr>
        <p:spPr>
          <a:xfrm>
            <a:off x="9144000" y="3657600"/>
            <a:ext cx="2651760" cy="320040"/>
          </a:xfrm>
          <a:prstGeom prst="rect">
            <a:avLst/>
          </a:prstGeom>
          <a:solidFill>
            <a:srgbClr val="FFFFFF"/>
          </a:solidFill>
          <a:ln w="9525">
            <a:solidFill>
              <a:srgbClr val="3A4A8C"/>
            </a:solidFill>
            <a:prstDash val="solid"/>
          </a:ln>
        </p:spPr>
      </p:sp>
      <p:sp>
        <p:nvSpPr>
          <p:cNvPr id="26" name="Text 24"/>
          <p:cNvSpPr/>
          <p:nvPr/>
        </p:nvSpPr>
        <p:spPr>
          <a:xfrm>
            <a:off x="9235440" y="3657600"/>
            <a:ext cx="2468880" cy="320040"/>
          </a:xfrm>
          <a:prstGeom prst="rect">
            <a:avLst/>
          </a:prstGeom>
          <a:noFill/>
          <a:ln/>
        </p:spPr>
        <p:txBody>
          <a:bodyPr wrap="square" rtlCol="0" anchor="ctr"/>
          <a:lstStyle/>
          <a:p>
            <a:pPr indent="0" marL="0">
              <a:buNone/>
            </a:pPr>
            <a:r>
              <a:rPr lang="en-US" sz="950" dirty="0">
                <a:solidFill>
                  <a:srgbClr val="2B2B33"/>
                </a:solidFill>
                <a:latin typeface="Calibri" pitchFamily="34" charset="0"/>
                <a:ea typeface="Calibri" pitchFamily="34" charset="-122"/>
                <a:cs typeface="Calibri" pitchFamily="34" charset="-120"/>
              </a:rPr>
              <a:t>Policies</a:t>
            </a:r>
            <a:endParaRPr lang="en-US" sz="950" dirty="0"/>
          </a:p>
        </p:txBody>
      </p:sp>
      <p:sp>
        <p:nvSpPr>
          <p:cNvPr id="27" name="Shape 25"/>
          <p:cNvSpPr/>
          <p:nvPr/>
        </p:nvSpPr>
        <p:spPr>
          <a:xfrm>
            <a:off x="9144000" y="4023360"/>
            <a:ext cx="2651760" cy="320040"/>
          </a:xfrm>
          <a:prstGeom prst="rect">
            <a:avLst/>
          </a:prstGeom>
          <a:solidFill>
            <a:srgbClr val="FFFFFF"/>
          </a:solidFill>
          <a:ln w="9525">
            <a:solidFill>
              <a:srgbClr val="3A4A8C"/>
            </a:solidFill>
            <a:prstDash val="solid"/>
          </a:ln>
        </p:spPr>
      </p:sp>
      <p:sp>
        <p:nvSpPr>
          <p:cNvPr id="28" name="Text 26"/>
          <p:cNvSpPr/>
          <p:nvPr/>
        </p:nvSpPr>
        <p:spPr>
          <a:xfrm>
            <a:off x="9235440" y="4023360"/>
            <a:ext cx="2468880" cy="320040"/>
          </a:xfrm>
          <a:prstGeom prst="rect">
            <a:avLst/>
          </a:prstGeom>
          <a:noFill/>
          <a:ln/>
        </p:spPr>
        <p:txBody>
          <a:bodyPr wrap="square" rtlCol="0" anchor="ctr"/>
          <a:lstStyle/>
          <a:p>
            <a:pPr indent="0" marL="0">
              <a:buNone/>
            </a:pPr>
            <a:r>
              <a:rPr lang="en-US" sz="950" dirty="0">
                <a:solidFill>
                  <a:srgbClr val="2B2B33"/>
                </a:solidFill>
                <a:latin typeface="Calibri" pitchFamily="34" charset="0"/>
                <a:ea typeface="Calibri" pitchFamily="34" charset="-122"/>
                <a:cs typeface="Calibri" pitchFamily="34" charset="-120"/>
              </a:rPr>
              <a:t>Procedures</a:t>
            </a:r>
            <a:endParaRPr lang="en-US" sz="950" dirty="0"/>
          </a:p>
        </p:txBody>
      </p:sp>
      <p:sp>
        <p:nvSpPr>
          <p:cNvPr id="29" name="Shape 27"/>
          <p:cNvSpPr/>
          <p:nvPr/>
        </p:nvSpPr>
        <p:spPr>
          <a:xfrm>
            <a:off x="9144000" y="4389120"/>
            <a:ext cx="2651760" cy="320040"/>
          </a:xfrm>
          <a:prstGeom prst="rect">
            <a:avLst/>
          </a:prstGeom>
          <a:solidFill>
            <a:srgbClr val="FFFFFF"/>
          </a:solidFill>
          <a:ln w="9525">
            <a:solidFill>
              <a:srgbClr val="3A4A8C"/>
            </a:solidFill>
            <a:prstDash val="solid"/>
          </a:ln>
        </p:spPr>
      </p:sp>
      <p:sp>
        <p:nvSpPr>
          <p:cNvPr id="30" name="Text 28"/>
          <p:cNvSpPr/>
          <p:nvPr/>
        </p:nvSpPr>
        <p:spPr>
          <a:xfrm>
            <a:off x="9235440" y="4389120"/>
            <a:ext cx="2468880" cy="320040"/>
          </a:xfrm>
          <a:prstGeom prst="rect">
            <a:avLst/>
          </a:prstGeom>
          <a:noFill/>
          <a:ln/>
        </p:spPr>
        <p:txBody>
          <a:bodyPr wrap="square" rtlCol="0" anchor="ctr"/>
          <a:lstStyle/>
          <a:p>
            <a:pPr indent="0" marL="0">
              <a:buNone/>
            </a:pPr>
            <a:r>
              <a:rPr lang="en-US" sz="950" dirty="0">
                <a:solidFill>
                  <a:srgbClr val="2B2B33"/>
                </a:solidFill>
                <a:latin typeface="Calibri" pitchFamily="34" charset="0"/>
                <a:ea typeface="Calibri" pitchFamily="34" charset="-122"/>
                <a:cs typeface="Calibri" pitchFamily="34" charset="-120"/>
              </a:rPr>
              <a:t>Rules</a:t>
            </a:r>
            <a:endParaRPr lang="en-US" sz="950" dirty="0"/>
          </a:p>
        </p:txBody>
      </p:sp>
      <p:sp>
        <p:nvSpPr>
          <p:cNvPr id="31" name="Text 29"/>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10.5 TYPES OF PLANS</a:t>
            </a:r>
            <a:endParaRPr lang="en-US" sz="1100" dirty="0"/>
          </a:p>
        </p:txBody>
      </p:sp>
      <p:sp>
        <p:nvSpPr>
          <p:cNvPr id="32" name="Text 30"/>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10.6. STANDING PLANS — (1) OBJECTIVES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of 'Objectives'</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The organization pursues a purpose that keeps its attention and efforts focused in a particular direction, enabling it to follow a steady course towards accomplishment — while taking corrective action in case of any deviation.</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There is a hierarchy of objectives in an organization: organization objectives exist alongside, within their framework, divisional and departmental objectives.</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Nested Objectives</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company's objective 'grow market share by 10%' cascades into a divisional target for the sales team and a departmental target for each regional office.</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10.6. STANDING PLANS — (1) OBJECTIVES</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10.7. OBJECTIVES AS LISTED BY PETER DRUCKER</a:t>
            </a:r>
            <a:endParaRPr lang="en-US" sz="2000" dirty="0"/>
          </a:p>
        </p:txBody>
      </p:sp>
      <p:sp>
        <p:nvSpPr>
          <p:cNvPr id="3" name="Shape 1"/>
          <p:cNvSpPr/>
          <p:nvPr/>
        </p:nvSpPr>
        <p:spPr>
          <a:xfrm>
            <a:off x="548640" y="1508760"/>
            <a:ext cx="2656332"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265633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Market standing</a:t>
            </a:r>
            <a:endParaRPr lang="en-US" sz="1200" dirty="0"/>
          </a:p>
        </p:txBody>
      </p:sp>
      <p:sp>
        <p:nvSpPr>
          <p:cNvPr id="8" name="Shape 5"/>
          <p:cNvSpPr/>
          <p:nvPr/>
        </p:nvSpPr>
        <p:spPr>
          <a:xfrm>
            <a:off x="3351276" y="1508760"/>
            <a:ext cx="2656332" cy="1965960"/>
          </a:xfrm>
          <a:prstGeom prst="roundRect">
            <a:avLst>
              <a:gd name="adj" fmla="val 4186"/>
            </a:avLst>
          </a:prstGeom>
          <a:solidFill>
            <a:srgbClr val="1E2761"/>
          </a:solidFill>
          <a:ln/>
        </p:spPr>
      </p:sp>
      <p:sp>
        <p:nvSpPr>
          <p:cNvPr id="9" name="Shape 6"/>
          <p:cNvSpPr/>
          <p:nvPr/>
        </p:nvSpPr>
        <p:spPr>
          <a:xfrm>
            <a:off x="3515868"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634740" y="1792224"/>
            <a:ext cx="219456" cy="219456"/>
          </a:xfrm>
          <a:prstGeom prst="rect">
            <a:avLst/>
          </a:prstGeom>
        </p:spPr>
      </p:pic>
      <p:sp>
        <p:nvSpPr>
          <p:cNvPr id="11" name="Text 7"/>
          <p:cNvSpPr/>
          <p:nvPr/>
        </p:nvSpPr>
        <p:spPr>
          <a:xfrm>
            <a:off x="5458968"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3515868"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Research and innovation</a:t>
            </a:r>
            <a:endParaRPr lang="en-US" sz="1200" dirty="0"/>
          </a:p>
        </p:txBody>
      </p:sp>
      <p:sp>
        <p:nvSpPr>
          <p:cNvPr id="13" name="Shape 9"/>
          <p:cNvSpPr/>
          <p:nvPr/>
        </p:nvSpPr>
        <p:spPr>
          <a:xfrm>
            <a:off x="6153912" y="1508760"/>
            <a:ext cx="2656332" cy="1965960"/>
          </a:xfrm>
          <a:prstGeom prst="roundRect">
            <a:avLst>
              <a:gd name="adj" fmla="val 4186"/>
            </a:avLst>
          </a:prstGeom>
          <a:solidFill>
            <a:srgbClr val="1E2761"/>
          </a:solidFill>
          <a:ln/>
        </p:spPr>
      </p:sp>
      <p:sp>
        <p:nvSpPr>
          <p:cNvPr id="14" name="Shape 10"/>
          <p:cNvSpPr/>
          <p:nvPr/>
        </p:nvSpPr>
        <p:spPr>
          <a:xfrm>
            <a:off x="6318504"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6437376" y="1792224"/>
            <a:ext cx="219456" cy="219456"/>
          </a:xfrm>
          <a:prstGeom prst="rect">
            <a:avLst/>
          </a:prstGeom>
        </p:spPr>
      </p:pic>
      <p:sp>
        <p:nvSpPr>
          <p:cNvPr id="16" name="Text 11"/>
          <p:cNvSpPr/>
          <p:nvPr/>
        </p:nvSpPr>
        <p:spPr>
          <a:xfrm>
            <a:off x="826160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6318504"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Physical and financial resources</a:t>
            </a:r>
            <a:endParaRPr lang="en-US" sz="1200" dirty="0"/>
          </a:p>
        </p:txBody>
      </p:sp>
      <p:sp>
        <p:nvSpPr>
          <p:cNvPr id="18" name="Shape 13"/>
          <p:cNvSpPr/>
          <p:nvPr/>
        </p:nvSpPr>
        <p:spPr>
          <a:xfrm>
            <a:off x="8956548" y="1508760"/>
            <a:ext cx="2656332" cy="1965960"/>
          </a:xfrm>
          <a:prstGeom prst="roundRect">
            <a:avLst>
              <a:gd name="adj" fmla="val 4186"/>
            </a:avLst>
          </a:prstGeom>
          <a:solidFill>
            <a:srgbClr val="1E2761"/>
          </a:solidFill>
          <a:ln/>
        </p:spPr>
      </p:sp>
      <p:sp>
        <p:nvSpPr>
          <p:cNvPr id="19" name="Shape 14"/>
          <p:cNvSpPr/>
          <p:nvPr/>
        </p:nvSpPr>
        <p:spPr>
          <a:xfrm>
            <a:off x="9121140" y="1673352"/>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9240012" y="1792224"/>
            <a:ext cx="219456" cy="219456"/>
          </a:xfrm>
          <a:prstGeom prst="rect">
            <a:avLst/>
          </a:prstGeom>
        </p:spPr>
      </p:pic>
      <p:sp>
        <p:nvSpPr>
          <p:cNvPr id="21" name="Text 15"/>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9121140"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Profitability</a:t>
            </a:r>
            <a:endParaRPr lang="en-US" sz="1200" dirty="0"/>
          </a:p>
        </p:txBody>
      </p:sp>
      <p:sp>
        <p:nvSpPr>
          <p:cNvPr id="23" name="Shape 17"/>
          <p:cNvSpPr/>
          <p:nvPr/>
        </p:nvSpPr>
        <p:spPr>
          <a:xfrm>
            <a:off x="548640" y="3675888"/>
            <a:ext cx="2656332" cy="1965960"/>
          </a:xfrm>
          <a:prstGeom prst="roundRect">
            <a:avLst>
              <a:gd name="adj" fmla="val 4186"/>
            </a:avLst>
          </a:prstGeom>
          <a:solidFill>
            <a:srgbClr val="1E2761"/>
          </a:solidFill>
          <a:ln/>
        </p:spPr>
      </p:sp>
      <p:sp>
        <p:nvSpPr>
          <p:cNvPr id="24" name="Shape 18"/>
          <p:cNvSpPr/>
          <p:nvPr/>
        </p:nvSpPr>
        <p:spPr>
          <a:xfrm>
            <a:off x="713232"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832104" y="3959352"/>
            <a:ext cx="219456" cy="219456"/>
          </a:xfrm>
          <a:prstGeom prst="rect">
            <a:avLst/>
          </a:prstGeom>
        </p:spPr>
      </p:pic>
      <p:sp>
        <p:nvSpPr>
          <p:cNvPr id="26" name="Text 19"/>
          <p:cNvSpPr/>
          <p:nvPr/>
        </p:nvSpPr>
        <p:spPr>
          <a:xfrm>
            <a:off x="265633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713232"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Manager performance and development</a:t>
            </a:r>
            <a:endParaRPr lang="en-US" sz="1200" dirty="0"/>
          </a:p>
        </p:txBody>
      </p:sp>
      <p:sp>
        <p:nvSpPr>
          <p:cNvPr id="28" name="Shape 21"/>
          <p:cNvSpPr/>
          <p:nvPr/>
        </p:nvSpPr>
        <p:spPr>
          <a:xfrm>
            <a:off x="3351276" y="3675888"/>
            <a:ext cx="2656332" cy="1965960"/>
          </a:xfrm>
          <a:prstGeom prst="roundRect">
            <a:avLst>
              <a:gd name="adj" fmla="val 4186"/>
            </a:avLst>
          </a:prstGeom>
          <a:solidFill>
            <a:srgbClr val="1E2761"/>
          </a:solidFill>
          <a:ln/>
        </p:spPr>
      </p:sp>
      <p:sp>
        <p:nvSpPr>
          <p:cNvPr id="29" name="Shape 22"/>
          <p:cNvSpPr/>
          <p:nvPr/>
        </p:nvSpPr>
        <p:spPr>
          <a:xfrm>
            <a:off x="351586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3634740" y="3959352"/>
            <a:ext cx="219456" cy="219456"/>
          </a:xfrm>
          <a:prstGeom prst="rect">
            <a:avLst/>
          </a:prstGeom>
        </p:spPr>
      </p:pic>
      <p:sp>
        <p:nvSpPr>
          <p:cNvPr id="31" name="Text 23"/>
          <p:cNvSpPr/>
          <p:nvPr/>
        </p:nvSpPr>
        <p:spPr>
          <a:xfrm>
            <a:off x="5458968"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3515868"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Worker performance and attitude</a:t>
            </a:r>
            <a:endParaRPr lang="en-US" sz="1200" dirty="0"/>
          </a:p>
        </p:txBody>
      </p:sp>
      <p:sp>
        <p:nvSpPr>
          <p:cNvPr id="33" name="Shape 25"/>
          <p:cNvSpPr/>
          <p:nvPr/>
        </p:nvSpPr>
        <p:spPr>
          <a:xfrm>
            <a:off x="6153912" y="3675888"/>
            <a:ext cx="2656332" cy="1965960"/>
          </a:xfrm>
          <a:prstGeom prst="roundRect">
            <a:avLst>
              <a:gd name="adj" fmla="val 4186"/>
            </a:avLst>
          </a:prstGeom>
          <a:solidFill>
            <a:srgbClr val="1E2761"/>
          </a:solidFill>
          <a:ln/>
        </p:spPr>
      </p:sp>
      <p:sp>
        <p:nvSpPr>
          <p:cNvPr id="34" name="Shape 26"/>
          <p:cNvSpPr/>
          <p:nvPr/>
        </p:nvSpPr>
        <p:spPr>
          <a:xfrm>
            <a:off x="6318504" y="3840480"/>
            <a:ext cx="457200" cy="457200"/>
          </a:xfrm>
          <a:prstGeom prst="ellipse">
            <a:avLst/>
          </a:prstGeom>
          <a:solidFill>
            <a:srgbClr val="C9A24B"/>
          </a:solidFill>
          <a:ln/>
        </p:spPr>
      </p:sp>
      <p:pic>
        <p:nvPicPr>
          <p:cNvPr id="35" name="Image 6" descr="preencoded.png">    </p:cNvPr>
          <p:cNvPicPr>
            <a:picLocks noChangeAspect="1"/>
          </p:cNvPicPr>
          <p:nvPr/>
        </p:nvPicPr>
        <p:blipFill>
          <a:blip r:embed="rId7"/>
          <a:stretch>
            <a:fillRect/>
          </a:stretch>
        </p:blipFill>
        <p:spPr>
          <a:xfrm>
            <a:off x="6437376" y="3959352"/>
            <a:ext cx="219456" cy="219456"/>
          </a:xfrm>
          <a:prstGeom prst="rect">
            <a:avLst/>
          </a:prstGeom>
        </p:spPr>
      </p:pic>
      <p:sp>
        <p:nvSpPr>
          <p:cNvPr id="36" name="Text 27"/>
          <p:cNvSpPr/>
          <p:nvPr/>
        </p:nvSpPr>
        <p:spPr>
          <a:xfrm>
            <a:off x="826160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7</a:t>
            </a:r>
            <a:endParaRPr lang="en-US" sz="1600" dirty="0"/>
          </a:p>
        </p:txBody>
      </p:sp>
      <p:sp>
        <p:nvSpPr>
          <p:cNvPr id="37" name="Text 28"/>
          <p:cNvSpPr/>
          <p:nvPr/>
        </p:nvSpPr>
        <p:spPr>
          <a:xfrm>
            <a:off x="6318504"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Public responsibility</a:t>
            </a:r>
            <a:endParaRPr lang="en-US" sz="1200" dirty="0"/>
          </a:p>
        </p:txBody>
      </p:sp>
      <p:sp>
        <p:nvSpPr>
          <p:cNvPr id="38" name="Text 29"/>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10.7. OBJECTIVES AS LISTED BY PETER DRUCKER</a:t>
            </a:r>
            <a:endParaRPr lang="en-US" sz="1100" dirty="0"/>
          </a:p>
        </p:txBody>
      </p:sp>
      <p:sp>
        <p:nvSpPr>
          <p:cNvPr id="39" name="Text 30"/>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10.7. OBJECTIVES AS LISTED BY PETER DRUCKER</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Seven Areas, in Brief</a:t>
            </a:r>
            <a:endParaRPr lang="en-US" sz="2700" dirty="0"/>
          </a:p>
        </p:txBody>
      </p:sp>
      <p:sp>
        <p:nvSpPr>
          <p:cNvPr id="4" name="Text 2"/>
          <p:cNvSpPr/>
          <p:nvPr/>
        </p:nvSpPr>
        <p:spPr>
          <a:xfrm>
            <a:off x="548640" y="1645920"/>
            <a:ext cx="11064240" cy="4480560"/>
          </a:xfrm>
          <a:prstGeom prst="rect">
            <a:avLst/>
          </a:prstGeom>
          <a:noFill/>
          <a:ln/>
        </p:spPr>
        <p:txBody>
          <a:bodyPr wrap="square" rtlCol="0" anchor="t"/>
          <a:lstStyle/>
          <a:p>
            <a:pPr indent="0" marL="0">
              <a:lnSpc>
                <a:spcPct val="108000"/>
              </a:lnSpc>
              <a:buNone/>
            </a:pPr>
            <a:r>
              <a:rPr lang="en-US" sz="1280" b="1" dirty="0">
                <a:solidFill>
                  <a:srgbClr val="1E2761"/>
                </a:solidFill>
                <a:latin typeface="Calibri" pitchFamily="34" charset="0"/>
                <a:ea typeface="Calibri" pitchFamily="34" charset="-122"/>
                <a:cs typeface="Calibri" pitchFamily="34" charset="-120"/>
              </a:rPr>
              <a:t>(1) Market standing: </a:t>
            </a:r>
            <a:pPr indent="0" marL="0">
              <a:lnSpc>
                <a:spcPct val="108000"/>
              </a:lnSpc>
              <a:spcAft>
                <a:spcPts val="600"/>
              </a:spcAft>
              <a:buNone/>
            </a:pPr>
            <a:r>
              <a:rPr lang="en-US" sz="1280" dirty="0">
                <a:solidFill>
                  <a:srgbClr val="2B2B33"/>
                </a:solidFill>
                <a:latin typeface="Calibri" pitchFamily="34" charset="0"/>
                <a:ea typeface="Calibri" pitchFamily="34" charset="-122"/>
                <a:cs typeface="Calibri" pitchFamily="34" charset="-120"/>
              </a:rPr>
              <a:t>aim for a top industry position, or be content with current standing.</a:t>
            </a:r>
            <a:endParaRPr lang="en-US" sz="1280" dirty="0"/>
          </a:p>
          <a:p>
            <a:pPr indent="0" marL="0">
              <a:lnSpc>
                <a:spcPct val="108000"/>
              </a:lnSpc>
              <a:buNone/>
            </a:pPr>
            <a:r>
              <a:rPr lang="en-US" sz="1280" b="1" dirty="0">
                <a:solidFill>
                  <a:srgbClr val="1E2761"/>
                </a:solidFill>
                <a:latin typeface="Calibri" pitchFamily="34" charset="0"/>
                <a:ea typeface="Calibri" pitchFamily="34" charset="-122"/>
                <a:cs typeface="Calibri" pitchFamily="34" charset="-120"/>
              </a:rPr>
              <a:t>(2) Research and innovation: </a:t>
            </a:r>
            <a:pPr indent="0" marL="0">
              <a:lnSpc>
                <a:spcPct val="108000"/>
              </a:lnSpc>
              <a:spcAft>
                <a:spcPts val="600"/>
              </a:spcAft>
              <a:buNone/>
            </a:pPr>
            <a:r>
              <a:rPr lang="en-US" sz="1280" dirty="0">
                <a:solidFill>
                  <a:srgbClr val="2B2B33"/>
                </a:solidFill>
                <a:latin typeface="Calibri" pitchFamily="34" charset="0"/>
                <a:ea typeface="Calibri" pitchFamily="34" charset="-122"/>
                <a:cs typeface="Calibri" pitchFamily="34" charset="-120"/>
              </a:rPr>
              <a:t>engage in research and create new/improved goods and services — e.g. Sriram Institute of Industrial Research, Tata School of Fundamental Sciences.</a:t>
            </a:r>
            <a:endParaRPr lang="en-US" sz="1280" dirty="0"/>
          </a:p>
          <a:p>
            <a:pPr indent="0" marL="0">
              <a:lnSpc>
                <a:spcPct val="108000"/>
              </a:lnSpc>
              <a:buNone/>
            </a:pPr>
            <a:r>
              <a:rPr lang="en-US" sz="1280" b="1" dirty="0">
                <a:solidFill>
                  <a:srgbClr val="1E2761"/>
                </a:solidFill>
                <a:latin typeface="Calibri" pitchFamily="34" charset="0"/>
                <a:ea typeface="Calibri" pitchFamily="34" charset="-122"/>
                <a:cs typeface="Calibri" pitchFamily="34" charset="-120"/>
              </a:rPr>
              <a:t>(3) Physical and financial resources: </a:t>
            </a:r>
            <a:pPr indent="0" marL="0">
              <a:lnSpc>
                <a:spcPct val="108000"/>
              </a:lnSpc>
              <a:spcAft>
                <a:spcPts val="600"/>
              </a:spcAft>
              <a:buNone/>
            </a:pPr>
            <a:r>
              <a:rPr lang="en-US" sz="1280" dirty="0">
                <a:solidFill>
                  <a:srgbClr val="2B2B33"/>
                </a:solidFill>
                <a:latin typeface="Calibri" pitchFamily="34" charset="0"/>
                <a:ea typeface="Calibri" pitchFamily="34" charset="-122"/>
                <a:cs typeface="Calibri" pitchFamily="34" charset="-120"/>
              </a:rPr>
              <a:t>keep adding to buildings, plant, machinery, and capacity to increase production and profits.</a:t>
            </a:r>
            <a:endParaRPr lang="en-US" sz="1280" dirty="0"/>
          </a:p>
          <a:p>
            <a:pPr indent="0" marL="0">
              <a:lnSpc>
                <a:spcPct val="108000"/>
              </a:lnSpc>
              <a:buNone/>
            </a:pPr>
            <a:r>
              <a:rPr lang="en-US" sz="1280" b="1" dirty="0">
                <a:solidFill>
                  <a:srgbClr val="1E2761"/>
                </a:solidFill>
                <a:latin typeface="Calibri" pitchFamily="34" charset="0"/>
                <a:ea typeface="Calibri" pitchFamily="34" charset="-122"/>
                <a:cs typeface="Calibri" pitchFamily="34" charset="-120"/>
              </a:rPr>
              <a:t>(4) Profitability: </a:t>
            </a:r>
            <a:pPr indent="0" marL="0">
              <a:lnSpc>
                <a:spcPct val="108000"/>
              </a:lnSpc>
              <a:spcAft>
                <a:spcPts val="600"/>
              </a:spcAft>
              <a:buNone/>
            </a:pPr>
            <a:r>
              <a:rPr lang="en-US" sz="1280" dirty="0">
                <a:solidFill>
                  <a:srgbClr val="2B2B33"/>
                </a:solidFill>
                <a:latin typeface="Calibri" pitchFamily="34" charset="0"/>
                <a:ea typeface="Calibri" pitchFamily="34" charset="-122"/>
                <a:cs typeface="Calibri" pitchFamily="34" charset="-120"/>
              </a:rPr>
              <a:t>concentrate on ever-higher profits and shareholder value — e.g., Reliance Industries' ₹1 face-value share trading around ₹1,050.</a:t>
            </a:r>
            <a:endParaRPr lang="en-US" sz="1280" dirty="0"/>
          </a:p>
          <a:p>
            <a:pPr indent="0" marL="0">
              <a:lnSpc>
                <a:spcPct val="108000"/>
              </a:lnSpc>
              <a:buNone/>
            </a:pPr>
            <a:r>
              <a:rPr lang="en-US" sz="1280" b="1" dirty="0">
                <a:solidFill>
                  <a:srgbClr val="1E2761"/>
                </a:solidFill>
                <a:latin typeface="Calibri" pitchFamily="34" charset="0"/>
                <a:ea typeface="Calibri" pitchFamily="34" charset="-122"/>
                <a:cs typeface="Calibri" pitchFamily="34" charset="-120"/>
              </a:rPr>
              <a:t>(5) Manager performance &amp; development: </a:t>
            </a:r>
            <a:pPr indent="0" marL="0">
              <a:lnSpc>
                <a:spcPct val="108000"/>
              </a:lnSpc>
              <a:spcAft>
                <a:spcPts val="600"/>
              </a:spcAft>
              <a:buNone/>
            </a:pPr>
            <a:r>
              <a:rPr lang="en-US" sz="1280" dirty="0">
                <a:solidFill>
                  <a:srgbClr val="2B2B33"/>
                </a:solidFill>
                <a:latin typeface="Calibri" pitchFamily="34" charset="0"/>
                <a:ea typeface="Calibri" pitchFamily="34" charset="-122"/>
                <a:cs typeface="Calibri" pitchFamily="34" charset="-120"/>
              </a:rPr>
              <a:t>seek growth opportunities and world-class training for managers.</a:t>
            </a:r>
            <a:endParaRPr lang="en-US" sz="1280" dirty="0"/>
          </a:p>
          <a:p>
            <a:pPr indent="0" marL="0">
              <a:lnSpc>
                <a:spcPct val="108000"/>
              </a:lnSpc>
              <a:buNone/>
            </a:pPr>
            <a:r>
              <a:rPr lang="en-US" sz="1280" b="1" dirty="0">
                <a:solidFill>
                  <a:srgbClr val="1E2761"/>
                </a:solidFill>
                <a:latin typeface="Calibri" pitchFamily="34" charset="0"/>
                <a:ea typeface="Calibri" pitchFamily="34" charset="-122"/>
                <a:cs typeface="Calibri" pitchFamily="34" charset="-120"/>
              </a:rPr>
              <a:t>(6) Worker performance &amp; attitude: </a:t>
            </a:r>
            <a:pPr indent="0" marL="0">
              <a:lnSpc>
                <a:spcPct val="108000"/>
              </a:lnSpc>
              <a:spcAft>
                <a:spcPts val="600"/>
              </a:spcAft>
              <a:buNone/>
            </a:pPr>
            <a:r>
              <a:rPr lang="en-US" sz="1280" dirty="0">
                <a:solidFill>
                  <a:srgbClr val="2B2B33"/>
                </a:solidFill>
                <a:latin typeface="Calibri" pitchFamily="34" charset="0"/>
                <a:ea typeface="Calibri" pitchFamily="34" charset="-122"/>
                <a:cs typeface="Calibri" pitchFamily="34" charset="-120"/>
              </a:rPr>
              <a:t>promote efficiency and positivism benefiting workers, organization and the public.</a:t>
            </a:r>
            <a:endParaRPr lang="en-US" sz="1280" dirty="0"/>
          </a:p>
          <a:p>
            <a:pPr indent="0" marL="0">
              <a:lnSpc>
                <a:spcPct val="108000"/>
              </a:lnSpc>
              <a:buNone/>
            </a:pPr>
            <a:r>
              <a:rPr lang="en-US" sz="1280" b="1" dirty="0">
                <a:solidFill>
                  <a:srgbClr val="1E2761"/>
                </a:solidFill>
                <a:latin typeface="Calibri" pitchFamily="34" charset="0"/>
                <a:ea typeface="Calibri" pitchFamily="34" charset="-122"/>
                <a:cs typeface="Calibri" pitchFamily="34" charset="-120"/>
              </a:rPr>
              <a:t>(7) Public responsibility: </a:t>
            </a:r>
            <a:pPr indent="0" marL="0">
              <a:lnSpc>
                <a:spcPct val="108000"/>
              </a:lnSpc>
              <a:buNone/>
            </a:pPr>
            <a:r>
              <a:rPr lang="en-US" sz="1280" dirty="0">
                <a:solidFill>
                  <a:srgbClr val="2B2B33"/>
                </a:solidFill>
                <a:latin typeface="Calibri" pitchFamily="34" charset="0"/>
                <a:ea typeface="Calibri" pitchFamily="34" charset="-122"/>
                <a:cs typeface="Calibri" pitchFamily="34" charset="-120"/>
              </a:rPr>
              <a:t>pursue public good — hospitals, schools, colleges, and non-profits for the poor and needy.</a:t>
            </a:r>
            <a:endParaRPr lang="en-US" sz="1280" dirty="0"/>
          </a:p>
        </p:txBody>
      </p:sp>
      <p:sp>
        <p:nvSpPr>
          <p:cNvPr id="5" name="Text 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10.7 DRUCKER'S OBJECTIVES</a:t>
            </a:r>
            <a:endParaRPr lang="en-US" sz="1100" dirty="0"/>
          </a:p>
        </p:txBody>
      </p:sp>
      <p:sp>
        <p:nvSpPr>
          <p:cNvPr id="6"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10.8. OBJECTIVES AS LISTED BY CHARLES PERROW</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Five Broad Objectives an Organization May Pursue</a:t>
            </a:r>
            <a:endParaRPr lang="en-US" sz="2700" dirty="0"/>
          </a:p>
        </p:txBody>
      </p:sp>
      <p:sp>
        <p:nvSpPr>
          <p:cNvPr id="4" name="Shape 2"/>
          <p:cNvSpPr/>
          <p:nvPr/>
        </p:nvSpPr>
        <p:spPr>
          <a:xfrm>
            <a:off x="548640" y="1645920"/>
            <a:ext cx="2110435" cy="4434840"/>
          </a:xfrm>
          <a:prstGeom prst="roundRect">
            <a:avLst>
              <a:gd name="adj" fmla="val 3899"/>
            </a:avLst>
          </a:prstGeom>
          <a:solidFill>
            <a:srgbClr val="EEF3FC"/>
          </a:solidFill>
          <a:ln/>
        </p:spPr>
      </p:sp>
      <p:sp>
        <p:nvSpPr>
          <p:cNvPr id="5" name="Shape 3"/>
          <p:cNvSpPr/>
          <p:nvPr/>
        </p:nvSpPr>
        <p:spPr>
          <a:xfrm>
            <a:off x="133868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476573" y="1984980"/>
            <a:ext cx="254569" cy="254569"/>
          </a:xfrm>
          <a:prstGeom prst="rect">
            <a:avLst/>
          </a:prstGeom>
        </p:spPr>
      </p:pic>
      <p:sp>
        <p:nvSpPr>
          <p:cNvPr id="7" name="Text 4"/>
          <p:cNvSpPr/>
          <p:nvPr/>
        </p:nvSpPr>
        <p:spPr>
          <a:xfrm>
            <a:off x="667512" y="2724912"/>
            <a:ext cx="1872691"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Societal Objectives</a:t>
            </a:r>
            <a:endParaRPr lang="en-US" sz="1350" dirty="0"/>
          </a:p>
        </p:txBody>
      </p:sp>
      <p:sp>
        <p:nvSpPr>
          <p:cNvPr id="8" name="Text 5"/>
          <p:cNvSpPr/>
          <p:nvPr/>
        </p:nvSpPr>
        <p:spPr>
          <a:xfrm>
            <a:off x="694944" y="3337560"/>
            <a:ext cx="1817827"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Create and maintain traditional cultural values through production of appropriate, socially useful goods and services at affordable price.</a:t>
            </a:r>
            <a:endParaRPr lang="en-US" sz="1080" dirty="0"/>
          </a:p>
        </p:txBody>
      </p:sp>
      <p:sp>
        <p:nvSpPr>
          <p:cNvPr id="9" name="Shape 6"/>
          <p:cNvSpPr/>
          <p:nvPr/>
        </p:nvSpPr>
        <p:spPr>
          <a:xfrm>
            <a:off x="2787091" y="1645920"/>
            <a:ext cx="2110435" cy="4434840"/>
          </a:xfrm>
          <a:prstGeom prst="roundRect">
            <a:avLst>
              <a:gd name="adj" fmla="val 3899"/>
            </a:avLst>
          </a:prstGeom>
          <a:solidFill>
            <a:srgbClr val="EEF3FC"/>
          </a:solidFill>
          <a:ln/>
        </p:spPr>
      </p:sp>
      <p:sp>
        <p:nvSpPr>
          <p:cNvPr id="10" name="Shape 7"/>
          <p:cNvSpPr/>
          <p:nvPr/>
        </p:nvSpPr>
        <p:spPr>
          <a:xfrm>
            <a:off x="3577133"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3715024" y="1984980"/>
            <a:ext cx="254569" cy="254569"/>
          </a:xfrm>
          <a:prstGeom prst="rect">
            <a:avLst/>
          </a:prstGeom>
        </p:spPr>
      </p:pic>
      <p:sp>
        <p:nvSpPr>
          <p:cNvPr id="12" name="Text 8"/>
          <p:cNvSpPr/>
          <p:nvPr/>
        </p:nvSpPr>
        <p:spPr>
          <a:xfrm>
            <a:off x="2905963" y="2724912"/>
            <a:ext cx="1872691"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Output Objectives</a:t>
            </a:r>
            <a:endParaRPr lang="en-US" sz="1350" dirty="0"/>
          </a:p>
        </p:txBody>
      </p:sp>
      <p:sp>
        <p:nvSpPr>
          <p:cNvPr id="13" name="Text 9"/>
          <p:cNvSpPr/>
          <p:nvPr/>
        </p:nvSpPr>
        <p:spPr>
          <a:xfrm>
            <a:off x="2933395" y="3337560"/>
            <a:ext cx="1817827"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Prescribe the kind of goods and services the organization should produce — durable and/or consumable goods for various customer categories.</a:t>
            </a:r>
            <a:endParaRPr lang="en-US" sz="1080" dirty="0"/>
          </a:p>
        </p:txBody>
      </p:sp>
      <p:sp>
        <p:nvSpPr>
          <p:cNvPr id="14" name="Shape 10"/>
          <p:cNvSpPr/>
          <p:nvPr/>
        </p:nvSpPr>
        <p:spPr>
          <a:xfrm>
            <a:off x="5025542" y="1645920"/>
            <a:ext cx="2110435" cy="4434840"/>
          </a:xfrm>
          <a:prstGeom prst="roundRect">
            <a:avLst>
              <a:gd name="adj" fmla="val 3899"/>
            </a:avLst>
          </a:prstGeom>
          <a:solidFill>
            <a:srgbClr val="EEF3FC"/>
          </a:solidFill>
          <a:ln/>
        </p:spPr>
      </p:sp>
      <p:sp>
        <p:nvSpPr>
          <p:cNvPr id="15" name="Shape 11"/>
          <p:cNvSpPr/>
          <p:nvPr/>
        </p:nvSpPr>
        <p:spPr>
          <a:xfrm>
            <a:off x="5815584"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5953476" y="1984980"/>
            <a:ext cx="254569" cy="254569"/>
          </a:xfrm>
          <a:prstGeom prst="rect">
            <a:avLst/>
          </a:prstGeom>
        </p:spPr>
      </p:pic>
      <p:sp>
        <p:nvSpPr>
          <p:cNvPr id="17" name="Text 12"/>
          <p:cNvSpPr/>
          <p:nvPr/>
        </p:nvSpPr>
        <p:spPr>
          <a:xfrm>
            <a:off x="5144414" y="2724912"/>
            <a:ext cx="1872691"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System Objectives</a:t>
            </a:r>
            <a:endParaRPr lang="en-US" sz="1350" dirty="0"/>
          </a:p>
        </p:txBody>
      </p:sp>
      <p:sp>
        <p:nvSpPr>
          <p:cNvPr id="18" name="Text 13"/>
          <p:cNvSpPr/>
          <p:nvPr/>
        </p:nvSpPr>
        <p:spPr>
          <a:xfrm>
            <a:off x="5171846" y="3337560"/>
            <a:ext cx="1817827"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Motivate the organization to pursue business growth, stability in uncertain conditions, increased year-on-year profits, and a reputation for efficiency.</a:t>
            </a:r>
            <a:endParaRPr lang="en-US" sz="1080" dirty="0"/>
          </a:p>
        </p:txBody>
      </p:sp>
      <p:sp>
        <p:nvSpPr>
          <p:cNvPr id="19" name="Shape 14"/>
          <p:cNvSpPr/>
          <p:nvPr/>
        </p:nvSpPr>
        <p:spPr>
          <a:xfrm>
            <a:off x="7263994" y="1645920"/>
            <a:ext cx="2110435" cy="4434840"/>
          </a:xfrm>
          <a:prstGeom prst="roundRect">
            <a:avLst>
              <a:gd name="adj" fmla="val 3899"/>
            </a:avLst>
          </a:prstGeom>
          <a:solidFill>
            <a:srgbClr val="EEF3FC"/>
          </a:solidFill>
          <a:ln/>
        </p:spPr>
      </p:sp>
      <p:sp>
        <p:nvSpPr>
          <p:cNvPr id="20" name="Shape 15"/>
          <p:cNvSpPr/>
          <p:nvPr/>
        </p:nvSpPr>
        <p:spPr>
          <a:xfrm>
            <a:off x="8054035" y="1847088"/>
            <a:ext cx="530352" cy="530352"/>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8191927" y="1984980"/>
            <a:ext cx="254569" cy="254569"/>
          </a:xfrm>
          <a:prstGeom prst="rect">
            <a:avLst/>
          </a:prstGeom>
        </p:spPr>
      </p:pic>
      <p:sp>
        <p:nvSpPr>
          <p:cNvPr id="22" name="Text 16"/>
          <p:cNvSpPr/>
          <p:nvPr/>
        </p:nvSpPr>
        <p:spPr>
          <a:xfrm>
            <a:off x="7382866" y="2724912"/>
            <a:ext cx="1872691"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Product Objectives</a:t>
            </a:r>
            <a:endParaRPr lang="en-US" sz="1350" dirty="0"/>
          </a:p>
        </p:txBody>
      </p:sp>
      <p:sp>
        <p:nvSpPr>
          <p:cNvPr id="23" name="Text 17"/>
          <p:cNvSpPr/>
          <p:nvPr/>
        </p:nvSpPr>
        <p:spPr>
          <a:xfrm>
            <a:off x="7410298" y="3337560"/>
            <a:ext cx="1817827"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Concentrate on quality and innovativeness — making top-quality goods and services available to all sections of society at an affordable price.</a:t>
            </a:r>
            <a:endParaRPr lang="en-US" sz="1080" dirty="0"/>
          </a:p>
        </p:txBody>
      </p:sp>
      <p:sp>
        <p:nvSpPr>
          <p:cNvPr id="24" name="Shape 18"/>
          <p:cNvSpPr/>
          <p:nvPr/>
        </p:nvSpPr>
        <p:spPr>
          <a:xfrm>
            <a:off x="9502445" y="1645920"/>
            <a:ext cx="2110435" cy="4434840"/>
          </a:xfrm>
          <a:prstGeom prst="roundRect">
            <a:avLst>
              <a:gd name="adj" fmla="val 3899"/>
            </a:avLst>
          </a:prstGeom>
          <a:solidFill>
            <a:srgbClr val="EEF3FC"/>
          </a:solidFill>
          <a:ln/>
        </p:spPr>
      </p:sp>
      <p:sp>
        <p:nvSpPr>
          <p:cNvPr id="25" name="Shape 19"/>
          <p:cNvSpPr/>
          <p:nvPr/>
        </p:nvSpPr>
        <p:spPr>
          <a:xfrm>
            <a:off x="10292486" y="1847088"/>
            <a:ext cx="530352" cy="530352"/>
          </a:xfrm>
          <a:prstGeom prst="ellipse">
            <a:avLst/>
          </a:prstGeom>
          <a:solidFill>
            <a:srgbClr val="1E2761"/>
          </a:solidFill>
          <a:ln/>
        </p:spPr>
      </p:sp>
      <p:pic>
        <p:nvPicPr>
          <p:cNvPr id="26" name="Image 4" descr="preencoded.png">    </p:cNvPr>
          <p:cNvPicPr>
            <a:picLocks noChangeAspect="1"/>
          </p:cNvPicPr>
          <p:nvPr/>
        </p:nvPicPr>
        <p:blipFill>
          <a:blip r:embed="rId5"/>
          <a:stretch>
            <a:fillRect/>
          </a:stretch>
        </p:blipFill>
        <p:spPr>
          <a:xfrm>
            <a:off x="10430378" y="1984980"/>
            <a:ext cx="254569" cy="254569"/>
          </a:xfrm>
          <a:prstGeom prst="rect">
            <a:avLst/>
          </a:prstGeom>
        </p:spPr>
      </p:pic>
      <p:sp>
        <p:nvSpPr>
          <p:cNvPr id="27" name="Text 20"/>
          <p:cNvSpPr/>
          <p:nvPr/>
        </p:nvSpPr>
        <p:spPr>
          <a:xfrm>
            <a:off x="9621317" y="2724912"/>
            <a:ext cx="1872691"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Derived Objectives</a:t>
            </a:r>
            <a:endParaRPr lang="en-US" sz="1350" dirty="0"/>
          </a:p>
        </p:txBody>
      </p:sp>
      <p:sp>
        <p:nvSpPr>
          <p:cNvPr id="28" name="Text 21"/>
          <p:cNvSpPr/>
          <p:nvPr/>
        </p:nvSpPr>
        <p:spPr>
          <a:xfrm>
            <a:off x="9648749" y="3337560"/>
            <a:ext cx="1817827"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Secondary objectives, unrelated to the basic ones, that help the organization acquire and maintain a positive public image — hospitals, schools, libraries, social/religious discourses.</a:t>
            </a:r>
            <a:endParaRPr lang="en-US" sz="1080" dirty="0"/>
          </a:p>
        </p:txBody>
      </p:sp>
      <p:sp>
        <p:nvSpPr>
          <p:cNvPr id="29" name="Text 2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10.8. OBJECTIVES AS LISTED BY CHARLES PERROW</a:t>
            </a:r>
            <a:endParaRPr lang="en-US" sz="1100" dirty="0"/>
          </a:p>
        </p:txBody>
      </p:sp>
      <p:sp>
        <p:nvSpPr>
          <p:cNvPr id="30" name="Text 2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10.9. OBJECTIVES OF DIVISIONS AND DEPARTMENTS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From Organizational to Operational Objectives</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While organizational objectives are stated in general terms — because it is not possible to predict every event that might affect their accomplishment — it is customary to determine specific objectives for divisions and departments.</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In fact, there is often considerable difference between formal organizational objectives and the operational objectives of divisions and departments tasked with achieving them. Organizational objectives are value-based, covering a broad, even philosophical spectrum.</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Take, for example, the objectives of prison management: pompously described as 'reform and rehabilitation of prisoners'; in reality, they go little beyond confining and controlling them.</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Grand Words, Ground Reality</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hospital's stated objective of 'holistic patient wellbeing' cascades down to a ward's very concrete objective: 'reduce average patient wait time to 15 minutes.'</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10.9. OBJECTIVES OF DIVISIONS AND DEPARTMENTS</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10.10. CLARITY OF OBJECTIVES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Hierarchy, Importance of Clarity &amp; Avoiding Vagueness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Hierarchy of Objectives</a:t>
            </a:r>
            <a:endParaRPr lang="en-US" sz="1350" dirty="0"/>
          </a:p>
        </p:txBody>
      </p:sp>
      <p:sp>
        <p:nvSpPr>
          <p:cNvPr id="9" name="Text 6"/>
          <p:cNvSpPr/>
          <p:nvPr/>
        </p:nvSpPr>
        <p:spPr>
          <a:xfrm>
            <a:off x="694944"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Organizational objectives (set by top management) and operational objectives (set by division/department managers) differ in clarity. Organizational objectives are generally vague, meant mainly for public relations, while divisional/departmental objectives are relatively specific and practical.</a:t>
            </a:r>
            <a:endParaRPr lang="en-US" sz="108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Importance of Clarity</a:t>
            </a:r>
            <a:endParaRPr lang="en-US" sz="1350" dirty="0"/>
          </a:p>
        </p:txBody>
      </p:sp>
      <p:sp>
        <p:nvSpPr>
          <p:cNvPr id="15" name="Text 11"/>
          <p:cNvSpPr/>
          <p:nvPr/>
        </p:nvSpPr>
        <p:spPr>
          <a:xfrm>
            <a:off x="4425696"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Clarity keeps attention focused on the right ends, since unclear objectives are likely to be overlooked if they conflict with clear ones. Clarity also promotes healthy superior-subordinate relations — a clearly-told subordinate performs with the best of his capacity.</a:t>
            </a:r>
            <a:endParaRPr lang="en-US" sz="108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Avoid Vagueness in Defining Objectives</a:t>
            </a:r>
            <a:endParaRPr lang="en-US" sz="1350" dirty="0"/>
          </a:p>
        </p:txBody>
      </p:sp>
      <p:sp>
        <p:nvSpPr>
          <p:cNvPr id="21" name="Text 16"/>
          <p:cNvSpPr/>
          <p:nvPr/>
        </p:nvSpPr>
        <p:spPr>
          <a:xfrm>
            <a:off x="8156448" y="3337560"/>
            <a:ext cx="3310128"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Objectives are sometimes deliberately kept vague to allow contradiction between organizational and operational objectives, because management doesn't want its performance tested, or fears being tied down amid conflicting stakeholder demands.</a:t>
            </a:r>
            <a:endParaRPr lang="en-US" sz="108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10.10. CLARITY OF OBJECTIVES</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10.10. CLARITY OF OBJECTIVES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(4)–(5) Quantification &amp; Avoiding the 'PR Exercise'</a:t>
            </a:r>
            <a:endParaRPr lang="en-US" sz="2700" dirty="0"/>
          </a:p>
        </p:txBody>
      </p:sp>
      <p:sp>
        <p:nvSpPr>
          <p:cNvPr id="4" name="Text 2"/>
          <p:cNvSpPr/>
          <p:nvPr/>
        </p:nvSpPr>
        <p:spPr>
          <a:xfrm>
            <a:off x="548640" y="1645920"/>
            <a:ext cx="11064240" cy="4480560"/>
          </a:xfrm>
          <a:prstGeom prst="rect">
            <a:avLst/>
          </a:prstGeom>
          <a:noFill/>
          <a:ln/>
        </p:spPr>
        <p:txBody>
          <a:bodyPr wrap="square" rtlCol="0" anchor="t"/>
          <a:lstStyle/>
          <a:p>
            <a:pPr indent="0" marL="0">
              <a:lnSpc>
                <a:spcPct val="108000"/>
              </a:lnSpc>
              <a:spcAft>
                <a:spcPts val="400"/>
              </a:spcAft>
              <a:buNone/>
            </a:pPr>
            <a:r>
              <a:rPr lang="en-US" sz="1300" b="1" dirty="0">
                <a:solidFill>
                  <a:srgbClr val="2B2B33"/>
                </a:solidFill>
                <a:latin typeface="Calibri" pitchFamily="34" charset="0"/>
                <a:ea typeface="Calibri" pitchFamily="34" charset="-122"/>
                <a:cs typeface="Calibri" pitchFamily="34" charset="-120"/>
              </a:rPr>
              <a:t>(4) Problems of Quantification of Objectives</a:t>
            </a:r>
            <a:endParaRPr lang="en-US" sz="1300" dirty="0"/>
          </a:p>
          <a:p>
            <a:pPr indent="0" marL="0">
              <a:lnSpc>
                <a:spcPct val="108000"/>
              </a:lnSpc>
              <a:spcAft>
                <a:spcPts val="1200"/>
              </a:spcAft>
              <a:buNone/>
            </a:pPr>
            <a:r>
              <a:rPr lang="en-US" sz="1300" dirty="0">
                <a:solidFill>
                  <a:srgbClr val="2B2B33"/>
                </a:solidFill>
                <a:latin typeface="Calibri" pitchFamily="34" charset="0"/>
                <a:ea typeface="Calibri" pitchFamily="34" charset="-122"/>
                <a:cs typeface="Calibri" pitchFamily="34" charset="-120"/>
              </a:rPr>
              <a:t>Objectives expressed numerically — cost, profit, sales, ROI — leave no scope for confusion. 'Reduce costs by one-third', '25% increase in profits', '15% return on capital' are unambiguous. Since management is accountable for accomplishment, it will be hard put to explain any shortfall.</a:t>
            </a:r>
            <a:endParaRPr lang="en-US" sz="1300" dirty="0"/>
          </a:p>
          <a:p>
            <a:pPr indent="0" marL="0">
              <a:lnSpc>
                <a:spcPct val="108000"/>
              </a:lnSpc>
              <a:spcAft>
                <a:spcPts val="400"/>
              </a:spcAft>
              <a:buNone/>
            </a:pPr>
            <a:r>
              <a:rPr lang="en-US" sz="1300" b="1" dirty="0">
                <a:solidFill>
                  <a:srgbClr val="2B2B33"/>
                </a:solidFill>
                <a:latin typeface="Calibri" pitchFamily="34" charset="0"/>
                <a:ea typeface="Calibri" pitchFamily="34" charset="-122"/>
                <a:cs typeface="Calibri" pitchFamily="34" charset="-120"/>
              </a:rPr>
              <a:t>(5) Statement of Objectives is Not a Public Relations Exercise</a:t>
            </a:r>
            <a:endParaRPr lang="en-US" sz="1300" dirty="0"/>
          </a:p>
          <a:p>
            <a:pPr indent="0" marL="0">
              <a:lnSpc>
                <a:spcPct val="108000"/>
              </a:lnSpc>
              <a:spcAft>
                <a:spcPts val="600"/>
              </a:spcAft>
              <a:buNone/>
            </a:pPr>
            <a:r>
              <a:rPr lang="en-US" sz="1300" dirty="0">
                <a:solidFill>
                  <a:srgbClr val="2B2B33"/>
                </a:solidFill>
                <a:latin typeface="Calibri" pitchFamily="34" charset="0"/>
                <a:ea typeface="Calibri" pitchFamily="34" charset="-122"/>
                <a:cs typeface="Calibri" pitchFamily="34" charset="-120"/>
              </a:rPr>
              <a:t>An organization that treats objective-statements as PR will use vague terms that impress readers but leave no scope to hold management accountable, for example:</a:t>
            </a:r>
            <a:endParaRPr lang="en-US" sz="1300" dirty="0"/>
          </a:p>
          <a:p>
            <a:pPr marL="342900" indent="-342900">
              <a:lnSpc>
                <a:spcPct val="108000"/>
              </a:lnSpc>
              <a:spcAft>
                <a:spcPts val="300"/>
              </a:spcAft>
              <a:buSzPct val="100000"/>
              <a:buChar char="•"/>
            </a:pPr>
            <a:r>
              <a:rPr lang="en-US" sz="1300" dirty="0">
                <a:solidFill>
                  <a:srgbClr val="2B2B33"/>
                </a:solidFill>
                <a:latin typeface="Calibri" pitchFamily="34" charset="0"/>
                <a:ea typeface="Calibri" pitchFamily="34" charset="-122"/>
                <a:cs typeface="Calibri" pitchFamily="34" charset="-120"/>
              </a:rPr>
              <a:t>(a) To provide maximum satisfaction to customers through quality performance, prompt personalized service, and efficient operations.</a:t>
            </a:r>
            <a:endParaRPr lang="en-US" sz="1300" dirty="0"/>
          </a:p>
          <a:p>
            <a:pPr marL="342900" indent="-342900">
              <a:lnSpc>
                <a:spcPct val="108000"/>
              </a:lnSpc>
              <a:spcAft>
                <a:spcPts val="300"/>
              </a:spcAft>
              <a:buSzPct val="100000"/>
              <a:buChar char="•"/>
            </a:pPr>
            <a:r>
              <a:rPr lang="en-US" sz="1300" dirty="0">
                <a:solidFill>
                  <a:srgbClr val="2B2B33"/>
                </a:solidFill>
                <a:latin typeface="Calibri" pitchFamily="34" charset="0"/>
                <a:ea typeface="Calibri" pitchFamily="34" charset="-122"/>
                <a:cs typeface="Calibri" pitchFamily="34" charset="-120"/>
              </a:rPr>
              <a:t>(b) To maintain highest ethical relationships with customers, employees, suppliers and competitors.</a:t>
            </a:r>
            <a:endParaRPr lang="en-US" sz="1300" dirty="0"/>
          </a:p>
          <a:p>
            <a:pPr marL="342900" indent="-342900">
              <a:lnSpc>
                <a:spcPct val="108000"/>
              </a:lnSpc>
              <a:spcAft>
                <a:spcPts val="300"/>
              </a:spcAft>
              <a:buSzPct val="100000"/>
              <a:buChar char="•"/>
            </a:pPr>
            <a:r>
              <a:rPr lang="en-US" sz="1300" dirty="0">
                <a:solidFill>
                  <a:srgbClr val="2B2B33"/>
                </a:solidFill>
                <a:latin typeface="Calibri" pitchFamily="34" charset="0"/>
                <a:ea typeface="Calibri" pitchFamily="34" charset="-122"/>
                <a:cs typeface="Calibri" pitchFamily="34" charset="-120"/>
              </a:rPr>
              <a:t>(c) To earn satisfactory long-run profits to maintain financial health and ensure capital for continuing growth.</a:t>
            </a:r>
            <a:endParaRPr lang="en-US" sz="1300" dirty="0"/>
          </a:p>
          <a:p>
            <a:pPr marL="342900" indent="-342900">
              <a:lnSpc>
                <a:spcPct val="108000"/>
              </a:lnSpc>
              <a:buSzPct val="100000"/>
              <a:buChar char="•"/>
            </a:pPr>
            <a:r>
              <a:rPr lang="en-US" sz="1300" dirty="0">
                <a:solidFill>
                  <a:srgbClr val="2B2B33"/>
                </a:solidFill>
                <a:latin typeface="Calibri" pitchFamily="34" charset="0"/>
                <a:ea typeface="Calibri" pitchFamily="34" charset="-122"/>
                <a:cs typeface="Calibri" pitchFamily="34" charset="-120"/>
              </a:rPr>
              <a:t>(d) To anticipate the future needs of customers.</a:t>
            </a:r>
            <a:endParaRPr lang="en-US" sz="1300" dirty="0"/>
          </a:p>
        </p:txBody>
      </p:sp>
      <p:sp>
        <p:nvSpPr>
          <p:cNvPr id="5" name="Text 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10.10 CLARITY OF OBJECTIVES</a:t>
            </a:r>
            <a:endParaRPr lang="en-US" sz="1100" dirty="0"/>
          </a:p>
        </p:txBody>
      </p:sp>
      <p:sp>
        <p:nvSpPr>
          <p:cNvPr id="6"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D</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Forecasting</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Process &amp; Techniques</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Forecasting tells us what to expect; planning tells us what to do about it. Good planning needs good forecasting.</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FORECASTING — MEANING &amp; PROCESS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Six-Step Process</a:t>
            </a:r>
            <a:endParaRPr lang="en-US" sz="2700" dirty="0"/>
          </a:p>
        </p:txBody>
      </p:sp>
      <p:sp>
        <p:nvSpPr>
          <p:cNvPr id="4" name="Text 2"/>
          <p:cNvSpPr/>
          <p:nvPr/>
        </p:nvSpPr>
        <p:spPr>
          <a:xfrm>
            <a:off x="548640" y="1600200"/>
            <a:ext cx="11064240" cy="594360"/>
          </a:xfrm>
          <a:prstGeom prst="rect">
            <a:avLst/>
          </a:prstGeom>
          <a:noFill/>
          <a:ln/>
        </p:spPr>
        <p:txBody>
          <a:bodyPr wrap="square" rtlCol="0" anchor="ctr"/>
          <a:lstStyle/>
          <a:p>
            <a:pPr indent="0" marL="0">
              <a:buNone/>
            </a:pPr>
            <a:r>
              <a:rPr lang="en-US" sz="1400" i="1" dirty="0">
                <a:solidFill>
                  <a:srgbClr val="2B2B33"/>
                </a:solidFill>
                <a:latin typeface="Calibri" pitchFamily="34" charset="0"/>
                <a:ea typeface="Calibri" pitchFamily="34" charset="-122"/>
                <a:cs typeface="Calibri" pitchFamily="34" charset="-120"/>
              </a:rPr>
              <a:t>Forecasting is the systematic estimation of future events or conditions — particularly demand, sales, costs, and the wider economic environment — based on analysis of past and present data.</a:t>
            </a:r>
            <a:endParaRPr lang="en-US" sz="1400" dirty="0"/>
          </a:p>
        </p:txBody>
      </p:sp>
      <p:sp>
        <p:nvSpPr>
          <p:cNvPr id="5" name="Shape 3"/>
          <p:cNvSpPr/>
          <p:nvPr/>
        </p:nvSpPr>
        <p:spPr>
          <a:xfrm>
            <a:off x="548640" y="2240280"/>
            <a:ext cx="3566160" cy="1783080"/>
          </a:xfrm>
          <a:prstGeom prst="roundRect">
            <a:avLst>
              <a:gd name="adj" fmla="val 4103"/>
            </a:avLst>
          </a:prstGeom>
          <a:solidFill>
            <a:srgbClr val="EEF3FC"/>
          </a:solidFill>
          <a:ln/>
        </p:spPr>
      </p:sp>
      <p:sp>
        <p:nvSpPr>
          <p:cNvPr id="6" name="Shape 4"/>
          <p:cNvSpPr/>
          <p:nvPr/>
        </p:nvSpPr>
        <p:spPr>
          <a:xfrm>
            <a:off x="749808" y="2423160"/>
            <a:ext cx="457200" cy="45720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868680" y="2542032"/>
            <a:ext cx="219456" cy="219456"/>
          </a:xfrm>
          <a:prstGeom prst="rect">
            <a:avLst/>
          </a:prstGeom>
        </p:spPr>
      </p:pic>
      <p:sp>
        <p:nvSpPr>
          <p:cNvPr id="8" name="Text 5"/>
          <p:cNvSpPr/>
          <p:nvPr/>
        </p:nvSpPr>
        <p:spPr>
          <a:xfrm>
            <a:off x="1325880" y="2441448"/>
            <a:ext cx="2651760" cy="45720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1. Define Objective &amp; Scope</a:t>
            </a:r>
            <a:endParaRPr lang="en-US" sz="1250" dirty="0"/>
          </a:p>
        </p:txBody>
      </p:sp>
      <p:sp>
        <p:nvSpPr>
          <p:cNvPr id="9" name="Text 6"/>
          <p:cNvSpPr/>
          <p:nvPr/>
        </p:nvSpPr>
        <p:spPr>
          <a:xfrm>
            <a:off x="731520" y="3017520"/>
            <a:ext cx="3200400" cy="91440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Decide what is to be forecast (sales, demand, costs) and over what time horizon.</a:t>
            </a:r>
            <a:endParaRPr lang="en-US" sz="1080" dirty="0"/>
          </a:p>
        </p:txBody>
      </p:sp>
      <p:sp>
        <p:nvSpPr>
          <p:cNvPr id="10" name="Shape 7"/>
          <p:cNvSpPr/>
          <p:nvPr/>
        </p:nvSpPr>
        <p:spPr>
          <a:xfrm>
            <a:off x="4251960" y="2240280"/>
            <a:ext cx="3566160" cy="1783080"/>
          </a:xfrm>
          <a:prstGeom prst="roundRect">
            <a:avLst>
              <a:gd name="adj" fmla="val 4103"/>
            </a:avLst>
          </a:prstGeom>
          <a:solidFill>
            <a:srgbClr val="EEF3FC"/>
          </a:solidFill>
          <a:ln/>
        </p:spPr>
      </p:sp>
      <p:sp>
        <p:nvSpPr>
          <p:cNvPr id="11" name="Shape 8"/>
          <p:cNvSpPr/>
          <p:nvPr/>
        </p:nvSpPr>
        <p:spPr>
          <a:xfrm>
            <a:off x="4453128" y="2423160"/>
            <a:ext cx="457200" cy="45720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4572000" y="2542032"/>
            <a:ext cx="219456" cy="219456"/>
          </a:xfrm>
          <a:prstGeom prst="rect">
            <a:avLst/>
          </a:prstGeom>
        </p:spPr>
      </p:pic>
      <p:sp>
        <p:nvSpPr>
          <p:cNvPr id="13" name="Text 9"/>
          <p:cNvSpPr/>
          <p:nvPr/>
        </p:nvSpPr>
        <p:spPr>
          <a:xfrm>
            <a:off x="5029200" y="2441448"/>
            <a:ext cx="2651760" cy="45720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2. Gather Past &amp; Present Data</a:t>
            </a:r>
            <a:endParaRPr lang="en-US" sz="1250" dirty="0"/>
          </a:p>
        </p:txBody>
      </p:sp>
      <p:sp>
        <p:nvSpPr>
          <p:cNvPr id="14" name="Text 10"/>
          <p:cNvSpPr/>
          <p:nvPr/>
        </p:nvSpPr>
        <p:spPr>
          <a:xfrm>
            <a:off x="4434840" y="3017520"/>
            <a:ext cx="3200400" cy="91440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Collect relevant historical and current data from internal and external sources.</a:t>
            </a:r>
            <a:endParaRPr lang="en-US" sz="1080" dirty="0"/>
          </a:p>
        </p:txBody>
      </p:sp>
      <p:sp>
        <p:nvSpPr>
          <p:cNvPr id="15" name="Shape 11"/>
          <p:cNvSpPr/>
          <p:nvPr/>
        </p:nvSpPr>
        <p:spPr>
          <a:xfrm>
            <a:off x="7955280" y="2240280"/>
            <a:ext cx="3566160" cy="1783080"/>
          </a:xfrm>
          <a:prstGeom prst="roundRect">
            <a:avLst>
              <a:gd name="adj" fmla="val 4103"/>
            </a:avLst>
          </a:prstGeom>
          <a:solidFill>
            <a:srgbClr val="EEF3FC"/>
          </a:solidFill>
          <a:ln/>
        </p:spPr>
      </p:sp>
      <p:sp>
        <p:nvSpPr>
          <p:cNvPr id="16" name="Shape 12"/>
          <p:cNvSpPr/>
          <p:nvPr/>
        </p:nvSpPr>
        <p:spPr>
          <a:xfrm>
            <a:off x="8156448" y="2423160"/>
            <a:ext cx="457200" cy="457200"/>
          </a:xfrm>
          <a:prstGeom prst="ellipse">
            <a:avLst/>
          </a:prstGeom>
          <a:solidFill>
            <a:srgbClr val="1E2761"/>
          </a:solidFill>
          <a:ln/>
        </p:spPr>
      </p:sp>
      <p:pic>
        <p:nvPicPr>
          <p:cNvPr id="17" name="Image 2" descr="preencoded.png">    </p:cNvPr>
          <p:cNvPicPr>
            <a:picLocks noChangeAspect="1"/>
          </p:cNvPicPr>
          <p:nvPr/>
        </p:nvPicPr>
        <p:blipFill>
          <a:blip r:embed="rId3"/>
          <a:stretch>
            <a:fillRect/>
          </a:stretch>
        </p:blipFill>
        <p:spPr>
          <a:xfrm>
            <a:off x="8275320" y="2542032"/>
            <a:ext cx="219456" cy="219456"/>
          </a:xfrm>
          <a:prstGeom prst="rect">
            <a:avLst/>
          </a:prstGeom>
        </p:spPr>
      </p:pic>
      <p:sp>
        <p:nvSpPr>
          <p:cNvPr id="18" name="Text 13"/>
          <p:cNvSpPr/>
          <p:nvPr/>
        </p:nvSpPr>
        <p:spPr>
          <a:xfrm>
            <a:off x="8732520" y="2441448"/>
            <a:ext cx="2651760" cy="45720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3. Select the Technique</a:t>
            </a:r>
            <a:endParaRPr lang="en-US" sz="1250" dirty="0"/>
          </a:p>
        </p:txBody>
      </p:sp>
      <p:sp>
        <p:nvSpPr>
          <p:cNvPr id="19" name="Text 14"/>
          <p:cNvSpPr/>
          <p:nvPr/>
        </p:nvSpPr>
        <p:spPr>
          <a:xfrm>
            <a:off x="8138160" y="3017520"/>
            <a:ext cx="3200400" cy="91440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Choose a qualitative or quantitative method suited to the data and purpose.</a:t>
            </a:r>
            <a:endParaRPr lang="en-US" sz="1080" dirty="0"/>
          </a:p>
        </p:txBody>
      </p:sp>
      <p:sp>
        <p:nvSpPr>
          <p:cNvPr id="20" name="Shape 15"/>
          <p:cNvSpPr/>
          <p:nvPr/>
        </p:nvSpPr>
        <p:spPr>
          <a:xfrm>
            <a:off x="548640" y="4187952"/>
            <a:ext cx="3566160" cy="1783080"/>
          </a:xfrm>
          <a:prstGeom prst="roundRect">
            <a:avLst>
              <a:gd name="adj" fmla="val 4103"/>
            </a:avLst>
          </a:prstGeom>
          <a:solidFill>
            <a:srgbClr val="EEF3FC"/>
          </a:solidFill>
          <a:ln/>
        </p:spPr>
      </p:sp>
      <p:sp>
        <p:nvSpPr>
          <p:cNvPr id="21" name="Shape 16"/>
          <p:cNvSpPr/>
          <p:nvPr/>
        </p:nvSpPr>
        <p:spPr>
          <a:xfrm>
            <a:off x="749808" y="4370832"/>
            <a:ext cx="457200" cy="457200"/>
          </a:xfrm>
          <a:prstGeom prst="ellipse">
            <a:avLst/>
          </a:prstGeom>
          <a:solidFill>
            <a:srgbClr val="1E2761"/>
          </a:solidFill>
          <a:ln/>
        </p:spPr>
      </p:sp>
      <p:pic>
        <p:nvPicPr>
          <p:cNvPr id="22" name="Image 3" descr="preencoded.png">    </p:cNvPr>
          <p:cNvPicPr>
            <a:picLocks noChangeAspect="1"/>
          </p:cNvPicPr>
          <p:nvPr/>
        </p:nvPicPr>
        <p:blipFill>
          <a:blip r:embed="rId4"/>
          <a:stretch>
            <a:fillRect/>
          </a:stretch>
        </p:blipFill>
        <p:spPr>
          <a:xfrm>
            <a:off x="868680" y="4489704"/>
            <a:ext cx="219456" cy="219456"/>
          </a:xfrm>
          <a:prstGeom prst="rect">
            <a:avLst/>
          </a:prstGeom>
        </p:spPr>
      </p:pic>
      <p:sp>
        <p:nvSpPr>
          <p:cNvPr id="23" name="Text 17"/>
          <p:cNvSpPr/>
          <p:nvPr/>
        </p:nvSpPr>
        <p:spPr>
          <a:xfrm>
            <a:off x="1325880" y="4389120"/>
            <a:ext cx="2651760" cy="45720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4. State Assumptions/Premises</a:t>
            </a:r>
            <a:endParaRPr lang="en-US" sz="1250" dirty="0"/>
          </a:p>
        </p:txBody>
      </p:sp>
      <p:sp>
        <p:nvSpPr>
          <p:cNvPr id="24" name="Text 18"/>
          <p:cNvSpPr/>
          <p:nvPr/>
        </p:nvSpPr>
        <p:spPr>
          <a:xfrm>
            <a:off x="731520" y="4965192"/>
            <a:ext cx="3200400" cy="91440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Make explicit assumptions about factors that cannot be controlled.</a:t>
            </a:r>
            <a:endParaRPr lang="en-US" sz="1080" dirty="0"/>
          </a:p>
        </p:txBody>
      </p:sp>
      <p:sp>
        <p:nvSpPr>
          <p:cNvPr id="25" name="Shape 19"/>
          <p:cNvSpPr/>
          <p:nvPr/>
        </p:nvSpPr>
        <p:spPr>
          <a:xfrm>
            <a:off x="4251960" y="4187952"/>
            <a:ext cx="3566160" cy="1783080"/>
          </a:xfrm>
          <a:prstGeom prst="roundRect">
            <a:avLst>
              <a:gd name="adj" fmla="val 4103"/>
            </a:avLst>
          </a:prstGeom>
          <a:solidFill>
            <a:srgbClr val="EEF3FC"/>
          </a:solidFill>
          <a:ln/>
        </p:spPr>
      </p:sp>
      <p:sp>
        <p:nvSpPr>
          <p:cNvPr id="26" name="Shape 20"/>
          <p:cNvSpPr/>
          <p:nvPr/>
        </p:nvSpPr>
        <p:spPr>
          <a:xfrm>
            <a:off x="4453128" y="4370832"/>
            <a:ext cx="457200" cy="457200"/>
          </a:xfrm>
          <a:prstGeom prst="ellipse">
            <a:avLst/>
          </a:prstGeom>
          <a:solidFill>
            <a:srgbClr val="1E2761"/>
          </a:solidFill>
          <a:ln/>
        </p:spPr>
      </p:sp>
      <p:pic>
        <p:nvPicPr>
          <p:cNvPr id="27" name="Image 4" descr="preencoded.png">    </p:cNvPr>
          <p:cNvPicPr>
            <a:picLocks noChangeAspect="1"/>
          </p:cNvPicPr>
          <p:nvPr/>
        </p:nvPicPr>
        <p:blipFill>
          <a:blip r:embed="rId5"/>
          <a:stretch>
            <a:fillRect/>
          </a:stretch>
        </p:blipFill>
        <p:spPr>
          <a:xfrm>
            <a:off x="4572000" y="4489704"/>
            <a:ext cx="219456" cy="219456"/>
          </a:xfrm>
          <a:prstGeom prst="rect">
            <a:avLst/>
          </a:prstGeom>
        </p:spPr>
      </p:pic>
      <p:sp>
        <p:nvSpPr>
          <p:cNvPr id="28" name="Text 21"/>
          <p:cNvSpPr/>
          <p:nvPr/>
        </p:nvSpPr>
        <p:spPr>
          <a:xfrm>
            <a:off x="5029200" y="4389120"/>
            <a:ext cx="2651760" cy="45720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5. Prepare the Forecast</a:t>
            </a:r>
            <a:endParaRPr lang="en-US" sz="1250" dirty="0"/>
          </a:p>
        </p:txBody>
      </p:sp>
      <p:sp>
        <p:nvSpPr>
          <p:cNvPr id="29" name="Text 22"/>
          <p:cNvSpPr/>
          <p:nvPr/>
        </p:nvSpPr>
        <p:spPr>
          <a:xfrm>
            <a:off x="4434840" y="4965192"/>
            <a:ext cx="3200400" cy="91440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Apply the chosen technique to produce the numerical or descriptive forecast.</a:t>
            </a:r>
            <a:endParaRPr lang="en-US" sz="1080" dirty="0"/>
          </a:p>
        </p:txBody>
      </p:sp>
      <p:sp>
        <p:nvSpPr>
          <p:cNvPr id="30" name="Shape 23"/>
          <p:cNvSpPr/>
          <p:nvPr/>
        </p:nvSpPr>
        <p:spPr>
          <a:xfrm>
            <a:off x="7955280" y="4187952"/>
            <a:ext cx="3566160" cy="1783080"/>
          </a:xfrm>
          <a:prstGeom prst="roundRect">
            <a:avLst>
              <a:gd name="adj" fmla="val 4103"/>
            </a:avLst>
          </a:prstGeom>
          <a:solidFill>
            <a:srgbClr val="EEF3FC"/>
          </a:solidFill>
          <a:ln/>
        </p:spPr>
      </p:sp>
      <p:sp>
        <p:nvSpPr>
          <p:cNvPr id="31" name="Shape 24"/>
          <p:cNvSpPr/>
          <p:nvPr/>
        </p:nvSpPr>
        <p:spPr>
          <a:xfrm>
            <a:off x="8156448" y="4370832"/>
            <a:ext cx="457200" cy="457200"/>
          </a:xfrm>
          <a:prstGeom prst="ellipse">
            <a:avLst/>
          </a:prstGeom>
          <a:solidFill>
            <a:srgbClr val="1E2761"/>
          </a:solidFill>
          <a:ln/>
        </p:spPr>
      </p:sp>
      <p:pic>
        <p:nvPicPr>
          <p:cNvPr id="32" name="Image 5" descr="preencoded.png">    </p:cNvPr>
          <p:cNvPicPr>
            <a:picLocks noChangeAspect="1"/>
          </p:cNvPicPr>
          <p:nvPr/>
        </p:nvPicPr>
        <p:blipFill>
          <a:blip r:embed="rId6"/>
          <a:stretch>
            <a:fillRect/>
          </a:stretch>
        </p:blipFill>
        <p:spPr>
          <a:xfrm>
            <a:off x="8275320" y="4489704"/>
            <a:ext cx="219456" cy="219456"/>
          </a:xfrm>
          <a:prstGeom prst="rect">
            <a:avLst/>
          </a:prstGeom>
        </p:spPr>
      </p:pic>
      <p:sp>
        <p:nvSpPr>
          <p:cNvPr id="33" name="Text 25"/>
          <p:cNvSpPr/>
          <p:nvPr/>
        </p:nvSpPr>
        <p:spPr>
          <a:xfrm>
            <a:off x="8732520" y="4389120"/>
            <a:ext cx="2651760" cy="45720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6. Review, Validate &amp; Monitor</a:t>
            </a:r>
            <a:endParaRPr lang="en-US" sz="1250" dirty="0"/>
          </a:p>
        </p:txBody>
      </p:sp>
      <p:sp>
        <p:nvSpPr>
          <p:cNvPr id="34" name="Text 26"/>
          <p:cNvSpPr/>
          <p:nvPr/>
        </p:nvSpPr>
        <p:spPr>
          <a:xfrm>
            <a:off x="8138160" y="4965192"/>
            <a:ext cx="3200400" cy="91440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Compare forecasts with actual outcomes periodically and refine the method.</a:t>
            </a:r>
            <a:endParaRPr lang="en-US" sz="1080" dirty="0"/>
          </a:p>
        </p:txBody>
      </p:sp>
      <p:sp>
        <p:nvSpPr>
          <p:cNvPr id="35" name="Text 2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FORECASTING PROCESS</a:t>
            </a:r>
            <a:endParaRPr lang="en-US" sz="1100" dirty="0"/>
          </a:p>
        </p:txBody>
      </p:sp>
      <p:sp>
        <p:nvSpPr>
          <p:cNvPr id="36" name="Text 2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FORECASTING TECHNIQUES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Qualitative (Judgmental) Techniques</a:t>
            </a:r>
            <a:endParaRPr lang="en-US" sz="2700" dirty="0"/>
          </a:p>
        </p:txBody>
      </p:sp>
      <p:sp>
        <p:nvSpPr>
          <p:cNvPr id="4" name="Shape 2"/>
          <p:cNvSpPr/>
          <p:nvPr/>
        </p:nvSpPr>
        <p:spPr>
          <a:xfrm>
            <a:off x="548640" y="1645920"/>
            <a:ext cx="2670048" cy="4434840"/>
          </a:xfrm>
          <a:prstGeom prst="roundRect">
            <a:avLst>
              <a:gd name="adj" fmla="val 3082"/>
            </a:avLst>
          </a:prstGeom>
          <a:solidFill>
            <a:srgbClr val="EEF3FC"/>
          </a:solidFill>
          <a:ln/>
        </p:spPr>
      </p:sp>
      <p:sp>
        <p:nvSpPr>
          <p:cNvPr id="5" name="Shape 3"/>
          <p:cNvSpPr/>
          <p:nvPr/>
        </p:nvSpPr>
        <p:spPr>
          <a:xfrm>
            <a:off x="1618488"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56380" y="1984980"/>
            <a:ext cx="254569" cy="254569"/>
          </a:xfrm>
          <a:prstGeom prst="rect">
            <a:avLst/>
          </a:prstGeom>
        </p:spPr>
      </p:pic>
      <p:sp>
        <p:nvSpPr>
          <p:cNvPr id="7" name="Text 4"/>
          <p:cNvSpPr/>
          <p:nvPr/>
        </p:nvSpPr>
        <p:spPr>
          <a:xfrm>
            <a:off x="667512"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Delphi Technique</a:t>
            </a:r>
            <a:endParaRPr lang="en-US" sz="1350" dirty="0"/>
          </a:p>
        </p:txBody>
      </p:sp>
      <p:sp>
        <p:nvSpPr>
          <p:cNvPr id="8" name="Text 5"/>
          <p:cNvSpPr/>
          <p:nvPr/>
        </p:nvSpPr>
        <p:spPr>
          <a:xfrm>
            <a:off x="694944"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A structured, anonymous, multi-round survey of experts, converging over successive rounds toward a shared forecast.</a:t>
            </a:r>
            <a:endParaRPr lang="en-US" sz="1080" dirty="0"/>
          </a:p>
        </p:txBody>
      </p:sp>
      <p:sp>
        <p:nvSpPr>
          <p:cNvPr id="9" name="Shape 6"/>
          <p:cNvSpPr/>
          <p:nvPr/>
        </p:nvSpPr>
        <p:spPr>
          <a:xfrm>
            <a:off x="3346704" y="1645920"/>
            <a:ext cx="2670048" cy="4434840"/>
          </a:xfrm>
          <a:prstGeom prst="roundRect">
            <a:avLst>
              <a:gd name="adj" fmla="val 3082"/>
            </a:avLst>
          </a:prstGeom>
          <a:solidFill>
            <a:srgbClr val="EEF3FC"/>
          </a:solidFill>
          <a:ln/>
        </p:spPr>
      </p:sp>
      <p:sp>
        <p:nvSpPr>
          <p:cNvPr id="10" name="Shape 7"/>
          <p:cNvSpPr/>
          <p:nvPr/>
        </p:nvSpPr>
        <p:spPr>
          <a:xfrm>
            <a:off x="4416552"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4554444" y="1984980"/>
            <a:ext cx="254569" cy="254569"/>
          </a:xfrm>
          <a:prstGeom prst="rect">
            <a:avLst/>
          </a:prstGeom>
        </p:spPr>
      </p:pic>
      <p:sp>
        <p:nvSpPr>
          <p:cNvPr id="12" name="Text 8"/>
          <p:cNvSpPr/>
          <p:nvPr/>
        </p:nvSpPr>
        <p:spPr>
          <a:xfrm>
            <a:off x="3465576"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Jury of Executive Opinion</a:t>
            </a:r>
            <a:endParaRPr lang="en-US" sz="1350" dirty="0"/>
          </a:p>
        </p:txBody>
      </p:sp>
      <p:sp>
        <p:nvSpPr>
          <p:cNvPr id="13" name="Text 9"/>
          <p:cNvSpPr/>
          <p:nvPr/>
        </p:nvSpPr>
        <p:spPr>
          <a:xfrm>
            <a:off x="3493008"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Senior executives pool their judgment and experience to arrive at a consensus forecast.</a:t>
            </a:r>
            <a:endParaRPr lang="en-US" sz="1080" dirty="0"/>
          </a:p>
        </p:txBody>
      </p:sp>
      <p:sp>
        <p:nvSpPr>
          <p:cNvPr id="14" name="Shape 10"/>
          <p:cNvSpPr/>
          <p:nvPr/>
        </p:nvSpPr>
        <p:spPr>
          <a:xfrm>
            <a:off x="6144768" y="1645920"/>
            <a:ext cx="2670048" cy="4434840"/>
          </a:xfrm>
          <a:prstGeom prst="roundRect">
            <a:avLst>
              <a:gd name="adj" fmla="val 3082"/>
            </a:avLst>
          </a:prstGeom>
          <a:solidFill>
            <a:srgbClr val="EEF3FC"/>
          </a:solidFill>
          <a:ln/>
        </p:spPr>
      </p:sp>
      <p:sp>
        <p:nvSpPr>
          <p:cNvPr id="15" name="Shape 11"/>
          <p:cNvSpPr/>
          <p:nvPr/>
        </p:nvSpPr>
        <p:spPr>
          <a:xfrm>
            <a:off x="721461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7352508" y="1984980"/>
            <a:ext cx="254569" cy="254569"/>
          </a:xfrm>
          <a:prstGeom prst="rect">
            <a:avLst/>
          </a:prstGeom>
        </p:spPr>
      </p:pic>
      <p:sp>
        <p:nvSpPr>
          <p:cNvPr id="17" name="Text 12"/>
          <p:cNvSpPr/>
          <p:nvPr/>
        </p:nvSpPr>
        <p:spPr>
          <a:xfrm>
            <a:off x="6263640"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Sales Force Composite</a:t>
            </a:r>
            <a:endParaRPr lang="en-US" sz="1350" dirty="0"/>
          </a:p>
        </p:txBody>
      </p:sp>
      <p:sp>
        <p:nvSpPr>
          <p:cNvPr id="18" name="Text 13"/>
          <p:cNvSpPr/>
          <p:nvPr/>
        </p:nvSpPr>
        <p:spPr>
          <a:xfrm>
            <a:off x="6291072"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Estimates from individual salespeople, closest to customers, are aggregated into an overall forecast.</a:t>
            </a:r>
            <a:endParaRPr lang="en-US" sz="1080" dirty="0"/>
          </a:p>
        </p:txBody>
      </p:sp>
      <p:sp>
        <p:nvSpPr>
          <p:cNvPr id="19" name="Shape 14"/>
          <p:cNvSpPr/>
          <p:nvPr/>
        </p:nvSpPr>
        <p:spPr>
          <a:xfrm>
            <a:off x="8942832" y="1645920"/>
            <a:ext cx="2670048" cy="4434840"/>
          </a:xfrm>
          <a:prstGeom prst="roundRect">
            <a:avLst>
              <a:gd name="adj" fmla="val 3082"/>
            </a:avLst>
          </a:prstGeom>
          <a:solidFill>
            <a:srgbClr val="EEF3FC"/>
          </a:solidFill>
          <a:ln/>
        </p:spPr>
      </p:sp>
      <p:sp>
        <p:nvSpPr>
          <p:cNvPr id="20" name="Shape 15"/>
          <p:cNvSpPr/>
          <p:nvPr/>
        </p:nvSpPr>
        <p:spPr>
          <a:xfrm>
            <a:off x="10012680" y="1847088"/>
            <a:ext cx="530352" cy="530352"/>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10150572" y="1984980"/>
            <a:ext cx="254569" cy="254569"/>
          </a:xfrm>
          <a:prstGeom prst="rect">
            <a:avLst/>
          </a:prstGeom>
        </p:spPr>
      </p:pic>
      <p:sp>
        <p:nvSpPr>
          <p:cNvPr id="22" name="Text 16"/>
          <p:cNvSpPr/>
          <p:nvPr/>
        </p:nvSpPr>
        <p:spPr>
          <a:xfrm>
            <a:off x="9061704"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Consumer / Market Surveys</a:t>
            </a:r>
            <a:endParaRPr lang="en-US" sz="1350" dirty="0"/>
          </a:p>
        </p:txBody>
      </p:sp>
      <p:sp>
        <p:nvSpPr>
          <p:cNvPr id="23" name="Text 17"/>
          <p:cNvSpPr/>
          <p:nvPr/>
        </p:nvSpPr>
        <p:spPr>
          <a:xfrm>
            <a:off x="9089136"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Directly surveying customers about their future buying intentions and preferences.</a:t>
            </a:r>
            <a:endParaRPr lang="en-US" sz="1080" dirty="0"/>
          </a:p>
        </p:txBody>
      </p:sp>
      <p:sp>
        <p:nvSpPr>
          <p:cNvPr id="24" name="Text 1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FORECASTING TECHNIQUES</a:t>
            </a:r>
            <a:endParaRPr lang="en-US" sz="11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FORECASTING TECHNIQUES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Quantitative (Statistical) Techniques</a:t>
            </a:r>
            <a:endParaRPr lang="en-US" sz="2700" dirty="0"/>
          </a:p>
        </p:txBody>
      </p:sp>
      <p:sp>
        <p:nvSpPr>
          <p:cNvPr id="4" name="Shape 2"/>
          <p:cNvSpPr/>
          <p:nvPr/>
        </p:nvSpPr>
        <p:spPr>
          <a:xfrm>
            <a:off x="548640" y="1645920"/>
            <a:ext cx="2670048" cy="4434840"/>
          </a:xfrm>
          <a:prstGeom prst="roundRect">
            <a:avLst>
              <a:gd name="adj" fmla="val 3082"/>
            </a:avLst>
          </a:prstGeom>
          <a:solidFill>
            <a:srgbClr val="EEF3FC"/>
          </a:solidFill>
          <a:ln/>
        </p:spPr>
      </p:sp>
      <p:sp>
        <p:nvSpPr>
          <p:cNvPr id="5" name="Shape 3"/>
          <p:cNvSpPr/>
          <p:nvPr/>
        </p:nvSpPr>
        <p:spPr>
          <a:xfrm>
            <a:off x="1618488"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56380" y="1984980"/>
            <a:ext cx="254569" cy="254569"/>
          </a:xfrm>
          <a:prstGeom prst="rect">
            <a:avLst/>
          </a:prstGeom>
        </p:spPr>
      </p:pic>
      <p:sp>
        <p:nvSpPr>
          <p:cNvPr id="7" name="Text 4"/>
          <p:cNvSpPr/>
          <p:nvPr/>
        </p:nvSpPr>
        <p:spPr>
          <a:xfrm>
            <a:off x="667512"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Time Series &amp; Trend Projection</a:t>
            </a:r>
            <a:endParaRPr lang="en-US" sz="1350" dirty="0"/>
          </a:p>
        </p:txBody>
      </p:sp>
      <p:sp>
        <p:nvSpPr>
          <p:cNvPr id="8" name="Text 5"/>
          <p:cNvSpPr/>
          <p:nvPr/>
        </p:nvSpPr>
        <p:spPr>
          <a:xfrm>
            <a:off x="694944"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Extrapolating historical patterns (trend, seasonality, cycles) forward in time.</a:t>
            </a:r>
            <a:endParaRPr lang="en-US" sz="1080" dirty="0"/>
          </a:p>
        </p:txBody>
      </p:sp>
      <p:sp>
        <p:nvSpPr>
          <p:cNvPr id="9" name="Shape 6"/>
          <p:cNvSpPr/>
          <p:nvPr/>
        </p:nvSpPr>
        <p:spPr>
          <a:xfrm>
            <a:off x="3346704" y="1645920"/>
            <a:ext cx="2670048" cy="4434840"/>
          </a:xfrm>
          <a:prstGeom prst="roundRect">
            <a:avLst>
              <a:gd name="adj" fmla="val 3082"/>
            </a:avLst>
          </a:prstGeom>
          <a:solidFill>
            <a:srgbClr val="EEF3FC"/>
          </a:solidFill>
          <a:ln/>
        </p:spPr>
      </p:sp>
      <p:sp>
        <p:nvSpPr>
          <p:cNvPr id="10" name="Shape 7"/>
          <p:cNvSpPr/>
          <p:nvPr/>
        </p:nvSpPr>
        <p:spPr>
          <a:xfrm>
            <a:off x="4416552"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4554444" y="1984980"/>
            <a:ext cx="254569" cy="254569"/>
          </a:xfrm>
          <a:prstGeom prst="rect">
            <a:avLst/>
          </a:prstGeom>
        </p:spPr>
      </p:pic>
      <p:sp>
        <p:nvSpPr>
          <p:cNvPr id="12" name="Text 8"/>
          <p:cNvSpPr/>
          <p:nvPr/>
        </p:nvSpPr>
        <p:spPr>
          <a:xfrm>
            <a:off x="3465576"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Moving Averages</a:t>
            </a:r>
            <a:endParaRPr lang="en-US" sz="1350" dirty="0"/>
          </a:p>
        </p:txBody>
      </p:sp>
      <p:sp>
        <p:nvSpPr>
          <p:cNvPr id="13" name="Text 9"/>
          <p:cNvSpPr/>
          <p:nvPr/>
        </p:nvSpPr>
        <p:spPr>
          <a:xfrm>
            <a:off x="3493008"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Smoothing out short-term fluctuations by averaging data over a rolling window of periods.</a:t>
            </a:r>
            <a:endParaRPr lang="en-US" sz="1080" dirty="0"/>
          </a:p>
        </p:txBody>
      </p:sp>
      <p:sp>
        <p:nvSpPr>
          <p:cNvPr id="14" name="Shape 10"/>
          <p:cNvSpPr/>
          <p:nvPr/>
        </p:nvSpPr>
        <p:spPr>
          <a:xfrm>
            <a:off x="6144768" y="1645920"/>
            <a:ext cx="2670048" cy="4434840"/>
          </a:xfrm>
          <a:prstGeom prst="roundRect">
            <a:avLst>
              <a:gd name="adj" fmla="val 3082"/>
            </a:avLst>
          </a:prstGeom>
          <a:solidFill>
            <a:srgbClr val="EEF3FC"/>
          </a:solidFill>
          <a:ln/>
        </p:spPr>
      </p:sp>
      <p:sp>
        <p:nvSpPr>
          <p:cNvPr id="15" name="Shape 11"/>
          <p:cNvSpPr/>
          <p:nvPr/>
        </p:nvSpPr>
        <p:spPr>
          <a:xfrm>
            <a:off x="721461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7352508" y="1984980"/>
            <a:ext cx="254569" cy="254569"/>
          </a:xfrm>
          <a:prstGeom prst="rect">
            <a:avLst/>
          </a:prstGeom>
        </p:spPr>
      </p:pic>
      <p:sp>
        <p:nvSpPr>
          <p:cNvPr id="17" name="Text 12"/>
          <p:cNvSpPr/>
          <p:nvPr/>
        </p:nvSpPr>
        <p:spPr>
          <a:xfrm>
            <a:off x="6263640"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Regression Analysis</a:t>
            </a:r>
            <a:endParaRPr lang="en-US" sz="1350" dirty="0"/>
          </a:p>
        </p:txBody>
      </p:sp>
      <p:sp>
        <p:nvSpPr>
          <p:cNvPr id="18" name="Text 13"/>
          <p:cNvSpPr/>
          <p:nvPr/>
        </p:nvSpPr>
        <p:spPr>
          <a:xfrm>
            <a:off x="6291072"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Modelling the statistical relationship between a variable (e.g., sales) and one or more predictors.</a:t>
            </a:r>
            <a:endParaRPr lang="en-US" sz="1080" dirty="0"/>
          </a:p>
        </p:txBody>
      </p:sp>
      <p:sp>
        <p:nvSpPr>
          <p:cNvPr id="19" name="Shape 14"/>
          <p:cNvSpPr/>
          <p:nvPr/>
        </p:nvSpPr>
        <p:spPr>
          <a:xfrm>
            <a:off x="8942832" y="1645920"/>
            <a:ext cx="2670048" cy="4434840"/>
          </a:xfrm>
          <a:prstGeom prst="roundRect">
            <a:avLst>
              <a:gd name="adj" fmla="val 3082"/>
            </a:avLst>
          </a:prstGeom>
          <a:solidFill>
            <a:srgbClr val="EEF3FC"/>
          </a:solidFill>
          <a:ln/>
        </p:spPr>
      </p:sp>
      <p:sp>
        <p:nvSpPr>
          <p:cNvPr id="20" name="Shape 15"/>
          <p:cNvSpPr/>
          <p:nvPr/>
        </p:nvSpPr>
        <p:spPr>
          <a:xfrm>
            <a:off x="10012680" y="1847088"/>
            <a:ext cx="530352" cy="530352"/>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10150572" y="1984980"/>
            <a:ext cx="254569" cy="254569"/>
          </a:xfrm>
          <a:prstGeom prst="rect">
            <a:avLst/>
          </a:prstGeom>
        </p:spPr>
      </p:pic>
      <p:sp>
        <p:nvSpPr>
          <p:cNvPr id="22" name="Text 16"/>
          <p:cNvSpPr/>
          <p:nvPr/>
        </p:nvSpPr>
        <p:spPr>
          <a:xfrm>
            <a:off x="9061704"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Econometric Models</a:t>
            </a:r>
            <a:endParaRPr lang="en-US" sz="1350" dirty="0"/>
          </a:p>
        </p:txBody>
      </p:sp>
      <p:sp>
        <p:nvSpPr>
          <p:cNvPr id="23" name="Text 17"/>
          <p:cNvSpPr/>
          <p:nvPr/>
        </p:nvSpPr>
        <p:spPr>
          <a:xfrm>
            <a:off x="9089136"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Multi-equation models linking economic variables, used for more complex, economy-wide forecasts.</a:t>
            </a:r>
            <a:endParaRPr lang="en-US" sz="1080" dirty="0"/>
          </a:p>
        </p:txBody>
      </p:sp>
      <p:sp>
        <p:nvSpPr>
          <p:cNvPr id="24" name="Text 1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FORECASTING TECHNIQUES</a:t>
            </a:r>
            <a:endParaRPr lang="en-US" sz="11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E</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MBO, MBE &amp; Decision-Making</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Process, Tools &amp; Techniques</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Two influential planning philosophies, and the structured process managers use to choose among alternatives.</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MANAGEMENT BY OBJECTIVES (MBO) &amp; MANAGEMENT BY EXCEPTION (MBE)</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Two Contrasting Philosophies</a:t>
            </a:r>
            <a:endParaRPr lang="en-US" sz="2700" dirty="0"/>
          </a:p>
        </p:txBody>
      </p:sp>
      <p:sp>
        <p:nvSpPr>
          <p:cNvPr id="4" name="Shape 2"/>
          <p:cNvSpPr/>
          <p:nvPr/>
        </p:nvSpPr>
        <p:spPr>
          <a:xfrm>
            <a:off x="548640" y="1691640"/>
            <a:ext cx="5394960" cy="4343400"/>
          </a:xfrm>
          <a:prstGeom prst="roundRect">
            <a:avLst>
              <a:gd name="adj" fmla="val 1895"/>
            </a:avLst>
          </a:prstGeom>
          <a:solidFill>
            <a:srgbClr val="1E2761"/>
          </a:solidFill>
          <a:ln/>
        </p:spPr>
      </p:sp>
      <p:sp>
        <p:nvSpPr>
          <p:cNvPr id="5" name="Shape 3"/>
          <p:cNvSpPr/>
          <p:nvPr/>
        </p:nvSpPr>
        <p:spPr>
          <a:xfrm>
            <a:off x="822960" y="1920240"/>
            <a:ext cx="594360" cy="594360"/>
          </a:xfrm>
          <a:prstGeom prst="ellipse">
            <a:avLst/>
          </a:prstGeom>
          <a:solidFill>
            <a:srgbClr val="C9A24B"/>
          </a:solidFill>
          <a:ln/>
        </p:spPr>
      </p:sp>
      <p:pic>
        <p:nvPicPr>
          <p:cNvPr id="6" name="Image 0" descr="preencoded.png">    </p:cNvPr>
          <p:cNvPicPr>
            <a:picLocks noChangeAspect="1"/>
          </p:cNvPicPr>
          <p:nvPr/>
        </p:nvPicPr>
        <p:blipFill>
          <a:blip r:embed="rId1"/>
          <a:stretch>
            <a:fillRect/>
          </a:stretch>
        </p:blipFill>
        <p:spPr>
          <a:xfrm>
            <a:off x="977494" y="2074774"/>
            <a:ext cx="285293" cy="285293"/>
          </a:xfrm>
          <a:prstGeom prst="rect">
            <a:avLst/>
          </a:prstGeom>
        </p:spPr>
      </p:pic>
      <p:sp>
        <p:nvSpPr>
          <p:cNvPr id="7" name="Text 4"/>
          <p:cNvSpPr/>
          <p:nvPr/>
        </p:nvSpPr>
        <p:spPr>
          <a:xfrm>
            <a:off x="1554480" y="1965960"/>
            <a:ext cx="4206240" cy="4572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Management by Objectives (MBO)</a:t>
            </a:r>
            <a:endParaRPr lang="en-US" sz="1650" dirty="0"/>
          </a:p>
        </p:txBody>
      </p:sp>
      <p:sp>
        <p:nvSpPr>
          <p:cNvPr id="8" name="Text 5"/>
          <p:cNvSpPr/>
          <p:nvPr/>
        </p:nvSpPr>
        <p:spPr>
          <a:xfrm>
            <a:off x="1554480" y="2377440"/>
            <a:ext cx="4206240" cy="320040"/>
          </a:xfrm>
          <a:prstGeom prst="rect">
            <a:avLst/>
          </a:prstGeom>
          <a:noFill/>
          <a:ln/>
        </p:spPr>
        <p:txBody>
          <a:bodyPr wrap="square" rtlCol="0" anchor="ctr"/>
          <a:lstStyle/>
          <a:p>
            <a:pPr indent="0" marL="0">
              <a:buNone/>
            </a:pPr>
            <a:r>
              <a:rPr lang="en-US" sz="1150" i="1" dirty="0">
                <a:solidFill>
                  <a:srgbClr val="C9A24B"/>
                </a:solidFill>
                <a:latin typeface="Calibri" pitchFamily="34" charset="0"/>
                <a:ea typeface="Calibri" pitchFamily="34" charset="-122"/>
                <a:cs typeface="Calibri" pitchFamily="34" charset="-120"/>
              </a:rPr>
              <a:t>Peter Drucker</a:t>
            </a:r>
            <a:endParaRPr lang="en-US" sz="1150" dirty="0"/>
          </a:p>
        </p:txBody>
      </p:sp>
      <p:sp>
        <p:nvSpPr>
          <p:cNvPr id="9" name="Text 6"/>
          <p:cNvSpPr/>
          <p:nvPr/>
        </p:nvSpPr>
        <p:spPr>
          <a:xfrm>
            <a:off x="822960" y="2880360"/>
            <a:ext cx="4846320" cy="30175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Superiors and subordinates jointly set clear, measurable objectives, translate them into individual action-plans, review progress periodically, and appraise performance against the agreed targets — aligning individual effort with organizational goals.</a:t>
            </a:r>
            <a:endParaRPr lang="en-US" sz="1250" dirty="0"/>
          </a:p>
        </p:txBody>
      </p:sp>
      <p:sp>
        <p:nvSpPr>
          <p:cNvPr id="10" name="Shape 7"/>
          <p:cNvSpPr/>
          <p:nvPr/>
        </p:nvSpPr>
        <p:spPr>
          <a:xfrm>
            <a:off x="6217920" y="1691640"/>
            <a:ext cx="5394960" cy="4343400"/>
          </a:xfrm>
          <a:prstGeom prst="roundRect">
            <a:avLst>
              <a:gd name="adj" fmla="val 1895"/>
            </a:avLst>
          </a:prstGeom>
          <a:solidFill>
            <a:srgbClr val="EEF3FC"/>
          </a:solidFill>
          <a:ln/>
        </p:spPr>
      </p:sp>
      <p:sp>
        <p:nvSpPr>
          <p:cNvPr id="11" name="Shape 8"/>
          <p:cNvSpPr/>
          <p:nvPr/>
        </p:nvSpPr>
        <p:spPr>
          <a:xfrm>
            <a:off x="6492240" y="1920240"/>
            <a:ext cx="594360" cy="59436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6646774" y="2074774"/>
            <a:ext cx="285293" cy="285293"/>
          </a:xfrm>
          <a:prstGeom prst="rect">
            <a:avLst/>
          </a:prstGeom>
        </p:spPr>
      </p:pic>
      <p:sp>
        <p:nvSpPr>
          <p:cNvPr id="13" name="Text 9"/>
          <p:cNvSpPr/>
          <p:nvPr/>
        </p:nvSpPr>
        <p:spPr>
          <a:xfrm>
            <a:off x="7223760" y="1965960"/>
            <a:ext cx="4206240" cy="457200"/>
          </a:xfrm>
          <a:prstGeom prst="rect">
            <a:avLst/>
          </a:prstGeom>
          <a:noFill/>
          <a:ln/>
        </p:spPr>
        <p:txBody>
          <a:bodyPr wrap="square"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Management by Exception (MBE)</a:t>
            </a:r>
            <a:endParaRPr lang="en-US" sz="1650" dirty="0"/>
          </a:p>
        </p:txBody>
      </p:sp>
      <p:sp>
        <p:nvSpPr>
          <p:cNvPr id="14" name="Text 10"/>
          <p:cNvSpPr/>
          <p:nvPr/>
        </p:nvSpPr>
        <p:spPr>
          <a:xfrm>
            <a:off x="7223760" y="2377440"/>
            <a:ext cx="4206240" cy="320040"/>
          </a:xfrm>
          <a:prstGeom prst="rect">
            <a:avLst/>
          </a:prstGeom>
          <a:noFill/>
          <a:ln/>
        </p:spPr>
        <p:txBody>
          <a:bodyPr wrap="square"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Focus on Deviations</a:t>
            </a:r>
            <a:endParaRPr lang="en-US" sz="1150" dirty="0"/>
          </a:p>
        </p:txBody>
      </p:sp>
      <p:sp>
        <p:nvSpPr>
          <p:cNvPr id="15" name="Text 11"/>
          <p:cNvSpPr/>
          <p:nvPr/>
        </p:nvSpPr>
        <p:spPr>
          <a:xfrm>
            <a:off x="6492240" y="2880360"/>
            <a:ext cx="4846320" cy="3017520"/>
          </a:xfrm>
          <a:prstGeom prst="rect">
            <a:avLst/>
          </a:prstGeom>
          <a:noFill/>
          <a:ln/>
        </p:spPr>
        <p:txBody>
          <a:bodyPr wrap="square" rtlCol="0" anchor="t"/>
          <a:lstStyle/>
          <a:p>
            <a:pPr indent="0" marL="0">
              <a:buNone/>
            </a:pPr>
            <a:r>
              <a:rPr lang="en-US" sz="1250" dirty="0">
                <a:solidFill>
                  <a:srgbClr val="2B2B33"/>
                </a:solidFill>
                <a:latin typeface="Calibri" pitchFamily="34" charset="0"/>
                <a:ea typeface="Calibri" pitchFamily="34" charset="-122"/>
                <a:cs typeface="Calibri" pitchFamily="34" charset="-120"/>
              </a:rPr>
              <a:t>Managers set standards of performance, then direct their attention only to significant deviations (exceptions) from those standards — routine matters within tolerance are left to subordinates, freeing top management's time for what truly needs it.</a:t>
            </a:r>
            <a:endParaRPr lang="en-US" sz="125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MBO &amp; MBE</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DECISION-MAKING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&amp; the Decision-Making Process</a:t>
            </a:r>
            <a:endParaRPr lang="en-US" sz="2700" dirty="0"/>
          </a:p>
        </p:txBody>
      </p:sp>
      <p:sp>
        <p:nvSpPr>
          <p:cNvPr id="4" name="Text 2"/>
          <p:cNvSpPr/>
          <p:nvPr/>
        </p:nvSpPr>
        <p:spPr>
          <a:xfrm>
            <a:off x="548640" y="1600200"/>
            <a:ext cx="11064240" cy="548640"/>
          </a:xfrm>
          <a:prstGeom prst="rect">
            <a:avLst/>
          </a:prstGeom>
          <a:noFill/>
          <a:ln/>
        </p:spPr>
        <p:txBody>
          <a:bodyPr wrap="square" rtlCol="0" anchor="ctr"/>
          <a:lstStyle/>
          <a:p>
            <a:pPr indent="0" marL="0">
              <a:buNone/>
            </a:pPr>
            <a:r>
              <a:rPr lang="en-US" sz="1400" i="1" dirty="0">
                <a:solidFill>
                  <a:srgbClr val="2B2B33"/>
                </a:solidFill>
                <a:latin typeface="Calibri" pitchFamily="34" charset="0"/>
                <a:ea typeface="Calibri" pitchFamily="34" charset="-122"/>
                <a:cs typeface="Calibri" pitchFamily="34" charset="-120"/>
              </a:rPr>
              <a:t>Decision-making is the process of identifying a problem or opportunity and selecting the best course of action, among available alternatives, to resolve or exploit it.</a:t>
            </a:r>
            <a:endParaRPr lang="en-US" sz="1400" dirty="0"/>
          </a:p>
        </p:txBody>
      </p:sp>
      <p:sp>
        <p:nvSpPr>
          <p:cNvPr id="5" name="Shape 3"/>
          <p:cNvSpPr/>
          <p:nvPr/>
        </p:nvSpPr>
        <p:spPr>
          <a:xfrm>
            <a:off x="548640" y="2286000"/>
            <a:ext cx="2624328" cy="1600200"/>
          </a:xfrm>
          <a:prstGeom prst="roundRect">
            <a:avLst>
              <a:gd name="adj" fmla="val 4571"/>
            </a:avLst>
          </a:prstGeom>
          <a:solidFill>
            <a:srgbClr val="1E2761"/>
          </a:solidFill>
          <a:ln/>
        </p:spPr>
      </p:sp>
      <p:sp>
        <p:nvSpPr>
          <p:cNvPr id="6" name="Text 4"/>
          <p:cNvSpPr/>
          <p:nvPr/>
        </p:nvSpPr>
        <p:spPr>
          <a:xfrm>
            <a:off x="685800" y="2377440"/>
            <a:ext cx="548640" cy="457200"/>
          </a:xfrm>
          <a:prstGeom prst="rect">
            <a:avLst/>
          </a:prstGeom>
          <a:noFill/>
          <a:ln/>
        </p:spPr>
        <p:txBody>
          <a:bodyPr wrap="square"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685800" y="2880360"/>
            <a:ext cx="2350008" cy="9144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Identify the problem</a:t>
            </a:r>
            <a:endParaRPr lang="en-US" sz="1200" dirty="0"/>
          </a:p>
        </p:txBody>
      </p:sp>
      <p:sp>
        <p:nvSpPr>
          <p:cNvPr id="8" name="Shape 6"/>
          <p:cNvSpPr/>
          <p:nvPr/>
        </p:nvSpPr>
        <p:spPr>
          <a:xfrm>
            <a:off x="3191256" y="3012948"/>
            <a:ext cx="109728" cy="146304"/>
          </a:xfrm>
          <a:prstGeom prst="rightArrow">
            <a:avLst/>
          </a:prstGeom>
          <a:solidFill>
            <a:srgbClr val="C9A24B"/>
          </a:solidFill>
          <a:ln/>
        </p:spPr>
      </p:sp>
      <p:sp>
        <p:nvSpPr>
          <p:cNvPr id="9" name="Shape 7"/>
          <p:cNvSpPr/>
          <p:nvPr/>
        </p:nvSpPr>
        <p:spPr>
          <a:xfrm>
            <a:off x="3310128" y="2286000"/>
            <a:ext cx="2624328" cy="1600200"/>
          </a:xfrm>
          <a:prstGeom prst="roundRect">
            <a:avLst>
              <a:gd name="adj" fmla="val 4571"/>
            </a:avLst>
          </a:prstGeom>
          <a:solidFill>
            <a:srgbClr val="1E2761"/>
          </a:solidFill>
          <a:ln/>
        </p:spPr>
      </p:sp>
      <p:sp>
        <p:nvSpPr>
          <p:cNvPr id="10" name="Text 8"/>
          <p:cNvSpPr/>
          <p:nvPr/>
        </p:nvSpPr>
        <p:spPr>
          <a:xfrm>
            <a:off x="3447288" y="2377440"/>
            <a:ext cx="548640" cy="457200"/>
          </a:xfrm>
          <a:prstGeom prst="rect">
            <a:avLst/>
          </a:prstGeom>
          <a:noFill/>
          <a:ln/>
        </p:spPr>
        <p:txBody>
          <a:bodyPr wrap="square"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3447288" y="2880360"/>
            <a:ext cx="2350008" cy="9144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Identify decision criteria</a:t>
            </a:r>
            <a:endParaRPr lang="en-US" sz="1200" dirty="0"/>
          </a:p>
        </p:txBody>
      </p:sp>
      <p:sp>
        <p:nvSpPr>
          <p:cNvPr id="12" name="Shape 10"/>
          <p:cNvSpPr/>
          <p:nvPr/>
        </p:nvSpPr>
        <p:spPr>
          <a:xfrm>
            <a:off x="5952744" y="3012948"/>
            <a:ext cx="109728" cy="146304"/>
          </a:xfrm>
          <a:prstGeom prst="rightArrow">
            <a:avLst/>
          </a:prstGeom>
          <a:solidFill>
            <a:srgbClr val="C9A24B"/>
          </a:solidFill>
          <a:ln/>
        </p:spPr>
      </p:sp>
      <p:sp>
        <p:nvSpPr>
          <p:cNvPr id="13" name="Shape 11"/>
          <p:cNvSpPr/>
          <p:nvPr/>
        </p:nvSpPr>
        <p:spPr>
          <a:xfrm>
            <a:off x="6071616" y="2286000"/>
            <a:ext cx="2624328" cy="1600200"/>
          </a:xfrm>
          <a:prstGeom prst="roundRect">
            <a:avLst>
              <a:gd name="adj" fmla="val 4571"/>
            </a:avLst>
          </a:prstGeom>
          <a:solidFill>
            <a:srgbClr val="1E2761"/>
          </a:solidFill>
          <a:ln/>
        </p:spPr>
      </p:sp>
      <p:sp>
        <p:nvSpPr>
          <p:cNvPr id="14" name="Text 12"/>
          <p:cNvSpPr/>
          <p:nvPr/>
        </p:nvSpPr>
        <p:spPr>
          <a:xfrm>
            <a:off x="6208776" y="2377440"/>
            <a:ext cx="548640" cy="457200"/>
          </a:xfrm>
          <a:prstGeom prst="rect">
            <a:avLst/>
          </a:prstGeom>
          <a:noFill/>
          <a:ln/>
        </p:spPr>
        <p:txBody>
          <a:bodyPr wrap="square"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3</a:t>
            </a:r>
            <a:endParaRPr lang="en-US" sz="2200" dirty="0"/>
          </a:p>
        </p:txBody>
      </p:sp>
      <p:sp>
        <p:nvSpPr>
          <p:cNvPr id="15" name="Text 13"/>
          <p:cNvSpPr/>
          <p:nvPr/>
        </p:nvSpPr>
        <p:spPr>
          <a:xfrm>
            <a:off x="6208776" y="2880360"/>
            <a:ext cx="2350008" cy="9144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Weigh the criteria</a:t>
            </a:r>
            <a:endParaRPr lang="en-US" sz="1200" dirty="0"/>
          </a:p>
        </p:txBody>
      </p:sp>
      <p:sp>
        <p:nvSpPr>
          <p:cNvPr id="16" name="Shape 14"/>
          <p:cNvSpPr/>
          <p:nvPr/>
        </p:nvSpPr>
        <p:spPr>
          <a:xfrm>
            <a:off x="8714232" y="3012948"/>
            <a:ext cx="109728" cy="146304"/>
          </a:xfrm>
          <a:prstGeom prst="rightArrow">
            <a:avLst/>
          </a:prstGeom>
          <a:solidFill>
            <a:srgbClr val="C9A24B"/>
          </a:solidFill>
          <a:ln/>
        </p:spPr>
      </p:sp>
      <p:sp>
        <p:nvSpPr>
          <p:cNvPr id="17" name="Shape 15"/>
          <p:cNvSpPr/>
          <p:nvPr/>
        </p:nvSpPr>
        <p:spPr>
          <a:xfrm>
            <a:off x="8833104" y="2286000"/>
            <a:ext cx="2624328" cy="1600200"/>
          </a:xfrm>
          <a:prstGeom prst="roundRect">
            <a:avLst>
              <a:gd name="adj" fmla="val 4571"/>
            </a:avLst>
          </a:prstGeom>
          <a:solidFill>
            <a:srgbClr val="1E2761"/>
          </a:solidFill>
          <a:ln/>
        </p:spPr>
      </p:sp>
      <p:sp>
        <p:nvSpPr>
          <p:cNvPr id="18" name="Text 16"/>
          <p:cNvSpPr/>
          <p:nvPr/>
        </p:nvSpPr>
        <p:spPr>
          <a:xfrm>
            <a:off x="8970264" y="2377440"/>
            <a:ext cx="548640" cy="457200"/>
          </a:xfrm>
          <a:prstGeom prst="rect">
            <a:avLst/>
          </a:prstGeom>
          <a:noFill/>
          <a:ln/>
        </p:spPr>
        <p:txBody>
          <a:bodyPr wrap="square"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4</a:t>
            </a:r>
            <a:endParaRPr lang="en-US" sz="2200" dirty="0"/>
          </a:p>
        </p:txBody>
      </p:sp>
      <p:sp>
        <p:nvSpPr>
          <p:cNvPr id="19" name="Text 17"/>
          <p:cNvSpPr/>
          <p:nvPr/>
        </p:nvSpPr>
        <p:spPr>
          <a:xfrm>
            <a:off x="8970264" y="2880360"/>
            <a:ext cx="2350008" cy="9144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Generate alternatives</a:t>
            </a:r>
            <a:endParaRPr lang="en-US" sz="1200" dirty="0"/>
          </a:p>
        </p:txBody>
      </p:sp>
      <p:sp>
        <p:nvSpPr>
          <p:cNvPr id="20" name="Shape 18"/>
          <p:cNvSpPr/>
          <p:nvPr/>
        </p:nvSpPr>
        <p:spPr>
          <a:xfrm>
            <a:off x="548640" y="4069080"/>
            <a:ext cx="2624328" cy="1600200"/>
          </a:xfrm>
          <a:prstGeom prst="roundRect">
            <a:avLst>
              <a:gd name="adj" fmla="val 4571"/>
            </a:avLst>
          </a:prstGeom>
          <a:solidFill>
            <a:srgbClr val="1E2761"/>
          </a:solidFill>
          <a:ln/>
        </p:spPr>
      </p:sp>
      <p:sp>
        <p:nvSpPr>
          <p:cNvPr id="21" name="Text 19"/>
          <p:cNvSpPr/>
          <p:nvPr/>
        </p:nvSpPr>
        <p:spPr>
          <a:xfrm>
            <a:off x="685800" y="4160520"/>
            <a:ext cx="548640" cy="457200"/>
          </a:xfrm>
          <a:prstGeom prst="rect">
            <a:avLst/>
          </a:prstGeom>
          <a:noFill/>
          <a:ln/>
        </p:spPr>
        <p:txBody>
          <a:bodyPr wrap="square"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5</a:t>
            </a:r>
            <a:endParaRPr lang="en-US" sz="2200" dirty="0"/>
          </a:p>
        </p:txBody>
      </p:sp>
      <p:sp>
        <p:nvSpPr>
          <p:cNvPr id="22" name="Text 20"/>
          <p:cNvSpPr/>
          <p:nvPr/>
        </p:nvSpPr>
        <p:spPr>
          <a:xfrm>
            <a:off x="685800" y="4663440"/>
            <a:ext cx="2350008" cy="9144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Evaluate the alternatives</a:t>
            </a:r>
            <a:endParaRPr lang="en-US" sz="1200" dirty="0"/>
          </a:p>
        </p:txBody>
      </p:sp>
      <p:sp>
        <p:nvSpPr>
          <p:cNvPr id="23" name="Shape 21"/>
          <p:cNvSpPr/>
          <p:nvPr/>
        </p:nvSpPr>
        <p:spPr>
          <a:xfrm>
            <a:off x="3191256" y="4796028"/>
            <a:ext cx="109728" cy="146304"/>
          </a:xfrm>
          <a:prstGeom prst="rightArrow">
            <a:avLst/>
          </a:prstGeom>
          <a:solidFill>
            <a:srgbClr val="C9A24B"/>
          </a:solidFill>
          <a:ln/>
        </p:spPr>
      </p:sp>
      <p:sp>
        <p:nvSpPr>
          <p:cNvPr id="24" name="Shape 22"/>
          <p:cNvSpPr/>
          <p:nvPr/>
        </p:nvSpPr>
        <p:spPr>
          <a:xfrm>
            <a:off x="3310128" y="4069080"/>
            <a:ext cx="2624328" cy="1600200"/>
          </a:xfrm>
          <a:prstGeom prst="roundRect">
            <a:avLst>
              <a:gd name="adj" fmla="val 4571"/>
            </a:avLst>
          </a:prstGeom>
          <a:solidFill>
            <a:srgbClr val="1E2761"/>
          </a:solidFill>
          <a:ln/>
        </p:spPr>
      </p:sp>
      <p:sp>
        <p:nvSpPr>
          <p:cNvPr id="25" name="Text 23"/>
          <p:cNvSpPr/>
          <p:nvPr/>
        </p:nvSpPr>
        <p:spPr>
          <a:xfrm>
            <a:off x="3447288" y="4160520"/>
            <a:ext cx="548640" cy="457200"/>
          </a:xfrm>
          <a:prstGeom prst="rect">
            <a:avLst/>
          </a:prstGeom>
          <a:noFill/>
          <a:ln/>
        </p:spPr>
        <p:txBody>
          <a:bodyPr wrap="square"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6</a:t>
            </a:r>
            <a:endParaRPr lang="en-US" sz="2200" dirty="0"/>
          </a:p>
        </p:txBody>
      </p:sp>
      <p:sp>
        <p:nvSpPr>
          <p:cNvPr id="26" name="Text 24"/>
          <p:cNvSpPr/>
          <p:nvPr/>
        </p:nvSpPr>
        <p:spPr>
          <a:xfrm>
            <a:off x="3447288" y="4663440"/>
            <a:ext cx="2350008" cy="9144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Select the best alternative</a:t>
            </a:r>
            <a:endParaRPr lang="en-US" sz="1200" dirty="0"/>
          </a:p>
        </p:txBody>
      </p:sp>
      <p:sp>
        <p:nvSpPr>
          <p:cNvPr id="27" name="Shape 25"/>
          <p:cNvSpPr/>
          <p:nvPr/>
        </p:nvSpPr>
        <p:spPr>
          <a:xfrm>
            <a:off x="5952744" y="4796028"/>
            <a:ext cx="109728" cy="146304"/>
          </a:xfrm>
          <a:prstGeom prst="rightArrow">
            <a:avLst/>
          </a:prstGeom>
          <a:solidFill>
            <a:srgbClr val="C9A24B"/>
          </a:solidFill>
          <a:ln/>
        </p:spPr>
      </p:sp>
      <p:sp>
        <p:nvSpPr>
          <p:cNvPr id="28" name="Shape 26"/>
          <p:cNvSpPr/>
          <p:nvPr/>
        </p:nvSpPr>
        <p:spPr>
          <a:xfrm>
            <a:off x="6071616" y="4069080"/>
            <a:ext cx="2624328" cy="1600200"/>
          </a:xfrm>
          <a:prstGeom prst="roundRect">
            <a:avLst>
              <a:gd name="adj" fmla="val 4571"/>
            </a:avLst>
          </a:prstGeom>
          <a:solidFill>
            <a:srgbClr val="1E2761"/>
          </a:solidFill>
          <a:ln/>
        </p:spPr>
      </p:sp>
      <p:sp>
        <p:nvSpPr>
          <p:cNvPr id="29" name="Text 27"/>
          <p:cNvSpPr/>
          <p:nvPr/>
        </p:nvSpPr>
        <p:spPr>
          <a:xfrm>
            <a:off x="6208776" y="4160520"/>
            <a:ext cx="548640" cy="457200"/>
          </a:xfrm>
          <a:prstGeom prst="rect">
            <a:avLst/>
          </a:prstGeom>
          <a:noFill/>
          <a:ln/>
        </p:spPr>
        <p:txBody>
          <a:bodyPr wrap="square"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7</a:t>
            </a:r>
            <a:endParaRPr lang="en-US" sz="2200" dirty="0"/>
          </a:p>
        </p:txBody>
      </p:sp>
      <p:sp>
        <p:nvSpPr>
          <p:cNvPr id="30" name="Text 28"/>
          <p:cNvSpPr/>
          <p:nvPr/>
        </p:nvSpPr>
        <p:spPr>
          <a:xfrm>
            <a:off x="6208776" y="4663440"/>
            <a:ext cx="2350008" cy="9144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Implement the decision</a:t>
            </a:r>
            <a:endParaRPr lang="en-US" sz="1200" dirty="0"/>
          </a:p>
        </p:txBody>
      </p:sp>
      <p:sp>
        <p:nvSpPr>
          <p:cNvPr id="31" name="Shape 29"/>
          <p:cNvSpPr/>
          <p:nvPr/>
        </p:nvSpPr>
        <p:spPr>
          <a:xfrm>
            <a:off x="8714232" y="4796028"/>
            <a:ext cx="109728" cy="146304"/>
          </a:xfrm>
          <a:prstGeom prst="rightArrow">
            <a:avLst/>
          </a:prstGeom>
          <a:solidFill>
            <a:srgbClr val="C9A24B"/>
          </a:solidFill>
          <a:ln/>
        </p:spPr>
      </p:sp>
      <p:sp>
        <p:nvSpPr>
          <p:cNvPr id="32" name="Shape 30"/>
          <p:cNvSpPr/>
          <p:nvPr/>
        </p:nvSpPr>
        <p:spPr>
          <a:xfrm>
            <a:off x="8833104" y="4069080"/>
            <a:ext cx="2624328" cy="1600200"/>
          </a:xfrm>
          <a:prstGeom prst="roundRect">
            <a:avLst>
              <a:gd name="adj" fmla="val 4571"/>
            </a:avLst>
          </a:prstGeom>
          <a:solidFill>
            <a:srgbClr val="1E2761"/>
          </a:solidFill>
          <a:ln/>
        </p:spPr>
      </p:sp>
      <p:sp>
        <p:nvSpPr>
          <p:cNvPr id="33" name="Text 31"/>
          <p:cNvSpPr/>
          <p:nvPr/>
        </p:nvSpPr>
        <p:spPr>
          <a:xfrm>
            <a:off x="8970264" y="4160520"/>
            <a:ext cx="548640" cy="457200"/>
          </a:xfrm>
          <a:prstGeom prst="rect">
            <a:avLst/>
          </a:prstGeom>
          <a:noFill/>
          <a:ln/>
        </p:spPr>
        <p:txBody>
          <a:bodyPr wrap="square" rtlCol="0" anchor="ctr"/>
          <a:lstStyle/>
          <a:p>
            <a:pPr indent="0" marL="0">
              <a:buNone/>
            </a:pPr>
            <a:r>
              <a:rPr lang="en-US" sz="2200" b="1" dirty="0">
                <a:solidFill>
                  <a:srgbClr val="C9A24B"/>
                </a:solidFill>
                <a:latin typeface="Cambria" pitchFamily="34" charset="0"/>
                <a:ea typeface="Cambria" pitchFamily="34" charset="-122"/>
                <a:cs typeface="Cambria" pitchFamily="34" charset="-120"/>
              </a:rPr>
              <a:t>8</a:t>
            </a:r>
            <a:endParaRPr lang="en-US" sz="2200" dirty="0"/>
          </a:p>
        </p:txBody>
      </p:sp>
      <p:sp>
        <p:nvSpPr>
          <p:cNvPr id="34" name="Text 32"/>
          <p:cNvSpPr/>
          <p:nvPr/>
        </p:nvSpPr>
        <p:spPr>
          <a:xfrm>
            <a:off x="8970264" y="4663440"/>
            <a:ext cx="2350008" cy="91440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Review &amp; monitor results</a:t>
            </a:r>
            <a:endParaRPr lang="en-US" sz="1200" dirty="0"/>
          </a:p>
        </p:txBody>
      </p:sp>
      <p:sp>
        <p:nvSpPr>
          <p:cNvPr id="35" name="Text 3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DECISION-MAKING PROCESS</a:t>
            </a:r>
            <a:endParaRPr lang="en-US" sz="1100" dirty="0"/>
          </a:p>
        </p:txBody>
      </p:sp>
      <p:sp>
        <p:nvSpPr>
          <p:cNvPr id="36" name="Text 3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DECISION-MAKING TOOLS &amp; TECHNIQUES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Group A — Structuring the Decision</a:t>
            </a:r>
            <a:endParaRPr lang="en-US" sz="2700" dirty="0"/>
          </a:p>
        </p:txBody>
      </p:sp>
      <p:sp>
        <p:nvSpPr>
          <p:cNvPr id="4" name="Shape 2"/>
          <p:cNvSpPr/>
          <p:nvPr/>
        </p:nvSpPr>
        <p:spPr>
          <a:xfrm>
            <a:off x="548640" y="1645920"/>
            <a:ext cx="2670048" cy="4434840"/>
          </a:xfrm>
          <a:prstGeom prst="roundRect">
            <a:avLst>
              <a:gd name="adj" fmla="val 3082"/>
            </a:avLst>
          </a:prstGeom>
          <a:solidFill>
            <a:srgbClr val="EEF3FC"/>
          </a:solidFill>
          <a:ln/>
        </p:spPr>
      </p:sp>
      <p:sp>
        <p:nvSpPr>
          <p:cNvPr id="5" name="Shape 3"/>
          <p:cNvSpPr/>
          <p:nvPr/>
        </p:nvSpPr>
        <p:spPr>
          <a:xfrm>
            <a:off x="1618488"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56380" y="1984980"/>
            <a:ext cx="254569" cy="254569"/>
          </a:xfrm>
          <a:prstGeom prst="rect">
            <a:avLst/>
          </a:prstGeom>
        </p:spPr>
      </p:pic>
      <p:sp>
        <p:nvSpPr>
          <p:cNvPr id="7" name="Text 4"/>
          <p:cNvSpPr/>
          <p:nvPr/>
        </p:nvSpPr>
        <p:spPr>
          <a:xfrm>
            <a:off x="667512"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Decision Tree</a:t>
            </a:r>
            <a:endParaRPr lang="en-US" sz="1350" dirty="0"/>
          </a:p>
        </p:txBody>
      </p:sp>
      <p:sp>
        <p:nvSpPr>
          <p:cNvPr id="8" name="Text 5"/>
          <p:cNvSpPr/>
          <p:nvPr/>
        </p:nvSpPr>
        <p:spPr>
          <a:xfrm>
            <a:off x="694944"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A branching diagram mapping out decisions, chance events and payoffs, helping visualize multi-stage choices.</a:t>
            </a:r>
            <a:endParaRPr lang="en-US" sz="1080" dirty="0"/>
          </a:p>
        </p:txBody>
      </p:sp>
      <p:sp>
        <p:nvSpPr>
          <p:cNvPr id="9" name="Shape 6"/>
          <p:cNvSpPr/>
          <p:nvPr/>
        </p:nvSpPr>
        <p:spPr>
          <a:xfrm>
            <a:off x="3346704" y="1645920"/>
            <a:ext cx="2670048" cy="4434840"/>
          </a:xfrm>
          <a:prstGeom prst="roundRect">
            <a:avLst>
              <a:gd name="adj" fmla="val 3082"/>
            </a:avLst>
          </a:prstGeom>
          <a:solidFill>
            <a:srgbClr val="EEF3FC"/>
          </a:solidFill>
          <a:ln/>
        </p:spPr>
      </p:sp>
      <p:sp>
        <p:nvSpPr>
          <p:cNvPr id="10" name="Shape 7"/>
          <p:cNvSpPr/>
          <p:nvPr/>
        </p:nvSpPr>
        <p:spPr>
          <a:xfrm>
            <a:off x="4416552"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4554444" y="1984980"/>
            <a:ext cx="254569" cy="254569"/>
          </a:xfrm>
          <a:prstGeom prst="rect">
            <a:avLst/>
          </a:prstGeom>
        </p:spPr>
      </p:pic>
      <p:sp>
        <p:nvSpPr>
          <p:cNvPr id="12" name="Text 8"/>
          <p:cNvSpPr/>
          <p:nvPr/>
        </p:nvSpPr>
        <p:spPr>
          <a:xfrm>
            <a:off x="3465576"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Payoff / Decision Matrix</a:t>
            </a:r>
            <a:endParaRPr lang="en-US" sz="1350" dirty="0"/>
          </a:p>
        </p:txBody>
      </p:sp>
      <p:sp>
        <p:nvSpPr>
          <p:cNvPr id="13" name="Text 9"/>
          <p:cNvSpPr/>
          <p:nvPr/>
        </p:nvSpPr>
        <p:spPr>
          <a:xfrm>
            <a:off x="3493008"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A table of alternatives versus possible states of nature, showing the expected payoff of each combination.</a:t>
            </a:r>
            <a:endParaRPr lang="en-US" sz="1080" dirty="0"/>
          </a:p>
        </p:txBody>
      </p:sp>
      <p:sp>
        <p:nvSpPr>
          <p:cNvPr id="14" name="Shape 10"/>
          <p:cNvSpPr/>
          <p:nvPr/>
        </p:nvSpPr>
        <p:spPr>
          <a:xfrm>
            <a:off x="6144768" y="1645920"/>
            <a:ext cx="2670048" cy="4434840"/>
          </a:xfrm>
          <a:prstGeom prst="roundRect">
            <a:avLst>
              <a:gd name="adj" fmla="val 3082"/>
            </a:avLst>
          </a:prstGeom>
          <a:solidFill>
            <a:srgbClr val="EEF3FC"/>
          </a:solidFill>
          <a:ln/>
        </p:spPr>
      </p:sp>
      <p:sp>
        <p:nvSpPr>
          <p:cNvPr id="15" name="Shape 11"/>
          <p:cNvSpPr/>
          <p:nvPr/>
        </p:nvSpPr>
        <p:spPr>
          <a:xfrm>
            <a:off x="721461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7352508" y="1984980"/>
            <a:ext cx="254569" cy="254569"/>
          </a:xfrm>
          <a:prstGeom prst="rect">
            <a:avLst/>
          </a:prstGeom>
        </p:spPr>
      </p:pic>
      <p:sp>
        <p:nvSpPr>
          <p:cNvPr id="17" name="Text 12"/>
          <p:cNvSpPr/>
          <p:nvPr/>
        </p:nvSpPr>
        <p:spPr>
          <a:xfrm>
            <a:off x="6263640"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SWOT Analysis</a:t>
            </a:r>
            <a:endParaRPr lang="en-US" sz="1350" dirty="0"/>
          </a:p>
        </p:txBody>
      </p:sp>
      <p:sp>
        <p:nvSpPr>
          <p:cNvPr id="18" name="Text 13"/>
          <p:cNvSpPr/>
          <p:nvPr/>
        </p:nvSpPr>
        <p:spPr>
          <a:xfrm>
            <a:off x="6291072"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Assessing Strengths, Weaknesses, Opportunities and Threats before committing to a course of action.</a:t>
            </a:r>
            <a:endParaRPr lang="en-US" sz="1080" dirty="0"/>
          </a:p>
        </p:txBody>
      </p:sp>
      <p:sp>
        <p:nvSpPr>
          <p:cNvPr id="19" name="Shape 14"/>
          <p:cNvSpPr/>
          <p:nvPr/>
        </p:nvSpPr>
        <p:spPr>
          <a:xfrm>
            <a:off x="8942832" y="1645920"/>
            <a:ext cx="2670048" cy="4434840"/>
          </a:xfrm>
          <a:prstGeom prst="roundRect">
            <a:avLst>
              <a:gd name="adj" fmla="val 3082"/>
            </a:avLst>
          </a:prstGeom>
          <a:solidFill>
            <a:srgbClr val="EEF3FC"/>
          </a:solidFill>
          <a:ln/>
        </p:spPr>
      </p:sp>
      <p:sp>
        <p:nvSpPr>
          <p:cNvPr id="20" name="Shape 15"/>
          <p:cNvSpPr/>
          <p:nvPr/>
        </p:nvSpPr>
        <p:spPr>
          <a:xfrm>
            <a:off x="10012680" y="1847088"/>
            <a:ext cx="530352" cy="530352"/>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10150572" y="1984980"/>
            <a:ext cx="254569" cy="254569"/>
          </a:xfrm>
          <a:prstGeom prst="rect">
            <a:avLst/>
          </a:prstGeom>
        </p:spPr>
      </p:pic>
      <p:sp>
        <p:nvSpPr>
          <p:cNvPr id="22" name="Text 16"/>
          <p:cNvSpPr/>
          <p:nvPr/>
        </p:nvSpPr>
        <p:spPr>
          <a:xfrm>
            <a:off x="9061704"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Cost-Benefit Analysis</a:t>
            </a:r>
            <a:endParaRPr lang="en-US" sz="1350" dirty="0"/>
          </a:p>
        </p:txBody>
      </p:sp>
      <p:sp>
        <p:nvSpPr>
          <p:cNvPr id="23" name="Text 17"/>
          <p:cNvSpPr/>
          <p:nvPr/>
        </p:nvSpPr>
        <p:spPr>
          <a:xfrm>
            <a:off x="9089136"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Comparing the total expected costs of an option against its total expected benefits in comparable terms.</a:t>
            </a:r>
            <a:endParaRPr lang="en-US" sz="1080" dirty="0"/>
          </a:p>
        </p:txBody>
      </p:sp>
      <p:sp>
        <p:nvSpPr>
          <p:cNvPr id="24" name="Text 1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DECISION-MAKING TOOLS &amp; TECHNIQUES</a:t>
            </a:r>
            <a:endParaRPr lang="en-US" sz="11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DECISION-MAKING TOOLS &amp; TECHNIQUES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Group B — Generating &amp; Testing Options</a:t>
            </a:r>
            <a:endParaRPr lang="en-US" sz="2700" dirty="0"/>
          </a:p>
        </p:txBody>
      </p:sp>
      <p:sp>
        <p:nvSpPr>
          <p:cNvPr id="4" name="Shape 2"/>
          <p:cNvSpPr/>
          <p:nvPr/>
        </p:nvSpPr>
        <p:spPr>
          <a:xfrm>
            <a:off x="548640" y="1645920"/>
            <a:ext cx="2670048" cy="4434840"/>
          </a:xfrm>
          <a:prstGeom prst="roundRect">
            <a:avLst>
              <a:gd name="adj" fmla="val 3082"/>
            </a:avLst>
          </a:prstGeom>
          <a:solidFill>
            <a:srgbClr val="EEF3FC"/>
          </a:solidFill>
          <a:ln/>
        </p:spPr>
      </p:sp>
      <p:sp>
        <p:nvSpPr>
          <p:cNvPr id="5" name="Shape 3"/>
          <p:cNvSpPr/>
          <p:nvPr/>
        </p:nvSpPr>
        <p:spPr>
          <a:xfrm>
            <a:off x="1618488"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56380" y="1984980"/>
            <a:ext cx="254569" cy="254569"/>
          </a:xfrm>
          <a:prstGeom prst="rect">
            <a:avLst/>
          </a:prstGeom>
        </p:spPr>
      </p:pic>
      <p:sp>
        <p:nvSpPr>
          <p:cNvPr id="7" name="Text 4"/>
          <p:cNvSpPr/>
          <p:nvPr/>
        </p:nvSpPr>
        <p:spPr>
          <a:xfrm>
            <a:off x="667512"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Brainstorming</a:t>
            </a:r>
            <a:endParaRPr lang="en-US" sz="1350" dirty="0"/>
          </a:p>
        </p:txBody>
      </p:sp>
      <p:sp>
        <p:nvSpPr>
          <p:cNvPr id="8" name="Text 5"/>
          <p:cNvSpPr/>
          <p:nvPr/>
        </p:nvSpPr>
        <p:spPr>
          <a:xfrm>
            <a:off x="694944"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A group technique for generating a large volume of creative alternatives without immediate criticism.</a:t>
            </a:r>
            <a:endParaRPr lang="en-US" sz="1080" dirty="0"/>
          </a:p>
        </p:txBody>
      </p:sp>
      <p:sp>
        <p:nvSpPr>
          <p:cNvPr id="9" name="Shape 6"/>
          <p:cNvSpPr/>
          <p:nvPr/>
        </p:nvSpPr>
        <p:spPr>
          <a:xfrm>
            <a:off x="3346704" y="1645920"/>
            <a:ext cx="2670048" cy="4434840"/>
          </a:xfrm>
          <a:prstGeom prst="roundRect">
            <a:avLst>
              <a:gd name="adj" fmla="val 3082"/>
            </a:avLst>
          </a:prstGeom>
          <a:solidFill>
            <a:srgbClr val="EEF3FC"/>
          </a:solidFill>
          <a:ln/>
        </p:spPr>
      </p:sp>
      <p:sp>
        <p:nvSpPr>
          <p:cNvPr id="10" name="Shape 7"/>
          <p:cNvSpPr/>
          <p:nvPr/>
        </p:nvSpPr>
        <p:spPr>
          <a:xfrm>
            <a:off x="4416552"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4554444" y="1984980"/>
            <a:ext cx="254569" cy="254569"/>
          </a:xfrm>
          <a:prstGeom prst="rect">
            <a:avLst/>
          </a:prstGeom>
        </p:spPr>
      </p:pic>
      <p:sp>
        <p:nvSpPr>
          <p:cNvPr id="12" name="Text 8"/>
          <p:cNvSpPr/>
          <p:nvPr/>
        </p:nvSpPr>
        <p:spPr>
          <a:xfrm>
            <a:off x="3465576"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Nominal Group Technique</a:t>
            </a:r>
            <a:endParaRPr lang="en-US" sz="1350" dirty="0"/>
          </a:p>
        </p:txBody>
      </p:sp>
      <p:sp>
        <p:nvSpPr>
          <p:cNvPr id="13" name="Text 9"/>
          <p:cNvSpPr/>
          <p:nvPr/>
        </p:nvSpPr>
        <p:spPr>
          <a:xfrm>
            <a:off x="3493008"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A structured variant of brainstorming where individuals generate ideas silently before group discussion and ranking.</a:t>
            </a:r>
            <a:endParaRPr lang="en-US" sz="1080" dirty="0"/>
          </a:p>
        </p:txBody>
      </p:sp>
      <p:sp>
        <p:nvSpPr>
          <p:cNvPr id="14" name="Shape 10"/>
          <p:cNvSpPr/>
          <p:nvPr/>
        </p:nvSpPr>
        <p:spPr>
          <a:xfrm>
            <a:off x="6144768" y="1645920"/>
            <a:ext cx="2670048" cy="4434840"/>
          </a:xfrm>
          <a:prstGeom prst="roundRect">
            <a:avLst>
              <a:gd name="adj" fmla="val 3082"/>
            </a:avLst>
          </a:prstGeom>
          <a:solidFill>
            <a:srgbClr val="EEF3FC"/>
          </a:solidFill>
          <a:ln/>
        </p:spPr>
      </p:sp>
      <p:sp>
        <p:nvSpPr>
          <p:cNvPr id="15" name="Shape 11"/>
          <p:cNvSpPr/>
          <p:nvPr/>
        </p:nvSpPr>
        <p:spPr>
          <a:xfrm>
            <a:off x="721461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7352508" y="1984980"/>
            <a:ext cx="254569" cy="254569"/>
          </a:xfrm>
          <a:prstGeom prst="rect">
            <a:avLst/>
          </a:prstGeom>
        </p:spPr>
      </p:pic>
      <p:sp>
        <p:nvSpPr>
          <p:cNvPr id="17" name="Text 12"/>
          <p:cNvSpPr/>
          <p:nvPr/>
        </p:nvSpPr>
        <p:spPr>
          <a:xfrm>
            <a:off x="6263640"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Delphi Technique</a:t>
            </a:r>
            <a:endParaRPr lang="en-US" sz="1350" dirty="0"/>
          </a:p>
        </p:txBody>
      </p:sp>
      <p:sp>
        <p:nvSpPr>
          <p:cNvPr id="18" name="Text 13"/>
          <p:cNvSpPr/>
          <p:nvPr/>
        </p:nvSpPr>
        <p:spPr>
          <a:xfrm>
            <a:off x="6291072"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Anonymous, iterative expert surveys used to build consensus on complex or uncertain decisions.</a:t>
            </a:r>
            <a:endParaRPr lang="en-US" sz="1080" dirty="0"/>
          </a:p>
        </p:txBody>
      </p:sp>
      <p:sp>
        <p:nvSpPr>
          <p:cNvPr id="19" name="Shape 14"/>
          <p:cNvSpPr/>
          <p:nvPr/>
        </p:nvSpPr>
        <p:spPr>
          <a:xfrm>
            <a:off x="8942832" y="1645920"/>
            <a:ext cx="2670048" cy="4434840"/>
          </a:xfrm>
          <a:prstGeom prst="roundRect">
            <a:avLst>
              <a:gd name="adj" fmla="val 3082"/>
            </a:avLst>
          </a:prstGeom>
          <a:solidFill>
            <a:srgbClr val="EEF3FC"/>
          </a:solidFill>
          <a:ln/>
        </p:spPr>
      </p:sp>
      <p:sp>
        <p:nvSpPr>
          <p:cNvPr id="20" name="Shape 15"/>
          <p:cNvSpPr/>
          <p:nvPr/>
        </p:nvSpPr>
        <p:spPr>
          <a:xfrm>
            <a:off x="10012680" y="1847088"/>
            <a:ext cx="530352" cy="530352"/>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10150572" y="1984980"/>
            <a:ext cx="254569" cy="254569"/>
          </a:xfrm>
          <a:prstGeom prst="rect">
            <a:avLst/>
          </a:prstGeom>
        </p:spPr>
      </p:pic>
      <p:sp>
        <p:nvSpPr>
          <p:cNvPr id="22" name="Text 16"/>
          <p:cNvSpPr/>
          <p:nvPr/>
        </p:nvSpPr>
        <p:spPr>
          <a:xfrm>
            <a:off x="9061704" y="2724912"/>
            <a:ext cx="2432304"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Simulation / Operations Research</a:t>
            </a:r>
            <a:endParaRPr lang="en-US" sz="1350" dirty="0"/>
          </a:p>
        </p:txBody>
      </p:sp>
      <p:sp>
        <p:nvSpPr>
          <p:cNvPr id="23" name="Text 17"/>
          <p:cNvSpPr/>
          <p:nvPr/>
        </p:nvSpPr>
        <p:spPr>
          <a:xfrm>
            <a:off x="9089136" y="3337560"/>
            <a:ext cx="2377440" cy="265176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Using models (e.g., linear programming, queuing theory) to test the likely outcome of a decision before committing resources.</a:t>
            </a:r>
            <a:endParaRPr lang="en-US" sz="1080" dirty="0"/>
          </a:p>
        </p:txBody>
      </p:sp>
      <p:sp>
        <p:nvSpPr>
          <p:cNvPr id="24" name="Text 1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DECISION-MAKING TOOLS &amp; TECHNIQUES</a:t>
            </a:r>
            <a:endParaRPr lang="en-US" sz="11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TYPES OF DECISIONS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Programmed vs. Non-Programmed Decisions</a:t>
            </a:r>
            <a:endParaRPr lang="en-US" sz="2700" dirty="0"/>
          </a:p>
        </p:txBody>
      </p:sp>
      <p:sp>
        <p:nvSpPr>
          <p:cNvPr id="4" name="Shape 2"/>
          <p:cNvSpPr/>
          <p:nvPr/>
        </p:nvSpPr>
        <p:spPr>
          <a:xfrm>
            <a:off x="548640" y="1645920"/>
            <a:ext cx="2651760" cy="941832"/>
          </a:xfrm>
          <a:prstGeom prst="rect">
            <a:avLst/>
          </a:prstGeom>
          <a:solidFill>
            <a:srgbClr val="1E2761"/>
          </a:solidFill>
          <a:ln/>
        </p:spPr>
      </p:sp>
      <p:sp>
        <p:nvSpPr>
          <p:cNvPr id="5" name="Shape 3"/>
          <p:cNvSpPr/>
          <p:nvPr/>
        </p:nvSpPr>
        <p:spPr>
          <a:xfrm>
            <a:off x="3200400" y="1645920"/>
            <a:ext cx="4206240" cy="941832"/>
          </a:xfrm>
          <a:prstGeom prst="rect">
            <a:avLst/>
          </a:prstGeom>
          <a:solidFill>
            <a:srgbClr val="3A4A8C"/>
          </a:solidFill>
          <a:ln/>
        </p:spPr>
      </p:sp>
      <p:sp>
        <p:nvSpPr>
          <p:cNvPr id="6" name="Shape 4"/>
          <p:cNvSpPr/>
          <p:nvPr/>
        </p:nvSpPr>
        <p:spPr>
          <a:xfrm>
            <a:off x="7406640" y="1645920"/>
            <a:ext cx="4206240" cy="941832"/>
          </a:xfrm>
          <a:prstGeom prst="rect">
            <a:avLst/>
          </a:prstGeom>
          <a:solidFill>
            <a:srgbClr val="C9A24B"/>
          </a:solidFill>
          <a:ln/>
        </p:spPr>
      </p:sp>
      <p:sp>
        <p:nvSpPr>
          <p:cNvPr id="7" name="Text 5"/>
          <p:cNvSpPr/>
          <p:nvPr/>
        </p:nvSpPr>
        <p:spPr>
          <a:xfrm>
            <a:off x="548640" y="1645920"/>
            <a:ext cx="2651760" cy="941832"/>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BASIS</a:t>
            </a:r>
            <a:endParaRPr lang="en-US" sz="1250" dirty="0"/>
          </a:p>
        </p:txBody>
      </p:sp>
      <p:sp>
        <p:nvSpPr>
          <p:cNvPr id="8" name="Text 6"/>
          <p:cNvSpPr/>
          <p:nvPr/>
        </p:nvSpPr>
        <p:spPr>
          <a:xfrm>
            <a:off x="3200400" y="1645920"/>
            <a:ext cx="4206240" cy="941832"/>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Programmed Decisions</a:t>
            </a:r>
            <a:endParaRPr lang="en-US" sz="1250" dirty="0"/>
          </a:p>
        </p:txBody>
      </p:sp>
      <p:sp>
        <p:nvSpPr>
          <p:cNvPr id="9" name="Text 7"/>
          <p:cNvSpPr/>
          <p:nvPr/>
        </p:nvSpPr>
        <p:spPr>
          <a:xfrm>
            <a:off x="7406640" y="1645920"/>
            <a:ext cx="4206240" cy="941832"/>
          </a:xfrm>
          <a:prstGeom prst="rect">
            <a:avLst/>
          </a:prstGeom>
          <a:noFill/>
          <a:ln/>
        </p:spPr>
        <p:txBody>
          <a:bodyPr wrap="square" rtlCol="0" anchor="ctr"/>
          <a:lstStyle/>
          <a:p>
            <a:pPr algn="ctr" indent="0" marL="0">
              <a:buNone/>
            </a:pPr>
            <a:r>
              <a:rPr lang="en-US" sz="1250" b="1" dirty="0">
                <a:solidFill>
                  <a:srgbClr val="141B48"/>
                </a:solidFill>
                <a:latin typeface="Cambria" pitchFamily="34" charset="0"/>
                <a:ea typeface="Cambria" pitchFamily="34" charset="-122"/>
                <a:cs typeface="Cambria" pitchFamily="34" charset="-120"/>
              </a:rPr>
              <a:t>Non-Programmed Decisions</a:t>
            </a:r>
            <a:endParaRPr lang="en-US" sz="1250" dirty="0"/>
          </a:p>
        </p:txBody>
      </p:sp>
      <p:sp>
        <p:nvSpPr>
          <p:cNvPr id="10" name="Shape 8"/>
          <p:cNvSpPr/>
          <p:nvPr/>
        </p:nvSpPr>
        <p:spPr>
          <a:xfrm>
            <a:off x="548640" y="2587752"/>
            <a:ext cx="2651760" cy="941832"/>
          </a:xfrm>
          <a:prstGeom prst="rect">
            <a:avLst/>
          </a:prstGeom>
          <a:solidFill>
            <a:srgbClr val="EEF3FC"/>
          </a:solidFill>
          <a:ln/>
        </p:spPr>
      </p:sp>
      <p:sp>
        <p:nvSpPr>
          <p:cNvPr id="11" name="Shape 9"/>
          <p:cNvSpPr/>
          <p:nvPr/>
        </p:nvSpPr>
        <p:spPr>
          <a:xfrm>
            <a:off x="3200400" y="2587752"/>
            <a:ext cx="4206240" cy="941832"/>
          </a:xfrm>
          <a:prstGeom prst="rect">
            <a:avLst/>
          </a:prstGeom>
          <a:solidFill>
            <a:srgbClr val="EEF3FC"/>
          </a:solidFill>
          <a:ln/>
        </p:spPr>
      </p:sp>
      <p:sp>
        <p:nvSpPr>
          <p:cNvPr id="12" name="Shape 10"/>
          <p:cNvSpPr/>
          <p:nvPr/>
        </p:nvSpPr>
        <p:spPr>
          <a:xfrm>
            <a:off x="7406640" y="2587752"/>
            <a:ext cx="4206240" cy="941832"/>
          </a:xfrm>
          <a:prstGeom prst="rect">
            <a:avLst/>
          </a:prstGeom>
          <a:solidFill>
            <a:srgbClr val="EEF3FC"/>
          </a:solidFill>
          <a:ln/>
        </p:spPr>
      </p:sp>
      <p:sp>
        <p:nvSpPr>
          <p:cNvPr id="13" name="Text 11"/>
          <p:cNvSpPr/>
          <p:nvPr/>
        </p:nvSpPr>
        <p:spPr>
          <a:xfrm>
            <a:off x="685800" y="2587752"/>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Nature of problem</a:t>
            </a:r>
            <a:endParaRPr lang="en-US" sz="1150" dirty="0"/>
          </a:p>
        </p:txBody>
      </p:sp>
      <p:sp>
        <p:nvSpPr>
          <p:cNvPr id="14" name="Text 12"/>
          <p:cNvSpPr/>
          <p:nvPr/>
        </p:nvSpPr>
        <p:spPr>
          <a:xfrm>
            <a:off x="3337560" y="2587752"/>
            <a:ext cx="3931920" cy="941832"/>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Routine, repetitive, well-structured</a:t>
            </a:r>
            <a:endParaRPr lang="en-US" sz="1100" dirty="0"/>
          </a:p>
        </p:txBody>
      </p:sp>
      <p:sp>
        <p:nvSpPr>
          <p:cNvPr id="15" name="Text 13"/>
          <p:cNvSpPr/>
          <p:nvPr/>
        </p:nvSpPr>
        <p:spPr>
          <a:xfrm>
            <a:off x="7543800" y="2587752"/>
            <a:ext cx="3931920" cy="941832"/>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Novel, unstructured, one-off</a:t>
            </a:r>
            <a:endParaRPr lang="en-US" sz="1100" dirty="0"/>
          </a:p>
        </p:txBody>
      </p:sp>
      <p:sp>
        <p:nvSpPr>
          <p:cNvPr id="16" name="Shape 14"/>
          <p:cNvSpPr/>
          <p:nvPr/>
        </p:nvSpPr>
        <p:spPr>
          <a:xfrm>
            <a:off x="548640" y="3529584"/>
            <a:ext cx="2651760" cy="941832"/>
          </a:xfrm>
          <a:prstGeom prst="rect">
            <a:avLst/>
          </a:prstGeom>
          <a:solidFill>
            <a:srgbClr val="FFFFFF"/>
          </a:solidFill>
          <a:ln/>
        </p:spPr>
      </p:sp>
      <p:sp>
        <p:nvSpPr>
          <p:cNvPr id="17" name="Shape 15"/>
          <p:cNvSpPr/>
          <p:nvPr/>
        </p:nvSpPr>
        <p:spPr>
          <a:xfrm>
            <a:off x="3200400" y="3529584"/>
            <a:ext cx="4206240" cy="941832"/>
          </a:xfrm>
          <a:prstGeom prst="rect">
            <a:avLst/>
          </a:prstGeom>
          <a:solidFill>
            <a:srgbClr val="FFFFFF"/>
          </a:solidFill>
          <a:ln/>
        </p:spPr>
      </p:sp>
      <p:sp>
        <p:nvSpPr>
          <p:cNvPr id="18" name="Shape 16"/>
          <p:cNvSpPr/>
          <p:nvPr/>
        </p:nvSpPr>
        <p:spPr>
          <a:xfrm>
            <a:off x="7406640" y="3529584"/>
            <a:ext cx="4206240" cy="941832"/>
          </a:xfrm>
          <a:prstGeom prst="rect">
            <a:avLst/>
          </a:prstGeom>
          <a:solidFill>
            <a:srgbClr val="FFFFFF"/>
          </a:solidFill>
          <a:ln/>
        </p:spPr>
      </p:sp>
      <p:sp>
        <p:nvSpPr>
          <p:cNvPr id="19" name="Text 17"/>
          <p:cNvSpPr/>
          <p:nvPr/>
        </p:nvSpPr>
        <p:spPr>
          <a:xfrm>
            <a:off x="685800" y="3529584"/>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Basis of decision</a:t>
            </a:r>
            <a:endParaRPr lang="en-US" sz="1150" dirty="0"/>
          </a:p>
        </p:txBody>
      </p:sp>
      <p:sp>
        <p:nvSpPr>
          <p:cNvPr id="20" name="Text 18"/>
          <p:cNvSpPr/>
          <p:nvPr/>
        </p:nvSpPr>
        <p:spPr>
          <a:xfrm>
            <a:off x="3337560" y="3529584"/>
            <a:ext cx="3931920" cy="941832"/>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Established rules, policies, procedures</a:t>
            </a:r>
            <a:endParaRPr lang="en-US" sz="1100" dirty="0"/>
          </a:p>
        </p:txBody>
      </p:sp>
      <p:sp>
        <p:nvSpPr>
          <p:cNvPr id="21" name="Text 19"/>
          <p:cNvSpPr/>
          <p:nvPr/>
        </p:nvSpPr>
        <p:spPr>
          <a:xfrm>
            <a:off x="7543800" y="3529584"/>
            <a:ext cx="3931920" cy="941832"/>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Judgment, creativity, experience</a:t>
            </a:r>
            <a:endParaRPr lang="en-US" sz="1100" dirty="0"/>
          </a:p>
        </p:txBody>
      </p:sp>
      <p:sp>
        <p:nvSpPr>
          <p:cNvPr id="22" name="Shape 20"/>
          <p:cNvSpPr/>
          <p:nvPr/>
        </p:nvSpPr>
        <p:spPr>
          <a:xfrm>
            <a:off x="548640" y="4471416"/>
            <a:ext cx="2651760" cy="941832"/>
          </a:xfrm>
          <a:prstGeom prst="rect">
            <a:avLst/>
          </a:prstGeom>
          <a:solidFill>
            <a:srgbClr val="EEF3FC"/>
          </a:solidFill>
          <a:ln/>
        </p:spPr>
      </p:sp>
      <p:sp>
        <p:nvSpPr>
          <p:cNvPr id="23" name="Shape 21"/>
          <p:cNvSpPr/>
          <p:nvPr/>
        </p:nvSpPr>
        <p:spPr>
          <a:xfrm>
            <a:off x="3200400" y="4471416"/>
            <a:ext cx="4206240" cy="941832"/>
          </a:xfrm>
          <a:prstGeom prst="rect">
            <a:avLst/>
          </a:prstGeom>
          <a:solidFill>
            <a:srgbClr val="EEF3FC"/>
          </a:solidFill>
          <a:ln/>
        </p:spPr>
      </p:sp>
      <p:sp>
        <p:nvSpPr>
          <p:cNvPr id="24" name="Shape 22"/>
          <p:cNvSpPr/>
          <p:nvPr/>
        </p:nvSpPr>
        <p:spPr>
          <a:xfrm>
            <a:off x="7406640" y="4471416"/>
            <a:ext cx="4206240" cy="941832"/>
          </a:xfrm>
          <a:prstGeom prst="rect">
            <a:avLst/>
          </a:prstGeom>
          <a:solidFill>
            <a:srgbClr val="EEF3FC"/>
          </a:solidFill>
          <a:ln/>
        </p:spPr>
      </p:sp>
      <p:sp>
        <p:nvSpPr>
          <p:cNvPr id="25" name="Text 23"/>
          <p:cNvSpPr/>
          <p:nvPr/>
        </p:nvSpPr>
        <p:spPr>
          <a:xfrm>
            <a:off x="685800" y="4471416"/>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Level typically made</a:t>
            </a:r>
            <a:endParaRPr lang="en-US" sz="1150" dirty="0"/>
          </a:p>
        </p:txBody>
      </p:sp>
      <p:sp>
        <p:nvSpPr>
          <p:cNvPr id="26" name="Text 24"/>
          <p:cNvSpPr/>
          <p:nvPr/>
        </p:nvSpPr>
        <p:spPr>
          <a:xfrm>
            <a:off x="3337560" y="4471416"/>
            <a:ext cx="3931920" cy="941832"/>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Lower/supervisory management</a:t>
            </a:r>
            <a:endParaRPr lang="en-US" sz="1100" dirty="0"/>
          </a:p>
        </p:txBody>
      </p:sp>
      <p:sp>
        <p:nvSpPr>
          <p:cNvPr id="27" name="Text 25"/>
          <p:cNvSpPr/>
          <p:nvPr/>
        </p:nvSpPr>
        <p:spPr>
          <a:xfrm>
            <a:off x="7543800" y="4471416"/>
            <a:ext cx="3931920" cy="941832"/>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Top management</a:t>
            </a:r>
            <a:endParaRPr lang="en-US" sz="1100" dirty="0"/>
          </a:p>
        </p:txBody>
      </p:sp>
      <p:sp>
        <p:nvSpPr>
          <p:cNvPr id="28" name="Shape 26"/>
          <p:cNvSpPr/>
          <p:nvPr/>
        </p:nvSpPr>
        <p:spPr>
          <a:xfrm>
            <a:off x="548640" y="5413248"/>
            <a:ext cx="2651760" cy="941832"/>
          </a:xfrm>
          <a:prstGeom prst="rect">
            <a:avLst/>
          </a:prstGeom>
          <a:solidFill>
            <a:srgbClr val="FFFFFF"/>
          </a:solidFill>
          <a:ln/>
        </p:spPr>
      </p:sp>
      <p:sp>
        <p:nvSpPr>
          <p:cNvPr id="29" name="Shape 27"/>
          <p:cNvSpPr/>
          <p:nvPr/>
        </p:nvSpPr>
        <p:spPr>
          <a:xfrm>
            <a:off x="3200400" y="5413248"/>
            <a:ext cx="4206240" cy="941832"/>
          </a:xfrm>
          <a:prstGeom prst="rect">
            <a:avLst/>
          </a:prstGeom>
          <a:solidFill>
            <a:srgbClr val="FFFFFF"/>
          </a:solidFill>
          <a:ln/>
        </p:spPr>
      </p:sp>
      <p:sp>
        <p:nvSpPr>
          <p:cNvPr id="30" name="Shape 28"/>
          <p:cNvSpPr/>
          <p:nvPr/>
        </p:nvSpPr>
        <p:spPr>
          <a:xfrm>
            <a:off x="7406640" y="5413248"/>
            <a:ext cx="4206240" cy="941832"/>
          </a:xfrm>
          <a:prstGeom prst="rect">
            <a:avLst/>
          </a:prstGeom>
          <a:solidFill>
            <a:srgbClr val="FFFFFF"/>
          </a:solidFill>
          <a:ln/>
        </p:spPr>
      </p:sp>
      <p:sp>
        <p:nvSpPr>
          <p:cNvPr id="31" name="Text 29"/>
          <p:cNvSpPr/>
          <p:nvPr/>
        </p:nvSpPr>
        <p:spPr>
          <a:xfrm>
            <a:off x="685800" y="5413248"/>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Example</a:t>
            </a:r>
            <a:endParaRPr lang="en-US" sz="1150" dirty="0"/>
          </a:p>
        </p:txBody>
      </p:sp>
      <p:sp>
        <p:nvSpPr>
          <p:cNvPr id="32" name="Text 30"/>
          <p:cNvSpPr/>
          <p:nvPr/>
        </p:nvSpPr>
        <p:spPr>
          <a:xfrm>
            <a:off x="3337560" y="5413248"/>
            <a:ext cx="3931920" cy="941832"/>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Approving a standard leave request</a:t>
            </a:r>
            <a:endParaRPr lang="en-US" sz="1100" dirty="0"/>
          </a:p>
        </p:txBody>
      </p:sp>
      <p:sp>
        <p:nvSpPr>
          <p:cNvPr id="33" name="Text 31"/>
          <p:cNvSpPr/>
          <p:nvPr/>
        </p:nvSpPr>
        <p:spPr>
          <a:xfrm>
            <a:off x="7543800" y="5413248"/>
            <a:ext cx="3931920" cy="941832"/>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Deciding whether to enter a new country market</a:t>
            </a:r>
            <a:endParaRPr lang="en-US" sz="1100" dirty="0"/>
          </a:p>
        </p:txBody>
      </p:sp>
      <p:sp>
        <p:nvSpPr>
          <p:cNvPr id="34" name="Text 3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TYPES OF DECISIONS</a:t>
            </a:r>
            <a:endParaRPr lang="en-US" sz="1100" dirty="0"/>
          </a:p>
        </p:txBody>
      </p:sp>
      <p:sp>
        <p:nvSpPr>
          <p:cNvPr id="35" name="Text 3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F</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Strategic Wisdom</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Strategic Planning, Policy-Making &amp; Decision-Making — Lessons from Chanakya's Arthashastra</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A 4th-century-BCE treatise on statecraft that still offers a working model for strategy, policy and decisive leadership.</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STRATEGIC PLANNING, POLICY-MAKING &amp; DECISION-MAKING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How the Three Relate to Each Other</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Strategic planning is long-term, organization-wide planning that positions the organization relative to its external environment — usually the domain of top management, answering 'where do we want to be, and how, in the next several years?'</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Policy-making sets the standing guidelines within which recurring decisions are made — translating strategic intent into consistent rules of thumb for the organization ('how do we generally handle this kind of situation?').</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Decision-making is the specific act of choosing among alternatives, within the boundaries strategy and policy have set — it happens at every level, every day, but is shaped by the strategic direction and policies decided above.</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Three Layers, One Direction</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bank's strategy to 'go digital-first' (strategic planning) leads to a policy of 'no new physical branches' (policy-making), which then shapes a manager's daily decision to redirect a customer to the app (decision-making).</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STRATEGIC PLANNING, POLICY-MAKING &amp; DECISION-MAKING</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37</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STRATEGIC PLANNING &amp; CHANAKYA'S ARTHASHASTRA</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Chanakya and the Arthashastra — Context</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The Arthashastra is an ancient Indian treatise on statecraft, economic policy, and military strategy, attributed to Chanakya (Kautilya) — advisor to Chandragupta Maurya, and traditionally dated to around the 4th century BCE.</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Though written for kings and ministers, its guidance on organizing resources, managing rivals, gathering intelligence, and making firm decisions under uncertainty translates surprisingly directly into strategic management for modern organizations.</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The text is often summarized by its own core principle: sound strategy rests on accurate assessment of one's own strength, the strength of rivals and allies, and the discipline to act decisively once a course is chosen.</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Statecraft as Strategy</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Just as Chanakya helped a regional prince (Chandragupta) build the Mauryan Empire, modern strategists help a challenger firm methodically out-plan a dominant incumbent.</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STRATEGIC PLANNING &amp; CHANAKYA'S ARTHASHASTRA</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38</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457200" y="365760"/>
            <a:ext cx="1124712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SAPTANGA — MAPPING THE STATE TO THE ORGANIZATION</a:t>
            </a:r>
            <a:endParaRPr lang="en-US" sz="2000" dirty="0"/>
          </a:p>
        </p:txBody>
      </p:sp>
      <p:sp>
        <p:nvSpPr>
          <p:cNvPr id="3" name="Shape 1"/>
          <p:cNvSpPr/>
          <p:nvPr/>
        </p:nvSpPr>
        <p:spPr>
          <a:xfrm>
            <a:off x="6080760" y="1554480"/>
            <a:ext cx="9144" cy="2286000"/>
          </a:xfrm>
          <a:prstGeom prst="line">
            <a:avLst/>
          </a:prstGeom>
          <a:noFill/>
          <a:ln w="12700">
            <a:solidFill>
              <a:srgbClr val="C9A24B"/>
            </a:solidFill>
            <a:prstDash val="solid"/>
          </a:ln>
        </p:spPr>
      </p:sp>
      <p:sp>
        <p:nvSpPr>
          <p:cNvPr id="4" name="Shape 2"/>
          <p:cNvSpPr/>
          <p:nvPr/>
        </p:nvSpPr>
        <p:spPr>
          <a:xfrm>
            <a:off x="4937760" y="1143000"/>
            <a:ext cx="2286000" cy="822960"/>
          </a:xfrm>
          <a:prstGeom prst="roundRect">
            <a:avLst>
              <a:gd name="adj" fmla="val 7778"/>
            </a:avLst>
          </a:prstGeom>
          <a:solidFill>
            <a:srgbClr val="1E2761"/>
          </a:solidFill>
          <a:ln/>
        </p:spPr>
      </p:sp>
      <p:sp>
        <p:nvSpPr>
          <p:cNvPr id="5" name="Text 3"/>
          <p:cNvSpPr/>
          <p:nvPr/>
        </p:nvSpPr>
        <p:spPr>
          <a:xfrm>
            <a:off x="5029200" y="1143000"/>
            <a:ext cx="2103120" cy="8229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Swami</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(King → CEO/Leader)</a:t>
            </a:r>
            <a:endParaRPr lang="en-US" sz="1050" dirty="0"/>
          </a:p>
        </p:txBody>
      </p:sp>
      <p:sp>
        <p:nvSpPr>
          <p:cNvPr id="6" name="Shape 4"/>
          <p:cNvSpPr/>
          <p:nvPr/>
        </p:nvSpPr>
        <p:spPr>
          <a:xfrm>
            <a:off x="6080760" y="2415182"/>
            <a:ext cx="1787267" cy="1425298"/>
          </a:xfrm>
          <a:prstGeom prst="line">
            <a:avLst/>
          </a:prstGeom>
          <a:noFill/>
          <a:ln w="12700">
            <a:solidFill>
              <a:srgbClr val="C9A24B"/>
            </a:solidFill>
            <a:prstDash val="solid"/>
          </a:ln>
        </p:spPr>
      </p:sp>
      <p:sp>
        <p:nvSpPr>
          <p:cNvPr id="7" name="Shape 5"/>
          <p:cNvSpPr/>
          <p:nvPr/>
        </p:nvSpPr>
        <p:spPr>
          <a:xfrm>
            <a:off x="6725027" y="2003702"/>
            <a:ext cx="2286000" cy="822960"/>
          </a:xfrm>
          <a:prstGeom prst="roundRect">
            <a:avLst>
              <a:gd name="adj" fmla="val 7778"/>
            </a:avLst>
          </a:prstGeom>
          <a:solidFill>
            <a:srgbClr val="1E2761"/>
          </a:solidFill>
          <a:ln/>
        </p:spPr>
      </p:sp>
      <p:sp>
        <p:nvSpPr>
          <p:cNvPr id="8" name="Text 6"/>
          <p:cNvSpPr/>
          <p:nvPr/>
        </p:nvSpPr>
        <p:spPr>
          <a:xfrm>
            <a:off x="6816467" y="2003702"/>
            <a:ext cx="2103120" cy="8229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Amatya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(Ministers → Management Team)</a:t>
            </a:r>
            <a:endParaRPr lang="en-US" sz="1050" dirty="0"/>
          </a:p>
        </p:txBody>
      </p:sp>
      <p:sp>
        <p:nvSpPr>
          <p:cNvPr id="9" name="Shape 7"/>
          <p:cNvSpPr/>
          <p:nvPr/>
        </p:nvSpPr>
        <p:spPr>
          <a:xfrm>
            <a:off x="6080760" y="3840480"/>
            <a:ext cx="2228685" cy="508683"/>
          </a:xfrm>
          <a:prstGeom prst="line">
            <a:avLst/>
          </a:prstGeom>
          <a:noFill/>
          <a:ln w="12700">
            <a:solidFill>
              <a:srgbClr val="C9A24B"/>
            </a:solidFill>
            <a:prstDash val="solid"/>
          </a:ln>
        </p:spPr>
      </p:sp>
      <p:sp>
        <p:nvSpPr>
          <p:cNvPr id="10" name="Shape 8"/>
          <p:cNvSpPr/>
          <p:nvPr/>
        </p:nvSpPr>
        <p:spPr>
          <a:xfrm>
            <a:off x="7166445" y="3937683"/>
            <a:ext cx="2286000" cy="822960"/>
          </a:xfrm>
          <a:prstGeom prst="roundRect">
            <a:avLst>
              <a:gd name="adj" fmla="val 7778"/>
            </a:avLst>
          </a:prstGeom>
          <a:solidFill>
            <a:srgbClr val="1E2761"/>
          </a:solidFill>
          <a:ln/>
        </p:spPr>
      </p:sp>
      <p:sp>
        <p:nvSpPr>
          <p:cNvPr id="11" name="Text 9"/>
          <p:cNvSpPr/>
          <p:nvPr/>
        </p:nvSpPr>
        <p:spPr>
          <a:xfrm>
            <a:off x="7257885" y="3937683"/>
            <a:ext cx="2103120" cy="8229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Janapada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(Territory → Market &amp; Customers)</a:t>
            </a:r>
            <a:endParaRPr lang="en-US" sz="1050" dirty="0"/>
          </a:p>
        </p:txBody>
      </p:sp>
      <p:sp>
        <p:nvSpPr>
          <p:cNvPr id="12" name="Shape 10"/>
          <p:cNvSpPr/>
          <p:nvPr/>
        </p:nvSpPr>
        <p:spPr>
          <a:xfrm>
            <a:off x="6080760" y="3840480"/>
            <a:ext cx="991858" cy="2059615"/>
          </a:xfrm>
          <a:prstGeom prst="line">
            <a:avLst/>
          </a:prstGeom>
          <a:noFill/>
          <a:ln w="12700">
            <a:solidFill>
              <a:srgbClr val="C9A24B"/>
            </a:solidFill>
            <a:prstDash val="solid"/>
          </a:ln>
        </p:spPr>
      </p:sp>
      <p:sp>
        <p:nvSpPr>
          <p:cNvPr id="13" name="Shape 11"/>
          <p:cNvSpPr/>
          <p:nvPr/>
        </p:nvSpPr>
        <p:spPr>
          <a:xfrm>
            <a:off x="5929618" y="5488615"/>
            <a:ext cx="2286000" cy="822960"/>
          </a:xfrm>
          <a:prstGeom prst="roundRect">
            <a:avLst>
              <a:gd name="adj" fmla="val 7778"/>
            </a:avLst>
          </a:prstGeom>
          <a:solidFill>
            <a:srgbClr val="1E2761"/>
          </a:solidFill>
          <a:ln/>
        </p:spPr>
      </p:sp>
      <p:sp>
        <p:nvSpPr>
          <p:cNvPr id="14" name="Text 12"/>
          <p:cNvSpPr/>
          <p:nvPr/>
        </p:nvSpPr>
        <p:spPr>
          <a:xfrm>
            <a:off x="6021058" y="5488615"/>
            <a:ext cx="2103120" cy="8229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Durga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(Fort → Infrastructure &amp; Systems)</a:t>
            </a:r>
            <a:endParaRPr lang="en-US" sz="1050" dirty="0"/>
          </a:p>
        </p:txBody>
      </p:sp>
      <p:sp>
        <p:nvSpPr>
          <p:cNvPr id="15" name="Shape 13"/>
          <p:cNvSpPr/>
          <p:nvPr/>
        </p:nvSpPr>
        <p:spPr>
          <a:xfrm>
            <a:off x="5088902" y="3840480"/>
            <a:ext cx="991858" cy="2059615"/>
          </a:xfrm>
          <a:prstGeom prst="line">
            <a:avLst/>
          </a:prstGeom>
          <a:noFill/>
          <a:ln w="12700">
            <a:solidFill>
              <a:srgbClr val="C9A24B"/>
            </a:solidFill>
            <a:prstDash val="solid"/>
          </a:ln>
        </p:spPr>
      </p:sp>
      <p:sp>
        <p:nvSpPr>
          <p:cNvPr id="16" name="Shape 14"/>
          <p:cNvSpPr/>
          <p:nvPr/>
        </p:nvSpPr>
        <p:spPr>
          <a:xfrm>
            <a:off x="3945902" y="5488615"/>
            <a:ext cx="2286000" cy="822960"/>
          </a:xfrm>
          <a:prstGeom prst="roundRect">
            <a:avLst>
              <a:gd name="adj" fmla="val 7778"/>
            </a:avLst>
          </a:prstGeom>
          <a:solidFill>
            <a:srgbClr val="1E2761"/>
          </a:solidFill>
          <a:ln/>
        </p:spPr>
      </p:sp>
      <p:sp>
        <p:nvSpPr>
          <p:cNvPr id="17" name="Text 15"/>
          <p:cNvSpPr/>
          <p:nvPr/>
        </p:nvSpPr>
        <p:spPr>
          <a:xfrm>
            <a:off x="4037342" y="5488615"/>
            <a:ext cx="2103120" cy="8229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Kosha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(Treasury → Finance)</a:t>
            </a:r>
            <a:endParaRPr lang="en-US" sz="1050" dirty="0"/>
          </a:p>
        </p:txBody>
      </p:sp>
      <p:sp>
        <p:nvSpPr>
          <p:cNvPr id="18" name="Shape 16"/>
          <p:cNvSpPr/>
          <p:nvPr/>
        </p:nvSpPr>
        <p:spPr>
          <a:xfrm>
            <a:off x="3852075" y="3840480"/>
            <a:ext cx="2228685" cy="508683"/>
          </a:xfrm>
          <a:prstGeom prst="line">
            <a:avLst/>
          </a:prstGeom>
          <a:noFill/>
          <a:ln w="12700">
            <a:solidFill>
              <a:srgbClr val="C9A24B"/>
            </a:solidFill>
            <a:prstDash val="solid"/>
          </a:ln>
        </p:spPr>
      </p:sp>
      <p:sp>
        <p:nvSpPr>
          <p:cNvPr id="19" name="Shape 17"/>
          <p:cNvSpPr/>
          <p:nvPr/>
        </p:nvSpPr>
        <p:spPr>
          <a:xfrm>
            <a:off x="2709075" y="3937683"/>
            <a:ext cx="2286000" cy="822960"/>
          </a:xfrm>
          <a:prstGeom prst="roundRect">
            <a:avLst>
              <a:gd name="adj" fmla="val 7778"/>
            </a:avLst>
          </a:prstGeom>
          <a:solidFill>
            <a:srgbClr val="1E2761"/>
          </a:solidFill>
          <a:ln/>
        </p:spPr>
      </p:sp>
      <p:sp>
        <p:nvSpPr>
          <p:cNvPr id="20" name="Text 18"/>
          <p:cNvSpPr/>
          <p:nvPr/>
        </p:nvSpPr>
        <p:spPr>
          <a:xfrm>
            <a:off x="2800515" y="3937683"/>
            <a:ext cx="2103120" cy="8229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Danda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(Force → Discipline &amp; Enforcement)</a:t>
            </a:r>
            <a:endParaRPr lang="en-US" sz="1050" dirty="0"/>
          </a:p>
        </p:txBody>
      </p:sp>
      <p:sp>
        <p:nvSpPr>
          <p:cNvPr id="21" name="Shape 19"/>
          <p:cNvSpPr/>
          <p:nvPr/>
        </p:nvSpPr>
        <p:spPr>
          <a:xfrm>
            <a:off x="4293493" y="2415182"/>
            <a:ext cx="1787267" cy="1425298"/>
          </a:xfrm>
          <a:prstGeom prst="line">
            <a:avLst/>
          </a:prstGeom>
          <a:noFill/>
          <a:ln w="12700">
            <a:solidFill>
              <a:srgbClr val="C9A24B"/>
            </a:solidFill>
            <a:prstDash val="solid"/>
          </a:ln>
        </p:spPr>
      </p:sp>
      <p:sp>
        <p:nvSpPr>
          <p:cNvPr id="22" name="Shape 20"/>
          <p:cNvSpPr/>
          <p:nvPr/>
        </p:nvSpPr>
        <p:spPr>
          <a:xfrm>
            <a:off x="3150493" y="2003702"/>
            <a:ext cx="2286000" cy="822960"/>
          </a:xfrm>
          <a:prstGeom prst="roundRect">
            <a:avLst>
              <a:gd name="adj" fmla="val 7778"/>
            </a:avLst>
          </a:prstGeom>
          <a:solidFill>
            <a:srgbClr val="1E2761"/>
          </a:solidFill>
          <a:ln/>
        </p:spPr>
      </p:sp>
      <p:sp>
        <p:nvSpPr>
          <p:cNvPr id="23" name="Text 21"/>
          <p:cNvSpPr/>
          <p:nvPr/>
        </p:nvSpPr>
        <p:spPr>
          <a:xfrm>
            <a:off x="3241933" y="2003702"/>
            <a:ext cx="2103120" cy="8229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Mitra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(Ally → Partnerships)</a:t>
            </a:r>
            <a:endParaRPr lang="en-US" sz="1050" dirty="0"/>
          </a:p>
        </p:txBody>
      </p:sp>
      <p:sp>
        <p:nvSpPr>
          <p:cNvPr id="24" name="Shape 22"/>
          <p:cNvSpPr/>
          <p:nvPr/>
        </p:nvSpPr>
        <p:spPr>
          <a:xfrm>
            <a:off x="4937760" y="3246120"/>
            <a:ext cx="2286000" cy="1188720"/>
          </a:xfrm>
          <a:prstGeom prst="ellipse">
            <a:avLst/>
          </a:prstGeom>
          <a:solidFill>
            <a:srgbClr val="C9A24B"/>
          </a:solidFill>
          <a:ln/>
        </p:spPr>
      </p:sp>
      <p:sp>
        <p:nvSpPr>
          <p:cNvPr id="25" name="Text 23"/>
          <p:cNvSpPr/>
          <p:nvPr/>
        </p:nvSpPr>
        <p:spPr>
          <a:xfrm>
            <a:off x="5029200" y="3246120"/>
            <a:ext cx="2103120" cy="1188720"/>
          </a:xfrm>
          <a:prstGeom prst="rect">
            <a:avLst/>
          </a:prstGeom>
          <a:noFill/>
          <a:ln/>
        </p:spPr>
        <p:txBody>
          <a:bodyPr wrap="square" rtlCol="0" anchor="ctr"/>
          <a:lstStyle/>
          <a:p>
            <a:pPr algn="ctr" indent="0" marL="0">
              <a:buNone/>
            </a:pPr>
            <a:r>
              <a:rPr lang="en-US" sz="1250" b="1" dirty="0">
                <a:solidFill>
                  <a:srgbClr val="141B48"/>
                </a:solidFill>
                <a:latin typeface="Cambria" pitchFamily="34" charset="0"/>
                <a:ea typeface="Cambria" pitchFamily="34" charset="-122"/>
                <a:cs typeface="Cambria" pitchFamily="34" charset="-120"/>
              </a:rPr>
              <a:t>Saptanga — the</a:t>
            </a:r>
            <a:endParaRPr lang="en-US" sz="1250" dirty="0"/>
          </a:p>
          <a:p>
            <a:pPr algn="ctr" indent="0" marL="0">
              <a:buNone/>
            </a:pPr>
            <a:r>
              <a:rPr lang="en-US" sz="1250" b="1" dirty="0">
                <a:solidFill>
                  <a:srgbClr val="141B48"/>
                </a:solidFill>
                <a:latin typeface="Cambria" pitchFamily="34" charset="0"/>
                <a:ea typeface="Cambria" pitchFamily="34" charset="-122"/>
                <a:cs typeface="Cambria" pitchFamily="34" charset="-120"/>
              </a:rPr>
              <a:t>Seven Limbs of</a:t>
            </a:r>
            <a:endParaRPr lang="en-US" sz="1250" dirty="0"/>
          </a:p>
          <a:p>
            <a:pPr algn="ctr" indent="0" marL="0">
              <a:buNone/>
            </a:pPr>
            <a:r>
              <a:rPr lang="en-US" sz="1250" b="1" dirty="0">
                <a:solidFill>
                  <a:srgbClr val="141B48"/>
                </a:solidFill>
                <a:latin typeface="Cambria" pitchFamily="34" charset="0"/>
                <a:ea typeface="Cambria" pitchFamily="34" charset="-122"/>
                <a:cs typeface="Cambria" pitchFamily="34" charset="-120"/>
              </a:rPr>
              <a:t>the State</a:t>
            </a:r>
            <a:endParaRPr lang="en-US" sz="1250" dirty="0"/>
          </a:p>
        </p:txBody>
      </p:sp>
      <p:sp>
        <p:nvSpPr>
          <p:cNvPr id="26" name="Text 2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SAPTANGA — MAPPING THE STATE TO THE ORGANIZATION</a:t>
            </a:r>
            <a:endParaRPr lang="en-US" sz="11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39</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STRATEGIC PLANNING &amp; CHANAKYA'S ARTHASHASTRA</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Mandala Theory — Mapping the Competitive Landscape</a:t>
            </a:r>
            <a:endParaRPr lang="en-US" sz="2700" dirty="0"/>
          </a:p>
        </p:txBody>
      </p:sp>
      <p:sp>
        <p:nvSpPr>
          <p:cNvPr id="4" name="Text 2"/>
          <p:cNvSpPr/>
          <p:nvPr/>
        </p:nvSpPr>
        <p:spPr>
          <a:xfrm>
            <a:off x="548640" y="1691640"/>
            <a:ext cx="5669280" cy="4206240"/>
          </a:xfrm>
          <a:prstGeom prst="rect">
            <a:avLst/>
          </a:prstGeom>
          <a:noFill/>
          <a:ln/>
        </p:spPr>
        <p:txBody>
          <a:bodyPr wrap="square" rtlCol="0" anchor="t"/>
          <a:lstStyle/>
          <a:p>
            <a:pPr indent="0" marL="0">
              <a:lnSpc>
                <a:spcPct val="112000"/>
              </a:lnSpc>
              <a:spcAft>
                <a:spcPts val="1000"/>
              </a:spcAft>
              <a:buNone/>
            </a:pPr>
            <a:r>
              <a:rPr lang="en-US" sz="1350" dirty="0">
                <a:solidFill>
                  <a:srgbClr val="2B2B33"/>
                </a:solidFill>
                <a:latin typeface="Calibri" pitchFamily="34" charset="0"/>
                <a:ea typeface="Calibri" pitchFamily="34" charset="-122"/>
                <a:cs typeface="Calibri" pitchFamily="34" charset="-120"/>
              </a:rPr>
              <a:t>Chanakya's Mandala ('circle of states') theory maps the relationships between a kingdom and its neighbors — the core insight being that a direct neighbor is a natural rival, while 'the neighbor's neighbor' is a natural, if situational, ally.</a:t>
            </a:r>
            <a:endParaRPr lang="en-US" sz="1350" dirty="0"/>
          </a:p>
          <a:p>
            <a:pPr indent="0" marL="0">
              <a:lnSpc>
                <a:spcPct val="112000"/>
              </a:lnSpc>
              <a:spcAft>
                <a:spcPts val="1000"/>
              </a:spcAft>
              <a:buNone/>
            </a:pPr>
            <a:r>
              <a:rPr lang="en-US" sz="1350" dirty="0">
                <a:solidFill>
                  <a:srgbClr val="2B2B33"/>
                </a:solidFill>
                <a:latin typeface="Calibri" pitchFamily="34" charset="0"/>
                <a:ea typeface="Calibri" pitchFamily="34" charset="-122"/>
                <a:cs typeface="Calibri" pitchFamily="34" charset="-120"/>
              </a:rPr>
              <a:t>Translated into modern competitive strategy, this is stakeholder and rival mapping: a firm's most direct competitor is its biggest threat, but that competitor's own rivals may be natural partners for a strategic alliance.</a:t>
            </a:r>
            <a:endParaRPr lang="en-US" sz="1350" dirty="0"/>
          </a:p>
          <a:p>
            <a:pPr indent="0" marL="0">
              <a:lnSpc>
                <a:spcPct val="112000"/>
              </a:lnSpc>
              <a:buNone/>
            </a:pPr>
            <a:r>
              <a:rPr lang="en-US" sz="1350" dirty="0">
                <a:solidFill>
                  <a:srgbClr val="2B2B33"/>
                </a:solidFill>
                <a:latin typeface="Calibri" pitchFamily="34" charset="0"/>
                <a:ea typeface="Calibri" pitchFamily="34" charset="-122"/>
                <a:cs typeface="Calibri" pitchFamily="34" charset="-120"/>
              </a:rPr>
              <a:t>Modern strategists use the same layered logic in supplier/partner ecosystem mapping and competitive intelligence — deciding, for any given player, whether the relationship should be competitive, cooperative, or neutral.</a:t>
            </a:r>
            <a:endParaRPr lang="en-US" sz="1350" dirty="0"/>
          </a:p>
        </p:txBody>
      </p:sp>
      <p:sp>
        <p:nvSpPr>
          <p:cNvPr id="5" name="Shape 3"/>
          <p:cNvSpPr/>
          <p:nvPr/>
        </p:nvSpPr>
        <p:spPr>
          <a:xfrm>
            <a:off x="7269480" y="1783080"/>
            <a:ext cx="3931920" cy="3931920"/>
          </a:xfrm>
          <a:prstGeom prst="ellipse">
            <a:avLst/>
          </a:prstGeom>
          <a:solidFill>
            <a:srgbClr val="D8E2F7"/>
          </a:solidFill>
          <a:ln w="12700">
            <a:solidFill>
              <a:srgbClr val="1E2761"/>
            </a:solidFill>
            <a:prstDash val="solid"/>
          </a:ln>
        </p:spPr>
      </p:sp>
      <p:sp>
        <p:nvSpPr>
          <p:cNvPr id="6" name="Shape 4"/>
          <p:cNvSpPr/>
          <p:nvPr/>
        </p:nvSpPr>
        <p:spPr>
          <a:xfrm>
            <a:off x="7863840" y="2377440"/>
            <a:ext cx="2743200" cy="2743200"/>
          </a:xfrm>
          <a:prstGeom prst="ellipse">
            <a:avLst/>
          </a:prstGeom>
          <a:solidFill>
            <a:srgbClr val="AEC2ED"/>
          </a:solidFill>
          <a:ln w="12700">
            <a:solidFill>
              <a:srgbClr val="1E2761"/>
            </a:solidFill>
            <a:prstDash val="solid"/>
          </a:ln>
        </p:spPr>
      </p:sp>
      <p:sp>
        <p:nvSpPr>
          <p:cNvPr id="7" name="Shape 5"/>
          <p:cNvSpPr/>
          <p:nvPr/>
        </p:nvSpPr>
        <p:spPr>
          <a:xfrm>
            <a:off x="8458200" y="2971800"/>
            <a:ext cx="1554480" cy="1554480"/>
          </a:xfrm>
          <a:prstGeom prst="ellipse">
            <a:avLst/>
          </a:prstGeom>
          <a:solidFill>
            <a:srgbClr val="3A4A8C"/>
          </a:solidFill>
          <a:ln w="12700">
            <a:solidFill>
              <a:srgbClr val="1E2761"/>
            </a:solidFill>
            <a:prstDash val="solid"/>
          </a:ln>
        </p:spPr>
      </p:sp>
      <p:sp>
        <p:nvSpPr>
          <p:cNvPr id="8" name="Shape 6"/>
          <p:cNvSpPr/>
          <p:nvPr/>
        </p:nvSpPr>
        <p:spPr>
          <a:xfrm>
            <a:off x="8823960" y="3337560"/>
            <a:ext cx="822960" cy="822960"/>
          </a:xfrm>
          <a:prstGeom prst="ellipse">
            <a:avLst/>
          </a:prstGeom>
          <a:solidFill>
            <a:srgbClr val="C9A24B"/>
          </a:solidFill>
          <a:ln/>
        </p:spPr>
      </p:sp>
      <p:sp>
        <p:nvSpPr>
          <p:cNvPr id="9" name="Text 7"/>
          <p:cNvSpPr/>
          <p:nvPr/>
        </p:nvSpPr>
        <p:spPr>
          <a:xfrm>
            <a:off x="8823960" y="3337560"/>
            <a:ext cx="822960" cy="822960"/>
          </a:xfrm>
          <a:prstGeom prst="rect">
            <a:avLst/>
          </a:prstGeom>
          <a:noFill/>
          <a:ln/>
        </p:spPr>
        <p:txBody>
          <a:bodyPr wrap="square" rtlCol="0" anchor="ctr"/>
          <a:lstStyle/>
          <a:p>
            <a:pPr algn="ctr" indent="0" marL="0">
              <a:buNone/>
            </a:pPr>
            <a:r>
              <a:rPr lang="en-US" sz="1300" b="1" dirty="0">
                <a:solidFill>
                  <a:srgbClr val="141B48"/>
                </a:solidFill>
                <a:latin typeface="Cambria" pitchFamily="34" charset="0"/>
                <a:ea typeface="Cambria" pitchFamily="34" charset="-122"/>
                <a:cs typeface="Cambria" pitchFamily="34" charset="-120"/>
              </a:rPr>
              <a:t>Us</a:t>
            </a:r>
            <a:endParaRPr lang="en-US" sz="1300" dirty="0"/>
          </a:p>
        </p:txBody>
      </p:sp>
      <p:sp>
        <p:nvSpPr>
          <p:cNvPr id="10" name="Text 8"/>
          <p:cNvSpPr/>
          <p:nvPr/>
        </p:nvSpPr>
        <p:spPr>
          <a:xfrm>
            <a:off x="7863840" y="2560320"/>
            <a:ext cx="274320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Ari (Direct Rival)</a:t>
            </a:r>
            <a:endParaRPr lang="en-US" sz="900" dirty="0"/>
          </a:p>
        </p:txBody>
      </p:sp>
      <p:sp>
        <p:nvSpPr>
          <p:cNvPr id="11" name="Text 9"/>
          <p:cNvSpPr/>
          <p:nvPr/>
        </p:nvSpPr>
        <p:spPr>
          <a:xfrm>
            <a:off x="7223760" y="2057400"/>
            <a:ext cx="4023360" cy="274320"/>
          </a:xfrm>
          <a:prstGeom prst="rect">
            <a:avLst/>
          </a:prstGeom>
          <a:noFill/>
          <a:ln/>
        </p:spPr>
        <p:txBody>
          <a:bodyPr wrap="square" rtlCol="0" anchor="ctr"/>
          <a:lstStyle/>
          <a:p>
            <a:pPr algn="ctr" indent="0" marL="0">
              <a:buNone/>
            </a:pPr>
            <a:r>
              <a:rPr lang="en-US" sz="900" b="1" dirty="0">
                <a:solidFill>
                  <a:srgbClr val="141B48"/>
                </a:solidFill>
                <a:latin typeface="Calibri" pitchFamily="34" charset="0"/>
                <a:ea typeface="Calibri" pitchFamily="34" charset="-122"/>
                <a:cs typeface="Calibri" pitchFamily="34" charset="-120"/>
              </a:rPr>
              <a:t>Mitra (Rival's Rival = Ally)</a:t>
            </a:r>
            <a:endParaRPr lang="en-US" sz="900" dirty="0"/>
          </a:p>
        </p:txBody>
      </p:sp>
      <p:sp>
        <p:nvSpPr>
          <p:cNvPr id="12" name="Text 10"/>
          <p:cNvSpPr/>
          <p:nvPr/>
        </p:nvSpPr>
        <p:spPr>
          <a:xfrm>
            <a:off x="6629400" y="1554480"/>
            <a:ext cx="5212080" cy="274320"/>
          </a:xfrm>
          <a:prstGeom prst="rect">
            <a:avLst/>
          </a:prstGeom>
          <a:noFill/>
          <a:ln/>
        </p:spPr>
        <p:txBody>
          <a:bodyPr wrap="square" rtlCol="0" anchor="ctr"/>
          <a:lstStyle/>
          <a:p>
            <a:pPr algn="ctr" indent="0" marL="0">
              <a:buNone/>
            </a:pPr>
            <a:r>
              <a:rPr lang="en-US" sz="900" b="1" dirty="0">
                <a:solidFill>
                  <a:srgbClr val="141B48"/>
                </a:solidFill>
                <a:latin typeface="Calibri" pitchFamily="34" charset="0"/>
                <a:ea typeface="Calibri" pitchFamily="34" charset="-122"/>
                <a:cs typeface="Calibri" pitchFamily="34" charset="-120"/>
              </a:rPr>
              <a:t>Neutral Third Parties</a:t>
            </a:r>
            <a:endParaRPr lang="en-US" sz="900" dirty="0"/>
          </a:p>
        </p:txBody>
      </p:sp>
      <p:sp>
        <p:nvSpPr>
          <p:cNvPr id="13" name="Text 11"/>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MANDALA THEORY — COMPETITIVE STRATEGY</a:t>
            </a:r>
            <a:endParaRPr lang="en-US" sz="1100" dirty="0"/>
          </a:p>
        </p:txBody>
      </p:sp>
      <p:sp>
        <p:nvSpPr>
          <p:cNvPr id="14"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SHADGUNYA — THE SIX-FOLD POLICY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Chanakya's Six Strategic Postures Toward Rivals &amp; Allies</a:t>
            </a:r>
            <a:endParaRPr lang="en-US" sz="2700" dirty="0"/>
          </a:p>
        </p:txBody>
      </p:sp>
      <p:sp>
        <p:nvSpPr>
          <p:cNvPr id="4" name="Shape 2"/>
          <p:cNvSpPr/>
          <p:nvPr/>
        </p:nvSpPr>
        <p:spPr>
          <a:xfrm>
            <a:off x="548640" y="1645920"/>
            <a:ext cx="1737360" cy="4434840"/>
          </a:xfrm>
          <a:prstGeom prst="roundRect">
            <a:avLst>
              <a:gd name="adj" fmla="val 4737"/>
            </a:avLst>
          </a:prstGeom>
          <a:solidFill>
            <a:srgbClr val="EEF3FC"/>
          </a:solidFill>
          <a:ln/>
        </p:spPr>
      </p:sp>
      <p:sp>
        <p:nvSpPr>
          <p:cNvPr id="5" name="Shape 3"/>
          <p:cNvSpPr/>
          <p:nvPr/>
        </p:nvSpPr>
        <p:spPr>
          <a:xfrm>
            <a:off x="1152144"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290036" y="1984980"/>
            <a:ext cx="254569" cy="254569"/>
          </a:xfrm>
          <a:prstGeom prst="rect">
            <a:avLst/>
          </a:prstGeom>
        </p:spPr>
      </p:pic>
      <p:sp>
        <p:nvSpPr>
          <p:cNvPr id="7" name="Text 4"/>
          <p:cNvSpPr/>
          <p:nvPr/>
        </p:nvSpPr>
        <p:spPr>
          <a:xfrm>
            <a:off x="667512" y="2724912"/>
            <a:ext cx="1499616"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Sandhi</a:t>
            </a:r>
            <a:endParaRPr lang="en-US" sz="1350" dirty="0"/>
          </a:p>
        </p:txBody>
      </p:sp>
      <p:sp>
        <p:nvSpPr>
          <p:cNvPr id="8" name="Text 5"/>
          <p:cNvSpPr/>
          <p:nvPr/>
        </p:nvSpPr>
        <p:spPr>
          <a:xfrm>
            <a:off x="667512" y="3163824"/>
            <a:ext cx="1499616" cy="274320"/>
          </a:xfrm>
          <a:prstGeom prst="rect">
            <a:avLst/>
          </a:prstGeom>
          <a:noFill/>
          <a:ln/>
        </p:spPr>
        <p:txBody>
          <a:bodyPr wrap="square" lIns="0" tIns="0" rIns="0" bIns="0" rtlCol="0" anchor="ctr"/>
          <a:lstStyle/>
          <a:p>
            <a:pPr algn="ctr" indent="0" marL="0">
              <a:buNone/>
            </a:pPr>
            <a:r>
              <a:rPr lang="en-US" sz="1050" i="1" dirty="0">
                <a:solidFill>
                  <a:srgbClr val="8A6D1D"/>
                </a:solidFill>
                <a:latin typeface="Calibri" pitchFamily="34" charset="0"/>
                <a:ea typeface="Calibri" pitchFamily="34" charset="-122"/>
                <a:cs typeface="Calibri" pitchFamily="34" charset="-120"/>
              </a:rPr>
              <a:t>Peace / Alliance</a:t>
            </a:r>
            <a:endParaRPr lang="en-US" sz="1050" dirty="0"/>
          </a:p>
        </p:txBody>
      </p:sp>
      <p:sp>
        <p:nvSpPr>
          <p:cNvPr id="9" name="Text 6"/>
          <p:cNvSpPr/>
          <p:nvPr/>
        </p:nvSpPr>
        <p:spPr>
          <a:xfrm>
            <a:off x="694944" y="3520440"/>
            <a:ext cx="1444752" cy="246888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Enter an agreement when it is advantageous — forming a strategic partnership or joint venture with a rival.</a:t>
            </a:r>
            <a:endParaRPr lang="en-US" sz="1080" dirty="0"/>
          </a:p>
        </p:txBody>
      </p:sp>
      <p:sp>
        <p:nvSpPr>
          <p:cNvPr id="10" name="Shape 7"/>
          <p:cNvSpPr/>
          <p:nvPr/>
        </p:nvSpPr>
        <p:spPr>
          <a:xfrm>
            <a:off x="2414016" y="1645920"/>
            <a:ext cx="1737360" cy="4434840"/>
          </a:xfrm>
          <a:prstGeom prst="roundRect">
            <a:avLst>
              <a:gd name="adj" fmla="val 4737"/>
            </a:avLst>
          </a:prstGeom>
          <a:solidFill>
            <a:srgbClr val="EEF3FC"/>
          </a:solidFill>
          <a:ln/>
        </p:spPr>
      </p:sp>
      <p:sp>
        <p:nvSpPr>
          <p:cNvPr id="11" name="Shape 8"/>
          <p:cNvSpPr/>
          <p:nvPr/>
        </p:nvSpPr>
        <p:spPr>
          <a:xfrm>
            <a:off x="3017520"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3155412" y="1984980"/>
            <a:ext cx="254569" cy="254569"/>
          </a:xfrm>
          <a:prstGeom prst="rect">
            <a:avLst/>
          </a:prstGeom>
        </p:spPr>
      </p:pic>
      <p:sp>
        <p:nvSpPr>
          <p:cNvPr id="13" name="Text 9"/>
          <p:cNvSpPr/>
          <p:nvPr/>
        </p:nvSpPr>
        <p:spPr>
          <a:xfrm>
            <a:off x="2532888" y="2724912"/>
            <a:ext cx="1499616"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Vigraha</a:t>
            </a:r>
            <a:endParaRPr lang="en-US" sz="1350" dirty="0"/>
          </a:p>
        </p:txBody>
      </p:sp>
      <p:sp>
        <p:nvSpPr>
          <p:cNvPr id="14" name="Text 10"/>
          <p:cNvSpPr/>
          <p:nvPr/>
        </p:nvSpPr>
        <p:spPr>
          <a:xfrm>
            <a:off x="2532888" y="3163824"/>
            <a:ext cx="1499616" cy="274320"/>
          </a:xfrm>
          <a:prstGeom prst="rect">
            <a:avLst/>
          </a:prstGeom>
          <a:noFill/>
          <a:ln/>
        </p:spPr>
        <p:txBody>
          <a:bodyPr wrap="square" lIns="0" tIns="0" rIns="0" bIns="0" rtlCol="0" anchor="ctr"/>
          <a:lstStyle/>
          <a:p>
            <a:pPr algn="ctr" indent="0" marL="0">
              <a:buNone/>
            </a:pPr>
            <a:r>
              <a:rPr lang="en-US" sz="1050" i="1" dirty="0">
                <a:solidFill>
                  <a:srgbClr val="8A6D1D"/>
                </a:solidFill>
                <a:latin typeface="Calibri" pitchFamily="34" charset="0"/>
                <a:ea typeface="Calibri" pitchFamily="34" charset="-122"/>
                <a:cs typeface="Calibri" pitchFamily="34" charset="-120"/>
              </a:rPr>
              <a:t>Hostility</a:t>
            </a:r>
            <a:endParaRPr lang="en-US" sz="1050" dirty="0"/>
          </a:p>
        </p:txBody>
      </p:sp>
      <p:sp>
        <p:nvSpPr>
          <p:cNvPr id="15" name="Text 11"/>
          <p:cNvSpPr/>
          <p:nvPr/>
        </p:nvSpPr>
        <p:spPr>
          <a:xfrm>
            <a:off x="2560320" y="3520440"/>
            <a:ext cx="1444752" cy="246888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Engage in open competition when you hold a clear advantage over a rival.</a:t>
            </a:r>
            <a:endParaRPr lang="en-US" sz="1080" dirty="0"/>
          </a:p>
        </p:txBody>
      </p:sp>
      <p:sp>
        <p:nvSpPr>
          <p:cNvPr id="16" name="Shape 12"/>
          <p:cNvSpPr/>
          <p:nvPr/>
        </p:nvSpPr>
        <p:spPr>
          <a:xfrm>
            <a:off x="4279392" y="1645920"/>
            <a:ext cx="1737360" cy="4434840"/>
          </a:xfrm>
          <a:prstGeom prst="roundRect">
            <a:avLst>
              <a:gd name="adj" fmla="val 4737"/>
            </a:avLst>
          </a:prstGeom>
          <a:solidFill>
            <a:srgbClr val="EEF3FC"/>
          </a:solidFill>
          <a:ln/>
        </p:spPr>
      </p:sp>
      <p:sp>
        <p:nvSpPr>
          <p:cNvPr id="17" name="Shape 13"/>
          <p:cNvSpPr/>
          <p:nvPr/>
        </p:nvSpPr>
        <p:spPr>
          <a:xfrm>
            <a:off x="488289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5020788" y="1984980"/>
            <a:ext cx="254569" cy="254569"/>
          </a:xfrm>
          <a:prstGeom prst="rect">
            <a:avLst/>
          </a:prstGeom>
        </p:spPr>
      </p:pic>
      <p:sp>
        <p:nvSpPr>
          <p:cNvPr id="19" name="Text 14"/>
          <p:cNvSpPr/>
          <p:nvPr/>
        </p:nvSpPr>
        <p:spPr>
          <a:xfrm>
            <a:off x="4398264" y="2724912"/>
            <a:ext cx="1499616"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Asana</a:t>
            </a:r>
            <a:endParaRPr lang="en-US" sz="1350" dirty="0"/>
          </a:p>
        </p:txBody>
      </p:sp>
      <p:sp>
        <p:nvSpPr>
          <p:cNvPr id="20" name="Text 15"/>
          <p:cNvSpPr/>
          <p:nvPr/>
        </p:nvSpPr>
        <p:spPr>
          <a:xfrm>
            <a:off x="4398264" y="3163824"/>
            <a:ext cx="1499616" cy="274320"/>
          </a:xfrm>
          <a:prstGeom prst="rect">
            <a:avLst/>
          </a:prstGeom>
          <a:noFill/>
          <a:ln/>
        </p:spPr>
        <p:txBody>
          <a:bodyPr wrap="square" lIns="0" tIns="0" rIns="0" bIns="0" rtlCol="0" anchor="ctr"/>
          <a:lstStyle/>
          <a:p>
            <a:pPr algn="ctr" indent="0" marL="0">
              <a:buNone/>
            </a:pPr>
            <a:r>
              <a:rPr lang="en-US" sz="1050" i="1" dirty="0">
                <a:solidFill>
                  <a:srgbClr val="8A6D1D"/>
                </a:solidFill>
                <a:latin typeface="Calibri" pitchFamily="34" charset="0"/>
                <a:ea typeface="Calibri" pitchFamily="34" charset="-122"/>
                <a:cs typeface="Calibri" pitchFamily="34" charset="-120"/>
              </a:rPr>
              <a:t>Neutrality</a:t>
            </a:r>
            <a:endParaRPr lang="en-US" sz="1050" dirty="0"/>
          </a:p>
        </p:txBody>
      </p:sp>
      <p:sp>
        <p:nvSpPr>
          <p:cNvPr id="21" name="Text 16"/>
          <p:cNvSpPr/>
          <p:nvPr/>
        </p:nvSpPr>
        <p:spPr>
          <a:xfrm>
            <a:off x="4425696" y="3520440"/>
            <a:ext cx="1444752" cy="246888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Stay uninvolved and watch, when neither engaging nor allying serves an immediate purpose.</a:t>
            </a:r>
            <a:endParaRPr lang="en-US" sz="1080" dirty="0"/>
          </a:p>
        </p:txBody>
      </p:sp>
      <p:sp>
        <p:nvSpPr>
          <p:cNvPr id="22" name="Shape 17"/>
          <p:cNvSpPr/>
          <p:nvPr/>
        </p:nvSpPr>
        <p:spPr>
          <a:xfrm>
            <a:off x="6144768" y="1645920"/>
            <a:ext cx="1737360" cy="4434840"/>
          </a:xfrm>
          <a:prstGeom prst="roundRect">
            <a:avLst>
              <a:gd name="adj" fmla="val 4737"/>
            </a:avLst>
          </a:prstGeom>
          <a:solidFill>
            <a:srgbClr val="EEF3FC"/>
          </a:solidFill>
          <a:ln/>
        </p:spPr>
      </p:sp>
      <p:sp>
        <p:nvSpPr>
          <p:cNvPr id="23" name="Shape 18"/>
          <p:cNvSpPr/>
          <p:nvPr/>
        </p:nvSpPr>
        <p:spPr>
          <a:xfrm>
            <a:off x="6748272" y="1847088"/>
            <a:ext cx="530352" cy="530352"/>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6886164" y="1984980"/>
            <a:ext cx="254569" cy="254569"/>
          </a:xfrm>
          <a:prstGeom prst="rect">
            <a:avLst/>
          </a:prstGeom>
        </p:spPr>
      </p:pic>
      <p:sp>
        <p:nvSpPr>
          <p:cNvPr id="25" name="Text 19"/>
          <p:cNvSpPr/>
          <p:nvPr/>
        </p:nvSpPr>
        <p:spPr>
          <a:xfrm>
            <a:off x="6263640" y="2724912"/>
            <a:ext cx="1499616"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Yana</a:t>
            </a:r>
            <a:endParaRPr lang="en-US" sz="1350" dirty="0"/>
          </a:p>
        </p:txBody>
      </p:sp>
      <p:sp>
        <p:nvSpPr>
          <p:cNvPr id="26" name="Text 20"/>
          <p:cNvSpPr/>
          <p:nvPr/>
        </p:nvSpPr>
        <p:spPr>
          <a:xfrm>
            <a:off x="6263640" y="3163824"/>
            <a:ext cx="1499616" cy="274320"/>
          </a:xfrm>
          <a:prstGeom prst="rect">
            <a:avLst/>
          </a:prstGeom>
          <a:noFill/>
          <a:ln/>
        </p:spPr>
        <p:txBody>
          <a:bodyPr wrap="square" lIns="0" tIns="0" rIns="0" bIns="0" rtlCol="0" anchor="ctr"/>
          <a:lstStyle/>
          <a:p>
            <a:pPr algn="ctr" indent="0" marL="0">
              <a:buNone/>
            </a:pPr>
            <a:r>
              <a:rPr lang="en-US" sz="1050" i="1" dirty="0">
                <a:solidFill>
                  <a:srgbClr val="8A6D1D"/>
                </a:solidFill>
                <a:latin typeface="Calibri" pitchFamily="34" charset="0"/>
                <a:ea typeface="Calibri" pitchFamily="34" charset="-122"/>
                <a:cs typeface="Calibri" pitchFamily="34" charset="-120"/>
              </a:rPr>
              <a:t>Expansion</a:t>
            </a:r>
            <a:endParaRPr lang="en-US" sz="1050" dirty="0"/>
          </a:p>
        </p:txBody>
      </p:sp>
      <p:sp>
        <p:nvSpPr>
          <p:cNvPr id="27" name="Text 21"/>
          <p:cNvSpPr/>
          <p:nvPr/>
        </p:nvSpPr>
        <p:spPr>
          <a:xfrm>
            <a:off x="6291072" y="3520440"/>
            <a:ext cx="1444752" cy="246888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March forward — launch an aggressive expansion when conditions favor rapid growth.</a:t>
            </a:r>
            <a:endParaRPr lang="en-US" sz="1080" dirty="0"/>
          </a:p>
        </p:txBody>
      </p:sp>
      <p:sp>
        <p:nvSpPr>
          <p:cNvPr id="28" name="Shape 22"/>
          <p:cNvSpPr/>
          <p:nvPr/>
        </p:nvSpPr>
        <p:spPr>
          <a:xfrm>
            <a:off x="8010144" y="1645920"/>
            <a:ext cx="1737360" cy="4434840"/>
          </a:xfrm>
          <a:prstGeom prst="roundRect">
            <a:avLst>
              <a:gd name="adj" fmla="val 4737"/>
            </a:avLst>
          </a:prstGeom>
          <a:solidFill>
            <a:srgbClr val="EEF3FC"/>
          </a:solidFill>
          <a:ln/>
        </p:spPr>
      </p:sp>
      <p:sp>
        <p:nvSpPr>
          <p:cNvPr id="29" name="Shape 23"/>
          <p:cNvSpPr/>
          <p:nvPr/>
        </p:nvSpPr>
        <p:spPr>
          <a:xfrm>
            <a:off x="8613648" y="1847088"/>
            <a:ext cx="530352" cy="530352"/>
          </a:xfrm>
          <a:prstGeom prst="ellipse">
            <a:avLst/>
          </a:prstGeom>
          <a:solidFill>
            <a:srgbClr val="1E2761"/>
          </a:solidFill>
          <a:ln/>
        </p:spPr>
      </p:sp>
      <p:pic>
        <p:nvPicPr>
          <p:cNvPr id="30" name="Image 4" descr="preencoded.png">    </p:cNvPr>
          <p:cNvPicPr>
            <a:picLocks noChangeAspect="1"/>
          </p:cNvPicPr>
          <p:nvPr/>
        </p:nvPicPr>
        <p:blipFill>
          <a:blip r:embed="rId5"/>
          <a:stretch>
            <a:fillRect/>
          </a:stretch>
        </p:blipFill>
        <p:spPr>
          <a:xfrm>
            <a:off x="8751540" y="1984980"/>
            <a:ext cx="254569" cy="254569"/>
          </a:xfrm>
          <a:prstGeom prst="rect">
            <a:avLst/>
          </a:prstGeom>
        </p:spPr>
      </p:pic>
      <p:sp>
        <p:nvSpPr>
          <p:cNvPr id="31" name="Text 24"/>
          <p:cNvSpPr/>
          <p:nvPr/>
        </p:nvSpPr>
        <p:spPr>
          <a:xfrm>
            <a:off x="8129016" y="2724912"/>
            <a:ext cx="1499616"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Samshraya</a:t>
            </a:r>
            <a:endParaRPr lang="en-US" sz="1350" dirty="0"/>
          </a:p>
        </p:txBody>
      </p:sp>
      <p:sp>
        <p:nvSpPr>
          <p:cNvPr id="32" name="Text 25"/>
          <p:cNvSpPr/>
          <p:nvPr/>
        </p:nvSpPr>
        <p:spPr>
          <a:xfrm>
            <a:off x="8129016" y="3163824"/>
            <a:ext cx="1499616" cy="274320"/>
          </a:xfrm>
          <a:prstGeom prst="rect">
            <a:avLst/>
          </a:prstGeom>
          <a:noFill/>
          <a:ln/>
        </p:spPr>
        <p:txBody>
          <a:bodyPr wrap="square" lIns="0" tIns="0" rIns="0" bIns="0" rtlCol="0" anchor="ctr"/>
          <a:lstStyle/>
          <a:p>
            <a:pPr algn="ctr" indent="0" marL="0">
              <a:buNone/>
            </a:pPr>
            <a:r>
              <a:rPr lang="en-US" sz="1050" i="1" dirty="0">
                <a:solidFill>
                  <a:srgbClr val="8A6D1D"/>
                </a:solidFill>
                <a:latin typeface="Calibri" pitchFamily="34" charset="0"/>
                <a:ea typeface="Calibri" pitchFamily="34" charset="-122"/>
                <a:cs typeface="Calibri" pitchFamily="34" charset="-120"/>
              </a:rPr>
              <a:t>Seeking Protection</a:t>
            </a:r>
            <a:endParaRPr lang="en-US" sz="1050" dirty="0"/>
          </a:p>
        </p:txBody>
      </p:sp>
      <p:sp>
        <p:nvSpPr>
          <p:cNvPr id="33" name="Text 26"/>
          <p:cNvSpPr/>
          <p:nvPr/>
        </p:nvSpPr>
        <p:spPr>
          <a:xfrm>
            <a:off x="8156448" y="3520440"/>
            <a:ext cx="1444752" cy="246888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Seek shelter with a stronger ally when facing a threat beyond your own strength.</a:t>
            </a:r>
            <a:endParaRPr lang="en-US" sz="1080" dirty="0"/>
          </a:p>
        </p:txBody>
      </p:sp>
      <p:sp>
        <p:nvSpPr>
          <p:cNvPr id="34" name="Shape 27"/>
          <p:cNvSpPr/>
          <p:nvPr/>
        </p:nvSpPr>
        <p:spPr>
          <a:xfrm>
            <a:off x="9875520" y="1645920"/>
            <a:ext cx="1737360" cy="4434840"/>
          </a:xfrm>
          <a:prstGeom prst="roundRect">
            <a:avLst>
              <a:gd name="adj" fmla="val 4737"/>
            </a:avLst>
          </a:prstGeom>
          <a:solidFill>
            <a:srgbClr val="EEF3FC"/>
          </a:solidFill>
          <a:ln/>
        </p:spPr>
      </p:sp>
      <p:sp>
        <p:nvSpPr>
          <p:cNvPr id="35" name="Shape 28"/>
          <p:cNvSpPr/>
          <p:nvPr/>
        </p:nvSpPr>
        <p:spPr>
          <a:xfrm>
            <a:off x="10479024" y="1847088"/>
            <a:ext cx="530352" cy="530352"/>
          </a:xfrm>
          <a:prstGeom prst="ellipse">
            <a:avLst/>
          </a:prstGeom>
          <a:solidFill>
            <a:srgbClr val="1E2761"/>
          </a:solidFill>
          <a:ln/>
        </p:spPr>
      </p:sp>
      <p:pic>
        <p:nvPicPr>
          <p:cNvPr id="36" name="Image 5" descr="preencoded.png">    </p:cNvPr>
          <p:cNvPicPr>
            <a:picLocks noChangeAspect="1"/>
          </p:cNvPicPr>
          <p:nvPr/>
        </p:nvPicPr>
        <p:blipFill>
          <a:blip r:embed="rId6"/>
          <a:stretch>
            <a:fillRect/>
          </a:stretch>
        </p:blipFill>
        <p:spPr>
          <a:xfrm>
            <a:off x="10616916" y="1984980"/>
            <a:ext cx="254569" cy="254569"/>
          </a:xfrm>
          <a:prstGeom prst="rect">
            <a:avLst/>
          </a:prstGeom>
        </p:spPr>
      </p:pic>
      <p:sp>
        <p:nvSpPr>
          <p:cNvPr id="37" name="Text 29"/>
          <p:cNvSpPr/>
          <p:nvPr/>
        </p:nvSpPr>
        <p:spPr>
          <a:xfrm>
            <a:off x="9994392" y="2724912"/>
            <a:ext cx="1499616" cy="457200"/>
          </a:xfrm>
          <a:prstGeom prst="rect">
            <a:avLst/>
          </a:prstGeom>
          <a:noFill/>
          <a:ln/>
        </p:spPr>
        <p:txBody>
          <a:bodyPr wrap="square"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Dvaidhibhava</a:t>
            </a:r>
            <a:endParaRPr lang="en-US" sz="1350" dirty="0"/>
          </a:p>
        </p:txBody>
      </p:sp>
      <p:sp>
        <p:nvSpPr>
          <p:cNvPr id="38" name="Text 30"/>
          <p:cNvSpPr/>
          <p:nvPr/>
        </p:nvSpPr>
        <p:spPr>
          <a:xfrm>
            <a:off x="9994392" y="3163824"/>
            <a:ext cx="1499616" cy="274320"/>
          </a:xfrm>
          <a:prstGeom prst="rect">
            <a:avLst/>
          </a:prstGeom>
          <a:noFill/>
          <a:ln/>
        </p:spPr>
        <p:txBody>
          <a:bodyPr wrap="square" lIns="0" tIns="0" rIns="0" bIns="0" rtlCol="0" anchor="ctr"/>
          <a:lstStyle/>
          <a:p>
            <a:pPr algn="ctr" indent="0" marL="0">
              <a:buNone/>
            </a:pPr>
            <a:r>
              <a:rPr lang="en-US" sz="1050" i="1" dirty="0">
                <a:solidFill>
                  <a:srgbClr val="8A6D1D"/>
                </a:solidFill>
                <a:latin typeface="Calibri" pitchFamily="34" charset="0"/>
                <a:ea typeface="Calibri" pitchFamily="34" charset="-122"/>
                <a:cs typeface="Calibri" pitchFamily="34" charset="-120"/>
              </a:rPr>
              <a:t>Dual Policy</a:t>
            </a:r>
            <a:endParaRPr lang="en-US" sz="1050" dirty="0"/>
          </a:p>
        </p:txBody>
      </p:sp>
      <p:sp>
        <p:nvSpPr>
          <p:cNvPr id="39" name="Text 31"/>
          <p:cNvSpPr/>
          <p:nvPr/>
        </p:nvSpPr>
        <p:spPr>
          <a:xfrm>
            <a:off x="10021824" y="3520440"/>
            <a:ext cx="1444752" cy="2468880"/>
          </a:xfrm>
          <a:prstGeom prst="rect">
            <a:avLst/>
          </a:prstGeom>
          <a:noFill/>
          <a:ln/>
        </p:spPr>
        <p:txBody>
          <a:bodyPr wrap="square" rtlCol="0" anchor="t"/>
          <a:lstStyle/>
          <a:p>
            <a:pPr algn="ctr" indent="0" marL="0">
              <a:buNone/>
            </a:pPr>
            <a:r>
              <a:rPr lang="en-US" sz="1080" dirty="0">
                <a:solidFill>
                  <a:srgbClr val="6B7280"/>
                </a:solidFill>
                <a:latin typeface="Calibri" pitchFamily="34" charset="0"/>
                <a:ea typeface="Calibri" pitchFamily="34" charset="-122"/>
                <a:cs typeface="Calibri" pitchFamily="34" charset="-120"/>
              </a:rPr>
              <a:t>Pursue peace with one rival while preparing for conflict with another — a hedged, dual strategy.</a:t>
            </a:r>
            <a:endParaRPr lang="en-US" sz="1080" dirty="0"/>
          </a:p>
        </p:txBody>
      </p:sp>
      <p:sp>
        <p:nvSpPr>
          <p:cNvPr id="40" name="Text 3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SHADGUNYA — THE SIX-FOLD POLICY</a:t>
            </a:r>
            <a:endParaRPr lang="en-US" sz="1100" dirty="0"/>
          </a:p>
        </p:txBody>
      </p:sp>
      <p:sp>
        <p:nvSpPr>
          <p:cNvPr id="41" name="Text 3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STRATEGIC PLANNING &amp; CHANAKYA'S ARTHASHASTRA</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Intelligence, the Treasury &amp; Decisive Counsel</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Intelligence system: Chanakya institutionalized a network of spies (gudhapurushas) to continuously gather information on rivals, allies, and even one's own officials — the ancient equivalent of competitive and market intelligence.</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Primacy of the treasury (Kosha): Chanakya held that a sound treasury underlies both governance (dharma) and prosperity (kama) — mirroring the modern principle that financial discipline is the foundation on which all other strategy is built.</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Decisive counsel: Chanakya advised the king to consult his council of ministers fully — but to retain the final decision with himself. This is participative yet decisive leadership: gather every view, then commit.</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Consult, Then Commit</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CEO who holds a full strategy debate with the leadership team, then makes the final call herself — exactly the balance Chanakya recommended to the king.</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STRATEGIC PLANNING &amp; CHANAKYA'S ARTHASHASTRA</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STRATEGIC PLANNING &amp; CHANAKYA'S ARTHASHASTRA</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Arthashastra Concept → Modern Strategic Management</a:t>
            </a:r>
            <a:endParaRPr lang="en-US" sz="2700" dirty="0"/>
          </a:p>
        </p:txBody>
      </p:sp>
      <p:sp>
        <p:nvSpPr>
          <p:cNvPr id="4" name="Shape 2"/>
          <p:cNvSpPr/>
          <p:nvPr/>
        </p:nvSpPr>
        <p:spPr>
          <a:xfrm>
            <a:off x="548640" y="1645920"/>
            <a:ext cx="2651760" cy="672737"/>
          </a:xfrm>
          <a:prstGeom prst="rect">
            <a:avLst/>
          </a:prstGeom>
          <a:solidFill>
            <a:srgbClr val="1E2761"/>
          </a:solidFill>
          <a:ln/>
        </p:spPr>
      </p:sp>
      <p:sp>
        <p:nvSpPr>
          <p:cNvPr id="5" name="Shape 3"/>
          <p:cNvSpPr/>
          <p:nvPr/>
        </p:nvSpPr>
        <p:spPr>
          <a:xfrm>
            <a:off x="3200400" y="1645920"/>
            <a:ext cx="4206240" cy="672737"/>
          </a:xfrm>
          <a:prstGeom prst="rect">
            <a:avLst/>
          </a:prstGeom>
          <a:solidFill>
            <a:srgbClr val="3A4A8C"/>
          </a:solidFill>
          <a:ln/>
        </p:spPr>
      </p:sp>
      <p:sp>
        <p:nvSpPr>
          <p:cNvPr id="6" name="Shape 4"/>
          <p:cNvSpPr/>
          <p:nvPr/>
        </p:nvSpPr>
        <p:spPr>
          <a:xfrm>
            <a:off x="7406640" y="1645920"/>
            <a:ext cx="4206240" cy="672737"/>
          </a:xfrm>
          <a:prstGeom prst="rect">
            <a:avLst/>
          </a:prstGeom>
          <a:solidFill>
            <a:srgbClr val="C9A24B"/>
          </a:solidFill>
          <a:ln/>
        </p:spPr>
      </p:sp>
      <p:sp>
        <p:nvSpPr>
          <p:cNvPr id="7" name="Text 5"/>
          <p:cNvSpPr/>
          <p:nvPr/>
        </p:nvSpPr>
        <p:spPr>
          <a:xfrm>
            <a:off x="548640" y="1645920"/>
            <a:ext cx="2651760" cy="672737"/>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Concept</a:t>
            </a:r>
            <a:endParaRPr lang="en-US" sz="1250" dirty="0"/>
          </a:p>
        </p:txBody>
      </p:sp>
      <p:sp>
        <p:nvSpPr>
          <p:cNvPr id="8" name="Text 6"/>
          <p:cNvSpPr/>
          <p:nvPr/>
        </p:nvSpPr>
        <p:spPr>
          <a:xfrm>
            <a:off x="3200400" y="1645920"/>
            <a:ext cx="4206240" cy="672737"/>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Modern Equivalent</a:t>
            </a:r>
            <a:endParaRPr lang="en-US" sz="1250" dirty="0"/>
          </a:p>
        </p:txBody>
      </p:sp>
      <p:sp>
        <p:nvSpPr>
          <p:cNvPr id="9" name="Text 7"/>
          <p:cNvSpPr/>
          <p:nvPr/>
        </p:nvSpPr>
        <p:spPr>
          <a:xfrm>
            <a:off x="7406640" y="1645920"/>
            <a:ext cx="4206240" cy="672737"/>
          </a:xfrm>
          <a:prstGeom prst="rect">
            <a:avLst/>
          </a:prstGeom>
          <a:noFill/>
          <a:ln/>
        </p:spPr>
        <p:txBody>
          <a:bodyPr wrap="square" rtlCol="0" anchor="ctr"/>
          <a:lstStyle/>
          <a:p>
            <a:pPr algn="ctr" indent="0" marL="0">
              <a:buNone/>
            </a:pPr>
            <a:r>
              <a:rPr lang="en-US" sz="1250" b="1" dirty="0">
                <a:solidFill>
                  <a:srgbClr val="141B48"/>
                </a:solidFill>
                <a:latin typeface="Cambria" pitchFamily="34" charset="0"/>
                <a:ea typeface="Cambria" pitchFamily="34" charset="-122"/>
                <a:cs typeface="Cambria" pitchFamily="34" charset="-120"/>
              </a:rPr>
              <a:t>Arthashastra Idea</a:t>
            </a:r>
            <a:endParaRPr lang="en-US" sz="1250" dirty="0"/>
          </a:p>
        </p:txBody>
      </p:sp>
      <p:sp>
        <p:nvSpPr>
          <p:cNvPr id="10" name="Shape 8"/>
          <p:cNvSpPr/>
          <p:nvPr/>
        </p:nvSpPr>
        <p:spPr>
          <a:xfrm>
            <a:off x="548640" y="2318657"/>
            <a:ext cx="2651760" cy="672737"/>
          </a:xfrm>
          <a:prstGeom prst="rect">
            <a:avLst/>
          </a:prstGeom>
          <a:solidFill>
            <a:srgbClr val="EEF3FC"/>
          </a:solidFill>
          <a:ln/>
        </p:spPr>
      </p:sp>
      <p:sp>
        <p:nvSpPr>
          <p:cNvPr id="11" name="Shape 9"/>
          <p:cNvSpPr/>
          <p:nvPr/>
        </p:nvSpPr>
        <p:spPr>
          <a:xfrm>
            <a:off x="3200400" y="2318657"/>
            <a:ext cx="4206240" cy="672737"/>
          </a:xfrm>
          <a:prstGeom prst="rect">
            <a:avLst/>
          </a:prstGeom>
          <a:solidFill>
            <a:srgbClr val="EEF3FC"/>
          </a:solidFill>
          <a:ln/>
        </p:spPr>
      </p:sp>
      <p:sp>
        <p:nvSpPr>
          <p:cNvPr id="12" name="Shape 10"/>
          <p:cNvSpPr/>
          <p:nvPr/>
        </p:nvSpPr>
        <p:spPr>
          <a:xfrm>
            <a:off x="7406640" y="2318657"/>
            <a:ext cx="4206240" cy="672737"/>
          </a:xfrm>
          <a:prstGeom prst="rect">
            <a:avLst/>
          </a:prstGeom>
          <a:solidFill>
            <a:srgbClr val="EEF3FC"/>
          </a:solidFill>
          <a:ln/>
        </p:spPr>
      </p:sp>
      <p:sp>
        <p:nvSpPr>
          <p:cNvPr id="13" name="Text 11"/>
          <p:cNvSpPr/>
          <p:nvPr/>
        </p:nvSpPr>
        <p:spPr>
          <a:xfrm>
            <a:off x="685800" y="2318657"/>
            <a:ext cx="2377440" cy="672737"/>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Saptanga (7 limbs)</a:t>
            </a:r>
            <a:endParaRPr lang="en-US" sz="1150" dirty="0"/>
          </a:p>
        </p:txBody>
      </p:sp>
      <p:sp>
        <p:nvSpPr>
          <p:cNvPr id="14" name="Text 12"/>
          <p:cNvSpPr/>
          <p:nvPr/>
        </p:nvSpPr>
        <p:spPr>
          <a:xfrm>
            <a:off x="3337560" y="2318657"/>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King, ministers, territory, fort, treasury, force, allies</a:t>
            </a:r>
            <a:endParaRPr lang="en-US" sz="1100" dirty="0"/>
          </a:p>
        </p:txBody>
      </p:sp>
      <p:sp>
        <p:nvSpPr>
          <p:cNvPr id="15" name="Text 13"/>
          <p:cNvSpPr/>
          <p:nvPr/>
        </p:nvSpPr>
        <p:spPr>
          <a:xfrm>
            <a:off x="7543800" y="2318657"/>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Leadership, management team, market, infrastructure, finance, discipline, partnerships</a:t>
            </a:r>
            <a:endParaRPr lang="en-US" sz="1100" dirty="0"/>
          </a:p>
        </p:txBody>
      </p:sp>
      <p:sp>
        <p:nvSpPr>
          <p:cNvPr id="16" name="Shape 14"/>
          <p:cNvSpPr/>
          <p:nvPr/>
        </p:nvSpPr>
        <p:spPr>
          <a:xfrm>
            <a:off x="548640" y="2991394"/>
            <a:ext cx="2651760" cy="672737"/>
          </a:xfrm>
          <a:prstGeom prst="rect">
            <a:avLst/>
          </a:prstGeom>
          <a:solidFill>
            <a:srgbClr val="FFFFFF"/>
          </a:solidFill>
          <a:ln/>
        </p:spPr>
      </p:sp>
      <p:sp>
        <p:nvSpPr>
          <p:cNvPr id="17" name="Shape 15"/>
          <p:cNvSpPr/>
          <p:nvPr/>
        </p:nvSpPr>
        <p:spPr>
          <a:xfrm>
            <a:off x="3200400" y="2991394"/>
            <a:ext cx="4206240" cy="672737"/>
          </a:xfrm>
          <a:prstGeom prst="rect">
            <a:avLst/>
          </a:prstGeom>
          <a:solidFill>
            <a:srgbClr val="FFFFFF"/>
          </a:solidFill>
          <a:ln/>
        </p:spPr>
      </p:sp>
      <p:sp>
        <p:nvSpPr>
          <p:cNvPr id="18" name="Shape 16"/>
          <p:cNvSpPr/>
          <p:nvPr/>
        </p:nvSpPr>
        <p:spPr>
          <a:xfrm>
            <a:off x="7406640" y="2991394"/>
            <a:ext cx="4206240" cy="672737"/>
          </a:xfrm>
          <a:prstGeom prst="rect">
            <a:avLst/>
          </a:prstGeom>
          <a:solidFill>
            <a:srgbClr val="FFFFFF"/>
          </a:solidFill>
          <a:ln/>
        </p:spPr>
      </p:sp>
      <p:sp>
        <p:nvSpPr>
          <p:cNvPr id="19" name="Text 17"/>
          <p:cNvSpPr/>
          <p:nvPr/>
        </p:nvSpPr>
        <p:spPr>
          <a:xfrm>
            <a:off x="685800" y="2991394"/>
            <a:ext cx="2377440" cy="672737"/>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Mandala theory</a:t>
            </a:r>
            <a:endParaRPr lang="en-US" sz="1150" dirty="0"/>
          </a:p>
        </p:txBody>
      </p:sp>
      <p:sp>
        <p:nvSpPr>
          <p:cNvPr id="20" name="Text 18"/>
          <p:cNvSpPr/>
          <p:nvPr/>
        </p:nvSpPr>
        <p:spPr>
          <a:xfrm>
            <a:off x="3337560" y="2991394"/>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Neighbor = rival; neighbor's neighbor = ally</a:t>
            </a:r>
            <a:endParaRPr lang="en-US" sz="1100" dirty="0"/>
          </a:p>
        </p:txBody>
      </p:sp>
      <p:sp>
        <p:nvSpPr>
          <p:cNvPr id="21" name="Text 19"/>
          <p:cNvSpPr/>
          <p:nvPr/>
        </p:nvSpPr>
        <p:spPr>
          <a:xfrm>
            <a:off x="7543800" y="2991394"/>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Competitor &amp; stakeholder mapping</a:t>
            </a:r>
            <a:endParaRPr lang="en-US" sz="1100" dirty="0"/>
          </a:p>
        </p:txBody>
      </p:sp>
      <p:sp>
        <p:nvSpPr>
          <p:cNvPr id="22" name="Shape 20"/>
          <p:cNvSpPr/>
          <p:nvPr/>
        </p:nvSpPr>
        <p:spPr>
          <a:xfrm>
            <a:off x="548640" y="3664131"/>
            <a:ext cx="2651760" cy="672737"/>
          </a:xfrm>
          <a:prstGeom prst="rect">
            <a:avLst/>
          </a:prstGeom>
          <a:solidFill>
            <a:srgbClr val="EEF3FC"/>
          </a:solidFill>
          <a:ln/>
        </p:spPr>
      </p:sp>
      <p:sp>
        <p:nvSpPr>
          <p:cNvPr id="23" name="Shape 21"/>
          <p:cNvSpPr/>
          <p:nvPr/>
        </p:nvSpPr>
        <p:spPr>
          <a:xfrm>
            <a:off x="3200400" y="3664131"/>
            <a:ext cx="4206240" cy="672737"/>
          </a:xfrm>
          <a:prstGeom prst="rect">
            <a:avLst/>
          </a:prstGeom>
          <a:solidFill>
            <a:srgbClr val="EEF3FC"/>
          </a:solidFill>
          <a:ln/>
        </p:spPr>
      </p:sp>
      <p:sp>
        <p:nvSpPr>
          <p:cNvPr id="24" name="Shape 22"/>
          <p:cNvSpPr/>
          <p:nvPr/>
        </p:nvSpPr>
        <p:spPr>
          <a:xfrm>
            <a:off x="7406640" y="3664131"/>
            <a:ext cx="4206240" cy="672737"/>
          </a:xfrm>
          <a:prstGeom prst="rect">
            <a:avLst/>
          </a:prstGeom>
          <a:solidFill>
            <a:srgbClr val="EEF3FC"/>
          </a:solidFill>
          <a:ln/>
        </p:spPr>
      </p:sp>
      <p:sp>
        <p:nvSpPr>
          <p:cNvPr id="25" name="Text 23"/>
          <p:cNvSpPr/>
          <p:nvPr/>
        </p:nvSpPr>
        <p:spPr>
          <a:xfrm>
            <a:off x="685800" y="3664131"/>
            <a:ext cx="2377440" cy="672737"/>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Shadgunya (6-fold policy)</a:t>
            </a:r>
            <a:endParaRPr lang="en-US" sz="1150" dirty="0"/>
          </a:p>
        </p:txBody>
      </p:sp>
      <p:sp>
        <p:nvSpPr>
          <p:cNvPr id="26" name="Text 24"/>
          <p:cNvSpPr/>
          <p:nvPr/>
        </p:nvSpPr>
        <p:spPr>
          <a:xfrm>
            <a:off x="3337560" y="3664131"/>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Peace, hostility, neutrality, expansion, seeking shelter, dual policy</a:t>
            </a:r>
            <a:endParaRPr lang="en-US" sz="1100" dirty="0"/>
          </a:p>
        </p:txBody>
      </p:sp>
      <p:sp>
        <p:nvSpPr>
          <p:cNvPr id="27" name="Text 25"/>
          <p:cNvSpPr/>
          <p:nvPr/>
        </p:nvSpPr>
        <p:spPr>
          <a:xfrm>
            <a:off x="7543800" y="3664131"/>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Menu of competitive strategy postures</a:t>
            </a:r>
            <a:endParaRPr lang="en-US" sz="1100" dirty="0"/>
          </a:p>
        </p:txBody>
      </p:sp>
      <p:sp>
        <p:nvSpPr>
          <p:cNvPr id="28" name="Shape 26"/>
          <p:cNvSpPr/>
          <p:nvPr/>
        </p:nvSpPr>
        <p:spPr>
          <a:xfrm>
            <a:off x="548640" y="4336869"/>
            <a:ext cx="2651760" cy="672737"/>
          </a:xfrm>
          <a:prstGeom prst="rect">
            <a:avLst/>
          </a:prstGeom>
          <a:solidFill>
            <a:srgbClr val="FFFFFF"/>
          </a:solidFill>
          <a:ln/>
        </p:spPr>
      </p:sp>
      <p:sp>
        <p:nvSpPr>
          <p:cNvPr id="29" name="Shape 27"/>
          <p:cNvSpPr/>
          <p:nvPr/>
        </p:nvSpPr>
        <p:spPr>
          <a:xfrm>
            <a:off x="3200400" y="4336869"/>
            <a:ext cx="4206240" cy="672737"/>
          </a:xfrm>
          <a:prstGeom prst="rect">
            <a:avLst/>
          </a:prstGeom>
          <a:solidFill>
            <a:srgbClr val="FFFFFF"/>
          </a:solidFill>
          <a:ln/>
        </p:spPr>
      </p:sp>
      <p:sp>
        <p:nvSpPr>
          <p:cNvPr id="30" name="Shape 28"/>
          <p:cNvSpPr/>
          <p:nvPr/>
        </p:nvSpPr>
        <p:spPr>
          <a:xfrm>
            <a:off x="7406640" y="4336869"/>
            <a:ext cx="4206240" cy="672737"/>
          </a:xfrm>
          <a:prstGeom prst="rect">
            <a:avLst/>
          </a:prstGeom>
          <a:solidFill>
            <a:srgbClr val="FFFFFF"/>
          </a:solidFill>
          <a:ln/>
        </p:spPr>
      </p:sp>
      <p:sp>
        <p:nvSpPr>
          <p:cNvPr id="31" name="Text 29"/>
          <p:cNvSpPr/>
          <p:nvPr/>
        </p:nvSpPr>
        <p:spPr>
          <a:xfrm>
            <a:off x="685800" y="4336869"/>
            <a:ext cx="2377440" cy="672737"/>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Espionage network</a:t>
            </a:r>
            <a:endParaRPr lang="en-US" sz="1150" dirty="0"/>
          </a:p>
        </p:txBody>
      </p:sp>
      <p:sp>
        <p:nvSpPr>
          <p:cNvPr id="32" name="Text 30"/>
          <p:cNvSpPr/>
          <p:nvPr/>
        </p:nvSpPr>
        <p:spPr>
          <a:xfrm>
            <a:off x="3337560" y="4336869"/>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Spies gathering continuous intelligence</a:t>
            </a:r>
            <a:endParaRPr lang="en-US" sz="1100" dirty="0"/>
          </a:p>
        </p:txBody>
      </p:sp>
      <p:sp>
        <p:nvSpPr>
          <p:cNvPr id="33" name="Text 31"/>
          <p:cNvSpPr/>
          <p:nvPr/>
        </p:nvSpPr>
        <p:spPr>
          <a:xfrm>
            <a:off x="7543800" y="4336869"/>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Market &amp; competitive intelligence</a:t>
            </a:r>
            <a:endParaRPr lang="en-US" sz="1100" dirty="0"/>
          </a:p>
        </p:txBody>
      </p:sp>
      <p:sp>
        <p:nvSpPr>
          <p:cNvPr id="34" name="Shape 32"/>
          <p:cNvSpPr/>
          <p:nvPr/>
        </p:nvSpPr>
        <p:spPr>
          <a:xfrm>
            <a:off x="548640" y="5009606"/>
            <a:ext cx="2651760" cy="672737"/>
          </a:xfrm>
          <a:prstGeom prst="rect">
            <a:avLst/>
          </a:prstGeom>
          <a:solidFill>
            <a:srgbClr val="EEF3FC"/>
          </a:solidFill>
          <a:ln/>
        </p:spPr>
      </p:sp>
      <p:sp>
        <p:nvSpPr>
          <p:cNvPr id="35" name="Shape 33"/>
          <p:cNvSpPr/>
          <p:nvPr/>
        </p:nvSpPr>
        <p:spPr>
          <a:xfrm>
            <a:off x="3200400" y="5009606"/>
            <a:ext cx="4206240" cy="672737"/>
          </a:xfrm>
          <a:prstGeom prst="rect">
            <a:avLst/>
          </a:prstGeom>
          <a:solidFill>
            <a:srgbClr val="EEF3FC"/>
          </a:solidFill>
          <a:ln/>
        </p:spPr>
      </p:sp>
      <p:sp>
        <p:nvSpPr>
          <p:cNvPr id="36" name="Shape 34"/>
          <p:cNvSpPr/>
          <p:nvPr/>
        </p:nvSpPr>
        <p:spPr>
          <a:xfrm>
            <a:off x="7406640" y="5009606"/>
            <a:ext cx="4206240" cy="672737"/>
          </a:xfrm>
          <a:prstGeom prst="rect">
            <a:avLst/>
          </a:prstGeom>
          <a:solidFill>
            <a:srgbClr val="EEF3FC"/>
          </a:solidFill>
          <a:ln/>
        </p:spPr>
      </p:sp>
      <p:sp>
        <p:nvSpPr>
          <p:cNvPr id="37" name="Text 35"/>
          <p:cNvSpPr/>
          <p:nvPr/>
        </p:nvSpPr>
        <p:spPr>
          <a:xfrm>
            <a:off x="685800" y="5009606"/>
            <a:ext cx="2377440" cy="672737"/>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Primacy of treasury</a:t>
            </a:r>
            <a:endParaRPr lang="en-US" sz="1150" dirty="0"/>
          </a:p>
        </p:txBody>
      </p:sp>
      <p:sp>
        <p:nvSpPr>
          <p:cNvPr id="38" name="Text 36"/>
          <p:cNvSpPr/>
          <p:nvPr/>
        </p:nvSpPr>
        <p:spPr>
          <a:xfrm>
            <a:off x="3337560" y="5009606"/>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Sound finances underpin all governance</a:t>
            </a:r>
            <a:endParaRPr lang="en-US" sz="1100" dirty="0"/>
          </a:p>
        </p:txBody>
      </p:sp>
      <p:sp>
        <p:nvSpPr>
          <p:cNvPr id="39" name="Text 37"/>
          <p:cNvSpPr/>
          <p:nvPr/>
        </p:nvSpPr>
        <p:spPr>
          <a:xfrm>
            <a:off x="7543800" y="5009606"/>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Financial discipline underpins strategy</a:t>
            </a:r>
            <a:endParaRPr lang="en-US" sz="1100" dirty="0"/>
          </a:p>
        </p:txBody>
      </p:sp>
      <p:sp>
        <p:nvSpPr>
          <p:cNvPr id="40" name="Shape 38"/>
          <p:cNvSpPr/>
          <p:nvPr/>
        </p:nvSpPr>
        <p:spPr>
          <a:xfrm>
            <a:off x="548640" y="5682343"/>
            <a:ext cx="2651760" cy="672737"/>
          </a:xfrm>
          <a:prstGeom prst="rect">
            <a:avLst/>
          </a:prstGeom>
          <a:solidFill>
            <a:srgbClr val="FFFFFF"/>
          </a:solidFill>
          <a:ln/>
        </p:spPr>
      </p:sp>
      <p:sp>
        <p:nvSpPr>
          <p:cNvPr id="41" name="Shape 39"/>
          <p:cNvSpPr/>
          <p:nvPr/>
        </p:nvSpPr>
        <p:spPr>
          <a:xfrm>
            <a:off x="3200400" y="5682343"/>
            <a:ext cx="4206240" cy="672737"/>
          </a:xfrm>
          <a:prstGeom prst="rect">
            <a:avLst/>
          </a:prstGeom>
          <a:solidFill>
            <a:srgbClr val="FFFFFF"/>
          </a:solidFill>
          <a:ln/>
        </p:spPr>
      </p:sp>
      <p:sp>
        <p:nvSpPr>
          <p:cNvPr id="42" name="Shape 40"/>
          <p:cNvSpPr/>
          <p:nvPr/>
        </p:nvSpPr>
        <p:spPr>
          <a:xfrm>
            <a:off x="7406640" y="5682343"/>
            <a:ext cx="4206240" cy="672737"/>
          </a:xfrm>
          <a:prstGeom prst="rect">
            <a:avLst/>
          </a:prstGeom>
          <a:solidFill>
            <a:srgbClr val="FFFFFF"/>
          </a:solidFill>
          <a:ln/>
        </p:spPr>
      </p:sp>
      <p:sp>
        <p:nvSpPr>
          <p:cNvPr id="43" name="Text 41"/>
          <p:cNvSpPr/>
          <p:nvPr/>
        </p:nvSpPr>
        <p:spPr>
          <a:xfrm>
            <a:off x="685800" y="5682343"/>
            <a:ext cx="2377440" cy="672737"/>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Decisive counsel</a:t>
            </a:r>
            <a:endParaRPr lang="en-US" sz="1150" dirty="0"/>
          </a:p>
        </p:txBody>
      </p:sp>
      <p:sp>
        <p:nvSpPr>
          <p:cNvPr id="44" name="Text 42"/>
          <p:cNvSpPr/>
          <p:nvPr/>
        </p:nvSpPr>
        <p:spPr>
          <a:xfrm>
            <a:off x="3337560" y="5682343"/>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Consult ministers, king decides</a:t>
            </a:r>
            <a:endParaRPr lang="en-US" sz="1100" dirty="0"/>
          </a:p>
        </p:txBody>
      </p:sp>
      <p:sp>
        <p:nvSpPr>
          <p:cNvPr id="45" name="Text 43"/>
          <p:cNvSpPr/>
          <p:nvPr/>
        </p:nvSpPr>
        <p:spPr>
          <a:xfrm>
            <a:off x="7543800" y="5682343"/>
            <a:ext cx="3931920" cy="672737"/>
          </a:xfrm>
          <a:prstGeom prst="rect">
            <a:avLst/>
          </a:prstGeom>
          <a:noFill/>
          <a:ln/>
        </p:spPr>
        <p:txBody>
          <a:bodyPr wrap="square" rtlCol="0" anchor="ctr"/>
          <a:lstStyle/>
          <a:p>
            <a:pPr indent="0" marL="0">
              <a:buNone/>
            </a:pPr>
            <a:r>
              <a:rPr lang="en-US" sz="1100" dirty="0">
                <a:solidFill>
                  <a:srgbClr val="2B2B33"/>
                </a:solidFill>
                <a:latin typeface="Calibri" pitchFamily="34" charset="0"/>
                <a:ea typeface="Calibri" pitchFamily="34" charset="-122"/>
                <a:cs typeface="Calibri" pitchFamily="34" charset="-120"/>
              </a:rPr>
              <a:t>Participative yet decisive leadership</a:t>
            </a:r>
            <a:endParaRPr lang="en-US" sz="1100" dirty="0"/>
          </a:p>
        </p:txBody>
      </p:sp>
      <p:sp>
        <p:nvSpPr>
          <p:cNvPr id="46" name="Text 4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STRATEGIC PLANNING &amp; CHANAKYA'S ARTHASHASTRA</a:t>
            </a:r>
            <a:endParaRPr lang="en-US" sz="1100" dirty="0"/>
          </a:p>
        </p:txBody>
      </p:sp>
      <p:sp>
        <p:nvSpPr>
          <p:cNvPr id="47" name="Text 4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43</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G</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Sustainable Planning</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Inclusion of SDGs in Management Planning</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Why the UN's 17 Sustainable Development Goals are becoming a standard input into corporate planning, not an optional add-on.</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44</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INCLUSION OF SDGS IN MANAGEMENT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are the SDGs, and Why Do They Matter to Planning?</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The Sustainable Development Goals (SDGs) are 17 global goals adopted by the United Nations in 2015, targeted for achievement by 2030 — covering poverty, health, education, gender equality, clean energy, decent work, climate action, and more.</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Organizations increasingly build the SDGs into their planning because of: rising stakeholder and investor expectations (ESG investing), tightening regulation, reputational and brand risk, access to capital, and the ability to attract talent that wants purposeful work.</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In short, SDGs are moving from a 'nice to have' CSR footnote to a genuine input at the objective-setting and strategy stage of planning.</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From Footnote to Objective</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decade ago, 'sustainability' was a paragraph in the annual report. Today, many companies set formal, numeric net-zero targets as a core strategic objective.</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INCLUSION OF SDGS IN MANAGEMENT PLANNING</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INCLUSION OF SDGS IN MANAGEMENT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Where SDGs Enter the Planning Process</a:t>
            </a:r>
            <a:endParaRPr lang="en-US" sz="2700" dirty="0"/>
          </a:p>
        </p:txBody>
      </p:sp>
      <p:sp>
        <p:nvSpPr>
          <p:cNvPr id="4" name="Shape 2"/>
          <p:cNvSpPr/>
          <p:nvPr/>
        </p:nvSpPr>
        <p:spPr>
          <a:xfrm>
            <a:off x="548640" y="1783080"/>
            <a:ext cx="2624328" cy="3291840"/>
          </a:xfrm>
          <a:prstGeom prst="roundRect">
            <a:avLst>
              <a:gd name="adj" fmla="val 3136"/>
            </a:avLst>
          </a:prstGeom>
          <a:solidFill>
            <a:srgbClr val="1E2761"/>
          </a:solidFill>
          <a:ln/>
        </p:spPr>
      </p:sp>
      <p:sp>
        <p:nvSpPr>
          <p:cNvPr id="5" name="Shape 3"/>
          <p:cNvSpPr/>
          <p:nvPr/>
        </p:nvSpPr>
        <p:spPr>
          <a:xfrm>
            <a:off x="1586484" y="2011680"/>
            <a:ext cx="548640" cy="548640"/>
          </a:xfrm>
          <a:prstGeom prst="ellipse">
            <a:avLst/>
          </a:prstGeom>
          <a:solidFill>
            <a:srgbClr val="C9A24B"/>
          </a:solidFill>
          <a:ln/>
        </p:spPr>
      </p:sp>
      <p:pic>
        <p:nvPicPr>
          <p:cNvPr id="6" name="Image 0" descr="preencoded.png">    </p:cNvPr>
          <p:cNvPicPr>
            <a:picLocks noChangeAspect="1"/>
          </p:cNvPicPr>
          <p:nvPr/>
        </p:nvPicPr>
        <p:blipFill>
          <a:blip r:embed="rId1"/>
          <a:stretch>
            <a:fillRect/>
          </a:stretch>
        </p:blipFill>
        <p:spPr>
          <a:xfrm>
            <a:off x="1729130" y="2154326"/>
            <a:ext cx="263347" cy="263347"/>
          </a:xfrm>
          <a:prstGeom prst="rect">
            <a:avLst/>
          </a:prstGeom>
        </p:spPr>
      </p:pic>
      <p:sp>
        <p:nvSpPr>
          <p:cNvPr id="7" name="Text 4"/>
          <p:cNvSpPr/>
          <p:nvPr/>
        </p:nvSpPr>
        <p:spPr>
          <a:xfrm>
            <a:off x="685800" y="2697480"/>
            <a:ext cx="2350008" cy="457200"/>
          </a:xfrm>
          <a:prstGeom prst="rect">
            <a:avLst/>
          </a:prstGeom>
          <a:noFill/>
          <a:ln/>
        </p:spPr>
        <p:txBody>
          <a:bodyPr wrap="square"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Objective-Setting</a:t>
            </a:r>
            <a:endParaRPr lang="en-US" sz="1300" dirty="0"/>
          </a:p>
        </p:txBody>
      </p:sp>
      <p:sp>
        <p:nvSpPr>
          <p:cNvPr id="8" name="Text 5"/>
          <p:cNvSpPr/>
          <p:nvPr/>
        </p:nvSpPr>
        <p:spPr>
          <a:xfrm>
            <a:off x="713232" y="3200400"/>
            <a:ext cx="2295144" cy="1737360"/>
          </a:xfrm>
          <a:prstGeom prst="rect">
            <a:avLst/>
          </a:prstGeom>
          <a:noFill/>
          <a:ln/>
        </p:spPr>
        <p:txBody>
          <a:bodyPr wrap="square"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Relevant SDGs are adopted alongside financial goals as formal organizational objectives (e.g., a target for emissions reduction).</a:t>
            </a:r>
            <a:endParaRPr lang="en-US" sz="1050" dirty="0"/>
          </a:p>
        </p:txBody>
      </p:sp>
      <p:sp>
        <p:nvSpPr>
          <p:cNvPr id="9" name="Shape 6"/>
          <p:cNvSpPr/>
          <p:nvPr/>
        </p:nvSpPr>
        <p:spPr>
          <a:xfrm>
            <a:off x="3182112" y="3337560"/>
            <a:ext cx="118872" cy="182880"/>
          </a:xfrm>
          <a:prstGeom prst="rightArrow">
            <a:avLst/>
          </a:prstGeom>
          <a:solidFill>
            <a:srgbClr val="C9A24B"/>
          </a:solidFill>
          <a:ln/>
        </p:spPr>
      </p:sp>
      <p:sp>
        <p:nvSpPr>
          <p:cNvPr id="10" name="Shape 7"/>
          <p:cNvSpPr/>
          <p:nvPr/>
        </p:nvSpPr>
        <p:spPr>
          <a:xfrm>
            <a:off x="3310128" y="1783080"/>
            <a:ext cx="2624328" cy="3291840"/>
          </a:xfrm>
          <a:prstGeom prst="roundRect">
            <a:avLst>
              <a:gd name="adj" fmla="val 3136"/>
            </a:avLst>
          </a:prstGeom>
          <a:solidFill>
            <a:srgbClr val="1E2761"/>
          </a:solidFill>
          <a:ln/>
        </p:spPr>
      </p:sp>
      <p:sp>
        <p:nvSpPr>
          <p:cNvPr id="11" name="Shape 8"/>
          <p:cNvSpPr/>
          <p:nvPr/>
        </p:nvSpPr>
        <p:spPr>
          <a:xfrm>
            <a:off x="4347972" y="2011680"/>
            <a:ext cx="548640" cy="548640"/>
          </a:xfrm>
          <a:prstGeom prst="ellipse">
            <a:avLst/>
          </a:prstGeom>
          <a:solidFill>
            <a:srgbClr val="C9A24B"/>
          </a:solidFill>
          <a:ln/>
        </p:spPr>
      </p:sp>
      <p:pic>
        <p:nvPicPr>
          <p:cNvPr id="12" name="Image 1" descr="preencoded.png">    </p:cNvPr>
          <p:cNvPicPr>
            <a:picLocks noChangeAspect="1"/>
          </p:cNvPicPr>
          <p:nvPr/>
        </p:nvPicPr>
        <p:blipFill>
          <a:blip r:embed="rId2"/>
          <a:stretch>
            <a:fillRect/>
          </a:stretch>
        </p:blipFill>
        <p:spPr>
          <a:xfrm>
            <a:off x="4490618" y="2154326"/>
            <a:ext cx="263347" cy="263347"/>
          </a:xfrm>
          <a:prstGeom prst="rect">
            <a:avLst/>
          </a:prstGeom>
        </p:spPr>
      </p:pic>
      <p:sp>
        <p:nvSpPr>
          <p:cNvPr id="13" name="Text 9"/>
          <p:cNvSpPr/>
          <p:nvPr/>
        </p:nvSpPr>
        <p:spPr>
          <a:xfrm>
            <a:off x="3447288" y="2697480"/>
            <a:ext cx="2350008" cy="457200"/>
          </a:xfrm>
          <a:prstGeom prst="rect">
            <a:avLst/>
          </a:prstGeom>
          <a:noFill/>
          <a:ln/>
        </p:spPr>
        <p:txBody>
          <a:bodyPr wrap="square"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Strategy / Materiality</a:t>
            </a:r>
            <a:endParaRPr lang="en-US" sz="1300" dirty="0"/>
          </a:p>
        </p:txBody>
      </p:sp>
      <p:sp>
        <p:nvSpPr>
          <p:cNvPr id="14" name="Text 10"/>
          <p:cNvSpPr/>
          <p:nvPr/>
        </p:nvSpPr>
        <p:spPr>
          <a:xfrm>
            <a:off x="3474720" y="3200400"/>
            <a:ext cx="2295144" cy="1737360"/>
          </a:xfrm>
          <a:prstGeom prst="rect">
            <a:avLst/>
          </a:prstGeom>
          <a:noFill/>
          <a:ln/>
        </p:spPr>
        <p:txBody>
          <a:bodyPr wrap="square"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A materiality assessment identifies which SDGs are most relevant to the business and its stakeholders, shaping strategic priorities.</a:t>
            </a:r>
            <a:endParaRPr lang="en-US" sz="1050" dirty="0"/>
          </a:p>
        </p:txBody>
      </p:sp>
      <p:sp>
        <p:nvSpPr>
          <p:cNvPr id="15" name="Shape 11"/>
          <p:cNvSpPr/>
          <p:nvPr/>
        </p:nvSpPr>
        <p:spPr>
          <a:xfrm>
            <a:off x="5943600" y="3337560"/>
            <a:ext cx="118872" cy="182880"/>
          </a:xfrm>
          <a:prstGeom prst="rightArrow">
            <a:avLst/>
          </a:prstGeom>
          <a:solidFill>
            <a:srgbClr val="C9A24B"/>
          </a:solidFill>
          <a:ln/>
        </p:spPr>
      </p:sp>
      <p:sp>
        <p:nvSpPr>
          <p:cNvPr id="16" name="Shape 12"/>
          <p:cNvSpPr/>
          <p:nvPr/>
        </p:nvSpPr>
        <p:spPr>
          <a:xfrm>
            <a:off x="6071616" y="1783080"/>
            <a:ext cx="2624328" cy="3291840"/>
          </a:xfrm>
          <a:prstGeom prst="roundRect">
            <a:avLst>
              <a:gd name="adj" fmla="val 3136"/>
            </a:avLst>
          </a:prstGeom>
          <a:solidFill>
            <a:srgbClr val="1E2761"/>
          </a:solidFill>
          <a:ln/>
        </p:spPr>
      </p:sp>
      <p:sp>
        <p:nvSpPr>
          <p:cNvPr id="17" name="Shape 13"/>
          <p:cNvSpPr/>
          <p:nvPr/>
        </p:nvSpPr>
        <p:spPr>
          <a:xfrm>
            <a:off x="7109460" y="2011680"/>
            <a:ext cx="548640" cy="548640"/>
          </a:xfrm>
          <a:prstGeom prst="ellipse">
            <a:avLst/>
          </a:prstGeom>
          <a:solidFill>
            <a:srgbClr val="C9A24B"/>
          </a:solidFill>
          <a:ln/>
        </p:spPr>
      </p:sp>
      <p:pic>
        <p:nvPicPr>
          <p:cNvPr id="18" name="Image 2" descr="preencoded.png">    </p:cNvPr>
          <p:cNvPicPr>
            <a:picLocks noChangeAspect="1"/>
          </p:cNvPicPr>
          <p:nvPr/>
        </p:nvPicPr>
        <p:blipFill>
          <a:blip r:embed="rId3"/>
          <a:stretch>
            <a:fillRect/>
          </a:stretch>
        </p:blipFill>
        <p:spPr>
          <a:xfrm>
            <a:off x="7252106" y="2154326"/>
            <a:ext cx="263347" cy="263347"/>
          </a:xfrm>
          <a:prstGeom prst="rect">
            <a:avLst/>
          </a:prstGeom>
        </p:spPr>
      </p:pic>
      <p:sp>
        <p:nvSpPr>
          <p:cNvPr id="19" name="Text 14"/>
          <p:cNvSpPr/>
          <p:nvPr/>
        </p:nvSpPr>
        <p:spPr>
          <a:xfrm>
            <a:off x="6208776" y="2697480"/>
            <a:ext cx="2350008" cy="457200"/>
          </a:xfrm>
          <a:prstGeom prst="rect">
            <a:avLst/>
          </a:prstGeom>
          <a:noFill/>
          <a:ln/>
        </p:spPr>
        <p:txBody>
          <a:bodyPr wrap="square"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Policy (Standing Plans)</a:t>
            </a:r>
            <a:endParaRPr lang="en-US" sz="1300" dirty="0"/>
          </a:p>
        </p:txBody>
      </p:sp>
      <p:sp>
        <p:nvSpPr>
          <p:cNvPr id="20" name="Text 15"/>
          <p:cNvSpPr/>
          <p:nvPr/>
        </p:nvSpPr>
        <p:spPr>
          <a:xfrm>
            <a:off x="6236208" y="3200400"/>
            <a:ext cx="2295144" cy="1737360"/>
          </a:xfrm>
          <a:prstGeom prst="rect">
            <a:avLst/>
          </a:prstGeom>
          <a:noFill/>
          <a:ln/>
        </p:spPr>
        <p:txBody>
          <a:bodyPr wrap="square"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SDG commitments are embedded into standing plans — sustainability policies, procurement rules, and CSR procedures.</a:t>
            </a:r>
            <a:endParaRPr lang="en-US" sz="1050" dirty="0"/>
          </a:p>
        </p:txBody>
      </p:sp>
      <p:sp>
        <p:nvSpPr>
          <p:cNvPr id="21" name="Shape 16"/>
          <p:cNvSpPr/>
          <p:nvPr/>
        </p:nvSpPr>
        <p:spPr>
          <a:xfrm>
            <a:off x="8705088" y="3337560"/>
            <a:ext cx="118872" cy="182880"/>
          </a:xfrm>
          <a:prstGeom prst="rightArrow">
            <a:avLst/>
          </a:prstGeom>
          <a:solidFill>
            <a:srgbClr val="C9A24B"/>
          </a:solidFill>
          <a:ln/>
        </p:spPr>
      </p:sp>
      <p:sp>
        <p:nvSpPr>
          <p:cNvPr id="22" name="Shape 17"/>
          <p:cNvSpPr/>
          <p:nvPr/>
        </p:nvSpPr>
        <p:spPr>
          <a:xfrm>
            <a:off x="8833104" y="1783080"/>
            <a:ext cx="2624328" cy="3291840"/>
          </a:xfrm>
          <a:prstGeom prst="roundRect">
            <a:avLst>
              <a:gd name="adj" fmla="val 3136"/>
            </a:avLst>
          </a:prstGeom>
          <a:solidFill>
            <a:srgbClr val="1E2761"/>
          </a:solidFill>
          <a:ln/>
        </p:spPr>
      </p:sp>
      <p:sp>
        <p:nvSpPr>
          <p:cNvPr id="23" name="Shape 18"/>
          <p:cNvSpPr/>
          <p:nvPr/>
        </p:nvSpPr>
        <p:spPr>
          <a:xfrm>
            <a:off x="9870948" y="2011680"/>
            <a:ext cx="548640" cy="548640"/>
          </a:xfrm>
          <a:prstGeom prst="ellipse">
            <a:avLst/>
          </a:prstGeom>
          <a:solidFill>
            <a:srgbClr val="C9A24B"/>
          </a:solidFill>
          <a:ln/>
        </p:spPr>
      </p:sp>
      <p:pic>
        <p:nvPicPr>
          <p:cNvPr id="24" name="Image 3" descr="preencoded.png">    </p:cNvPr>
          <p:cNvPicPr>
            <a:picLocks noChangeAspect="1"/>
          </p:cNvPicPr>
          <p:nvPr/>
        </p:nvPicPr>
        <p:blipFill>
          <a:blip r:embed="rId4"/>
          <a:stretch>
            <a:fillRect/>
          </a:stretch>
        </p:blipFill>
        <p:spPr>
          <a:xfrm>
            <a:off x="10013594" y="2154326"/>
            <a:ext cx="263347" cy="263347"/>
          </a:xfrm>
          <a:prstGeom prst="rect">
            <a:avLst/>
          </a:prstGeom>
        </p:spPr>
      </p:pic>
      <p:sp>
        <p:nvSpPr>
          <p:cNvPr id="25" name="Text 19"/>
          <p:cNvSpPr/>
          <p:nvPr/>
        </p:nvSpPr>
        <p:spPr>
          <a:xfrm>
            <a:off x="8970264" y="2697480"/>
            <a:ext cx="2350008" cy="457200"/>
          </a:xfrm>
          <a:prstGeom prst="rect">
            <a:avLst/>
          </a:prstGeom>
          <a:noFill/>
          <a:ln/>
        </p:spPr>
        <p:txBody>
          <a:bodyPr wrap="square"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Monitoring &amp; KPIs</a:t>
            </a:r>
            <a:endParaRPr lang="en-US" sz="1300" dirty="0"/>
          </a:p>
        </p:txBody>
      </p:sp>
      <p:sp>
        <p:nvSpPr>
          <p:cNvPr id="26" name="Text 20"/>
          <p:cNvSpPr/>
          <p:nvPr/>
        </p:nvSpPr>
        <p:spPr>
          <a:xfrm>
            <a:off x="8997696" y="3200400"/>
            <a:ext cx="2295144" cy="1737360"/>
          </a:xfrm>
          <a:prstGeom prst="rect">
            <a:avLst/>
          </a:prstGeom>
          <a:noFill/>
          <a:ln/>
        </p:spPr>
        <p:txBody>
          <a:bodyPr wrap="square" rtlCol="0" anchor="t"/>
          <a:lstStyle/>
          <a:p>
            <a:pPr algn="ctr" indent="0" marL="0">
              <a:buNone/>
            </a:pPr>
            <a:r>
              <a:rPr lang="en-US" sz="1050" dirty="0">
                <a:solidFill>
                  <a:srgbClr val="CADCFC"/>
                </a:solidFill>
                <a:latin typeface="Calibri" pitchFamily="34" charset="0"/>
                <a:ea typeface="Calibri" pitchFamily="34" charset="-122"/>
                <a:cs typeface="Calibri" pitchFamily="34" charset="-120"/>
              </a:rPr>
              <a:t>Progress is tracked through ESG reporting and SDG-linked KPIs, feeding back into the next planning cycle.</a:t>
            </a:r>
            <a:endParaRPr lang="en-US" sz="1050" dirty="0"/>
          </a:p>
        </p:txBody>
      </p:sp>
      <p:sp>
        <p:nvSpPr>
          <p:cNvPr id="27" name="Shape 21"/>
          <p:cNvSpPr/>
          <p:nvPr/>
        </p:nvSpPr>
        <p:spPr>
          <a:xfrm>
            <a:off x="548640" y="5257800"/>
            <a:ext cx="11064240" cy="822960"/>
          </a:xfrm>
          <a:prstGeom prst="roundRect">
            <a:avLst>
              <a:gd name="adj" fmla="val 8889"/>
            </a:avLst>
          </a:prstGeom>
          <a:solidFill>
            <a:srgbClr val="FFF6E0"/>
          </a:solidFill>
          <a:ln w="12700">
            <a:solidFill>
              <a:srgbClr val="C9A24B"/>
            </a:solidFill>
            <a:prstDash val="solid"/>
          </a:ln>
        </p:spPr>
      </p:sp>
      <p:sp>
        <p:nvSpPr>
          <p:cNvPr id="28" name="Text 22"/>
          <p:cNvSpPr/>
          <p:nvPr/>
        </p:nvSpPr>
        <p:spPr>
          <a:xfrm>
            <a:off x="731520" y="5321808"/>
            <a:ext cx="10698480" cy="256032"/>
          </a:xfrm>
          <a:prstGeom prst="rect">
            <a:avLst/>
          </a:prstGeom>
          <a:noFill/>
          <a:ln/>
        </p:spPr>
        <p:txBody>
          <a:bodyPr wrap="square" rtlCol="0" anchor="ctr"/>
          <a:lstStyle/>
          <a:p>
            <a:pPr indent="0" marL="0">
              <a:buNone/>
            </a:pPr>
            <a:r>
              <a:rPr lang="en-US" sz="1050" b="1" spc="100" kern="0" dirty="0">
                <a:solidFill>
                  <a:srgbClr val="8A6D1D"/>
                </a:solidFill>
                <a:latin typeface="Calibri" pitchFamily="34" charset="0"/>
                <a:ea typeface="Calibri" pitchFamily="34" charset="-122"/>
                <a:cs typeface="Calibri" pitchFamily="34" charset="-120"/>
              </a:rPr>
              <a:t>🧠  MNEMONIC</a:t>
            </a:r>
            <a:endParaRPr lang="en-US" sz="1050" dirty="0"/>
          </a:p>
        </p:txBody>
      </p:sp>
      <p:sp>
        <p:nvSpPr>
          <p:cNvPr id="29" name="Text 23"/>
          <p:cNvSpPr/>
          <p:nvPr/>
        </p:nvSpPr>
        <p:spPr>
          <a:xfrm>
            <a:off x="731520" y="5577840"/>
            <a:ext cx="10698480" cy="457200"/>
          </a:xfrm>
          <a:prstGeom prst="rect">
            <a:avLst/>
          </a:prstGeom>
          <a:noFill/>
          <a:ln/>
        </p:spPr>
        <p:txBody>
          <a:bodyPr wrap="square" rtlCol="0" anchor="t"/>
          <a:lstStyle/>
          <a:p>
            <a:pPr indent="0" marL="0">
              <a:buNone/>
            </a:pPr>
            <a:r>
              <a:rPr lang="en-US" sz="1200" i="1" dirty="0">
                <a:solidFill>
                  <a:srgbClr val="2B2B33"/>
                </a:solidFill>
                <a:latin typeface="Calibri" pitchFamily="34" charset="0"/>
                <a:ea typeface="Calibri" pitchFamily="34" charset="-122"/>
                <a:cs typeface="Calibri" pitchFamily="34" charset="-120"/>
              </a:rPr>
              <a:t>SDGs flow through planning the same way any objective does: Set → Strategize → Standardize (policy) → Score (monitor).</a:t>
            </a:r>
            <a:endParaRPr lang="en-US" sz="1200" dirty="0"/>
          </a:p>
        </p:txBody>
      </p:sp>
      <p:sp>
        <p:nvSpPr>
          <p:cNvPr id="30" name="Text 2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SDGs IN THE PLANNING PROCESS</a:t>
            </a:r>
            <a:endParaRPr lang="en-US" sz="1100" dirty="0"/>
          </a:p>
        </p:txBody>
      </p:sp>
      <p:sp>
        <p:nvSpPr>
          <p:cNvPr id="31"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INCLUSION OF SDGS IN MANAGEMENT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Selected SDGs Commonly Embedded in Business Planning</a:t>
            </a:r>
            <a:endParaRPr lang="en-US" sz="2700" dirty="0"/>
          </a:p>
        </p:txBody>
      </p:sp>
      <p:sp>
        <p:nvSpPr>
          <p:cNvPr id="4" name="Shape 2"/>
          <p:cNvSpPr/>
          <p:nvPr/>
        </p:nvSpPr>
        <p:spPr>
          <a:xfrm>
            <a:off x="548640" y="1737360"/>
            <a:ext cx="2624328" cy="1965960"/>
          </a:xfrm>
          <a:prstGeom prst="rect">
            <a:avLst/>
          </a:prstGeom>
          <a:solidFill>
            <a:srgbClr val="C5192D"/>
          </a:solidFill>
          <a:ln/>
        </p:spPr>
      </p:sp>
      <p:sp>
        <p:nvSpPr>
          <p:cNvPr id="5" name="Text 3"/>
          <p:cNvSpPr/>
          <p:nvPr/>
        </p:nvSpPr>
        <p:spPr>
          <a:xfrm>
            <a:off x="685800" y="1874520"/>
            <a:ext cx="2350008"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SDG 3</a:t>
            </a:r>
            <a:endParaRPr lang="en-US" sz="1500" dirty="0"/>
          </a:p>
        </p:txBody>
      </p:sp>
      <p:sp>
        <p:nvSpPr>
          <p:cNvPr id="6" name="Text 4"/>
          <p:cNvSpPr/>
          <p:nvPr/>
        </p:nvSpPr>
        <p:spPr>
          <a:xfrm>
            <a:off x="685800" y="2331720"/>
            <a:ext cx="2350008" cy="123444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Good Health &amp; Well-being</a:t>
            </a:r>
            <a:endParaRPr lang="en-US" sz="1250" dirty="0"/>
          </a:p>
        </p:txBody>
      </p:sp>
      <p:sp>
        <p:nvSpPr>
          <p:cNvPr id="7" name="Shape 5"/>
          <p:cNvSpPr/>
          <p:nvPr/>
        </p:nvSpPr>
        <p:spPr>
          <a:xfrm>
            <a:off x="3310128" y="1737360"/>
            <a:ext cx="2624328" cy="1965960"/>
          </a:xfrm>
          <a:prstGeom prst="rect">
            <a:avLst/>
          </a:prstGeom>
          <a:solidFill>
            <a:srgbClr val="FF3A21"/>
          </a:solidFill>
          <a:ln/>
        </p:spPr>
      </p:sp>
      <p:sp>
        <p:nvSpPr>
          <p:cNvPr id="8" name="Text 6"/>
          <p:cNvSpPr/>
          <p:nvPr/>
        </p:nvSpPr>
        <p:spPr>
          <a:xfrm>
            <a:off x="3447288" y="1874520"/>
            <a:ext cx="2350008"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SDG 5</a:t>
            </a:r>
            <a:endParaRPr lang="en-US" sz="1500" dirty="0"/>
          </a:p>
        </p:txBody>
      </p:sp>
      <p:sp>
        <p:nvSpPr>
          <p:cNvPr id="9" name="Text 7"/>
          <p:cNvSpPr/>
          <p:nvPr/>
        </p:nvSpPr>
        <p:spPr>
          <a:xfrm>
            <a:off x="3447288" y="2331720"/>
            <a:ext cx="2350008" cy="123444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Gender Equality</a:t>
            </a:r>
            <a:endParaRPr lang="en-US" sz="1250" dirty="0"/>
          </a:p>
        </p:txBody>
      </p:sp>
      <p:sp>
        <p:nvSpPr>
          <p:cNvPr id="10" name="Shape 8"/>
          <p:cNvSpPr/>
          <p:nvPr/>
        </p:nvSpPr>
        <p:spPr>
          <a:xfrm>
            <a:off x="6071616" y="1737360"/>
            <a:ext cx="2624328" cy="1965960"/>
          </a:xfrm>
          <a:prstGeom prst="rect">
            <a:avLst/>
          </a:prstGeom>
          <a:solidFill>
            <a:srgbClr val="A21942"/>
          </a:solidFill>
          <a:ln/>
        </p:spPr>
      </p:sp>
      <p:sp>
        <p:nvSpPr>
          <p:cNvPr id="11" name="Text 9"/>
          <p:cNvSpPr/>
          <p:nvPr/>
        </p:nvSpPr>
        <p:spPr>
          <a:xfrm>
            <a:off x="6208776" y="1874520"/>
            <a:ext cx="2350008"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SDG 8</a:t>
            </a:r>
            <a:endParaRPr lang="en-US" sz="1500" dirty="0"/>
          </a:p>
        </p:txBody>
      </p:sp>
      <p:sp>
        <p:nvSpPr>
          <p:cNvPr id="12" name="Text 10"/>
          <p:cNvSpPr/>
          <p:nvPr/>
        </p:nvSpPr>
        <p:spPr>
          <a:xfrm>
            <a:off x="6208776" y="2331720"/>
            <a:ext cx="2350008" cy="123444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Decent Work &amp; Economic Growth</a:t>
            </a:r>
            <a:endParaRPr lang="en-US" sz="1250" dirty="0"/>
          </a:p>
        </p:txBody>
      </p:sp>
      <p:sp>
        <p:nvSpPr>
          <p:cNvPr id="13" name="Shape 11"/>
          <p:cNvSpPr/>
          <p:nvPr/>
        </p:nvSpPr>
        <p:spPr>
          <a:xfrm>
            <a:off x="8833104" y="1737360"/>
            <a:ext cx="2624328" cy="1965960"/>
          </a:xfrm>
          <a:prstGeom prst="rect">
            <a:avLst/>
          </a:prstGeom>
          <a:solidFill>
            <a:srgbClr val="FD6925"/>
          </a:solidFill>
          <a:ln/>
        </p:spPr>
      </p:sp>
      <p:sp>
        <p:nvSpPr>
          <p:cNvPr id="14" name="Text 12"/>
          <p:cNvSpPr/>
          <p:nvPr/>
        </p:nvSpPr>
        <p:spPr>
          <a:xfrm>
            <a:off x="8970264" y="1874520"/>
            <a:ext cx="2350008"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SDG 9</a:t>
            </a:r>
            <a:endParaRPr lang="en-US" sz="1500" dirty="0"/>
          </a:p>
        </p:txBody>
      </p:sp>
      <p:sp>
        <p:nvSpPr>
          <p:cNvPr id="15" name="Text 13"/>
          <p:cNvSpPr/>
          <p:nvPr/>
        </p:nvSpPr>
        <p:spPr>
          <a:xfrm>
            <a:off x="8970264" y="2331720"/>
            <a:ext cx="2350008" cy="123444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Industry, Innovation &amp; Infrastructure</a:t>
            </a:r>
            <a:endParaRPr lang="en-US" sz="1250" dirty="0"/>
          </a:p>
        </p:txBody>
      </p:sp>
      <p:sp>
        <p:nvSpPr>
          <p:cNvPr id="16" name="Shape 14"/>
          <p:cNvSpPr/>
          <p:nvPr/>
        </p:nvSpPr>
        <p:spPr>
          <a:xfrm>
            <a:off x="548640" y="3886200"/>
            <a:ext cx="2624328" cy="1965960"/>
          </a:xfrm>
          <a:prstGeom prst="rect">
            <a:avLst/>
          </a:prstGeom>
          <a:solidFill>
            <a:srgbClr val="BF8B2E"/>
          </a:solidFill>
          <a:ln/>
        </p:spPr>
      </p:sp>
      <p:sp>
        <p:nvSpPr>
          <p:cNvPr id="17" name="Text 15"/>
          <p:cNvSpPr/>
          <p:nvPr/>
        </p:nvSpPr>
        <p:spPr>
          <a:xfrm>
            <a:off x="685800" y="4023360"/>
            <a:ext cx="2350008"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SDG 12</a:t>
            </a:r>
            <a:endParaRPr lang="en-US" sz="1500" dirty="0"/>
          </a:p>
        </p:txBody>
      </p:sp>
      <p:sp>
        <p:nvSpPr>
          <p:cNvPr id="18" name="Text 16"/>
          <p:cNvSpPr/>
          <p:nvPr/>
        </p:nvSpPr>
        <p:spPr>
          <a:xfrm>
            <a:off x="685800" y="4480560"/>
            <a:ext cx="2350008" cy="123444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Responsible Consumption &amp; Production</a:t>
            </a:r>
            <a:endParaRPr lang="en-US" sz="1250" dirty="0"/>
          </a:p>
        </p:txBody>
      </p:sp>
      <p:sp>
        <p:nvSpPr>
          <p:cNvPr id="19" name="Shape 17"/>
          <p:cNvSpPr/>
          <p:nvPr/>
        </p:nvSpPr>
        <p:spPr>
          <a:xfrm>
            <a:off x="3310128" y="3886200"/>
            <a:ext cx="2624328" cy="1965960"/>
          </a:xfrm>
          <a:prstGeom prst="rect">
            <a:avLst/>
          </a:prstGeom>
          <a:solidFill>
            <a:srgbClr val="3F7E44"/>
          </a:solidFill>
          <a:ln/>
        </p:spPr>
      </p:sp>
      <p:sp>
        <p:nvSpPr>
          <p:cNvPr id="20" name="Text 18"/>
          <p:cNvSpPr/>
          <p:nvPr/>
        </p:nvSpPr>
        <p:spPr>
          <a:xfrm>
            <a:off x="3447288" y="4023360"/>
            <a:ext cx="2350008"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SDG 13</a:t>
            </a:r>
            <a:endParaRPr lang="en-US" sz="1500" dirty="0"/>
          </a:p>
        </p:txBody>
      </p:sp>
      <p:sp>
        <p:nvSpPr>
          <p:cNvPr id="21" name="Text 19"/>
          <p:cNvSpPr/>
          <p:nvPr/>
        </p:nvSpPr>
        <p:spPr>
          <a:xfrm>
            <a:off x="3447288" y="4480560"/>
            <a:ext cx="2350008" cy="123444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Climate Action</a:t>
            </a:r>
            <a:endParaRPr lang="en-US" sz="1250" dirty="0"/>
          </a:p>
        </p:txBody>
      </p:sp>
      <p:sp>
        <p:nvSpPr>
          <p:cNvPr id="22" name="Shape 20"/>
          <p:cNvSpPr/>
          <p:nvPr/>
        </p:nvSpPr>
        <p:spPr>
          <a:xfrm>
            <a:off x="6071616" y="3886200"/>
            <a:ext cx="2624328" cy="1965960"/>
          </a:xfrm>
          <a:prstGeom prst="rect">
            <a:avLst/>
          </a:prstGeom>
          <a:solidFill>
            <a:srgbClr val="00689D"/>
          </a:solidFill>
          <a:ln/>
        </p:spPr>
      </p:sp>
      <p:sp>
        <p:nvSpPr>
          <p:cNvPr id="23" name="Text 21"/>
          <p:cNvSpPr/>
          <p:nvPr/>
        </p:nvSpPr>
        <p:spPr>
          <a:xfrm>
            <a:off x="6208776" y="4023360"/>
            <a:ext cx="2350008"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SDG 16</a:t>
            </a:r>
            <a:endParaRPr lang="en-US" sz="1500" dirty="0"/>
          </a:p>
        </p:txBody>
      </p:sp>
      <p:sp>
        <p:nvSpPr>
          <p:cNvPr id="24" name="Text 22"/>
          <p:cNvSpPr/>
          <p:nvPr/>
        </p:nvSpPr>
        <p:spPr>
          <a:xfrm>
            <a:off x="6208776" y="4480560"/>
            <a:ext cx="2350008" cy="123444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Peace, Justice &amp; Strong Institutions</a:t>
            </a:r>
            <a:endParaRPr lang="en-US" sz="1250" dirty="0"/>
          </a:p>
        </p:txBody>
      </p:sp>
      <p:sp>
        <p:nvSpPr>
          <p:cNvPr id="25" name="Shape 23"/>
          <p:cNvSpPr/>
          <p:nvPr/>
        </p:nvSpPr>
        <p:spPr>
          <a:xfrm>
            <a:off x="8833104" y="3886200"/>
            <a:ext cx="2624328" cy="1965960"/>
          </a:xfrm>
          <a:prstGeom prst="rect">
            <a:avLst/>
          </a:prstGeom>
          <a:solidFill>
            <a:srgbClr val="19486A"/>
          </a:solidFill>
          <a:ln/>
        </p:spPr>
      </p:sp>
      <p:sp>
        <p:nvSpPr>
          <p:cNvPr id="26" name="Text 24"/>
          <p:cNvSpPr/>
          <p:nvPr/>
        </p:nvSpPr>
        <p:spPr>
          <a:xfrm>
            <a:off x="8970264" y="4023360"/>
            <a:ext cx="2350008"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SDG 17</a:t>
            </a:r>
            <a:endParaRPr lang="en-US" sz="1500" dirty="0"/>
          </a:p>
        </p:txBody>
      </p:sp>
      <p:sp>
        <p:nvSpPr>
          <p:cNvPr id="27" name="Text 25"/>
          <p:cNvSpPr/>
          <p:nvPr/>
        </p:nvSpPr>
        <p:spPr>
          <a:xfrm>
            <a:off x="8970264" y="4480560"/>
            <a:ext cx="2350008" cy="123444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Partnerships for the Goals</a:t>
            </a:r>
            <a:endParaRPr lang="en-US" sz="1250" dirty="0"/>
          </a:p>
        </p:txBody>
      </p:sp>
      <p:sp>
        <p:nvSpPr>
          <p:cNvPr id="28" name="Text 26"/>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SDGs IN BUSINESS PLANNING</a:t>
            </a:r>
            <a:endParaRPr lang="en-US" sz="1100" dirty="0"/>
          </a:p>
        </p:txBody>
      </p:sp>
      <p:sp>
        <p:nvSpPr>
          <p:cNvPr id="29" name="Text 27"/>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47</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INCLUSION OF SDGS IN MANAGEMENT PLANNING</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Worked Example — Manufacturing Sector</a:t>
            </a:r>
            <a:endParaRPr lang="en-US" sz="2700" dirty="0"/>
          </a:p>
        </p:txBody>
      </p:sp>
      <p:sp>
        <p:nvSpPr>
          <p:cNvPr id="4" name="Text 2"/>
          <p:cNvSpPr/>
          <p:nvPr/>
        </p:nvSpPr>
        <p:spPr>
          <a:xfrm>
            <a:off x="548640" y="1645920"/>
            <a:ext cx="6858000" cy="352044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Consider a cement manufacturer building its five-year strategic plan. A materiality assessment shows its biggest SDG-relevant impacts are on Industry, Innovation &amp; Infrastructure (SDG 9), Responsible Consumption &amp; Production (SDG 12), and Climate Action (SDG 13) — given the carbon-intensity of cement production.</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At the objective-setting stage, the company adopts a formal target: cut carbon emissions per tonne of cement by a set percentage within the plan period. At the policy stage, procurement standards are rewritten to favor lower-carbon raw materials and suppliers.</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At the monitoring stage, emissions-per-tonne becomes a standing KPI reported alongside financial results — completing the loop from global goal to daily operating discipline.</a:t>
            </a:r>
            <a:endParaRPr lang="en-US" sz="1500" dirty="0"/>
          </a:p>
        </p:txBody>
      </p:sp>
      <p:sp>
        <p:nvSpPr>
          <p:cNvPr id="5" name="Shape 3"/>
          <p:cNvSpPr/>
          <p:nvPr/>
        </p:nvSpPr>
        <p:spPr>
          <a:xfrm>
            <a:off x="548640" y="5257800"/>
            <a:ext cx="6858000" cy="822960"/>
          </a:xfrm>
          <a:prstGeom prst="roundRect">
            <a:avLst>
              <a:gd name="adj" fmla="val 8889"/>
            </a:avLst>
          </a:prstGeom>
          <a:solidFill>
            <a:srgbClr val="FFF6E0"/>
          </a:solidFill>
          <a:ln w="12700">
            <a:solidFill>
              <a:srgbClr val="C9A24B"/>
            </a:solidFill>
            <a:prstDash val="solid"/>
          </a:ln>
        </p:spPr>
      </p:sp>
      <p:sp>
        <p:nvSpPr>
          <p:cNvPr id="6" name="Text 4"/>
          <p:cNvSpPr/>
          <p:nvPr/>
        </p:nvSpPr>
        <p:spPr>
          <a:xfrm>
            <a:off x="731520" y="5321808"/>
            <a:ext cx="6492240" cy="256032"/>
          </a:xfrm>
          <a:prstGeom prst="rect">
            <a:avLst/>
          </a:prstGeom>
          <a:noFill/>
          <a:ln/>
        </p:spPr>
        <p:txBody>
          <a:bodyPr wrap="square" rtlCol="0" anchor="ctr"/>
          <a:lstStyle/>
          <a:p>
            <a:pPr indent="0" marL="0">
              <a:buNone/>
            </a:pPr>
            <a:r>
              <a:rPr lang="en-US" sz="1050" b="1" spc="100" kern="0" dirty="0">
                <a:solidFill>
                  <a:srgbClr val="8A6D1D"/>
                </a:solidFill>
                <a:latin typeface="Calibri" pitchFamily="34" charset="0"/>
                <a:ea typeface="Calibri" pitchFamily="34" charset="-122"/>
                <a:cs typeface="Calibri" pitchFamily="34" charset="-120"/>
              </a:rPr>
              <a:t>🧠  MNEMONIC</a:t>
            </a:r>
            <a:endParaRPr lang="en-US" sz="1050" dirty="0"/>
          </a:p>
        </p:txBody>
      </p:sp>
      <p:sp>
        <p:nvSpPr>
          <p:cNvPr id="7" name="Text 5"/>
          <p:cNvSpPr/>
          <p:nvPr/>
        </p:nvSpPr>
        <p:spPr>
          <a:xfrm>
            <a:off x="731520" y="5577840"/>
            <a:ext cx="6492240" cy="457200"/>
          </a:xfrm>
          <a:prstGeom prst="rect">
            <a:avLst/>
          </a:prstGeom>
          <a:noFill/>
          <a:ln/>
        </p:spPr>
        <p:txBody>
          <a:bodyPr wrap="square" rtlCol="0" anchor="t"/>
          <a:lstStyle/>
          <a:p>
            <a:pPr indent="0" marL="0">
              <a:buNone/>
            </a:pPr>
            <a:r>
              <a:rPr lang="en-US" sz="1200" i="1" dirty="0">
                <a:solidFill>
                  <a:srgbClr val="2B2B33"/>
                </a:solidFill>
                <a:latin typeface="Calibri" pitchFamily="34" charset="0"/>
                <a:ea typeface="Calibri" pitchFamily="34" charset="-122"/>
                <a:cs typeface="Calibri" pitchFamily="34" charset="-120"/>
              </a:rPr>
              <a:t>“Focus, Don't Scatter” — pick the few SDGs most material to your business, not all seventeen.</a:t>
            </a:r>
            <a:endParaRPr lang="en-US" sz="1200" dirty="0"/>
          </a:p>
        </p:txBody>
      </p:sp>
      <p:sp>
        <p:nvSpPr>
          <p:cNvPr id="8" name="Shape 6"/>
          <p:cNvSpPr/>
          <p:nvPr/>
        </p:nvSpPr>
        <p:spPr>
          <a:xfrm>
            <a:off x="7680960" y="1645920"/>
            <a:ext cx="3977640" cy="4297680"/>
          </a:xfrm>
          <a:prstGeom prst="roundRect">
            <a:avLst>
              <a:gd name="adj" fmla="val 2299"/>
            </a:avLst>
          </a:prstGeom>
          <a:solidFill>
            <a:srgbClr val="1E2761"/>
          </a:solidFill>
          <a:ln/>
        </p:spPr>
      </p:sp>
      <p:sp>
        <p:nvSpPr>
          <p:cNvPr id="9" name="Shape 7"/>
          <p:cNvSpPr/>
          <p:nvPr/>
        </p:nvSpPr>
        <p:spPr>
          <a:xfrm>
            <a:off x="8001000" y="1920240"/>
            <a:ext cx="621792" cy="621792"/>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11" name="Text 8"/>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12" name="Text 9"/>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One Company, Three SDGs</a:t>
            </a:r>
            <a:endParaRPr lang="en-US" sz="1500" dirty="0"/>
          </a:p>
        </p:txBody>
      </p:sp>
      <p:sp>
        <p:nvSpPr>
          <p:cNvPr id="13" name="Text 10"/>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single materiality assessment can identify just 2–3 SDGs that matter most to a given industry — focus beats trying to address all 17 at once.</a:t>
            </a:r>
            <a:endParaRPr lang="en-US" sz="1250" dirty="0"/>
          </a:p>
        </p:txBody>
      </p:sp>
      <p:sp>
        <p:nvSpPr>
          <p:cNvPr id="14" name="Text 11"/>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INCLUSION OF SDGS IN MANAGEMENT PLANNING</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48</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RECALL — PART 1</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Recall Questions — Part 1</a:t>
            </a:r>
            <a:endParaRPr lang="en-US" sz="2700" dirty="0"/>
          </a:p>
        </p:txBody>
      </p:sp>
      <p:sp>
        <p:nvSpPr>
          <p:cNvPr id="4" name="Text 2"/>
          <p:cNvSpPr/>
          <p:nvPr/>
        </p:nvSpPr>
        <p:spPr>
          <a:xfrm>
            <a:off x="548640" y="1371600"/>
            <a:ext cx="10972800" cy="36576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Test yourself before checking the notes.</a:t>
            </a:r>
            <a:endParaRPr lang="en-US" sz="1350" dirty="0"/>
          </a:p>
        </p:txBody>
      </p:sp>
      <p:sp>
        <p:nvSpPr>
          <p:cNvPr id="5" name="Shape 3"/>
          <p:cNvSpPr/>
          <p:nvPr/>
        </p:nvSpPr>
        <p:spPr>
          <a:xfrm>
            <a:off x="548640" y="1946366"/>
            <a:ext cx="411480" cy="411480"/>
          </a:xfrm>
          <a:prstGeom prst="ellipse">
            <a:avLst/>
          </a:prstGeom>
          <a:solidFill>
            <a:srgbClr val="1E2761"/>
          </a:solidFill>
          <a:ln/>
        </p:spPr>
      </p:sp>
      <p:sp>
        <p:nvSpPr>
          <p:cNvPr id="6" name="Text 4"/>
          <p:cNvSpPr/>
          <p:nvPr/>
        </p:nvSpPr>
        <p:spPr>
          <a:xfrm>
            <a:off x="548640" y="1946366"/>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1</a:t>
            </a:r>
            <a:endParaRPr lang="en-US" sz="1250" dirty="0"/>
          </a:p>
        </p:txBody>
      </p:sp>
      <p:sp>
        <p:nvSpPr>
          <p:cNvPr id="7" name="Text 5"/>
          <p:cNvSpPr/>
          <p:nvPr/>
        </p:nvSpPr>
        <p:spPr>
          <a:xfrm>
            <a:off x="1143000" y="1828800"/>
            <a:ext cx="10515600" cy="646611"/>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According to Koontz &amp; O'Donnel, what four questions does planning answer in advance?</a:t>
            </a:r>
            <a:endParaRPr lang="en-US" sz="1280" dirty="0"/>
          </a:p>
        </p:txBody>
      </p:sp>
      <p:sp>
        <p:nvSpPr>
          <p:cNvPr id="8" name="Shape 6"/>
          <p:cNvSpPr/>
          <p:nvPr/>
        </p:nvSpPr>
        <p:spPr>
          <a:xfrm>
            <a:off x="548640" y="2592977"/>
            <a:ext cx="411480" cy="411480"/>
          </a:xfrm>
          <a:prstGeom prst="ellipse">
            <a:avLst/>
          </a:prstGeom>
          <a:solidFill>
            <a:srgbClr val="1E2761"/>
          </a:solidFill>
          <a:ln/>
        </p:spPr>
      </p:sp>
      <p:sp>
        <p:nvSpPr>
          <p:cNvPr id="9" name="Text 7"/>
          <p:cNvSpPr/>
          <p:nvPr/>
        </p:nvSpPr>
        <p:spPr>
          <a:xfrm>
            <a:off x="548640" y="2592977"/>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2</a:t>
            </a:r>
            <a:endParaRPr lang="en-US" sz="1250" dirty="0"/>
          </a:p>
        </p:txBody>
      </p:sp>
      <p:sp>
        <p:nvSpPr>
          <p:cNvPr id="10" name="Text 8"/>
          <p:cNvSpPr/>
          <p:nvPr/>
        </p:nvSpPr>
        <p:spPr>
          <a:xfrm>
            <a:off x="1143000" y="2475411"/>
            <a:ext cx="10515600" cy="646611"/>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What is the key difference between 'forecasting' and 'planning'?</a:t>
            </a:r>
            <a:endParaRPr lang="en-US" sz="1280" dirty="0"/>
          </a:p>
        </p:txBody>
      </p:sp>
      <p:sp>
        <p:nvSpPr>
          <p:cNvPr id="11" name="Shape 9"/>
          <p:cNvSpPr/>
          <p:nvPr/>
        </p:nvSpPr>
        <p:spPr>
          <a:xfrm>
            <a:off x="548640" y="3239589"/>
            <a:ext cx="411480" cy="411480"/>
          </a:xfrm>
          <a:prstGeom prst="ellipse">
            <a:avLst/>
          </a:prstGeom>
          <a:solidFill>
            <a:srgbClr val="1E2761"/>
          </a:solidFill>
          <a:ln/>
        </p:spPr>
      </p:sp>
      <p:sp>
        <p:nvSpPr>
          <p:cNvPr id="12" name="Text 10"/>
          <p:cNvSpPr/>
          <p:nvPr/>
        </p:nvSpPr>
        <p:spPr>
          <a:xfrm>
            <a:off x="548640" y="3239589"/>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3</a:t>
            </a:r>
            <a:endParaRPr lang="en-US" sz="1250" dirty="0"/>
          </a:p>
        </p:txBody>
      </p:sp>
      <p:sp>
        <p:nvSpPr>
          <p:cNvPr id="13" name="Text 11"/>
          <p:cNvSpPr/>
          <p:nvPr/>
        </p:nvSpPr>
        <p:spPr>
          <a:xfrm>
            <a:off x="1143000" y="3122023"/>
            <a:ext cx="10515600" cy="646611"/>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Name any three of the seven reasons planning is described as 'important'.</a:t>
            </a:r>
            <a:endParaRPr lang="en-US" sz="1280" dirty="0"/>
          </a:p>
        </p:txBody>
      </p:sp>
      <p:sp>
        <p:nvSpPr>
          <p:cNvPr id="14" name="Shape 12"/>
          <p:cNvSpPr/>
          <p:nvPr/>
        </p:nvSpPr>
        <p:spPr>
          <a:xfrm>
            <a:off x="548640" y="3886200"/>
            <a:ext cx="411480" cy="411480"/>
          </a:xfrm>
          <a:prstGeom prst="ellipse">
            <a:avLst/>
          </a:prstGeom>
          <a:solidFill>
            <a:srgbClr val="1E2761"/>
          </a:solidFill>
          <a:ln/>
        </p:spPr>
      </p:sp>
      <p:sp>
        <p:nvSpPr>
          <p:cNvPr id="15" name="Text 13"/>
          <p:cNvSpPr/>
          <p:nvPr/>
        </p:nvSpPr>
        <p:spPr>
          <a:xfrm>
            <a:off x="548640" y="388620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4</a:t>
            </a:r>
            <a:endParaRPr lang="en-US" sz="1250" dirty="0"/>
          </a:p>
        </p:txBody>
      </p:sp>
      <p:sp>
        <p:nvSpPr>
          <p:cNvPr id="16" name="Text 14"/>
          <p:cNvSpPr/>
          <p:nvPr/>
        </p:nvSpPr>
        <p:spPr>
          <a:xfrm>
            <a:off x="1143000" y="3768634"/>
            <a:ext cx="10515600" cy="646611"/>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List the nine major steps in planning, in order.</a:t>
            </a:r>
            <a:endParaRPr lang="en-US" sz="1280" dirty="0"/>
          </a:p>
        </p:txBody>
      </p:sp>
      <p:sp>
        <p:nvSpPr>
          <p:cNvPr id="17" name="Shape 15"/>
          <p:cNvSpPr/>
          <p:nvPr/>
        </p:nvSpPr>
        <p:spPr>
          <a:xfrm>
            <a:off x="548640" y="4532811"/>
            <a:ext cx="411480" cy="411480"/>
          </a:xfrm>
          <a:prstGeom prst="ellipse">
            <a:avLst/>
          </a:prstGeom>
          <a:solidFill>
            <a:srgbClr val="1E2761"/>
          </a:solidFill>
          <a:ln/>
        </p:spPr>
      </p:sp>
      <p:sp>
        <p:nvSpPr>
          <p:cNvPr id="18" name="Text 16"/>
          <p:cNvSpPr/>
          <p:nvPr/>
        </p:nvSpPr>
        <p:spPr>
          <a:xfrm>
            <a:off x="548640" y="4532811"/>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5</a:t>
            </a:r>
            <a:endParaRPr lang="en-US" sz="1250" dirty="0"/>
          </a:p>
        </p:txBody>
      </p:sp>
      <p:sp>
        <p:nvSpPr>
          <p:cNvPr id="19" name="Text 17"/>
          <p:cNvSpPr/>
          <p:nvPr/>
        </p:nvSpPr>
        <p:spPr>
          <a:xfrm>
            <a:off x="1143000" y="4415246"/>
            <a:ext cx="10515600" cy="646611"/>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What two branches make up 'determining secondary or derivative plans'?</a:t>
            </a:r>
            <a:endParaRPr lang="en-US" sz="1280" dirty="0"/>
          </a:p>
        </p:txBody>
      </p:sp>
      <p:sp>
        <p:nvSpPr>
          <p:cNvPr id="20" name="Shape 18"/>
          <p:cNvSpPr/>
          <p:nvPr/>
        </p:nvSpPr>
        <p:spPr>
          <a:xfrm>
            <a:off x="548640" y="5179423"/>
            <a:ext cx="411480" cy="411480"/>
          </a:xfrm>
          <a:prstGeom prst="ellipse">
            <a:avLst/>
          </a:prstGeom>
          <a:solidFill>
            <a:srgbClr val="1E2761"/>
          </a:solidFill>
          <a:ln/>
        </p:spPr>
      </p:sp>
      <p:sp>
        <p:nvSpPr>
          <p:cNvPr id="21" name="Text 19"/>
          <p:cNvSpPr/>
          <p:nvPr/>
        </p:nvSpPr>
        <p:spPr>
          <a:xfrm>
            <a:off x="548640" y="5179423"/>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6</a:t>
            </a:r>
            <a:endParaRPr lang="en-US" sz="1250" dirty="0"/>
          </a:p>
        </p:txBody>
      </p:sp>
      <p:sp>
        <p:nvSpPr>
          <p:cNvPr id="22" name="Text 20"/>
          <p:cNvSpPr/>
          <p:nvPr/>
        </p:nvSpPr>
        <p:spPr>
          <a:xfrm>
            <a:off x="1143000" y="5061857"/>
            <a:ext cx="10515600" cy="646611"/>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Name the five Standing/Repeated-Use Plans and the two Single-Use Plans.</a:t>
            </a:r>
            <a:endParaRPr lang="en-US" sz="1280" dirty="0"/>
          </a:p>
        </p:txBody>
      </p:sp>
      <p:sp>
        <p:nvSpPr>
          <p:cNvPr id="23" name="Shape 21"/>
          <p:cNvSpPr/>
          <p:nvPr/>
        </p:nvSpPr>
        <p:spPr>
          <a:xfrm>
            <a:off x="548640" y="5826034"/>
            <a:ext cx="411480" cy="411480"/>
          </a:xfrm>
          <a:prstGeom prst="ellipse">
            <a:avLst/>
          </a:prstGeom>
          <a:solidFill>
            <a:srgbClr val="1E2761"/>
          </a:solidFill>
          <a:ln/>
        </p:spPr>
      </p:sp>
      <p:sp>
        <p:nvSpPr>
          <p:cNvPr id="24" name="Text 22"/>
          <p:cNvSpPr/>
          <p:nvPr/>
        </p:nvSpPr>
        <p:spPr>
          <a:xfrm>
            <a:off x="548640" y="5826034"/>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7</a:t>
            </a:r>
            <a:endParaRPr lang="en-US" sz="1250" dirty="0"/>
          </a:p>
        </p:txBody>
      </p:sp>
      <p:sp>
        <p:nvSpPr>
          <p:cNvPr id="25" name="Text 23"/>
          <p:cNvSpPr/>
          <p:nvPr/>
        </p:nvSpPr>
        <p:spPr>
          <a:xfrm>
            <a:off x="1143000" y="5708469"/>
            <a:ext cx="10515600" cy="646611"/>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List any four of Peter Drucker's seven objective areas.</a:t>
            </a:r>
            <a:endParaRPr lang="en-US" sz="1280" dirty="0"/>
          </a:p>
        </p:txBody>
      </p:sp>
      <p:sp>
        <p:nvSpPr>
          <p:cNvPr id="26" name="Text 2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49</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RECALL — PART 2</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Recall Questions — Part 2</a:t>
            </a:r>
            <a:endParaRPr lang="en-US" sz="2700" dirty="0"/>
          </a:p>
        </p:txBody>
      </p:sp>
      <p:sp>
        <p:nvSpPr>
          <p:cNvPr id="4" name="Text 2"/>
          <p:cNvSpPr/>
          <p:nvPr/>
        </p:nvSpPr>
        <p:spPr>
          <a:xfrm>
            <a:off x="548640" y="1371600"/>
            <a:ext cx="10972800" cy="36576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Test yourself before checking the notes.</a:t>
            </a:r>
            <a:endParaRPr lang="en-US" sz="1350" dirty="0"/>
          </a:p>
        </p:txBody>
      </p:sp>
      <p:sp>
        <p:nvSpPr>
          <p:cNvPr id="5" name="Shape 3"/>
          <p:cNvSpPr/>
          <p:nvPr/>
        </p:nvSpPr>
        <p:spPr>
          <a:xfrm>
            <a:off x="548640" y="1874520"/>
            <a:ext cx="411480" cy="411480"/>
          </a:xfrm>
          <a:prstGeom prst="ellipse">
            <a:avLst/>
          </a:prstGeom>
          <a:solidFill>
            <a:srgbClr val="1E2761"/>
          </a:solidFill>
          <a:ln/>
        </p:spPr>
      </p:sp>
      <p:sp>
        <p:nvSpPr>
          <p:cNvPr id="6" name="Text 4"/>
          <p:cNvSpPr/>
          <p:nvPr/>
        </p:nvSpPr>
        <p:spPr>
          <a:xfrm>
            <a:off x="548640" y="187452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1</a:t>
            </a:r>
            <a:endParaRPr lang="en-US" sz="1250" dirty="0"/>
          </a:p>
        </p:txBody>
      </p:sp>
      <p:sp>
        <p:nvSpPr>
          <p:cNvPr id="7" name="Text 5"/>
          <p:cNvSpPr/>
          <p:nvPr/>
        </p:nvSpPr>
        <p:spPr>
          <a:xfrm>
            <a:off x="1143000" y="1828800"/>
            <a:ext cx="10515600" cy="502920"/>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Name Charles Perrow's five categories of organizational objectives.</a:t>
            </a:r>
            <a:endParaRPr lang="en-US" sz="1280" dirty="0"/>
          </a:p>
        </p:txBody>
      </p:sp>
      <p:sp>
        <p:nvSpPr>
          <p:cNvPr id="8" name="Shape 6"/>
          <p:cNvSpPr/>
          <p:nvPr/>
        </p:nvSpPr>
        <p:spPr>
          <a:xfrm>
            <a:off x="548640" y="2377440"/>
            <a:ext cx="411480" cy="411480"/>
          </a:xfrm>
          <a:prstGeom prst="ellipse">
            <a:avLst/>
          </a:prstGeom>
          <a:solidFill>
            <a:srgbClr val="1E2761"/>
          </a:solidFill>
          <a:ln/>
        </p:spPr>
      </p:sp>
      <p:sp>
        <p:nvSpPr>
          <p:cNvPr id="9" name="Text 7"/>
          <p:cNvSpPr/>
          <p:nvPr/>
        </p:nvSpPr>
        <p:spPr>
          <a:xfrm>
            <a:off x="548640" y="237744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2</a:t>
            </a:r>
            <a:endParaRPr lang="en-US" sz="1250" dirty="0"/>
          </a:p>
        </p:txBody>
      </p:sp>
      <p:sp>
        <p:nvSpPr>
          <p:cNvPr id="10" name="Text 8"/>
          <p:cNvSpPr/>
          <p:nvPr/>
        </p:nvSpPr>
        <p:spPr>
          <a:xfrm>
            <a:off x="1143000" y="2331720"/>
            <a:ext cx="10515600" cy="502920"/>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Why is 'clarity of objectives' important, and what problem does vagueness create?</a:t>
            </a:r>
            <a:endParaRPr lang="en-US" sz="1280" dirty="0"/>
          </a:p>
        </p:txBody>
      </p:sp>
      <p:sp>
        <p:nvSpPr>
          <p:cNvPr id="11" name="Shape 9"/>
          <p:cNvSpPr/>
          <p:nvPr/>
        </p:nvSpPr>
        <p:spPr>
          <a:xfrm>
            <a:off x="548640" y="2880360"/>
            <a:ext cx="411480" cy="411480"/>
          </a:xfrm>
          <a:prstGeom prst="ellipse">
            <a:avLst/>
          </a:prstGeom>
          <a:solidFill>
            <a:srgbClr val="1E2761"/>
          </a:solidFill>
          <a:ln/>
        </p:spPr>
      </p:sp>
      <p:sp>
        <p:nvSpPr>
          <p:cNvPr id="12" name="Text 10"/>
          <p:cNvSpPr/>
          <p:nvPr/>
        </p:nvSpPr>
        <p:spPr>
          <a:xfrm>
            <a:off x="548640" y="288036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3</a:t>
            </a:r>
            <a:endParaRPr lang="en-US" sz="1250" dirty="0"/>
          </a:p>
        </p:txBody>
      </p:sp>
      <p:sp>
        <p:nvSpPr>
          <p:cNvPr id="13" name="Text 11"/>
          <p:cNvSpPr/>
          <p:nvPr/>
        </p:nvSpPr>
        <p:spPr>
          <a:xfrm>
            <a:off x="1143000" y="2834640"/>
            <a:ext cx="10515600" cy="502920"/>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List the six steps in the forecasting process.</a:t>
            </a:r>
            <a:endParaRPr lang="en-US" sz="1280" dirty="0"/>
          </a:p>
        </p:txBody>
      </p:sp>
      <p:sp>
        <p:nvSpPr>
          <p:cNvPr id="14" name="Shape 12"/>
          <p:cNvSpPr/>
          <p:nvPr/>
        </p:nvSpPr>
        <p:spPr>
          <a:xfrm>
            <a:off x="548640" y="3383280"/>
            <a:ext cx="411480" cy="411480"/>
          </a:xfrm>
          <a:prstGeom prst="ellipse">
            <a:avLst/>
          </a:prstGeom>
          <a:solidFill>
            <a:srgbClr val="1E2761"/>
          </a:solidFill>
          <a:ln/>
        </p:spPr>
      </p:sp>
      <p:sp>
        <p:nvSpPr>
          <p:cNvPr id="15" name="Text 13"/>
          <p:cNvSpPr/>
          <p:nvPr/>
        </p:nvSpPr>
        <p:spPr>
          <a:xfrm>
            <a:off x="548640" y="338328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4</a:t>
            </a:r>
            <a:endParaRPr lang="en-US" sz="1250" dirty="0"/>
          </a:p>
        </p:txBody>
      </p:sp>
      <p:sp>
        <p:nvSpPr>
          <p:cNvPr id="16" name="Text 14"/>
          <p:cNvSpPr/>
          <p:nvPr/>
        </p:nvSpPr>
        <p:spPr>
          <a:xfrm>
            <a:off x="1143000" y="3337560"/>
            <a:ext cx="10515600" cy="502920"/>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Name two qualitative and two quantitative forecasting techniques.</a:t>
            </a:r>
            <a:endParaRPr lang="en-US" sz="1280" dirty="0"/>
          </a:p>
        </p:txBody>
      </p:sp>
      <p:sp>
        <p:nvSpPr>
          <p:cNvPr id="17" name="Shape 15"/>
          <p:cNvSpPr/>
          <p:nvPr/>
        </p:nvSpPr>
        <p:spPr>
          <a:xfrm>
            <a:off x="548640" y="3886200"/>
            <a:ext cx="411480" cy="411480"/>
          </a:xfrm>
          <a:prstGeom prst="ellipse">
            <a:avLst/>
          </a:prstGeom>
          <a:solidFill>
            <a:srgbClr val="1E2761"/>
          </a:solidFill>
          <a:ln/>
        </p:spPr>
      </p:sp>
      <p:sp>
        <p:nvSpPr>
          <p:cNvPr id="18" name="Text 16"/>
          <p:cNvSpPr/>
          <p:nvPr/>
        </p:nvSpPr>
        <p:spPr>
          <a:xfrm>
            <a:off x="548640" y="388620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5</a:t>
            </a:r>
            <a:endParaRPr lang="en-US" sz="1250" dirty="0"/>
          </a:p>
        </p:txBody>
      </p:sp>
      <p:sp>
        <p:nvSpPr>
          <p:cNvPr id="19" name="Text 17"/>
          <p:cNvSpPr/>
          <p:nvPr/>
        </p:nvSpPr>
        <p:spPr>
          <a:xfrm>
            <a:off x="1143000" y="3840480"/>
            <a:ext cx="10515600" cy="502920"/>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What is the key difference between MBO and MBE?</a:t>
            </a:r>
            <a:endParaRPr lang="en-US" sz="1280" dirty="0"/>
          </a:p>
        </p:txBody>
      </p:sp>
      <p:sp>
        <p:nvSpPr>
          <p:cNvPr id="20" name="Shape 18"/>
          <p:cNvSpPr/>
          <p:nvPr/>
        </p:nvSpPr>
        <p:spPr>
          <a:xfrm>
            <a:off x="548640" y="4389120"/>
            <a:ext cx="411480" cy="411480"/>
          </a:xfrm>
          <a:prstGeom prst="ellipse">
            <a:avLst/>
          </a:prstGeom>
          <a:solidFill>
            <a:srgbClr val="1E2761"/>
          </a:solidFill>
          <a:ln/>
        </p:spPr>
      </p:sp>
      <p:sp>
        <p:nvSpPr>
          <p:cNvPr id="21" name="Text 19"/>
          <p:cNvSpPr/>
          <p:nvPr/>
        </p:nvSpPr>
        <p:spPr>
          <a:xfrm>
            <a:off x="548640" y="438912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6</a:t>
            </a:r>
            <a:endParaRPr lang="en-US" sz="1250" dirty="0"/>
          </a:p>
        </p:txBody>
      </p:sp>
      <p:sp>
        <p:nvSpPr>
          <p:cNvPr id="22" name="Text 20"/>
          <p:cNvSpPr/>
          <p:nvPr/>
        </p:nvSpPr>
        <p:spPr>
          <a:xfrm>
            <a:off x="1143000" y="4343400"/>
            <a:ext cx="10515600" cy="502920"/>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List the eight steps in the decision-making process.</a:t>
            </a:r>
            <a:endParaRPr lang="en-US" sz="1280" dirty="0"/>
          </a:p>
        </p:txBody>
      </p:sp>
      <p:sp>
        <p:nvSpPr>
          <p:cNvPr id="23" name="Shape 21"/>
          <p:cNvSpPr/>
          <p:nvPr/>
        </p:nvSpPr>
        <p:spPr>
          <a:xfrm>
            <a:off x="548640" y="4892040"/>
            <a:ext cx="411480" cy="411480"/>
          </a:xfrm>
          <a:prstGeom prst="ellipse">
            <a:avLst/>
          </a:prstGeom>
          <a:solidFill>
            <a:srgbClr val="1E2761"/>
          </a:solidFill>
          <a:ln/>
        </p:spPr>
      </p:sp>
      <p:sp>
        <p:nvSpPr>
          <p:cNvPr id="24" name="Text 22"/>
          <p:cNvSpPr/>
          <p:nvPr/>
        </p:nvSpPr>
        <p:spPr>
          <a:xfrm>
            <a:off x="548640" y="489204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7</a:t>
            </a:r>
            <a:endParaRPr lang="en-US" sz="1250" dirty="0"/>
          </a:p>
        </p:txBody>
      </p:sp>
      <p:sp>
        <p:nvSpPr>
          <p:cNvPr id="25" name="Text 23"/>
          <p:cNvSpPr/>
          <p:nvPr/>
        </p:nvSpPr>
        <p:spPr>
          <a:xfrm>
            <a:off x="1143000" y="4846320"/>
            <a:ext cx="10515600" cy="502920"/>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Explain Chanakya's Mandala theory in one sentence, and its modern strategic parallel.</a:t>
            </a:r>
            <a:endParaRPr lang="en-US" sz="1280" dirty="0"/>
          </a:p>
        </p:txBody>
      </p:sp>
      <p:sp>
        <p:nvSpPr>
          <p:cNvPr id="26" name="Shape 24"/>
          <p:cNvSpPr/>
          <p:nvPr/>
        </p:nvSpPr>
        <p:spPr>
          <a:xfrm>
            <a:off x="548640" y="5394960"/>
            <a:ext cx="411480" cy="411480"/>
          </a:xfrm>
          <a:prstGeom prst="ellipse">
            <a:avLst/>
          </a:prstGeom>
          <a:solidFill>
            <a:srgbClr val="1E2761"/>
          </a:solidFill>
          <a:ln/>
        </p:spPr>
      </p:sp>
      <p:sp>
        <p:nvSpPr>
          <p:cNvPr id="27" name="Text 25"/>
          <p:cNvSpPr/>
          <p:nvPr/>
        </p:nvSpPr>
        <p:spPr>
          <a:xfrm>
            <a:off x="548640" y="539496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8</a:t>
            </a:r>
            <a:endParaRPr lang="en-US" sz="1250" dirty="0"/>
          </a:p>
        </p:txBody>
      </p:sp>
      <p:sp>
        <p:nvSpPr>
          <p:cNvPr id="28" name="Text 26"/>
          <p:cNvSpPr/>
          <p:nvPr/>
        </p:nvSpPr>
        <p:spPr>
          <a:xfrm>
            <a:off x="1143000" y="5349240"/>
            <a:ext cx="10515600" cy="502920"/>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Name the six postures of Chanakya's Shadgunya (six-fold policy).</a:t>
            </a:r>
            <a:endParaRPr lang="en-US" sz="1280" dirty="0"/>
          </a:p>
        </p:txBody>
      </p:sp>
      <p:sp>
        <p:nvSpPr>
          <p:cNvPr id="29" name="Shape 27"/>
          <p:cNvSpPr/>
          <p:nvPr/>
        </p:nvSpPr>
        <p:spPr>
          <a:xfrm>
            <a:off x="548640" y="5897880"/>
            <a:ext cx="411480" cy="411480"/>
          </a:xfrm>
          <a:prstGeom prst="ellipse">
            <a:avLst/>
          </a:prstGeom>
          <a:solidFill>
            <a:srgbClr val="1E2761"/>
          </a:solidFill>
          <a:ln/>
        </p:spPr>
      </p:sp>
      <p:sp>
        <p:nvSpPr>
          <p:cNvPr id="30" name="Text 28"/>
          <p:cNvSpPr/>
          <p:nvPr/>
        </p:nvSpPr>
        <p:spPr>
          <a:xfrm>
            <a:off x="548640" y="5897880"/>
            <a:ext cx="411480" cy="411480"/>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9</a:t>
            </a:r>
            <a:endParaRPr lang="en-US" sz="1250" dirty="0"/>
          </a:p>
        </p:txBody>
      </p:sp>
      <p:sp>
        <p:nvSpPr>
          <p:cNvPr id="31" name="Text 29"/>
          <p:cNvSpPr/>
          <p:nvPr/>
        </p:nvSpPr>
        <p:spPr>
          <a:xfrm>
            <a:off x="1143000" y="5852160"/>
            <a:ext cx="10515600" cy="502920"/>
          </a:xfrm>
          <a:prstGeom prst="rect">
            <a:avLst/>
          </a:prstGeom>
          <a:noFill/>
          <a:ln/>
        </p:spPr>
        <p:txBody>
          <a:bodyPr wrap="square" rtlCol="0" anchor="ctr"/>
          <a:lstStyle/>
          <a:p>
            <a:pPr indent="0" marL="0">
              <a:buNone/>
            </a:pPr>
            <a:r>
              <a:rPr lang="en-US" sz="1280" dirty="0">
                <a:solidFill>
                  <a:srgbClr val="2B2B33"/>
                </a:solidFill>
                <a:latin typeface="Calibri" pitchFamily="34" charset="0"/>
                <a:ea typeface="Calibri" pitchFamily="34" charset="-122"/>
                <a:cs typeface="Calibri" pitchFamily="34" charset="-120"/>
              </a:rPr>
              <a:t>Why are SDGs increasingly included in corporate strategic planning?</a:t>
            </a:r>
            <a:endParaRPr lang="en-US" sz="1280" dirty="0"/>
          </a:p>
        </p:txBody>
      </p:sp>
      <p:sp>
        <p:nvSpPr>
          <p:cNvPr id="32" name="Text 30"/>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33" name="Text 31"/>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50</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591556" y="1828800"/>
            <a:ext cx="1005840" cy="100584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5853074" y="2090318"/>
            <a:ext cx="482803" cy="482803"/>
          </a:xfrm>
          <a:prstGeom prst="rect">
            <a:avLst/>
          </a:prstGeom>
        </p:spPr>
      </p:pic>
      <p:sp>
        <p:nvSpPr>
          <p:cNvPr id="4" name="Text 1"/>
          <p:cNvSpPr/>
          <p:nvPr/>
        </p:nvSpPr>
        <p:spPr>
          <a:xfrm>
            <a:off x="548640" y="3108960"/>
            <a:ext cx="11064240" cy="5486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MULTIPLE CHOICE QUIZ</a:t>
            </a:r>
            <a:endParaRPr lang="en-US" sz="2600" dirty="0"/>
          </a:p>
        </p:txBody>
      </p:sp>
      <p:sp>
        <p:nvSpPr>
          <p:cNvPr id="5" name="Text 2"/>
          <p:cNvSpPr/>
          <p:nvPr/>
        </p:nvSpPr>
        <p:spPr>
          <a:xfrm>
            <a:off x="548640" y="3703320"/>
            <a:ext cx="11064240" cy="457200"/>
          </a:xfrm>
          <a:prstGeom prst="rect">
            <a:avLst/>
          </a:prstGeom>
          <a:noFill/>
          <a:ln/>
        </p:spPr>
        <p:txBody>
          <a:bodyPr wrap="square"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10 quick questions — click / press a key on each slide to reveal the correct answer.</a:t>
            </a:r>
            <a:endParaRPr lang="en-US" sz="1500" dirty="0"/>
          </a:p>
        </p:txBody>
      </p:sp>
      <p:sp>
        <p:nvSpPr>
          <p:cNvPr id="6" name="Text 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MULTIPLE CHOICE QUIZ</a:t>
            </a:r>
            <a:endParaRPr lang="en-US" sz="1100" dirty="0"/>
          </a:p>
        </p:txBody>
      </p:sp>
      <p:sp>
        <p:nvSpPr>
          <p:cNvPr id="7"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51</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1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According to Koontz and O'Donnel, planning is deciding in advance what to do, how and when to do it, and:</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Why it matters</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Who is to do it</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What it will cost</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Where it will happen</a:t>
            </a:r>
            <a:endParaRPr lang="en-US" sz="1450" dirty="0"/>
          </a:p>
        </p:txBody>
      </p:sp>
      <p:sp>
        <p:nvSpPr>
          <p:cNvPr id="22" name="ans_1"/>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1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Who is to do it</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2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Which term describes what one merely 'expects' to happen if nothing is done to change it?</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Planning</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Forecasting</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Budgeting</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Scheduling</a:t>
            </a:r>
            <a:endParaRPr lang="en-US" sz="1450" dirty="0"/>
          </a:p>
        </p:txBody>
      </p:sp>
      <p:sp>
        <p:nvSpPr>
          <p:cNvPr id="22" name="ans_2"/>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2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Forecasting</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3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In the classification of plans, which of these is a Single-Use Plan rather than a Standing Plan?</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Policy</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Procedure</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Budget</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Rule</a:t>
            </a:r>
            <a:endParaRPr lang="en-US" sz="1450" dirty="0"/>
          </a:p>
        </p:txBody>
      </p:sp>
      <p:sp>
        <p:nvSpPr>
          <p:cNvPr id="22" name="ans_3"/>
          <p:cNvSpPr/>
          <p:nvPr/>
        </p:nvSpPr>
        <p:spPr>
          <a:xfrm>
            <a:off x="548640" y="443484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3_b"/>
          <p:cNvSpPr/>
          <p:nvPr/>
        </p:nvSpPr>
        <p:spPr>
          <a:xfrm>
            <a:off x="777240" y="464058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686300"/>
            <a:ext cx="411480" cy="411480"/>
          </a:xfrm>
          <a:prstGeom prst="rect">
            <a:avLst/>
          </a:prstGeom>
        </p:spPr>
      </p:pic>
      <p:sp>
        <p:nvSpPr>
          <p:cNvPr id="25" name="Text 21"/>
          <p:cNvSpPr/>
          <p:nvPr/>
        </p:nvSpPr>
        <p:spPr>
          <a:xfrm>
            <a:off x="1508760" y="443484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Budget</a:t>
            </a:r>
            <a:endParaRPr lang="en-US" sz="1450" dirty="0"/>
          </a:p>
        </p:txBody>
      </p:sp>
      <p:sp>
        <p:nvSpPr>
          <p:cNvPr id="26" name="Text 22"/>
          <p:cNvSpPr/>
          <p:nvPr/>
        </p:nvSpPr>
        <p:spPr>
          <a:xfrm>
            <a:off x="10332720" y="443484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4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Which of Peter Drucker's objective areas concerns 'creating new or improved goods and services'?</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Market standing</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Research and innovation</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Profitability</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Public responsibility</a:t>
            </a:r>
            <a:endParaRPr lang="en-US" sz="1450" dirty="0"/>
          </a:p>
        </p:txBody>
      </p:sp>
      <p:sp>
        <p:nvSpPr>
          <p:cNvPr id="22" name="ans_4"/>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4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Research and innovation</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5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Which forecasting technique uses anonymous, iterative rounds of expert opinion to reach consensus?</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Moving averages</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Regression analysis</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Delphi technique</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Econometric modelling</a:t>
            </a:r>
            <a:endParaRPr lang="en-US" sz="1450" dirty="0"/>
          </a:p>
        </p:txBody>
      </p:sp>
      <p:sp>
        <p:nvSpPr>
          <p:cNvPr id="22" name="ans_5"/>
          <p:cNvSpPr/>
          <p:nvPr/>
        </p:nvSpPr>
        <p:spPr>
          <a:xfrm>
            <a:off x="548640" y="443484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5_b"/>
          <p:cNvSpPr/>
          <p:nvPr/>
        </p:nvSpPr>
        <p:spPr>
          <a:xfrm>
            <a:off x="777240" y="464058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686300"/>
            <a:ext cx="411480" cy="411480"/>
          </a:xfrm>
          <a:prstGeom prst="rect">
            <a:avLst/>
          </a:prstGeom>
        </p:spPr>
      </p:pic>
      <p:sp>
        <p:nvSpPr>
          <p:cNvPr id="25" name="Text 21"/>
          <p:cNvSpPr/>
          <p:nvPr/>
        </p:nvSpPr>
        <p:spPr>
          <a:xfrm>
            <a:off x="1508760" y="443484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Delphi technique</a:t>
            </a:r>
            <a:endParaRPr lang="en-US" sz="1450" dirty="0"/>
          </a:p>
        </p:txBody>
      </p:sp>
      <p:sp>
        <p:nvSpPr>
          <p:cNvPr id="26" name="Text 22"/>
          <p:cNvSpPr/>
          <p:nvPr/>
        </p:nvSpPr>
        <p:spPr>
          <a:xfrm>
            <a:off x="10332720" y="443484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6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Management by Exception (MBE) directs a manager's attention mainly to:</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Every single transaction</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Only significant deviations from standard</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Only new employees</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Only annual results</a:t>
            </a:r>
            <a:endParaRPr lang="en-US" sz="1450" dirty="0"/>
          </a:p>
        </p:txBody>
      </p:sp>
      <p:sp>
        <p:nvSpPr>
          <p:cNvPr id="22" name="ans_6"/>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6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Only significant deviations from standard</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7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In Chanakya's Saptanga theory, 'Amatya' (ministers) corresponds most closely to which modern organizational element?</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market and customers</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finance function</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management team</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External allies</a:t>
            </a:r>
            <a:endParaRPr lang="en-US" sz="1450" dirty="0"/>
          </a:p>
        </p:txBody>
      </p:sp>
      <p:sp>
        <p:nvSpPr>
          <p:cNvPr id="22" name="ans_7"/>
          <p:cNvSpPr/>
          <p:nvPr/>
        </p:nvSpPr>
        <p:spPr>
          <a:xfrm>
            <a:off x="548640" y="443484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7_b"/>
          <p:cNvSpPr/>
          <p:nvPr/>
        </p:nvSpPr>
        <p:spPr>
          <a:xfrm>
            <a:off x="777240" y="464058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686300"/>
            <a:ext cx="411480" cy="411480"/>
          </a:xfrm>
          <a:prstGeom prst="rect">
            <a:avLst/>
          </a:prstGeom>
        </p:spPr>
      </p:pic>
      <p:sp>
        <p:nvSpPr>
          <p:cNvPr id="25" name="Text 21"/>
          <p:cNvSpPr/>
          <p:nvPr/>
        </p:nvSpPr>
        <p:spPr>
          <a:xfrm>
            <a:off x="1508760" y="443484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management team</a:t>
            </a:r>
            <a:endParaRPr lang="en-US" sz="1450" dirty="0"/>
          </a:p>
        </p:txBody>
      </p:sp>
      <p:sp>
        <p:nvSpPr>
          <p:cNvPr id="26" name="Text 22"/>
          <p:cNvSpPr/>
          <p:nvPr/>
        </p:nvSpPr>
        <p:spPr>
          <a:xfrm>
            <a:off x="10332720" y="443484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8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In Chanakya's Mandala theory, who is considered the natural ('Mitra') ally?</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A direct neighbor</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neighbor's neighbor</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Any distant country</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largest kingdom nearby</a:t>
            </a:r>
            <a:endParaRPr lang="en-US" sz="1450" dirty="0"/>
          </a:p>
        </p:txBody>
      </p:sp>
      <p:sp>
        <p:nvSpPr>
          <p:cNvPr id="22" name="ans_8"/>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8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neighbor's neighbor</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9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Which of Chanakya's six-fold policy (Shadgunya) postures means 'seeking shelter with a stronger ally'?</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Vigraha</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Yana</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Samshraya</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Asana</a:t>
            </a:r>
            <a:endParaRPr lang="en-US" sz="1450" dirty="0"/>
          </a:p>
        </p:txBody>
      </p:sp>
      <p:sp>
        <p:nvSpPr>
          <p:cNvPr id="22" name="ans_9"/>
          <p:cNvSpPr/>
          <p:nvPr/>
        </p:nvSpPr>
        <p:spPr>
          <a:xfrm>
            <a:off x="548640" y="443484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9_b"/>
          <p:cNvSpPr/>
          <p:nvPr/>
        </p:nvSpPr>
        <p:spPr>
          <a:xfrm>
            <a:off x="777240" y="464058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686300"/>
            <a:ext cx="411480" cy="411480"/>
          </a:xfrm>
          <a:prstGeom prst="rect">
            <a:avLst/>
          </a:prstGeom>
        </p:spPr>
      </p:pic>
      <p:sp>
        <p:nvSpPr>
          <p:cNvPr id="25" name="Text 21"/>
          <p:cNvSpPr/>
          <p:nvPr/>
        </p:nvSpPr>
        <p:spPr>
          <a:xfrm>
            <a:off x="1508760" y="443484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Samshraya</a:t>
            </a:r>
            <a:endParaRPr lang="en-US" sz="1450" dirty="0"/>
          </a:p>
        </p:txBody>
      </p:sp>
      <p:sp>
        <p:nvSpPr>
          <p:cNvPr id="26" name="Text 22"/>
          <p:cNvSpPr/>
          <p:nvPr/>
        </p:nvSpPr>
        <p:spPr>
          <a:xfrm>
            <a:off x="10332720" y="443484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10 OF 10</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UN Sustainable Development Goals (SDGs) were adopted in 2015 with a target completion year of:</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2020</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2025</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2030</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2050</a:t>
            </a:r>
            <a:endParaRPr lang="en-US" sz="1450" dirty="0"/>
          </a:p>
        </p:txBody>
      </p:sp>
      <p:sp>
        <p:nvSpPr>
          <p:cNvPr id="22" name="ans_10"/>
          <p:cNvSpPr/>
          <p:nvPr/>
        </p:nvSpPr>
        <p:spPr>
          <a:xfrm>
            <a:off x="548640" y="443484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10_b"/>
          <p:cNvSpPr/>
          <p:nvPr/>
        </p:nvSpPr>
        <p:spPr>
          <a:xfrm>
            <a:off x="777240" y="464058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686300"/>
            <a:ext cx="411480" cy="411480"/>
          </a:xfrm>
          <a:prstGeom prst="rect">
            <a:avLst/>
          </a:prstGeom>
        </p:spPr>
      </p:pic>
      <p:sp>
        <p:nvSpPr>
          <p:cNvPr id="25" name="Text 21"/>
          <p:cNvSpPr/>
          <p:nvPr/>
        </p:nvSpPr>
        <p:spPr>
          <a:xfrm>
            <a:off x="1508760" y="443484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2030</a:t>
            </a:r>
            <a:endParaRPr lang="en-US" sz="1450" dirty="0"/>
          </a:p>
        </p:txBody>
      </p:sp>
      <p:sp>
        <p:nvSpPr>
          <p:cNvPr id="26" name="Text 22"/>
          <p:cNvSpPr/>
          <p:nvPr/>
        </p:nvSpPr>
        <p:spPr>
          <a:xfrm>
            <a:off x="10332720" y="443484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1463040" y="4114800"/>
            <a:ext cx="4572000" cy="4572000"/>
          </a:xfrm>
          <a:prstGeom prst="ellipse">
            <a:avLst/>
          </a:prstGeom>
          <a:solidFill>
            <a:srgbClr val="1E2761"/>
          </a:solidFill>
          <a:ln/>
        </p:spPr>
      </p:sp>
      <p:sp>
        <p:nvSpPr>
          <p:cNvPr id="3" name="Text 1"/>
          <p:cNvSpPr/>
          <p:nvPr/>
        </p:nvSpPr>
        <p:spPr>
          <a:xfrm>
            <a:off x="822960" y="54864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KEY TAKEAWAYS</a:t>
            </a:r>
            <a:endParaRPr lang="en-US" sz="1500" dirty="0"/>
          </a:p>
        </p:txBody>
      </p:sp>
      <p:sp>
        <p:nvSpPr>
          <p:cNvPr id="4" name="Text 2"/>
          <p:cNvSpPr/>
          <p:nvPr/>
        </p:nvSpPr>
        <p:spPr>
          <a:xfrm>
            <a:off x="822960" y="914400"/>
            <a:ext cx="91440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Recap of Today's Lecture</a:t>
            </a:r>
            <a:endParaRPr lang="en-US" sz="3000" dirty="0"/>
          </a:p>
        </p:txBody>
      </p:sp>
      <p:sp>
        <p:nvSpPr>
          <p:cNvPr id="5" name="Text 3"/>
          <p:cNvSpPr/>
          <p:nvPr/>
        </p:nvSpPr>
        <p:spPr>
          <a:xfrm>
            <a:off x="822960" y="1783080"/>
            <a:ext cx="10515600" cy="960120"/>
          </a:xfrm>
          <a:prstGeom prst="rect">
            <a:avLst/>
          </a:prstGeom>
          <a:noFill/>
          <a:ln/>
        </p:spPr>
        <p:txBody>
          <a:bodyPr wrap="square" rtlCol="0" anchor="t"/>
          <a:lstStyle/>
          <a:p>
            <a:pPr indent="0" marL="0">
              <a:lnSpc>
                <a:spcPct val="110000"/>
              </a:lnSpc>
              <a:buNone/>
            </a:pPr>
            <a:r>
              <a:rPr lang="en-US" sz="1450" b="1" dirty="0">
                <a:solidFill>
                  <a:srgbClr val="C9A24B"/>
                </a:solidFill>
                <a:latin typeface="Calibri" pitchFamily="34" charset="0"/>
                <a:ea typeface="Calibri" pitchFamily="34" charset="-122"/>
                <a:cs typeface="Calibri" pitchFamily="34" charset="-120"/>
              </a:rPr>
              <a:t>Planning Fundamentals:  </a:t>
            </a:r>
            <a:pPr indent="0" marL="0">
              <a:lnSpc>
                <a:spcPct val="110000"/>
              </a:lnSpc>
              <a:buNone/>
            </a:pPr>
            <a:r>
              <a:rPr lang="en-US" sz="1450" dirty="0">
                <a:solidFill>
                  <a:srgbClr val="CADCFC"/>
                </a:solidFill>
                <a:latin typeface="Calibri" pitchFamily="34" charset="0"/>
                <a:ea typeface="Calibri" pitchFamily="34" charset="-122"/>
                <a:cs typeface="Calibri" pitchFamily="34" charset="-120"/>
              </a:rPr>
              <a:t>Planning bridges 'where we are' and 'where we want to be' through nine structured steps, producing standing and single-use plans with clear, quantified objectives.</a:t>
            </a:r>
            <a:endParaRPr lang="en-US" sz="1450" dirty="0"/>
          </a:p>
        </p:txBody>
      </p:sp>
      <p:sp>
        <p:nvSpPr>
          <p:cNvPr id="6" name="Text 4"/>
          <p:cNvSpPr/>
          <p:nvPr/>
        </p:nvSpPr>
        <p:spPr>
          <a:xfrm>
            <a:off x="822960" y="2880360"/>
            <a:ext cx="10515600" cy="960120"/>
          </a:xfrm>
          <a:prstGeom prst="rect">
            <a:avLst/>
          </a:prstGeom>
          <a:noFill/>
          <a:ln/>
        </p:spPr>
        <p:txBody>
          <a:bodyPr wrap="square" rtlCol="0" anchor="t"/>
          <a:lstStyle/>
          <a:p>
            <a:pPr indent="0" marL="0">
              <a:lnSpc>
                <a:spcPct val="110000"/>
              </a:lnSpc>
              <a:buNone/>
            </a:pPr>
            <a:r>
              <a:rPr lang="en-US" sz="1450" b="1" dirty="0">
                <a:solidFill>
                  <a:srgbClr val="C9A24B"/>
                </a:solidFill>
                <a:latin typeface="Calibri" pitchFamily="34" charset="0"/>
                <a:ea typeface="Calibri" pitchFamily="34" charset="-122"/>
                <a:cs typeface="Calibri" pitchFamily="34" charset="-120"/>
              </a:rPr>
              <a:t>Forecasting:  </a:t>
            </a:r>
            <a:pPr indent="0" marL="0">
              <a:lnSpc>
                <a:spcPct val="110000"/>
              </a:lnSpc>
              <a:buNone/>
            </a:pPr>
            <a:r>
              <a:rPr lang="en-US" sz="1450" dirty="0">
                <a:solidFill>
                  <a:srgbClr val="CADCFC"/>
                </a:solidFill>
                <a:latin typeface="Calibri" pitchFamily="34" charset="0"/>
                <a:ea typeface="Calibri" pitchFamily="34" charset="-122"/>
                <a:cs typeface="Calibri" pitchFamily="34" charset="-120"/>
              </a:rPr>
              <a:t>Good forecasting — qualitative and quantitative — feeds good planning, but forecasting alone is not planning.</a:t>
            </a:r>
            <a:endParaRPr lang="en-US" sz="1450" dirty="0"/>
          </a:p>
        </p:txBody>
      </p:sp>
      <p:sp>
        <p:nvSpPr>
          <p:cNvPr id="7" name="Text 5"/>
          <p:cNvSpPr/>
          <p:nvPr/>
        </p:nvSpPr>
        <p:spPr>
          <a:xfrm>
            <a:off x="822960" y="3977640"/>
            <a:ext cx="10515600" cy="960120"/>
          </a:xfrm>
          <a:prstGeom prst="rect">
            <a:avLst/>
          </a:prstGeom>
          <a:noFill/>
          <a:ln/>
        </p:spPr>
        <p:txBody>
          <a:bodyPr wrap="square" rtlCol="0" anchor="t"/>
          <a:lstStyle/>
          <a:p>
            <a:pPr indent="0" marL="0">
              <a:lnSpc>
                <a:spcPct val="110000"/>
              </a:lnSpc>
              <a:buNone/>
            </a:pPr>
            <a:r>
              <a:rPr lang="en-US" sz="1450" b="1" dirty="0">
                <a:solidFill>
                  <a:srgbClr val="C9A24B"/>
                </a:solidFill>
                <a:latin typeface="Calibri" pitchFamily="34" charset="0"/>
                <a:ea typeface="Calibri" pitchFamily="34" charset="-122"/>
                <a:cs typeface="Calibri" pitchFamily="34" charset="-120"/>
              </a:rPr>
              <a:t>MBO, MBE &amp; Decision-Making:  </a:t>
            </a:r>
            <a:pPr indent="0" marL="0">
              <a:lnSpc>
                <a:spcPct val="110000"/>
              </a:lnSpc>
              <a:buNone/>
            </a:pPr>
            <a:r>
              <a:rPr lang="en-US" sz="1450" dirty="0">
                <a:solidFill>
                  <a:srgbClr val="CADCFC"/>
                </a:solidFill>
                <a:latin typeface="Calibri" pitchFamily="34" charset="0"/>
                <a:ea typeface="Calibri" pitchFamily="34" charset="-122"/>
                <a:cs typeface="Calibri" pitchFamily="34" charset="-120"/>
              </a:rPr>
              <a:t>MBO aligns individual and organizational goals; MBE focuses attention on exceptions; sound decision-making follows a disciplined, evaluable process.</a:t>
            </a:r>
            <a:endParaRPr lang="en-US" sz="1450" dirty="0"/>
          </a:p>
        </p:txBody>
      </p:sp>
      <p:sp>
        <p:nvSpPr>
          <p:cNvPr id="8" name="Text 6"/>
          <p:cNvSpPr/>
          <p:nvPr/>
        </p:nvSpPr>
        <p:spPr>
          <a:xfrm>
            <a:off x="822960" y="5074920"/>
            <a:ext cx="10515600" cy="960120"/>
          </a:xfrm>
          <a:prstGeom prst="rect">
            <a:avLst/>
          </a:prstGeom>
          <a:noFill/>
          <a:ln/>
        </p:spPr>
        <p:txBody>
          <a:bodyPr wrap="square" rtlCol="0" anchor="t"/>
          <a:lstStyle/>
          <a:p>
            <a:pPr indent="0" marL="0">
              <a:lnSpc>
                <a:spcPct val="110000"/>
              </a:lnSpc>
              <a:buNone/>
            </a:pPr>
            <a:r>
              <a:rPr lang="en-US" sz="1450" b="1" dirty="0">
                <a:solidFill>
                  <a:srgbClr val="C9A24B"/>
                </a:solidFill>
                <a:latin typeface="Calibri" pitchFamily="34" charset="0"/>
                <a:ea typeface="Calibri" pitchFamily="34" charset="-122"/>
                <a:cs typeface="Calibri" pitchFamily="34" charset="-120"/>
              </a:rPr>
              <a:t>Arthashastra &amp; SDGs:  </a:t>
            </a:r>
            <a:pPr indent="0" marL="0">
              <a:lnSpc>
                <a:spcPct val="110000"/>
              </a:lnSpc>
              <a:buNone/>
            </a:pPr>
            <a:r>
              <a:rPr lang="en-US" sz="1450" dirty="0">
                <a:solidFill>
                  <a:srgbClr val="CADCFC"/>
                </a:solidFill>
                <a:latin typeface="Calibri" pitchFamily="34" charset="0"/>
                <a:ea typeface="Calibri" pitchFamily="34" charset="-122"/>
                <a:cs typeface="Calibri" pitchFamily="34" charset="-120"/>
              </a:rPr>
              <a:t>Chanakya's Saptanga, Mandala and Shadgunya still model strategic thinking today, while the SDGs show how global goals now shape ordinary corporate planning.</a:t>
            </a:r>
            <a:endParaRPr lang="en-US" sz="1450" dirty="0"/>
          </a:p>
        </p:txBody>
      </p:sp>
      <p:sp>
        <p:nvSpPr>
          <p:cNvPr id="9" name="Text 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0" name="Text 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Management - Part IV</dc:title>
  <dc:subject>PptxGenJS Presentation</dc:subject>
  <dc:creator>Dr. Rajakrishnan Manivel</dc:creator>
  <cp:lastModifiedBy>Dr. Rajakrishnan Manivel</cp:lastModifiedBy>
  <cp:revision>1</cp:revision>
  <dcterms:created xsi:type="dcterms:W3CDTF">2026-08-03T11:40:29Z</dcterms:created>
  <dcterms:modified xsi:type="dcterms:W3CDTF">2026-08-03T11:40:29Z</dcterms:modified>
</cp:coreProperties>
</file>