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0268712" y="4480560"/>
            <a:ext cx="2926080" cy="2926080"/>
          </a:xfrm>
          <a:prstGeom prst="ellipse">
            <a:avLst/>
          </a:prstGeom>
          <a:solidFill>
            <a:srgbClr val="1E2761"/>
          </a:solidFill>
          <a:ln/>
        </p:spPr>
      </p:sp>
      <p:sp>
        <p:nvSpPr>
          <p:cNvPr id="4" name="Text 2"/>
          <p:cNvSpPr/>
          <p:nvPr/>
        </p:nvSpPr>
        <p:spPr>
          <a:xfrm>
            <a:off x="822960" y="1234440"/>
            <a:ext cx="91440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PRINCIPLES OF MANAGEMENT — PART V</a:t>
            </a:r>
            <a:endParaRPr lang="en-US" sz="1500" dirty="0"/>
          </a:p>
        </p:txBody>
      </p:sp>
      <p:sp>
        <p:nvSpPr>
          <p:cNvPr id="5" name="Text 3"/>
          <p:cNvSpPr/>
          <p:nvPr/>
        </p:nvSpPr>
        <p:spPr>
          <a:xfrm>
            <a:off x="822960" y="1600200"/>
            <a:ext cx="10241280" cy="155448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Organizing: Nature, Theory, Types,</a:t>
            </a:r>
            <a:endParaRPr lang="en-US" sz="3200" dirty="0"/>
          </a:p>
          <a:p>
            <a:pPr indent="0" marL="0">
              <a:lnSpc>
                <a:spcPct val="105000"/>
              </a:lnSpc>
              <a:buNone/>
            </a:pPr>
            <a:r>
              <a:rPr lang="en-US" sz="3200" b="1" dirty="0">
                <a:solidFill>
                  <a:srgbClr val="FFFFFF"/>
                </a:solidFill>
                <a:latin typeface="Cambria" pitchFamily="34" charset="0"/>
                <a:ea typeface="Cambria" pitchFamily="34" charset="-122"/>
                <a:cs typeface="Cambria" pitchFamily="34" charset="-120"/>
              </a:rPr>
              <a:t>Authority &amp; Delegation</a:t>
            </a:r>
            <a:endParaRPr lang="en-US" sz="3200" dirty="0"/>
          </a:p>
        </p:txBody>
      </p:sp>
      <p:sp>
        <p:nvSpPr>
          <p:cNvPr id="6" name="Text 4"/>
          <p:cNvSpPr/>
          <p:nvPr/>
        </p:nvSpPr>
        <p:spPr>
          <a:xfrm>
            <a:off x="822960" y="3337560"/>
            <a:ext cx="10058400" cy="822960"/>
          </a:xfrm>
          <a:prstGeom prst="rect">
            <a:avLst/>
          </a:prstGeom>
          <a:noFill/>
          <a:ln/>
        </p:spPr>
        <p:txBody>
          <a:bodyPr wrap="square" rtlCol="0" anchor="t"/>
          <a:lstStyle/>
          <a:p>
            <a:pPr indent="0" marL="0">
              <a:buNone/>
            </a:pPr>
            <a:r>
              <a:rPr lang="en-US" sz="1500" dirty="0">
                <a:solidFill>
                  <a:srgbClr val="CADCFC"/>
                </a:solidFill>
                <a:latin typeface="Calibri" pitchFamily="34" charset="0"/>
                <a:ea typeface="Calibri" pitchFamily="34" charset="-122"/>
                <a:cs typeface="Calibri" pitchFamily="34" charset="-120"/>
              </a:rPr>
              <a:t>Nature &amp; Process of Organization • Organization Theory • Types of Organization • Authority • Delegation • Departmentation • Decentralization</a:t>
            </a:r>
            <a:endParaRPr lang="en-US" sz="1500" dirty="0"/>
          </a:p>
        </p:txBody>
      </p:sp>
      <p:sp>
        <p:nvSpPr>
          <p:cNvPr id="7" name="Shape 5"/>
          <p:cNvSpPr/>
          <p:nvPr/>
        </p:nvSpPr>
        <p:spPr>
          <a:xfrm>
            <a:off x="868680" y="4343400"/>
            <a:ext cx="2011680" cy="0"/>
          </a:xfrm>
          <a:prstGeom prst="line">
            <a:avLst/>
          </a:prstGeom>
          <a:noFill/>
          <a:ln w="25400">
            <a:solidFill>
              <a:srgbClr val="C9A24B"/>
            </a:solidFill>
            <a:prstDash val="solid"/>
          </a:ln>
        </p:spPr>
      </p:sp>
      <p:sp>
        <p:nvSpPr>
          <p:cNvPr id="8" name="Text 6"/>
          <p:cNvSpPr/>
          <p:nvPr/>
        </p:nvSpPr>
        <p:spPr>
          <a:xfrm>
            <a:off x="822960" y="5760720"/>
            <a:ext cx="7315200" cy="914400"/>
          </a:xfrm>
          <a:prstGeom prst="rect">
            <a:avLst/>
          </a:prstGeom>
          <a:noFill/>
          <a:ln/>
        </p:spPr>
        <p:txBody>
          <a:bodyPr wrap="square" rtlCol="0" anchor="ctr"/>
          <a:lstStyle/>
          <a:p>
            <a:pPr indent="0" marL="0">
              <a:lnSpc>
                <a:spcPct val="120000"/>
              </a:lnSpc>
              <a:buNone/>
            </a:pPr>
            <a:r>
              <a:rPr lang="en-US" sz="1300" b="1" dirty="0">
                <a:solidFill>
                  <a:srgbClr val="CADCFC"/>
                </a:solidFill>
                <a:latin typeface="Calibri" pitchFamily="34" charset="0"/>
                <a:ea typeface="Calibri" pitchFamily="34" charset="-122"/>
                <a:cs typeface="Calibri" pitchFamily="34" charset="-120"/>
              </a:rPr>
              <a:t>Dr. Rajakrishnan Manivel</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Assistant Professor, Department of Commerce (CA)</a:t>
            </a:r>
            <a:endParaRPr lang="en-US" sz="1300" dirty="0"/>
          </a:p>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PSG College of Arts &amp; Science, Coimbatore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LECTURE ROADMAP</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We Will Cover Today</a:t>
            </a:r>
            <a:endParaRPr lang="en-US" sz="2700" dirty="0"/>
          </a:p>
        </p:txBody>
      </p:sp>
      <p:sp>
        <p:nvSpPr>
          <p:cNvPr id="4" name="Shape 2"/>
          <p:cNvSpPr/>
          <p:nvPr/>
        </p:nvSpPr>
        <p:spPr>
          <a:xfrm>
            <a:off x="548640" y="1508760"/>
            <a:ext cx="11064240" cy="621792"/>
          </a:xfrm>
          <a:prstGeom prst="roundRect">
            <a:avLst>
              <a:gd name="adj" fmla="val 10294"/>
            </a:avLst>
          </a:prstGeom>
          <a:solidFill>
            <a:srgbClr val="EEF3FC"/>
          </a:solidFill>
          <a:ln/>
        </p:spPr>
      </p:sp>
      <p:sp>
        <p:nvSpPr>
          <p:cNvPr id="5" name="Shape 3"/>
          <p:cNvSpPr/>
          <p:nvPr/>
        </p:nvSpPr>
        <p:spPr>
          <a:xfrm>
            <a:off x="713232" y="1600200"/>
            <a:ext cx="438912" cy="43891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827349" y="1714317"/>
            <a:ext cx="210678" cy="210678"/>
          </a:xfrm>
          <a:prstGeom prst="rect">
            <a:avLst/>
          </a:prstGeom>
        </p:spPr>
      </p:pic>
      <p:sp>
        <p:nvSpPr>
          <p:cNvPr id="7" name="Text 4"/>
          <p:cNvSpPr/>
          <p:nvPr/>
        </p:nvSpPr>
        <p:spPr>
          <a:xfrm>
            <a:off x="1280160" y="1581912"/>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A</a:t>
            </a:r>
            <a:endParaRPr lang="en-US" sz="1500" dirty="0"/>
          </a:p>
        </p:txBody>
      </p:sp>
      <p:sp>
        <p:nvSpPr>
          <p:cNvPr id="8" name="Text 5"/>
          <p:cNvSpPr/>
          <p:nvPr/>
        </p:nvSpPr>
        <p:spPr>
          <a:xfrm>
            <a:off x="1691640" y="1536192"/>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Nature and Importance of Organization</a:t>
            </a:r>
            <a:endParaRPr lang="en-US" sz="1350" dirty="0"/>
          </a:p>
        </p:txBody>
      </p:sp>
      <p:sp>
        <p:nvSpPr>
          <p:cNvPr id="9" name="Text 6"/>
          <p:cNvSpPr/>
          <p:nvPr/>
        </p:nvSpPr>
        <p:spPr>
          <a:xfrm>
            <a:off x="8732520" y="1536192"/>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11.1, 11.7, 11.8</a:t>
            </a:r>
            <a:endParaRPr lang="en-US" sz="1100" dirty="0"/>
          </a:p>
        </p:txBody>
      </p:sp>
      <p:sp>
        <p:nvSpPr>
          <p:cNvPr id="10" name="Shape 7"/>
          <p:cNvSpPr/>
          <p:nvPr/>
        </p:nvSpPr>
        <p:spPr>
          <a:xfrm>
            <a:off x="548640" y="2221992"/>
            <a:ext cx="11064240" cy="621792"/>
          </a:xfrm>
          <a:prstGeom prst="roundRect">
            <a:avLst>
              <a:gd name="adj" fmla="val 10294"/>
            </a:avLst>
          </a:prstGeom>
          <a:solidFill>
            <a:srgbClr val="EEF3FC"/>
          </a:solidFill>
          <a:ln/>
        </p:spPr>
      </p:sp>
      <p:sp>
        <p:nvSpPr>
          <p:cNvPr id="11" name="Shape 8"/>
          <p:cNvSpPr/>
          <p:nvPr/>
        </p:nvSpPr>
        <p:spPr>
          <a:xfrm>
            <a:off x="713232" y="2313432"/>
            <a:ext cx="438912" cy="43891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27349" y="2427549"/>
            <a:ext cx="210678" cy="210678"/>
          </a:xfrm>
          <a:prstGeom prst="rect">
            <a:avLst/>
          </a:prstGeom>
        </p:spPr>
      </p:pic>
      <p:sp>
        <p:nvSpPr>
          <p:cNvPr id="13" name="Text 9"/>
          <p:cNvSpPr/>
          <p:nvPr/>
        </p:nvSpPr>
        <p:spPr>
          <a:xfrm>
            <a:off x="1280160" y="2295144"/>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B</a:t>
            </a:r>
            <a:endParaRPr lang="en-US" sz="1500" dirty="0"/>
          </a:p>
        </p:txBody>
      </p:sp>
      <p:sp>
        <p:nvSpPr>
          <p:cNvPr id="14" name="Text 10"/>
          <p:cNvSpPr/>
          <p:nvPr/>
        </p:nvSpPr>
        <p:spPr>
          <a:xfrm>
            <a:off x="1691640" y="2249424"/>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Organization Theory</a:t>
            </a:r>
            <a:endParaRPr lang="en-US" sz="1350" dirty="0"/>
          </a:p>
        </p:txBody>
      </p:sp>
      <p:sp>
        <p:nvSpPr>
          <p:cNvPr id="15" name="Text 11"/>
          <p:cNvSpPr/>
          <p:nvPr/>
        </p:nvSpPr>
        <p:spPr>
          <a:xfrm>
            <a:off x="8732520" y="2249424"/>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12.1–12.10</a:t>
            </a:r>
            <a:endParaRPr lang="en-US" sz="1100" dirty="0"/>
          </a:p>
        </p:txBody>
      </p:sp>
      <p:sp>
        <p:nvSpPr>
          <p:cNvPr id="16" name="Shape 12"/>
          <p:cNvSpPr/>
          <p:nvPr/>
        </p:nvSpPr>
        <p:spPr>
          <a:xfrm>
            <a:off x="548640" y="2935224"/>
            <a:ext cx="11064240" cy="621792"/>
          </a:xfrm>
          <a:prstGeom prst="roundRect">
            <a:avLst>
              <a:gd name="adj" fmla="val 10294"/>
            </a:avLst>
          </a:prstGeom>
          <a:solidFill>
            <a:srgbClr val="EEF3FC"/>
          </a:solidFill>
          <a:ln/>
        </p:spPr>
      </p:sp>
      <p:sp>
        <p:nvSpPr>
          <p:cNvPr id="17" name="Shape 13"/>
          <p:cNvSpPr/>
          <p:nvPr/>
        </p:nvSpPr>
        <p:spPr>
          <a:xfrm>
            <a:off x="713232" y="3026664"/>
            <a:ext cx="438912" cy="43891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27349" y="3140781"/>
            <a:ext cx="210678" cy="210678"/>
          </a:xfrm>
          <a:prstGeom prst="rect">
            <a:avLst/>
          </a:prstGeom>
        </p:spPr>
      </p:pic>
      <p:sp>
        <p:nvSpPr>
          <p:cNvPr id="19" name="Text 14"/>
          <p:cNvSpPr/>
          <p:nvPr/>
        </p:nvSpPr>
        <p:spPr>
          <a:xfrm>
            <a:off x="1280160" y="3008376"/>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C</a:t>
            </a:r>
            <a:endParaRPr lang="en-US" sz="1500" dirty="0"/>
          </a:p>
        </p:txBody>
      </p:sp>
      <p:sp>
        <p:nvSpPr>
          <p:cNvPr id="20" name="Text 15"/>
          <p:cNvSpPr/>
          <p:nvPr/>
        </p:nvSpPr>
        <p:spPr>
          <a:xfrm>
            <a:off x="1691640" y="2962656"/>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Types of Organization</a:t>
            </a:r>
            <a:endParaRPr lang="en-US" sz="1350" dirty="0"/>
          </a:p>
        </p:txBody>
      </p:sp>
      <p:sp>
        <p:nvSpPr>
          <p:cNvPr id="21" name="Text 16"/>
          <p:cNvSpPr/>
          <p:nvPr/>
        </p:nvSpPr>
        <p:spPr>
          <a:xfrm>
            <a:off x="8732520" y="2962656"/>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13.1–13.2</a:t>
            </a:r>
            <a:endParaRPr lang="en-US" sz="1100" dirty="0"/>
          </a:p>
        </p:txBody>
      </p:sp>
      <p:sp>
        <p:nvSpPr>
          <p:cNvPr id="22" name="Shape 17"/>
          <p:cNvSpPr/>
          <p:nvPr/>
        </p:nvSpPr>
        <p:spPr>
          <a:xfrm>
            <a:off x="548640" y="3648456"/>
            <a:ext cx="11064240" cy="621792"/>
          </a:xfrm>
          <a:prstGeom prst="roundRect">
            <a:avLst>
              <a:gd name="adj" fmla="val 10294"/>
            </a:avLst>
          </a:prstGeom>
          <a:solidFill>
            <a:srgbClr val="EEF3FC"/>
          </a:solidFill>
          <a:ln/>
        </p:spPr>
      </p:sp>
      <p:sp>
        <p:nvSpPr>
          <p:cNvPr id="23" name="Shape 18"/>
          <p:cNvSpPr/>
          <p:nvPr/>
        </p:nvSpPr>
        <p:spPr>
          <a:xfrm>
            <a:off x="713232" y="3739896"/>
            <a:ext cx="438912" cy="43891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827349" y="3854013"/>
            <a:ext cx="210678" cy="210678"/>
          </a:xfrm>
          <a:prstGeom prst="rect">
            <a:avLst/>
          </a:prstGeom>
        </p:spPr>
      </p:pic>
      <p:sp>
        <p:nvSpPr>
          <p:cNvPr id="25" name="Text 19"/>
          <p:cNvSpPr/>
          <p:nvPr/>
        </p:nvSpPr>
        <p:spPr>
          <a:xfrm>
            <a:off x="1280160" y="3721608"/>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D</a:t>
            </a:r>
            <a:endParaRPr lang="en-US" sz="1500" dirty="0"/>
          </a:p>
        </p:txBody>
      </p:sp>
      <p:sp>
        <p:nvSpPr>
          <p:cNvPr id="26" name="Text 20"/>
          <p:cNvSpPr/>
          <p:nvPr/>
        </p:nvSpPr>
        <p:spPr>
          <a:xfrm>
            <a:off x="1691640" y="3675888"/>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Authority — Concept, Power &amp; Sources</a:t>
            </a:r>
            <a:endParaRPr lang="en-US" sz="1350" dirty="0"/>
          </a:p>
        </p:txBody>
      </p:sp>
      <p:sp>
        <p:nvSpPr>
          <p:cNvPr id="27" name="Text 21"/>
          <p:cNvSpPr/>
          <p:nvPr/>
        </p:nvSpPr>
        <p:spPr>
          <a:xfrm>
            <a:off x="8732520" y="3675888"/>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14.2–14.5</a:t>
            </a:r>
            <a:endParaRPr lang="en-US" sz="1100" dirty="0"/>
          </a:p>
        </p:txBody>
      </p:sp>
      <p:sp>
        <p:nvSpPr>
          <p:cNvPr id="28" name="Shape 22"/>
          <p:cNvSpPr/>
          <p:nvPr/>
        </p:nvSpPr>
        <p:spPr>
          <a:xfrm>
            <a:off x="548640" y="4361688"/>
            <a:ext cx="11064240" cy="621792"/>
          </a:xfrm>
          <a:prstGeom prst="roundRect">
            <a:avLst>
              <a:gd name="adj" fmla="val 10294"/>
            </a:avLst>
          </a:prstGeom>
          <a:solidFill>
            <a:srgbClr val="EEF3FC"/>
          </a:solidFill>
          <a:ln/>
        </p:spPr>
      </p:sp>
      <p:sp>
        <p:nvSpPr>
          <p:cNvPr id="29" name="Shape 23"/>
          <p:cNvSpPr/>
          <p:nvPr/>
        </p:nvSpPr>
        <p:spPr>
          <a:xfrm>
            <a:off x="713232" y="4453128"/>
            <a:ext cx="438912" cy="438912"/>
          </a:xfrm>
          <a:prstGeom prst="ellipse">
            <a:avLst/>
          </a:prstGeom>
          <a:solidFill>
            <a:srgbClr val="1E2761"/>
          </a:solidFill>
          <a:ln/>
        </p:spPr>
      </p:sp>
      <p:pic>
        <p:nvPicPr>
          <p:cNvPr id="30" name="Image 4" descr="preencoded.png">    </p:cNvPr>
          <p:cNvPicPr>
            <a:picLocks noChangeAspect="1"/>
          </p:cNvPicPr>
          <p:nvPr/>
        </p:nvPicPr>
        <p:blipFill>
          <a:blip r:embed="rId5"/>
          <a:stretch>
            <a:fillRect/>
          </a:stretch>
        </p:blipFill>
        <p:spPr>
          <a:xfrm>
            <a:off x="827349" y="4567245"/>
            <a:ext cx="210678" cy="210678"/>
          </a:xfrm>
          <a:prstGeom prst="rect">
            <a:avLst/>
          </a:prstGeom>
        </p:spPr>
      </p:pic>
      <p:sp>
        <p:nvSpPr>
          <p:cNvPr id="31" name="Text 24"/>
          <p:cNvSpPr/>
          <p:nvPr/>
        </p:nvSpPr>
        <p:spPr>
          <a:xfrm>
            <a:off x="1280160" y="4434840"/>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E</a:t>
            </a:r>
            <a:endParaRPr lang="en-US" sz="1500" dirty="0"/>
          </a:p>
        </p:txBody>
      </p:sp>
      <p:sp>
        <p:nvSpPr>
          <p:cNvPr id="32" name="Text 25"/>
          <p:cNvSpPr/>
          <p:nvPr/>
        </p:nvSpPr>
        <p:spPr>
          <a:xfrm>
            <a:off x="1691640" y="4389120"/>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Responsibility &amp; Delegation of Authority</a:t>
            </a:r>
            <a:endParaRPr lang="en-US" sz="1350" dirty="0"/>
          </a:p>
        </p:txBody>
      </p:sp>
      <p:sp>
        <p:nvSpPr>
          <p:cNvPr id="33" name="Text 26"/>
          <p:cNvSpPr/>
          <p:nvPr/>
        </p:nvSpPr>
        <p:spPr>
          <a:xfrm>
            <a:off x="8732520" y="4389120"/>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14.6–14.11</a:t>
            </a:r>
            <a:endParaRPr lang="en-US" sz="1100" dirty="0"/>
          </a:p>
        </p:txBody>
      </p:sp>
      <p:sp>
        <p:nvSpPr>
          <p:cNvPr id="34" name="Shape 27"/>
          <p:cNvSpPr/>
          <p:nvPr/>
        </p:nvSpPr>
        <p:spPr>
          <a:xfrm>
            <a:off x="548640" y="5074920"/>
            <a:ext cx="11064240" cy="621792"/>
          </a:xfrm>
          <a:prstGeom prst="roundRect">
            <a:avLst>
              <a:gd name="adj" fmla="val 10294"/>
            </a:avLst>
          </a:prstGeom>
          <a:solidFill>
            <a:srgbClr val="EEF3FC"/>
          </a:solidFill>
          <a:ln/>
        </p:spPr>
      </p:sp>
      <p:sp>
        <p:nvSpPr>
          <p:cNvPr id="35" name="Shape 28"/>
          <p:cNvSpPr/>
          <p:nvPr/>
        </p:nvSpPr>
        <p:spPr>
          <a:xfrm>
            <a:off x="713232" y="5166360"/>
            <a:ext cx="438912" cy="438912"/>
          </a:xfrm>
          <a:prstGeom prst="ellipse">
            <a:avLst/>
          </a:prstGeom>
          <a:solidFill>
            <a:srgbClr val="1E2761"/>
          </a:solidFill>
          <a:ln/>
        </p:spPr>
      </p:sp>
      <p:pic>
        <p:nvPicPr>
          <p:cNvPr id="36" name="Image 5" descr="preencoded.png">    </p:cNvPr>
          <p:cNvPicPr>
            <a:picLocks noChangeAspect="1"/>
          </p:cNvPicPr>
          <p:nvPr/>
        </p:nvPicPr>
        <p:blipFill>
          <a:blip r:embed="rId6"/>
          <a:stretch>
            <a:fillRect/>
          </a:stretch>
        </p:blipFill>
        <p:spPr>
          <a:xfrm>
            <a:off x="827349" y="5280477"/>
            <a:ext cx="210678" cy="210678"/>
          </a:xfrm>
          <a:prstGeom prst="rect">
            <a:avLst/>
          </a:prstGeom>
        </p:spPr>
      </p:pic>
      <p:sp>
        <p:nvSpPr>
          <p:cNvPr id="37" name="Text 29"/>
          <p:cNvSpPr/>
          <p:nvPr/>
        </p:nvSpPr>
        <p:spPr>
          <a:xfrm>
            <a:off x="1280160" y="5148072"/>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F</a:t>
            </a:r>
            <a:endParaRPr lang="en-US" sz="1500" dirty="0"/>
          </a:p>
        </p:txBody>
      </p:sp>
      <p:sp>
        <p:nvSpPr>
          <p:cNvPr id="38" name="Text 30"/>
          <p:cNvSpPr/>
          <p:nvPr/>
        </p:nvSpPr>
        <p:spPr>
          <a:xfrm>
            <a:off x="1691640" y="5102352"/>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Departmentation</a:t>
            </a:r>
            <a:endParaRPr lang="en-US" sz="1350" dirty="0"/>
          </a:p>
        </p:txBody>
      </p:sp>
      <p:sp>
        <p:nvSpPr>
          <p:cNvPr id="39" name="Text 31"/>
          <p:cNvSpPr/>
          <p:nvPr/>
        </p:nvSpPr>
        <p:spPr>
          <a:xfrm>
            <a:off x="8732520" y="5102352"/>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14.16–14.22</a:t>
            </a:r>
            <a:endParaRPr lang="en-US" sz="1100" dirty="0"/>
          </a:p>
        </p:txBody>
      </p:sp>
      <p:sp>
        <p:nvSpPr>
          <p:cNvPr id="40" name="Shape 32"/>
          <p:cNvSpPr/>
          <p:nvPr/>
        </p:nvSpPr>
        <p:spPr>
          <a:xfrm>
            <a:off x="548640" y="5788152"/>
            <a:ext cx="11064240" cy="621792"/>
          </a:xfrm>
          <a:prstGeom prst="roundRect">
            <a:avLst>
              <a:gd name="adj" fmla="val 10294"/>
            </a:avLst>
          </a:prstGeom>
          <a:solidFill>
            <a:srgbClr val="EEF3FC"/>
          </a:solidFill>
          <a:ln/>
        </p:spPr>
      </p:sp>
      <p:sp>
        <p:nvSpPr>
          <p:cNvPr id="41" name="Shape 33"/>
          <p:cNvSpPr/>
          <p:nvPr/>
        </p:nvSpPr>
        <p:spPr>
          <a:xfrm>
            <a:off x="713232" y="5879592"/>
            <a:ext cx="438912" cy="438912"/>
          </a:xfrm>
          <a:prstGeom prst="ellipse">
            <a:avLst/>
          </a:prstGeom>
          <a:solidFill>
            <a:srgbClr val="1E2761"/>
          </a:solidFill>
          <a:ln/>
        </p:spPr>
      </p:sp>
      <p:pic>
        <p:nvPicPr>
          <p:cNvPr id="42" name="Image 6" descr="preencoded.png">    </p:cNvPr>
          <p:cNvPicPr>
            <a:picLocks noChangeAspect="1"/>
          </p:cNvPicPr>
          <p:nvPr/>
        </p:nvPicPr>
        <p:blipFill>
          <a:blip r:embed="rId7"/>
          <a:stretch>
            <a:fillRect/>
          </a:stretch>
        </p:blipFill>
        <p:spPr>
          <a:xfrm>
            <a:off x="827349" y="5993709"/>
            <a:ext cx="210678" cy="210678"/>
          </a:xfrm>
          <a:prstGeom prst="rect">
            <a:avLst/>
          </a:prstGeom>
        </p:spPr>
      </p:pic>
      <p:sp>
        <p:nvSpPr>
          <p:cNvPr id="43" name="Text 34"/>
          <p:cNvSpPr/>
          <p:nvPr/>
        </p:nvSpPr>
        <p:spPr>
          <a:xfrm>
            <a:off x="1280160" y="5861304"/>
            <a:ext cx="365760" cy="320040"/>
          </a:xfrm>
          <a:prstGeom prst="rect">
            <a:avLst/>
          </a:prstGeom>
          <a:noFill/>
          <a:ln/>
        </p:spPr>
        <p:txBody>
          <a:bodyPr wrap="square" lIns="0" tIns="0" rIns="0" bIns="0" rtlCol="0" anchor="ctr"/>
          <a:lstStyle/>
          <a:p>
            <a:pPr indent="0" marL="0">
              <a:buNone/>
            </a:pPr>
            <a:r>
              <a:rPr lang="en-US" sz="1500" b="1" dirty="0">
                <a:solidFill>
                  <a:srgbClr val="C9A24B"/>
                </a:solidFill>
                <a:latin typeface="Cambria" pitchFamily="34" charset="0"/>
                <a:ea typeface="Cambria" pitchFamily="34" charset="-122"/>
                <a:cs typeface="Cambria" pitchFamily="34" charset="-120"/>
              </a:rPr>
              <a:t>G</a:t>
            </a:r>
            <a:endParaRPr lang="en-US" sz="1500" dirty="0"/>
          </a:p>
        </p:txBody>
      </p:sp>
      <p:sp>
        <p:nvSpPr>
          <p:cNvPr id="44" name="Text 35"/>
          <p:cNvSpPr/>
          <p:nvPr/>
        </p:nvSpPr>
        <p:spPr>
          <a:xfrm>
            <a:off x="1691640" y="5815584"/>
            <a:ext cx="6949440" cy="32004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Decentralization</a:t>
            </a:r>
            <a:endParaRPr lang="en-US" sz="1350" dirty="0"/>
          </a:p>
        </p:txBody>
      </p:sp>
      <p:sp>
        <p:nvSpPr>
          <p:cNvPr id="45" name="Text 36"/>
          <p:cNvSpPr/>
          <p:nvPr/>
        </p:nvSpPr>
        <p:spPr>
          <a:xfrm>
            <a:off x="8732520" y="5815584"/>
            <a:ext cx="2788920" cy="566928"/>
          </a:xfrm>
          <a:prstGeom prst="rect">
            <a:avLst/>
          </a:prstGeom>
          <a:noFill/>
          <a:ln/>
        </p:spPr>
        <p:txBody>
          <a:bodyPr wrap="square" lIns="0" tIns="0" rIns="0" bIns="0"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14.23–14.27</a:t>
            </a:r>
            <a:endParaRPr lang="en-US" sz="1100" dirty="0"/>
          </a:p>
        </p:txBody>
      </p:sp>
      <p:sp>
        <p:nvSpPr>
          <p:cNvPr id="46" name="Text 37"/>
          <p:cNvSpPr/>
          <p:nvPr/>
        </p:nvSpPr>
        <p:spPr>
          <a:xfrm>
            <a:off x="548640" y="6547104"/>
            <a:ext cx="1097280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Wraps up with Recall Questions and an animated Multiple-Choice Quiz.</a:t>
            </a:r>
            <a:endParaRPr lang="en-US" sz="1200" dirty="0"/>
          </a:p>
        </p:txBody>
      </p:sp>
      <p:sp>
        <p:nvSpPr>
          <p:cNvPr id="47" name="Text 3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48" name="Text 3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A</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11.1, 11.7, 11.8</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Nature and Importance of Organization</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What an organization is made of, its defining characteristics, and the process by which it is built.</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11.1. MEANING AND ELEMENTS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Meaning &amp; Important Definitions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word 'organization' originates from 'organism' — a structure whose parts are so integrated that their relation to each other is governed by their relation to the whole. It also means a system whose parts work together, or are dependent on each other.</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Koontz and O'Donnel: Organizing establishes an intentional structure of roles through determining and grouping activities, assigning them to managers, delegating authority, and coordinating relationships, horizontally and vertically.</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Dimmock and Koeing: Organization systematically brings together inter-dependent parts to form a united whole, through which authority, coordination and control are exercised.</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Herbert Simon: Organization is the complex pattern of communications and relations in a group, providing each member information, assumptions, goals and stable expectations about others' behavior.</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Parts Working as One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An orchestra: each musician plays a different instrument, but the conductor's structure makes them function as a single, unified whole.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11.1. MEANING AND ELEMENTS OF ORGANIZATION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11.1. MEANING AND ELEMENTS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(3) Elements or Ingredients of Organization</a:t>
            </a:r>
            <a:endParaRPr lang="en-US" sz="2700" dirty="0"/>
          </a:p>
        </p:txBody>
      </p:sp>
      <p:sp>
        <p:nvSpPr>
          <p:cNvPr id="4" name="Text 2"/>
          <p:cNvSpPr/>
          <p:nvPr/>
        </p:nvSpPr>
        <p:spPr>
          <a:xfrm>
            <a:off x="548640" y="1645920"/>
            <a:ext cx="11064240" cy="4572000"/>
          </a:xfrm>
          <a:prstGeom prst="rect">
            <a:avLst/>
          </a:prstGeom>
          <a:noFill/>
          <a:ln/>
        </p:spPr>
        <p:txBody>
          <a:bodyPr wrap="square" rtlCol="0" anchor="t"/>
          <a:lstStyle/>
          <a:p>
            <a:pPr indent="0" marL="0">
              <a:lnSpc>
                <a:spcPct val="108000"/>
              </a:lnSpc>
              <a:spcAft>
                <a:spcPts val="800"/>
              </a:spcAft>
              <a:buNone/>
            </a:pPr>
            <a:r>
              <a:rPr lang="en-US" sz="1380" dirty="0">
                <a:solidFill>
                  <a:srgbClr val="2B2B33"/>
                </a:solidFill>
                <a:latin typeface="Calibri" pitchFamily="34" charset="0"/>
                <a:ea typeface="Calibri" pitchFamily="34" charset="-122"/>
                <a:cs typeface="Calibri" pitchFamily="34" charset="-120"/>
              </a:rPr>
              <a:t>In any organization, the two important ingredients are:</a:t>
            </a:r>
            <a:endParaRPr lang="en-US" sz="1380" dirty="0"/>
          </a:p>
          <a:p>
            <a:pPr indent="0" marL="0">
              <a:lnSpc>
                <a:spcPct val="108000"/>
              </a:lnSpc>
              <a:buNone/>
            </a:pPr>
            <a:r>
              <a:rPr lang="en-US" sz="1380" b="1" dirty="0">
                <a:solidFill>
                  <a:srgbClr val="1E2761"/>
                </a:solidFill>
                <a:latin typeface="Calibri" pitchFamily="34" charset="0"/>
                <a:ea typeface="Calibri" pitchFamily="34" charset="-122"/>
                <a:cs typeface="Calibri" pitchFamily="34" charset="-120"/>
              </a:rPr>
              <a:t>(a) Parts of organization: </a:t>
            </a:r>
            <a:pPr indent="0" marL="0">
              <a:lnSpc>
                <a:spcPct val="108000"/>
              </a:lnSpc>
              <a:spcAft>
                <a:spcPts val="1000"/>
              </a:spcAft>
              <a:buNone/>
            </a:pPr>
            <a:r>
              <a:rPr lang="en-US" sz="1380" dirty="0">
                <a:solidFill>
                  <a:srgbClr val="2B2B33"/>
                </a:solidFill>
                <a:latin typeface="Calibri" pitchFamily="34" charset="0"/>
                <a:ea typeface="Calibri" pitchFamily="34" charset="-122"/>
                <a:cs typeface="Calibri" pitchFamily="34" charset="-120"/>
              </a:rPr>
              <a:t>human, financial and physical resources — men, money, materials, machines, and the place of work.</a:t>
            </a:r>
            <a:endParaRPr lang="en-US" sz="1380" dirty="0"/>
          </a:p>
          <a:p>
            <a:pPr indent="0" marL="0">
              <a:lnSpc>
                <a:spcPct val="108000"/>
              </a:lnSpc>
              <a:spcAft>
                <a:spcPts val="600"/>
              </a:spcAft>
              <a:buNone/>
            </a:pPr>
            <a:r>
              <a:rPr lang="en-US" sz="1380" b="1" dirty="0">
                <a:solidFill>
                  <a:srgbClr val="2B2B33"/>
                </a:solidFill>
                <a:latin typeface="Calibri" pitchFamily="34" charset="0"/>
                <a:ea typeface="Calibri" pitchFamily="34" charset="-122"/>
                <a:cs typeface="Calibri" pitchFamily="34" charset="-120"/>
              </a:rPr>
              <a:t>(b) Relationships of those parts — with one another, and with the organization as a whole:</a:t>
            </a:r>
            <a:endParaRPr lang="en-US" sz="1380" dirty="0"/>
          </a:p>
          <a:p>
            <a:pPr marL="342900" indent="-342900">
              <a:lnSpc>
                <a:spcPct val="108000"/>
              </a:lnSpc>
              <a:spcAft>
                <a:spcPts val="300"/>
              </a:spcAft>
              <a:buSzPct val="100000"/>
              <a:buChar char="•"/>
            </a:pPr>
            <a:r>
              <a:rPr lang="en-US" sz="1380" dirty="0">
                <a:solidFill>
                  <a:srgbClr val="2B2B33"/>
                </a:solidFill>
                <a:latin typeface="Calibri" pitchFamily="34" charset="0"/>
                <a:ea typeface="Calibri" pitchFamily="34" charset="-122"/>
                <a:cs typeface="Calibri" pitchFamily="34" charset="-120"/>
              </a:rPr>
              <a:t>Between one individual and another</a:t>
            </a:r>
            <a:endParaRPr lang="en-US" sz="1380" dirty="0"/>
          </a:p>
          <a:p>
            <a:pPr marL="342900" indent="-342900">
              <a:lnSpc>
                <a:spcPct val="108000"/>
              </a:lnSpc>
              <a:spcAft>
                <a:spcPts val="300"/>
              </a:spcAft>
              <a:buSzPct val="100000"/>
              <a:buChar char="•"/>
            </a:pPr>
            <a:r>
              <a:rPr lang="en-US" sz="1380" dirty="0">
                <a:solidFill>
                  <a:srgbClr val="2B2B33"/>
                </a:solidFill>
                <a:latin typeface="Calibri" pitchFamily="34" charset="0"/>
                <a:ea typeface="Calibri" pitchFamily="34" charset="-122"/>
                <a:cs typeface="Calibri" pitchFamily="34" charset="-120"/>
              </a:rPr>
              <a:t>Between an individual and his group</a:t>
            </a:r>
            <a:endParaRPr lang="en-US" sz="1380" dirty="0"/>
          </a:p>
          <a:p>
            <a:pPr marL="342900" indent="-342900">
              <a:lnSpc>
                <a:spcPct val="108000"/>
              </a:lnSpc>
              <a:spcAft>
                <a:spcPts val="300"/>
              </a:spcAft>
              <a:buSzPct val="100000"/>
              <a:buChar char="•"/>
            </a:pPr>
            <a:r>
              <a:rPr lang="en-US" sz="1380" dirty="0">
                <a:solidFill>
                  <a:srgbClr val="2B2B33"/>
                </a:solidFill>
                <a:latin typeface="Calibri" pitchFamily="34" charset="0"/>
                <a:ea typeface="Calibri" pitchFamily="34" charset="-122"/>
                <a:cs typeface="Calibri" pitchFamily="34" charset="-120"/>
              </a:rPr>
              <a:t>Between one group and another</a:t>
            </a:r>
            <a:endParaRPr lang="en-US" sz="1380" dirty="0"/>
          </a:p>
          <a:p>
            <a:pPr marL="342900" indent="-342900">
              <a:lnSpc>
                <a:spcPct val="108000"/>
              </a:lnSpc>
              <a:spcAft>
                <a:spcPts val="300"/>
              </a:spcAft>
              <a:buSzPct val="100000"/>
              <a:buChar char="•"/>
            </a:pPr>
            <a:r>
              <a:rPr lang="en-US" sz="1380" dirty="0">
                <a:solidFill>
                  <a:srgbClr val="2B2B33"/>
                </a:solidFill>
                <a:latin typeface="Calibri" pitchFamily="34" charset="0"/>
                <a:ea typeface="Calibri" pitchFamily="34" charset="-122"/>
                <a:cs typeface="Calibri" pitchFamily="34" charset="-120"/>
              </a:rPr>
              <a:t>Between individuals and the work or activities being performed by them</a:t>
            </a:r>
            <a:endParaRPr lang="en-US" sz="1380" dirty="0"/>
          </a:p>
          <a:p>
            <a:pPr marL="342900" indent="-342900">
              <a:lnSpc>
                <a:spcPct val="108000"/>
              </a:lnSpc>
              <a:spcAft>
                <a:spcPts val="800"/>
              </a:spcAft>
              <a:buSzPct val="100000"/>
              <a:buChar char="•"/>
            </a:pPr>
            <a:r>
              <a:rPr lang="en-US" sz="1380" dirty="0">
                <a:solidFill>
                  <a:srgbClr val="2B2B33"/>
                </a:solidFill>
                <a:latin typeface="Calibri" pitchFamily="34" charset="0"/>
                <a:ea typeface="Calibri" pitchFamily="34" charset="-122"/>
                <a:cs typeface="Calibri" pitchFamily="34" charset="-120"/>
              </a:rPr>
              <a:t>Between individuals and physical resources like the place of work, and machines and tools used by them to perform their work</a:t>
            </a:r>
            <a:endParaRPr lang="en-US" sz="1380" dirty="0"/>
          </a:p>
          <a:p>
            <a:pPr indent="0" marL="0">
              <a:lnSpc>
                <a:spcPct val="108000"/>
              </a:lnSpc>
              <a:buNone/>
            </a:pPr>
            <a:r>
              <a:rPr lang="en-US" sz="1380" i="1" dirty="0">
                <a:solidFill>
                  <a:srgbClr val="2B2B33"/>
                </a:solidFill>
                <a:latin typeface="Calibri" pitchFamily="34" charset="0"/>
                <a:ea typeface="Calibri" pitchFamily="34" charset="-122"/>
                <a:cs typeface="Calibri" pitchFamily="34" charset="-120"/>
              </a:rPr>
              <a:t>An organization can accomplish its objectives only when its different parts are effectively integrated and united in the common endeavor.</a:t>
            </a:r>
            <a:endParaRPr lang="en-US" sz="138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11.1 MEANING &amp; ELEMENTS OF ORGANIZATION</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11.7. NATURE OR CHARACTERISTICS OF ORGANIZATION</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Division of labor</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Coordination of activities</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Objectives justify existence</a:t>
            </a:r>
            <a:endParaRPr lang="en-US" sz="1200" dirty="0"/>
          </a:p>
        </p:txBody>
      </p:sp>
      <p:sp>
        <p:nvSpPr>
          <p:cNvPr id="18" name="Shape 13"/>
          <p:cNvSpPr/>
          <p:nvPr/>
        </p:nvSpPr>
        <p:spPr>
          <a:xfrm>
            <a:off x="548640" y="3675888"/>
            <a:ext cx="3590544" cy="1965960"/>
          </a:xfrm>
          <a:prstGeom prst="roundRect">
            <a:avLst>
              <a:gd name="adj" fmla="val 4186"/>
            </a:avLst>
          </a:prstGeom>
          <a:solidFill>
            <a:srgbClr val="1E2761"/>
          </a:solidFill>
          <a:ln/>
        </p:spPr>
      </p:sp>
      <p:sp>
        <p:nvSpPr>
          <p:cNvPr id="19" name="Shape 14"/>
          <p:cNvSpPr/>
          <p:nvPr/>
        </p:nvSpPr>
        <p:spPr>
          <a:xfrm>
            <a:off x="713232" y="3840480"/>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832104" y="3959352"/>
            <a:ext cx="219456" cy="219456"/>
          </a:xfrm>
          <a:prstGeom prst="rect">
            <a:avLst/>
          </a:prstGeom>
        </p:spPr>
      </p:pic>
      <p:sp>
        <p:nvSpPr>
          <p:cNvPr id="21" name="Text 15"/>
          <p:cNvSpPr/>
          <p:nvPr/>
        </p:nvSpPr>
        <p:spPr>
          <a:xfrm>
            <a:off x="359054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13232"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Organization is a social system</a:t>
            </a:r>
            <a:endParaRPr lang="en-US" sz="1200" dirty="0"/>
          </a:p>
        </p:txBody>
      </p:sp>
      <p:sp>
        <p:nvSpPr>
          <p:cNvPr id="23" name="Shape 17"/>
          <p:cNvSpPr/>
          <p:nvPr/>
        </p:nvSpPr>
        <p:spPr>
          <a:xfrm>
            <a:off x="4285488" y="3675888"/>
            <a:ext cx="3590544" cy="1965960"/>
          </a:xfrm>
          <a:prstGeom prst="roundRect">
            <a:avLst>
              <a:gd name="adj" fmla="val 4186"/>
            </a:avLst>
          </a:prstGeom>
          <a:solidFill>
            <a:srgbClr val="1E2761"/>
          </a:solidFill>
          <a:ln/>
        </p:spPr>
      </p:sp>
      <p:sp>
        <p:nvSpPr>
          <p:cNvPr id="24" name="Shape 18"/>
          <p:cNvSpPr/>
          <p:nvPr/>
        </p:nvSpPr>
        <p:spPr>
          <a:xfrm>
            <a:off x="4450080"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4568952" y="3959352"/>
            <a:ext cx="219456" cy="219456"/>
          </a:xfrm>
          <a:prstGeom prst="rect">
            <a:avLst/>
          </a:prstGeom>
        </p:spPr>
      </p:pic>
      <p:sp>
        <p:nvSpPr>
          <p:cNvPr id="26" name="Text 19"/>
          <p:cNvSpPr/>
          <p:nvPr/>
        </p:nvSpPr>
        <p:spPr>
          <a:xfrm>
            <a:off x="732739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4450080"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Authority-responsibility relationships</a:t>
            </a:r>
            <a:endParaRPr lang="en-US" sz="1200" dirty="0"/>
          </a:p>
        </p:txBody>
      </p:sp>
      <p:sp>
        <p:nvSpPr>
          <p:cNvPr id="28" name="Shape 21"/>
          <p:cNvSpPr/>
          <p:nvPr/>
        </p:nvSpPr>
        <p:spPr>
          <a:xfrm>
            <a:off x="8022336" y="3675888"/>
            <a:ext cx="3590544" cy="1965960"/>
          </a:xfrm>
          <a:prstGeom prst="roundRect">
            <a:avLst>
              <a:gd name="adj" fmla="val 4186"/>
            </a:avLst>
          </a:prstGeom>
          <a:solidFill>
            <a:srgbClr val="1E2761"/>
          </a:solidFill>
          <a:ln/>
        </p:spPr>
      </p:sp>
      <p:sp>
        <p:nvSpPr>
          <p:cNvPr id="29" name="Shape 22"/>
          <p:cNvSpPr/>
          <p:nvPr/>
        </p:nvSpPr>
        <p:spPr>
          <a:xfrm>
            <a:off x="818692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05800" y="3959352"/>
            <a:ext cx="219456" cy="219456"/>
          </a:xfrm>
          <a:prstGeom prst="rect">
            <a:avLst/>
          </a:prstGeom>
        </p:spPr>
      </p:pic>
      <p:sp>
        <p:nvSpPr>
          <p:cNvPr id="31" name="Text 23"/>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8186928"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Communication</a:t>
            </a:r>
            <a:endParaRPr lang="en-US" sz="1200" dirty="0"/>
          </a:p>
        </p:txBody>
      </p:sp>
      <p:sp>
        <p:nvSpPr>
          <p:cNvPr id="33" name="Text 25"/>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11.7. NATURE OR CHARACTERISTICS OF ORGANIZATION</a:t>
            </a:r>
            <a:endParaRPr lang="en-US" sz="1100" dirty="0"/>
          </a:p>
        </p:txBody>
      </p:sp>
      <p:sp>
        <p:nvSpPr>
          <p:cNvPr id="34"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11.7. NATURE OR CHARACTERISTICS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Division of Labor — Each Man to Do What He Does Best</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Division of labor is at the root of any organization. For every group of persons who come together to accomplish an objective, division of total effort into different functions becomes essential. Wide-spanning activities are further sub-divided into sub-functions and sub-sub-functions.</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After division into functions and sub-functions, activities are grouped on the basis of (a) similarity of work, or (b) competence/efficiency level required, then placed under a department or sub-department. In a manufacturing enterprise, total activities may be divided into: (a) Production, (b) Marketing, (c) Finance, and (d) Personnel.</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Proper division of labor avoids waste of time, energy and resources, and results in specialization. You cannot possibly expect an engineer to travel all over to sell goods, or a marketing MBA to fix factory machines.</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Right Skill, Right Task</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You would not ask a heart surgeon to file your tax returns, nor an accountant to perform surgery — division of labor simply formalizes this common sense.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11.7. NATURE OR CHARACTERISTICS OF ORGANIZATION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11.7. NATURE OR CHARACTERISTICS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 Coordination of Activities at Different Work-Places</a:t>
            </a:r>
            <a:endParaRPr lang="en-US" sz="2700" dirty="0"/>
          </a:p>
        </p:txBody>
      </p:sp>
      <p:sp>
        <p:nvSpPr>
          <p:cNvPr id="4" name="Text 2"/>
          <p:cNvSpPr/>
          <p:nvPr/>
        </p:nvSpPr>
        <p:spPr>
          <a:xfrm>
            <a:off x="548640" y="1645920"/>
            <a:ext cx="5120640" cy="4480560"/>
          </a:xfrm>
          <a:prstGeom prst="rect">
            <a:avLst/>
          </a:prstGeom>
          <a:noFill/>
          <a:ln/>
        </p:spPr>
        <p:txBody>
          <a:bodyPr wrap="square" rtlCol="0" anchor="t"/>
          <a:lstStyle/>
          <a:p>
            <a:pPr indent="0" marL="0">
              <a:lnSpc>
                <a:spcPct val="110000"/>
              </a:lnSpc>
              <a:spcAft>
                <a:spcPts val="800"/>
              </a:spcAft>
              <a:buNone/>
            </a:pPr>
            <a:r>
              <a:rPr lang="en-US" sz="1250" dirty="0">
                <a:solidFill>
                  <a:srgbClr val="2B2B33"/>
                </a:solidFill>
                <a:latin typeface="Calibri" pitchFamily="34" charset="0"/>
                <a:ea typeface="Calibri" pitchFamily="34" charset="-122"/>
                <a:cs typeface="Calibri" pitchFamily="34" charset="-120"/>
              </a:rPr>
              <a:t>Different persons are assigned different tasks, but all share one aim: accomplishment of organizational objectives.</a:t>
            </a:r>
            <a:endParaRPr lang="en-US" sz="1250" dirty="0"/>
          </a:p>
          <a:p>
            <a:pPr indent="0" marL="0">
              <a:lnSpc>
                <a:spcPct val="110000"/>
              </a:lnSpc>
              <a:spcAft>
                <a:spcPts val="400"/>
              </a:spcAft>
              <a:buNone/>
            </a:pPr>
            <a:r>
              <a:rPr lang="en-US" sz="1250" dirty="0">
                <a:solidFill>
                  <a:srgbClr val="2B2B33"/>
                </a:solidFill>
                <a:latin typeface="Calibri" pitchFamily="34" charset="0"/>
                <a:ea typeface="Calibri" pitchFamily="34" charset="-122"/>
                <a:cs typeface="Calibri" pitchFamily="34" charset="-120"/>
              </a:rPr>
              <a:t>This requires establishing correct, adequate relationships between:</a:t>
            </a:r>
            <a:endParaRPr lang="en-US" sz="1250" dirty="0"/>
          </a:p>
          <a:p>
            <a:pPr marL="342900" indent="-342900">
              <a:lnSpc>
                <a:spcPct val="110000"/>
              </a:lnSpc>
              <a:spcAft>
                <a:spcPts val="200"/>
              </a:spcAft>
              <a:buSzPct val="100000"/>
              <a:buChar char="•"/>
            </a:pPr>
            <a:r>
              <a:rPr lang="en-US" sz="1250" dirty="0">
                <a:solidFill>
                  <a:srgbClr val="2B2B33"/>
                </a:solidFill>
                <a:latin typeface="Calibri" pitchFamily="34" charset="0"/>
                <a:ea typeface="Calibri" pitchFamily="34" charset="-122"/>
                <a:cs typeface="Calibri" pitchFamily="34" charset="-120"/>
              </a:rPr>
              <a:t>(a) An employee and his work</a:t>
            </a:r>
            <a:endParaRPr lang="en-US" sz="1250" dirty="0"/>
          </a:p>
          <a:p>
            <a:pPr marL="342900" indent="-342900">
              <a:lnSpc>
                <a:spcPct val="110000"/>
              </a:lnSpc>
              <a:spcAft>
                <a:spcPts val="200"/>
              </a:spcAft>
              <a:buSzPct val="100000"/>
              <a:buChar char="•"/>
            </a:pPr>
            <a:r>
              <a:rPr lang="en-US" sz="1250" dirty="0">
                <a:solidFill>
                  <a:srgbClr val="2B2B33"/>
                </a:solidFill>
                <a:latin typeface="Calibri" pitchFamily="34" charset="0"/>
                <a:ea typeface="Calibri" pitchFamily="34" charset="-122"/>
                <a:cs typeface="Calibri" pitchFamily="34" charset="-120"/>
              </a:rPr>
              <a:t>(b) One employee and another</a:t>
            </a:r>
            <a:endParaRPr lang="en-US" sz="1250" dirty="0"/>
          </a:p>
          <a:p>
            <a:pPr marL="342900" indent="-342900">
              <a:lnSpc>
                <a:spcPct val="110000"/>
              </a:lnSpc>
              <a:spcAft>
                <a:spcPts val="800"/>
              </a:spcAft>
              <a:buSzPct val="100000"/>
              <a:buChar char="•"/>
            </a:pPr>
            <a:r>
              <a:rPr lang="en-US" sz="1250" dirty="0">
                <a:solidFill>
                  <a:srgbClr val="2B2B33"/>
                </a:solidFill>
                <a:latin typeface="Calibri" pitchFamily="34" charset="0"/>
                <a:ea typeface="Calibri" pitchFamily="34" charset="-122"/>
                <a:cs typeface="Calibri" pitchFamily="34" charset="-120"/>
              </a:rPr>
              <a:t>(c) One department and another</a:t>
            </a:r>
            <a:endParaRPr lang="en-US" sz="1250" dirty="0"/>
          </a:p>
          <a:p>
            <a:pPr indent="0" marL="0">
              <a:lnSpc>
                <a:spcPct val="110000"/>
              </a:lnSpc>
              <a:buNone/>
            </a:pPr>
            <a:r>
              <a:rPr lang="en-US" sz="1250" i="1" dirty="0">
                <a:solidFill>
                  <a:srgbClr val="2B2B33"/>
                </a:solidFill>
                <a:latin typeface="Calibri" pitchFamily="34" charset="0"/>
                <a:ea typeface="Calibri" pitchFamily="34" charset="-122"/>
                <a:cs typeface="Calibri" pitchFamily="34" charset="-120"/>
              </a:rPr>
              <a:t>Failure to establish such relationships may result in different persons or departments pursuing different tasks, making it difficult to achieve the organization's goals.</a:t>
            </a:r>
            <a:endParaRPr lang="en-US" sz="1250" dirty="0"/>
          </a:p>
        </p:txBody>
      </p:sp>
      <p:sp>
        <p:nvSpPr>
          <p:cNvPr id="5" name="Text 3"/>
          <p:cNvSpPr/>
          <p:nvPr/>
        </p:nvSpPr>
        <p:spPr>
          <a:xfrm>
            <a:off x="5943600" y="1691640"/>
            <a:ext cx="914400" cy="274320"/>
          </a:xfrm>
          <a:prstGeom prst="rect">
            <a:avLst/>
          </a:prstGeom>
          <a:noFill/>
          <a:ln/>
        </p:spPr>
        <p:txBody>
          <a:bodyPr wrap="square"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WORK</a:t>
            </a:r>
            <a:endParaRPr lang="en-US" sz="1100" dirty="0"/>
          </a:p>
        </p:txBody>
      </p:sp>
      <p:sp>
        <p:nvSpPr>
          <p:cNvPr id="6" name="Shape 4"/>
          <p:cNvSpPr/>
          <p:nvPr/>
        </p:nvSpPr>
        <p:spPr>
          <a:xfrm>
            <a:off x="6949440" y="2011680"/>
            <a:ext cx="548640" cy="274320"/>
          </a:xfrm>
          <a:prstGeom prst="rect">
            <a:avLst/>
          </a:prstGeom>
          <a:solidFill>
            <a:srgbClr val="3A4A8C"/>
          </a:solidFill>
          <a:ln w="9525">
            <a:solidFill>
              <a:srgbClr val="1E2761"/>
            </a:solidFill>
            <a:prstDash val="solid"/>
          </a:ln>
        </p:spPr>
      </p:sp>
      <p:sp>
        <p:nvSpPr>
          <p:cNvPr id="7" name="Text 5"/>
          <p:cNvSpPr/>
          <p:nvPr/>
        </p:nvSpPr>
        <p:spPr>
          <a:xfrm>
            <a:off x="6949440" y="2011680"/>
            <a:ext cx="54864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a:t>
            </a:r>
            <a:endParaRPr lang="en-US" sz="900" dirty="0"/>
          </a:p>
        </p:txBody>
      </p:sp>
      <p:sp>
        <p:nvSpPr>
          <p:cNvPr id="8" name="Shape 6"/>
          <p:cNvSpPr/>
          <p:nvPr/>
        </p:nvSpPr>
        <p:spPr>
          <a:xfrm>
            <a:off x="6949440" y="2331720"/>
            <a:ext cx="548640" cy="274320"/>
          </a:xfrm>
          <a:prstGeom prst="rect">
            <a:avLst/>
          </a:prstGeom>
          <a:solidFill>
            <a:srgbClr val="3A4A8C"/>
          </a:solidFill>
          <a:ln w="9525">
            <a:solidFill>
              <a:srgbClr val="1E2761"/>
            </a:solidFill>
            <a:prstDash val="solid"/>
          </a:ln>
        </p:spPr>
      </p:sp>
      <p:sp>
        <p:nvSpPr>
          <p:cNvPr id="9" name="Text 7"/>
          <p:cNvSpPr/>
          <p:nvPr/>
        </p:nvSpPr>
        <p:spPr>
          <a:xfrm>
            <a:off x="6949440" y="2331720"/>
            <a:ext cx="54864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10" name="Shape 8"/>
          <p:cNvSpPr/>
          <p:nvPr/>
        </p:nvSpPr>
        <p:spPr>
          <a:xfrm>
            <a:off x="6949440" y="2651760"/>
            <a:ext cx="548640" cy="274320"/>
          </a:xfrm>
          <a:prstGeom prst="rect">
            <a:avLst/>
          </a:prstGeom>
          <a:solidFill>
            <a:srgbClr val="3A4A8C"/>
          </a:solidFill>
          <a:ln w="9525">
            <a:solidFill>
              <a:srgbClr val="1E2761"/>
            </a:solidFill>
            <a:prstDash val="solid"/>
          </a:ln>
        </p:spPr>
      </p:sp>
      <p:sp>
        <p:nvSpPr>
          <p:cNvPr id="11" name="Text 9"/>
          <p:cNvSpPr/>
          <p:nvPr/>
        </p:nvSpPr>
        <p:spPr>
          <a:xfrm>
            <a:off x="6949440" y="2651760"/>
            <a:ext cx="54864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12" name="Shape 10"/>
          <p:cNvSpPr/>
          <p:nvPr/>
        </p:nvSpPr>
        <p:spPr>
          <a:xfrm>
            <a:off x="6949440" y="2971800"/>
            <a:ext cx="548640" cy="274320"/>
          </a:xfrm>
          <a:prstGeom prst="rect">
            <a:avLst/>
          </a:prstGeom>
          <a:solidFill>
            <a:srgbClr val="3A4A8C"/>
          </a:solidFill>
          <a:ln w="9525">
            <a:solidFill>
              <a:srgbClr val="1E2761"/>
            </a:solidFill>
            <a:prstDash val="solid"/>
          </a:ln>
        </p:spPr>
      </p:sp>
      <p:sp>
        <p:nvSpPr>
          <p:cNvPr id="13" name="Text 11"/>
          <p:cNvSpPr/>
          <p:nvPr/>
        </p:nvSpPr>
        <p:spPr>
          <a:xfrm>
            <a:off x="6949440" y="2971800"/>
            <a:ext cx="54864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14" name="Shape 12"/>
          <p:cNvSpPr/>
          <p:nvPr/>
        </p:nvSpPr>
        <p:spPr>
          <a:xfrm>
            <a:off x="6949440" y="3291840"/>
            <a:ext cx="548640" cy="274320"/>
          </a:xfrm>
          <a:prstGeom prst="rect">
            <a:avLst/>
          </a:prstGeom>
          <a:solidFill>
            <a:srgbClr val="3A4A8C"/>
          </a:solidFill>
          <a:ln w="9525">
            <a:solidFill>
              <a:srgbClr val="1E2761"/>
            </a:solidFill>
            <a:prstDash val="solid"/>
          </a:ln>
        </p:spPr>
      </p:sp>
      <p:sp>
        <p:nvSpPr>
          <p:cNvPr id="15" name="Text 13"/>
          <p:cNvSpPr/>
          <p:nvPr/>
        </p:nvSpPr>
        <p:spPr>
          <a:xfrm>
            <a:off x="6949440" y="3291840"/>
            <a:ext cx="54864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5943600" y="3703320"/>
            <a:ext cx="1371600" cy="274320"/>
          </a:xfrm>
          <a:prstGeom prst="rect">
            <a:avLst/>
          </a:prstGeom>
          <a:noFill/>
          <a:ln/>
        </p:spPr>
        <p:txBody>
          <a:bodyPr wrap="square"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EMPLOYEES</a:t>
            </a:r>
            <a:endParaRPr lang="en-US" sz="1100" dirty="0"/>
          </a:p>
        </p:txBody>
      </p:sp>
      <p:sp>
        <p:nvSpPr>
          <p:cNvPr id="17" name="Shape 15"/>
          <p:cNvSpPr/>
          <p:nvPr/>
        </p:nvSpPr>
        <p:spPr>
          <a:xfrm>
            <a:off x="7863840" y="3977640"/>
            <a:ext cx="320040" cy="320040"/>
          </a:xfrm>
          <a:prstGeom prst="ellipse">
            <a:avLst/>
          </a:prstGeom>
          <a:solidFill>
            <a:srgbClr val="EEF3FC"/>
          </a:solidFill>
          <a:ln w="12700">
            <a:solidFill>
              <a:srgbClr val="1E2761"/>
            </a:solidFill>
            <a:prstDash val="solid"/>
          </a:ln>
        </p:spPr>
      </p:sp>
      <p:sp>
        <p:nvSpPr>
          <p:cNvPr id="18" name="Text 16"/>
          <p:cNvSpPr/>
          <p:nvPr/>
        </p:nvSpPr>
        <p:spPr>
          <a:xfrm>
            <a:off x="7863840" y="3977640"/>
            <a:ext cx="320040" cy="320040"/>
          </a:xfrm>
          <a:prstGeom prst="rect">
            <a:avLst/>
          </a:prstGeom>
          <a:noFill/>
          <a:ln/>
        </p:spPr>
        <p:txBody>
          <a:bodyPr wrap="square"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1</a:t>
            </a:r>
            <a:endParaRPr lang="en-US" sz="850" dirty="0"/>
          </a:p>
        </p:txBody>
      </p:sp>
      <p:sp>
        <p:nvSpPr>
          <p:cNvPr id="19" name="Shape 17"/>
          <p:cNvSpPr/>
          <p:nvPr/>
        </p:nvSpPr>
        <p:spPr>
          <a:xfrm>
            <a:off x="7223760" y="2148840"/>
            <a:ext cx="795528" cy="1828800"/>
          </a:xfrm>
          <a:prstGeom prst="line">
            <a:avLst/>
          </a:prstGeom>
          <a:noFill/>
          <a:ln w="6350">
            <a:solidFill>
              <a:srgbClr val="6B7280"/>
            </a:solidFill>
            <a:prstDash val="sysDot"/>
          </a:ln>
        </p:spPr>
      </p:sp>
      <p:sp>
        <p:nvSpPr>
          <p:cNvPr id="20" name="Shape 18"/>
          <p:cNvSpPr/>
          <p:nvPr/>
        </p:nvSpPr>
        <p:spPr>
          <a:xfrm>
            <a:off x="8641080" y="3977640"/>
            <a:ext cx="320040" cy="320040"/>
          </a:xfrm>
          <a:prstGeom prst="ellipse">
            <a:avLst/>
          </a:prstGeom>
          <a:solidFill>
            <a:srgbClr val="EEF3FC"/>
          </a:solidFill>
          <a:ln w="12700">
            <a:solidFill>
              <a:srgbClr val="1E2761"/>
            </a:solidFill>
            <a:prstDash val="solid"/>
          </a:ln>
        </p:spPr>
      </p:sp>
      <p:sp>
        <p:nvSpPr>
          <p:cNvPr id="21" name="Text 19"/>
          <p:cNvSpPr/>
          <p:nvPr/>
        </p:nvSpPr>
        <p:spPr>
          <a:xfrm>
            <a:off x="8641080" y="3977640"/>
            <a:ext cx="320040" cy="320040"/>
          </a:xfrm>
          <a:prstGeom prst="rect">
            <a:avLst/>
          </a:prstGeom>
          <a:noFill/>
          <a:ln/>
        </p:spPr>
        <p:txBody>
          <a:bodyPr wrap="square"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2</a:t>
            </a:r>
            <a:endParaRPr lang="en-US" sz="850" dirty="0"/>
          </a:p>
        </p:txBody>
      </p:sp>
      <p:sp>
        <p:nvSpPr>
          <p:cNvPr id="22" name="Shape 20"/>
          <p:cNvSpPr/>
          <p:nvPr/>
        </p:nvSpPr>
        <p:spPr>
          <a:xfrm>
            <a:off x="7223760" y="2148840"/>
            <a:ext cx="1572768" cy="1828800"/>
          </a:xfrm>
          <a:prstGeom prst="line">
            <a:avLst/>
          </a:prstGeom>
          <a:noFill/>
          <a:ln w="6350">
            <a:solidFill>
              <a:srgbClr val="6B7280"/>
            </a:solidFill>
            <a:prstDash val="sysDot"/>
          </a:ln>
        </p:spPr>
      </p:sp>
      <p:sp>
        <p:nvSpPr>
          <p:cNvPr id="23" name="Shape 21"/>
          <p:cNvSpPr/>
          <p:nvPr/>
        </p:nvSpPr>
        <p:spPr>
          <a:xfrm>
            <a:off x="9418320" y="3977640"/>
            <a:ext cx="320040" cy="320040"/>
          </a:xfrm>
          <a:prstGeom prst="ellipse">
            <a:avLst/>
          </a:prstGeom>
          <a:solidFill>
            <a:srgbClr val="EEF3FC"/>
          </a:solidFill>
          <a:ln w="12700">
            <a:solidFill>
              <a:srgbClr val="1E2761"/>
            </a:solidFill>
            <a:prstDash val="solid"/>
          </a:ln>
        </p:spPr>
      </p:sp>
      <p:sp>
        <p:nvSpPr>
          <p:cNvPr id="24" name="Text 22"/>
          <p:cNvSpPr/>
          <p:nvPr/>
        </p:nvSpPr>
        <p:spPr>
          <a:xfrm>
            <a:off x="9418320" y="3977640"/>
            <a:ext cx="320040" cy="320040"/>
          </a:xfrm>
          <a:prstGeom prst="rect">
            <a:avLst/>
          </a:prstGeom>
          <a:noFill/>
          <a:ln/>
        </p:spPr>
        <p:txBody>
          <a:bodyPr wrap="square"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3</a:t>
            </a:r>
            <a:endParaRPr lang="en-US" sz="850" dirty="0"/>
          </a:p>
        </p:txBody>
      </p:sp>
      <p:sp>
        <p:nvSpPr>
          <p:cNvPr id="25" name="Shape 23"/>
          <p:cNvSpPr/>
          <p:nvPr/>
        </p:nvSpPr>
        <p:spPr>
          <a:xfrm>
            <a:off x="7223760" y="2148840"/>
            <a:ext cx="2350008" cy="1828800"/>
          </a:xfrm>
          <a:prstGeom prst="line">
            <a:avLst/>
          </a:prstGeom>
          <a:noFill/>
          <a:ln w="6350">
            <a:solidFill>
              <a:srgbClr val="6B7280"/>
            </a:solidFill>
            <a:prstDash val="sysDot"/>
          </a:ln>
        </p:spPr>
      </p:sp>
      <p:sp>
        <p:nvSpPr>
          <p:cNvPr id="26" name="Shape 24"/>
          <p:cNvSpPr/>
          <p:nvPr/>
        </p:nvSpPr>
        <p:spPr>
          <a:xfrm>
            <a:off x="10195560" y="3977640"/>
            <a:ext cx="320040" cy="320040"/>
          </a:xfrm>
          <a:prstGeom prst="ellipse">
            <a:avLst/>
          </a:prstGeom>
          <a:solidFill>
            <a:srgbClr val="EEF3FC"/>
          </a:solidFill>
          <a:ln w="12700">
            <a:solidFill>
              <a:srgbClr val="1E2761"/>
            </a:solidFill>
            <a:prstDash val="solid"/>
          </a:ln>
        </p:spPr>
      </p:sp>
      <p:sp>
        <p:nvSpPr>
          <p:cNvPr id="27" name="Text 25"/>
          <p:cNvSpPr/>
          <p:nvPr/>
        </p:nvSpPr>
        <p:spPr>
          <a:xfrm>
            <a:off x="10195560" y="3977640"/>
            <a:ext cx="320040" cy="320040"/>
          </a:xfrm>
          <a:prstGeom prst="rect">
            <a:avLst/>
          </a:prstGeom>
          <a:noFill/>
          <a:ln/>
        </p:spPr>
        <p:txBody>
          <a:bodyPr wrap="square"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4</a:t>
            </a:r>
            <a:endParaRPr lang="en-US" sz="850" dirty="0"/>
          </a:p>
        </p:txBody>
      </p:sp>
      <p:sp>
        <p:nvSpPr>
          <p:cNvPr id="28" name="Shape 26"/>
          <p:cNvSpPr/>
          <p:nvPr/>
        </p:nvSpPr>
        <p:spPr>
          <a:xfrm>
            <a:off x="7223760" y="2148840"/>
            <a:ext cx="3127248" cy="1828800"/>
          </a:xfrm>
          <a:prstGeom prst="line">
            <a:avLst/>
          </a:prstGeom>
          <a:noFill/>
          <a:ln w="6350">
            <a:solidFill>
              <a:srgbClr val="6B7280"/>
            </a:solidFill>
            <a:prstDash val="sysDot"/>
          </a:ln>
        </p:spPr>
      </p:sp>
      <p:sp>
        <p:nvSpPr>
          <p:cNvPr id="29" name="Shape 27"/>
          <p:cNvSpPr/>
          <p:nvPr/>
        </p:nvSpPr>
        <p:spPr>
          <a:xfrm>
            <a:off x="10972800" y="3977640"/>
            <a:ext cx="320040" cy="320040"/>
          </a:xfrm>
          <a:prstGeom prst="ellipse">
            <a:avLst/>
          </a:prstGeom>
          <a:solidFill>
            <a:srgbClr val="EEF3FC"/>
          </a:solidFill>
          <a:ln w="12700">
            <a:solidFill>
              <a:srgbClr val="1E2761"/>
            </a:solidFill>
            <a:prstDash val="solid"/>
          </a:ln>
        </p:spPr>
      </p:sp>
      <p:sp>
        <p:nvSpPr>
          <p:cNvPr id="30" name="Text 28"/>
          <p:cNvSpPr/>
          <p:nvPr/>
        </p:nvSpPr>
        <p:spPr>
          <a:xfrm>
            <a:off x="10972800" y="3977640"/>
            <a:ext cx="320040" cy="320040"/>
          </a:xfrm>
          <a:prstGeom prst="rect">
            <a:avLst/>
          </a:prstGeom>
          <a:noFill/>
          <a:ln/>
        </p:spPr>
        <p:txBody>
          <a:bodyPr wrap="square" rtlCol="0" anchor="ctr"/>
          <a:lstStyle/>
          <a:p>
            <a:pPr algn="ctr" indent="0" marL="0">
              <a:buNone/>
            </a:pPr>
            <a:r>
              <a:rPr lang="en-US" sz="850" dirty="0">
                <a:solidFill>
                  <a:srgbClr val="1E2761"/>
                </a:solidFill>
                <a:latin typeface="Calibri" pitchFamily="34" charset="0"/>
                <a:ea typeface="Calibri" pitchFamily="34" charset="-122"/>
                <a:cs typeface="Calibri" pitchFamily="34" charset="-120"/>
              </a:rPr>
              <a:t>5</a:t>
            </a:r>
            <a:endParaRPr lang="en-US" sz="850" dirty="0"/>
          </a:p>
        </p:txBody>
      </p:sp>
      <p:sp>
        <p:nvSpPr>
          <p:cNvPr id="31" name="Shape 29"/>
          <p:cNvSpPr/>
          <p:nvPr/>
        </p:nvSpPr>
        <p:spPr>
          <a:xfrm>
            <a:off x="7223760" y="2148840"/>
            <a:ext cx="3904488" cy="1828800"/>
          </a:xfrm>
          <a:prstGeom prst="line">
            <a:avLst/>
          </a:prstGeom>
          <a:noFill/>
          <a:ln w="6350">
            <a:solidFill>
              <a:srgbClr val="6B7280"/>
            </a:solidFill>
            <a:prstDash val="sysDot"/>
          </a:ln>
        </p:spPr>
      </p:sp>
      <p:sp>
        <p:nvSpPr>
          <p:cNvPr id="32" name="Text 30"/>
          <p:cNvSpPr/>
          <p:nvPr/>
        </p:nvSpPr>
        <p:spPr>
          <a:xfrm>
            <a:off x="5943600" y="4572000"/>
            <a:ext cx="1737360" cy="274320"/>
          </a:xfrm>
          <a:prstGeom prst="rect">
            <a:avLst/>
          </a:prstGeom>
          <a:noFill/>
          <a:ln/>
        </p:spPr>
        <p:txBody>
          <a:bodyPr wrap="square" rtlCol="0" anchor="ctr"/>
          <a:lstStyle/>
          <a:p>
            <a:pPr indent="0" marL="0">
              <a:buNone/>
            </a:pPr>
            <a:r>
              <a:rPr lang="en-US" sz="1100" b="1" dirty="0">
                <a:solidFill>
                  <a:srgbClr val="1E2761"/>
                </a:solidFill>
                <a:latin typeface="Cambria" pitchFamily="34" charset="0"/>
                <a:ea typeface="Cambria" pitchFamily="34" charset="-122"/>
                <a:cs typeface="Cambria" pitchFamily="34" charset="-120"/>
              </a:rPr>
              <a:t>RELATIONSHIPS</a:t>
            </a:r>
            <a:endParaRPr lang="en-US" sz="1100" dirty="0"/>
          </a:p>
        </p:txBody>
      </p:sp>
      <p:sp>
        <p:nvSpPr>
          <p:cNvPr id="33" name="Shape 31"/>
          <p:cNvSpPr/>
          <p:nvPr/>
        </p:nvSpPr>
        <p:spPr>
          <a:xfrm>
            <a:off x="8046720" y="4892040"/>
            <a:ext cx="292608" cy="292608"/>
          </a:xfrm>
          <a:prstGeom prst="ellipse">
            <a:avLst/>
          </a:prstGeom>
          <a:solidFill>
            <a:srgbClr val="1E2761"/>
          </a:solidFill>
          <a:ln/>
        </p:spPr>
      </p:sp>
      <p:sp>
        <p:nvSpPr>
          <p:cNvPr id="34" name="Shape 32"/>
          <p:cNvSpPr/>
          <p:nvPr/>
        </p:nvSpPr>
        <p:spPr>
          <a:xfrm>
            <a:off x="8193024" y="5184648"/>
            <a:ext cx="0" cy="228600"/>
          </a:xfrm>
          <a:prstGeom prst="line">
            <a:avLst/>
          </a:prstGeom>
          <a:noFill/>
          <a:ln w="12700">
            <a:solidFill>
              <a:srgbClr val="1E2761"/>
            </a:solidFill>
            <a:prstDash val="solid"/>
          </a:ln>
        </p:spPr>
      </p:sp>
      <p:sp>
        <p:nvSpPr>
          <p:cNvPr id="35" name="Shape 33"/>
          <p:cNvSpPr/>
          <p:nvPr/>
        </p:nvSpPr>
        <p:spPr>
          <a:xfrm>
            <a:off x="8046720" y="5413248"/>
            <a:ext cx="292608" cy="292608"/>
          </a:xfrm>
          <a:prstGeom prst="ellipse">
            <a:avLst/>
          </a:prstGeom>
          <a:solidFill>
            <a:srgbClr val="3A4A8C"/>
          </a:solidFill>
          <a:ln/>
        </p:spPr>
      </p:sp>
      <p:sp>
        <p:nvSpPr>
          <p:cNvPr id="36" name="Shape 34"/>
          <p:cNvSpPr/>
          <p:nvPr/>
        </p:nvSpPr>
        <p:spPr>
          <a:xfrm>
            <a:off x="8193024" y="5705856"/>
            <a:ext cx="0" cy="182880"/>
          </a:xfrm>
          <a:prstGeom prst="line">
            <a:avLst/>
          </a:prstGeom>
          <a:noFill/>
          <a:ln w="12700">
            <a:solidFill>
              <a:srgbClr val="1E2761"/>
            </a:solidFill>
            <a:prstDash val="solid"/>
          </a:ln>
        </p:spPr>
      </p:sp>
      <p:sp>
        <p:nvSpPr>
          <p:cNvPr id="37" name="Shape 35"/>
          <p:cNvSpPr/>
          <p:nvPr/>
        </p:nvSpPr>
        <p:spPr>
          <a:xfrm>
            <a:off x="7589520" y="5888736"/>
            <a:ext cx="1188720" cy="0"/>
          </a:xfrm>
          <a:prstGeom prst="line">
            <a:avLst/>
          </a:prstGeom>
          <a:noFill/>
          <a:ln w="12700">
            <a:solidFill>
              <a:srgbClr val="1E2761"/>
            </a:solidFill>
            <a:prstDash val="solid"/>
          </a:ln>
        </p:spPr>
      </p:sp>
      <p:sp>
        <p:nvSpPr>
          <p:cNvPr id="38" name="Shape 36"/>
          <p:cNvSpPr/>
          <p:nvPr/>
        </p:nvSpPr>
        <p:spPr>
          <a:xfrm>
            <a:off x="7589520" y="5943600"/>
            <a:ext cx="274320" cy="274320"/>
          </a:xfrm>
          <a:prstGeom prst="ellipse">
            <a:avLst/>
          </a:prstGeom>
          <a:solidFill>
            <a:srgbClr val="EEF3FC"/>
          </a:solidFill>
          <a:ln w="12700">
            <a:solidFill>
              <a:srgbClr val="1E2761"/>
            </a:solidFill>
            <a:prstDash val="solid"/>
          </a:ln>
        </p:spPr>
      </p:sp>
      <p:sp>
        <p:nvSpPr>
          <p:cNvPr id="39" name="Shape 37"/>
          <p:cNvSpPr/>
          <p:nvPr/>
        </p:nvSpPr>
        <p:spPr>
          <a:xfrm>
            <a:off x="8183880" y="5943600"/>
            <a:ext cx="274320" cy="274320"/>
          </a:xfrm>
          <a:prstGeom prst="ellipse">
            <a:avLst/>
          </a:prstGeom>
          <a:solidFill>
            <a:srgbClr val="EEF3FC"/>
          </a:solidFill>
          <a:ln w="12700">
            <a:solidFill>
              <a:srgbClr val="1E2761"/>
            </a:solidFill>
            <a:prstDash val="solid"/>
          </a:ln>
        </p:spPr>
      </p:sp>
      <p:sp>
        <p:nvSpPr>
          <p:cNvPr id="40" name="Shape 38"/>
          <p:cNvSpPr/>
          <p:nvPr/>
        </p:nvSpPr>
        <p:spPr>
          <a:xfrm>
            <a:off x="8778240" y="5943600"/>
            <a:ext cx="274320" cy="274320"/>
          </a:xfrm>
          <a:prstGeom prst="ellipse">
            <a:avLst/>
          </a:prstGeom>
          <a:solidFill>
            <a:srgbClr val="EEF3FC"/>
          </a:solidFill>
          <a:ln w="12700">
            <a:solidFill>
              <a:srgbClr val="1E2761"/>
            </a:solidFill>
            <a:prstDash val="solid"/>
          </a:ln>
        </p:spPr>
      </p:sp>
      <p:sp>
        <p:nvSpPr>
          <p:cNvPr id="41" name="Text 3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11.7 NATURE OF ORGANIZATION</a:t>
            </a:r>
            <a:endParaRPr lang="en-US" sz="1100" dirty="0"/>
          </a:p>
        </p:txBody>
      </p:sp>
      <p:sp>
        <p:nvSpPr>
          <p:cNvPr id="42" name="Text 4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11.7. NATURE OR CHARACTERISTICS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(3)–(4) Objectives &amp; Social System</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Objectives Justify Existence of Organization in Society</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Every organization structure is bound together by pursuit of specific, well-defined objectives. Just as objectives cannot be accomplished without an organization, an organization also cannot exist for long without specific objectives and goals.</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Organization is a Social System</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People are influenced by economic, social and psychological needs. All parts of the organization-system are inter-dependent. The system has formal (official) and informal (unofficial) aspects, and is dynamic — interpersonal and group relationships keep changing, unlike the static organization chart.</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11.7. NATURE OR CHARACTERISTICS OF ORGANIZATION</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11.7. NATURE OR CHARACTERISTICS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(5)–(6) Authority-Responsibility &amp; Communication</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Authority-Responsibility Relationships</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An organization means an arrangement of positions into a graded, hierarchical order — each superior to the one below and subordinate to the one above. Each position is assigned tasks and delegated proportionate authority, including the right to reward and punish based on performance.</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Communication — Basic Need of Working With and Through People</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Every organization has its own channels and methods of communication. Since management works with and through people, effective communication is vital. Channels may be formal, informal, downward, upward or sideward.</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11.7. NATURE OR CHARACTERISTICS OF ORGANIZATION</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11.8. 'PROCESS' OF ORGANIZATION</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Dividing total effort into inter-dependent parts</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Determining tasks or duties to be performed</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Assignment of tasks and duties</a:t>
            </a:r>
            <a:endParaRPr lang="en-US" sz="1200" dirty="0"/>
          </a:p>
        </p:txBody>
      </p:sp>
      <p:sp>
        <p:nvSpPr>
          <p:cNvPr id="18" name="Shape 13"/>
          <p:cNvSpPr/>
          <p:nvPr/>
        </p:nvSpPr>
        <p:spPr>
          <a:xfrm>
            <a:off x="548640" y="3675888"/>
            <a:ext cx="3590544" cy="1965960"/>
          </a:xfrm>
          <a:prstGeom prst="roundRect">
            <a:avLst>
              <a:gd name="adj" fmla="val 4186"/>
            </a:avLst>
          </a:prstGeom>
          <a:solidFill>
            <a:srgbClr val="1E2761"/>
          </a:solidFill>
          <a:ln/>
        </p:spPr>
      </p:sp>
      <p:sp>
        <p:nvSpPr>
          <p:cNvPr id="19" name="Shape 14"/>
          <p:cNvSpPr/>
          <p:nvPr/>
        </p:nvSpPr>
        <p:spPr>
          <a:xfrm>
            <a:off x="713232" y="3840480"/>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832104" y="3959352"/>
            <a:ext cx="219456" cy="219456"/>
          </a:xfrm>
          <a:prstGeom prst="rect">
            <a:avLst/>
          </a:prstGeom>
        </p:spPr>
      </p:pic>
      <p:sp>
        <p:nvSpPr>
          <p:cNvPr id="21" name="Text 15"/>
          <p:cNvSpPr/>
          <p:nvPr/>
        </p:nvSpPr>
        <p:spPr>
          <a:xfrm>
            <a:off x="359054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13232"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Delegation of authority</a:t>
            </a:r>
            <a:endParaRPr lang="en-US" sz="1200" dirty="0"/>
          </a:p>
        </p:txBody>
      </p:sp>
      <p:sp>
        <p:nvSpPr>
          <p:cNvPr id="23" name="Shape 17"/>
          <p:cNvSpPr/>
          <p:nvPr/>
        </p:nvSpPr>
        <p:spPr>
          <a:xfrm>
            <a:off x="4285488" y="3675888"/>
            <a:ext cx="3590544" cy="1965960"/>
          </a:xfrm>
          <a:prstGeom prst="roundRect">
            <a:avLst>
              <a:gd name="adj" fmla="val 4186"/>
            </a:avLst>
          </a:prstGeom>
          <a:solidFill>
            <a:srgbClr val="1E2761"/>
          </a:solidFill>
          <a:ln/>
        </p:spPr>
      </p:sp>
      <p:sp>
        <p:nvSpPr>
          <p:cNvPr id="24" name="Shape 18"/>
          <p:cNvSpPr/>
          <p:nvPr/>
        </p:nvSpPr>
        <p:spPr>
          <a:xfrm>
            <a:off x="4450080"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4568952" y="3959352"/>
            <a:ext cx="219456" cy="219456"/>
          </a:xfrm>
          <a:prstGeom prst="rect">
            <a:avLst/>
          </a:prstGeom>
        </p:spPr>
      </p:pic>
      <p:sp>
        <p:nvSpPr>
          <p:cNvPr id="26" name="Text 19"/>
          <p:cNvSpPr/>
          <p:nvPr/>
        </p:nvSpPr>
        <p:spPr>
          <a:xfrm>
            <a:off x="732739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4450080"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Selecting right people for right jobs</a:t>
            </a:r>
            <a:endParaRPr lang="en-US" sz="1200" dirty="0"/>
          </a:p>
        </p:txBody>
      </p:sp>
      <p:sp>
        <p:nvSpPr>
          <p:cNvPr id="28" name="Shape 21"/>
          <p:cNvSpPr/>
          <p:nvPr/>
        </p:nvSpPr>
        <p:spPr>
          <a:xfrm>
            <a:off x="8022336" y="3675888"/>
            <a:ext cx="3590544" cy="1965960"/>
          </a:xfrm>
          <a:prstGeom prst="roundRect">
            <a:avLst>
              <a:gd name="adj" fmla="val 4186"/>
            </a:avLst>
          </a:prstGeom>
          <a:solidFill>
            <a:srgbClr val="1E2761"/>
          </a:solidFill>
          <a:ln/>
        </p:spPr>
      </p:sp>
      <p:sp>
        <p:nvSpPr>
          <p:cNvPr id="29" name="Shape 22"/>
          <p:cNvSpPr/>
          <p:nvPr/>
        </p:nvSpPr>
        <p:spPr>
          <a:xfrm>
            <a:off x="818692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05800" y="3959352"/>
            <a:ext cx="219456" cy="219456"/>
          </a:xfrm>
          <a:prstGeom prst="rect">
            <a:avLst/>
          </a:prstGeom>
        </p:spPr>
      </p:pic>
      <p:sp>
        <p:nvSpPr>
          <p:cNvPr id="31" name="Text 23"/>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8186928"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Providing right environment</a:t>
            </a:r>
            <a:endParaRPr lang="en-US" sz="1200" dirty="0"/>
          </a:p>
        </p:txBody>
      </p:sp>
      <p:sp>
        <p:nvSpPr>
          <p:cNvPr id="33" name="Text 25"/>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11.8. 'PROCESS' OF ORGANIZATION</a:t>
            </a:r>
            <a:endParaRPr lang="en-US" sz="1100" dirty="0"/>
          </a:p>
        </p:txBody>
      </p:sp>
      <p:sp>
        <p:nvSpPr>
          <p:cNvPr id="34"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11.8. 'PROCESS'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Dividing Total Effort into a 'Whole' of Inter-Dependent Parts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To organize means to arrange different elements into a whole of interdependent parts — putting person or things in their proper places and in relation to each other, so the whole aggregate works as a coherent unit, with each person or thing having proper, well-defined tasks and activities to perform.</a:t>
            </a:r>
            <a:endParaRPr lang="en-US" sz="1500" dirty="0"/>
          </a:p>
          <a:p>
            <a:pPr indent="0" marL="0">
              <a:lnSpc>
                <a:spcPct val="110000"/>
              </a:lnSpc>
              <a:spcAft>
                <a:spcPts val="600"/>
              </a:spcAft>
              <a:buNone/>
            </a:pPr>
            <a:r>
              <a:rPr lang="en-US" sz="1500" dirty="0">
                <a:solidFill>
                  <a:srgbClr val="2B2B33"/>
                </a:solidFill>
                <a:latin typeface="Calibri" pitchFamily="34" charset="0"/>
                <a:ea typeface="Calibri" pitchFamily="34" charset="-122"/>
                <a:cs typeface="Calibri" pitchFamily="34" charset="-120"/>
              </a:rPr>
              <a:t>Peter Drucker divided the organization process into three elements:</a:t>
            </a:r>
            <a:endParaRPr lang="en-US" sz="1500" dirty="0"/>
          </a:p>
          <a:p>
            <a:pPr marL="342900" indent="-342900">
              <a:lnSpc>
                <a:spcPct val="110000"/>
              </a:lnSpc>
              <a:spcAft>
                <a:spcPts val="200"/>
              </a:spcAft>
              <a:buSzPct val="100000"/>
              <a:buChar char="•"/>
            </a:pPr>
            <a:r>
              <a:rPr lang="en-US" sz="1500" dirty="0">
                <a:solidFill>
                  <a:srgbClr val="2B2B33"/>
                </a:solidFill>
                <a:latin typeface="Calibri" pitchFamily="34" charset="0"/>
                <a:ea typeface="Calibri" pitchFamily="34" charset="-122"/>
                <a:cs typeface="Calibri" pitchFamily="34" charset="-120"/>
              </a:rPr>
              <a:t>(a) Activity analysis</a:t>
            </a:r>
            <a:endParaRPr lang="en-US" sz="1500" dirty="0"/>
          </a:p>
          <a:p>
            <a:pPr marL="342900" indent="-342900">
              <a:lnSpc>
                <a:spcPct val="110000"/>
              </a:lnSpc>
              <a:spcAft>
                <a:spcPts val="200"/>
              </a:spcAft>
              <a:buSzPct val="100000"/>
              <a:buChar char="•"/>
            </a:pPr>
            <a:r>
              <a:rPr lang="en-US" sz="1500" dirty="0">
                <a:solidFill>
                  <a:srgbClr val="2B2B33"/>
                </a:solidFill>
                <a:latin typeface="Calibri" pitchFamily="34" charset="0"/>
                <a:ea typeface="Calibri" pitchFamily="34" charset="-122"/>
                <a:cs typeface="Calibri" pitchFamily="34" charset="-120"/>
              </a:rPr>
              <a:t>(b) Decision analysis</a:t>
            </a:r>
            <a:endParaRPr lang="en-US" sz="1500" dirty="0"/>
          </a:p>
          <a:p>
            <a:pPr marL="342900" indent="-342900">
              <a:lnSpc>
                <a:spcPct val="110000"/>
              </a:lnSpc>
              <a:buSzPct val="100000"/>
              <a:buChar char="•"/>
            </a:pPr>
            <a:r>
              <a:rPr lang="en-US" sz="1500" dirty="0">
                <a:solidFill>
                  <a:srgbClr val="2B2B33"/>
                </a:solidFill>
                <a:latin typeface="Calibri" pitchFamily="34" charset="0"/>
                <a:ea typeface="Calibri" pitchFamily="34" charset="-122"/>
                <a:cs typeface="Calibri" pitchFamily="34" charset="-120"/>
              </a:rPr>
              <a:t>(c) Relation analysis</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Coherent Whole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car factory is a 'whole' only when its parts — stamping, welding, painting, assembly — are placed in proper relation to each other, in the right sequence.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11.8. 'PROCESS' OF ORGANIZATION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11.8. 'PROCESS'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(2)–(3) Determining &amp; Assigning Tasks</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Determining Tasks or Duties to be Performed</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organization process begins once objectives are determined. The first step is to divide total effort into tasks, each to be performed by an individual or group. Specialization is the guiding principle — a worker who repeats the same task avoids waste of time, energy and material.</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Assignment of Tasks and Duties</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This involves selecting competent persons to manage the defined tasks or duties at each work-point. Naturally, selection should be based on the person's specialization in performing that task or duty.</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11.8. 'PROCESS' OF ORGANIZATION</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11.8. 'PROCESS'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Delegation, Selection &amp; Environment</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Delegation of Authority</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Along with assignment of tasks, appropriate authority for control and use of organizational resources must be delegated. Authority flows from shareholders to the Board, to the CEO, and downward to senior, middle and operational managers.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Selecting Right People — No Square Pegs in Round Holes</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Managers must find, retain and develop staff competent to perform assigned tasks. Selecting someone who lacks the technical competence, ability or aptitude will see the substandard performance blamed on the manager.</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Providing the Right Environment</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Beyond lighting, ventilation and temperature, this means creating mutual trust, fellow-feeling, and caring among workers — e.g., call centers providing safe pick-and-drop transport, especially for women workers.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11.8. 'PROCESS' OF ORGANIZATION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B</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12.1 – 12.10</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Organization Theory</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From rigid, rule-bound classical structures to human-centered neo-classical thinking, to today's systems view.</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12.1–12.2. MEANING OF ORGANIZATION THEORY &amp; CLASSICAL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is 'Organization Theory'? Pioneers of the Classical School</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Organization theory means study of the structure, functioning and performance of an organization, and the behavior of individuals and groups working within it. Important theories: (1) Classical theory (2) Neo-classical theory, and (3) Modern theory.</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Classical Theory owes its origin to Scientific Management, formulated by Frederick Winslow Taylor — his tombstone reads 'here lies buried the Father of Scientific Management.' Mooney and Reiley (USA) developed universal principles governing an organization.</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In Germany, Max Weber described organizations as having hierarchical positions, rules, division of labor and specialization, and impersonal relationships — machine-like, bureaucratic structures where activities follow formal rules, job-descriptions and training.</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Machine-Like Structures</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government passport office running strictly on prescribed forms, fixed counters, and rule-books is a textbook example of Weber's bureaucratic, classical-theory organization.</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12.1–12.2. MEANING OF ORGANIZATION THEORY &amp; CLASSICAL THEORY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12.3. FOUR PRINCIPLES OF CLASSICAL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&amp; (3) Division of Labor and 'Organization Structure'</a:t>
            </a:r>
            <a:endParaRPr lang="en-US" sz="2700" dirty="0"/>
          </a:p>
        </p:txBody>
      </p:sp>
      <p:sp>
        <p:nvSpPr>
          <p:cNvPr id="4" name="Text 2"/>
          <p:cNvSpPr/>
          <p:nvPr/>
        </p:nvSpPr>
        <p:spPr>
          <a:xfrm>
            <a:off x="548640" y="1645920"/>
            <a:ext cx="11064240" cy="4480560"/>
          </a:xfrm>
          <a:prstGeom prst="rect">
            <a:avLst/>
          </a:prstGeom>
          <a:noFill/>
          <a:ln/>
        </p:spPr>
        <p:txBody>
          <a:bodyPr wrap="square" rtlCol="0" anchor="t"/>
          <a:lstStyle/>
          <a:p>
            <a:pPr indent="0" marL="0">
              <a:lnSpc>
                <a:spcPct val="108000"/>
              </a:lnSpc>
              <a:spcAft>
                <a:spcPts val="400"/>
              </a:spcAft>
              <a:buNone/>
            </a:pPr>
            <a:r>
              <a:rPr lang="en-US" sz="1300" b="1" dirty="0">
                <a:solidFill>
                  <a:srgbClr val="2B2B33"/>
                </a:solidFill>
                <a:latin typeface="Calibri" pitchFamily="34" charset="0"/>
                <a:ea typeface="Calibri" pitchFamily="34" charset="-122"/>
                <a:cs typeface="Calibri" pitchFamily="34" charset="-120"/>
              </a:rPr>
              <a:t>(1) Division of Labor</a:t>
            </a:r>
            <a:endParaRPr lang="en-US" sz="1300" dirty="0"/>
          </a:p>
          <a:p>
            <a:pPr indent="0" marL="0">
              <a:lnSpc>
                <a:spcPct val="108000"/>
              </a:lnSpc>
              <a:spcAft>
                <a:spcPts val="1200"/>
              </a:spcAft>
              <a:buNone/>
            </a:pPr>
            <a:r>
              <a:rPr lang="en-US" sz="1300" dirty="0">
                <a:solidFill>
                  <a:srgbClr val="2B2B33"/>
                </a:solidFill>
                <a:latin typeface="Calibri" pitchFamily="34" charset="0"/>
                <a:ea typeface="Calibri" pitchFamily="34" charset="-122"/>
                <a:cs typeface="Calibri" pitchFamily="34" charset="-120"/>
              </a:rPr>
              <a:t>Division of labor is the pivot around which classical theory revolves. It applies to specialization of processes, where production of a commodity is divided into a number of processes, each performed by a different person(s). Division of labor leads to increased output even though no additional capital has been employed.</a:t>
            </a:r>
            <a:endParaRPr lang="en-US" sz="1300" dirty="0"/>
          </a:p>
          <a:p>
            <a:pPr indent="0" marL="0">
              <a:lnSpc>
                <a:spcPct val="108000"/>
              </a:lnSpc>
              <a:spcAft>
                <a:spcPts val="400"/>
              </a:spcAft>
              <a:buNone/>
            </a:pPr>
            <a:r>
              <a:rPr lang="en-US" sz="1300" b="1" dirty="0">
                <a:solidFill>
                  <a:srgbClr val="2B2B33"/>
                </a:solidFill>
                <a:latin typeface="Calibri" pitchFamily="34" charset="0"/>
                <a:ea typeface="Calibri" pitchFamily="34" charset="-122"/>
                <a:cs typeface="Calibri" pitchFamily="34" charset="-120"/>
              </a:rPr>
              <a:t>(3) 'Organization Structure'</a:t>
            </a:r>
            <a:endParaRPr lang="en-US" sz="1300" dirty="0"/>
          </a:p>
          <a:p>
            <a:pPr indent="0" marL="0">
              <a:lnSpc>
                <a:spcPct val="108000"/>
              </a:lnSpc>
              <a:spcAft>
                <a:spcPts val="600"/>
              </a:spcAft>
              <a:buNone/>
            </a:pPr>
            <a:r>
              <a:rPr lang="en-US" sz="1300" dirty="0">
                <a:solidFill>
                  <a:srgbClr val="2B2B33"/>
                </a:solidFill>
                <a:latin typeface="Calibri" pitchFamily="34" charset="0"/>
                <a:ea typeface="Calibri" pitchFamily="34" charset="-122"/>
                <a:cs typeface="Calibri" pitchFamily="34" charset="-120"/>
              </a:rPr>
              <a:t>Organizational structure refers to the system or prescribed pattern of work-related behavior established for accomplishment of organizational objectives — an instrument for logical, consistent relationships among diverse functions.</a:t>
            </a:r>
            <a:endParaRPr lang="en-US" sz="1300" dirty="0"/>
          </a:p>
          <a:p>
            <a:pPr indent="0" marL="0">
              <a:lnSpc>
                <a:spcPct val="108000"/>
              </a:lnSpc>
              <a:buNone/>
            </a:pPr>
            <a:r>
              <a:rPr lang="en-US" sz="1300" dirty="0">
                <a:solidFill>
                  <a:srgbClr val="2B2B33"/>
                </a:solidFill>
                <a:latin typeface="Calibri" pitchFamily="34" charset="0"/>
                <a:ea typeface="Calibri" pitchFamily="34" charset="-122"/>
                <a:cs typeface="Calibri" pitchFamily="34" charset="-120"/>
              </a:rPr>
              <a:t>Specialization and coordination are the principal issues in designing an organization structure. Specialization is acquired when a person performs only one task using special-purpose machines and tools, gaining expertise, proficiency and productivity. Coordination means harmonizing activities performed at different work-centers so they do not focus on irrelevant, disjointed functions.</a:t>
            </a:r>
            <a:endParaRPr lang="en-US" sz="1300" dirty="0"/>
          </a:p>
        </p:txBody>
      </p:sp>
      <p:sp>
        <p:nvSpPr>
          <p:cNvPr id="5"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12.3 FOUR PRINCIPLES OF CLASSICAL THEORY</a:t>
            </a:r>
            <a:endParaRPr lang="en-US" sz="1100" dirty="0"/>
          </a:p>
        </p:txBody>
      </p:sp>
      <p:sp>
        <p:nvSpPr>
          <p:cNvPr id="6"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12.3. FOUR PRINCIPLES OF CLASSICAL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 Scalar and Functional Processes</a:t>
            </a:r>
            <a:endParaRPr lang="en-US" sz="2700" dirty="0"/>
          </a:p>
        </p:txBody>
      </p:sp>
      <p:sp>
        <p:nvSpPr>
          <p:cNvPr id="4" name="Text 2"/>
          <p:cNvSpPr/>
          <p:nvPr/>
        </p:nvSpPr>
        <p:spPr>
          <a:xfrm>
            <a:off x="548640" y="1645920"/>
            <a:ext cx="6492240" cy="4480560"/>
          </a:xfrm>
          <a:prstGeom prst="rect">
            <a:avLst/>
          </a:prstGeom>
          <a:noFill/>
          <a:ln/>
        </p:spPr>
        <p:txBody>
          <a:bodyPr wrap="square" rtlCol="0" anchor="t"/>
          <a:lstStyle/>
          <a:p>
            <a:pPr indent="0" marL="0">
              <a:lnSpc>
                <a:spcPct val="110000"/>
              </a:lnSpc>
              <a:spcAft>
                <a:spcPts val="800"/>
              </a:spcAft>
              <a:buNone/>
            </a:pPr>
            <a:r>
              <a:rPr lang="en-US" sz="1300" dirty="0">
                <a:solidFill>
                  <a:srgbClr val="2B2B33"/>
                </a:solidFill>
                <a:latin typeface="Calibri" pitchFamily="34" charset="0"/>
                <a:ea typeface="Calibri" pitchFamily="34" charset="-122"/>
                <a:cs typeface="Calibri" pitchFamily="34" charset="-120"/>
              </a:rPr>
              <a:t>These deal with the vertical and horizontal growth of an organization.</a:t>
            </a:r>
            <a:endParaRPr lang="en-US" sz="1300" dirty="0"/>
          </a:p>
          <a:p>
            <a:pPr indent="0" marL="0">
              <a:lnSpc>
                <a:spcPct val="110000"/>
              </a:lnSpc>
              <a:spcAft>
                <a:spcPts val="800"/>
              </a:spcAft>
              <a:buNone/>
            </a:pPr>
            <a:r>
              <a:rPr lang="en-US" sz="1300" dirty="0">
                <a:solidFill>
                  <a:srgbClr val="2B2B33"/>
                </a:solidFill>
                <a:latin typeface="Calibri" pitchFamily="34" charset="0"/>
                <a:ea typeface="Calibri" pitchFamily="34" charset="-122"/>
                <a:cs typeface="Calibri" pitchFamily="34" charset="-120"/>
              </a:rPr>
              <a:t>The Scalar Principle refers to superior-subordinate relationships in the organization structure: superiors communicate instructions down the organization, and receive feedback relating to operations at different levels. Feedback forms the basis for corrective action.</a:t>
            </a:r>
            <a:endParaRPr lang="en-US" sz="1300" dirty="0"/>
          </a:p>
          <a:p>
            <a:pPr indent="0" marL="0">
              <a:lnSpc>
                <a:spcPct val="110000"/>
              </a:lnSpc>
              <a:spcAft>
                <a:spcPts val="800"/>
              </a:spcAft>
              <a:buNone/>
            </a:pPr>
            <a:r>
              <a:rPr lang="en-US" sz="1300" dirty="0">
                <a:solidFill>
                  <a:srgbClr val="2B2B33"/>
                </a:solidFill>
                <a:latin typeface="Calibri" pitchFamily="34" charset="0"/>
                <a:ea typeface="Calibri" pitchFamily="34" charset="-122"/>
                <a:cs typeface="Calibri" pitchFamily="34" charset="-120"/>
              </a:rPr>
              <a:t>Development of the scalar principle is attributed to Henry Fayol. The scalar chain means a succession of domination and submission from top to bottom, based on unity of command — each subordinate receives orders from, and is accountable to, only one superior.</a:t>
            </a:r>
            <a:endParaRPr lang="en-US" sz="1300" dirty="0"/>
          </a:p>
          <a:p>
            <a:pPr indent="0" marL="0">
              <a:lnSpc>
                <a:spcPct val="110000"/>
              </a:lnSpc>
              <a:buNone/>
            </a:pPr>
            <a:r>
              <a:rPr lang="en-US" sz="1300" dirty="0">
                <a:solidFill>
                  <a:srgbClr val="2B2B33"/>
                </a:solidFill>
                <a:latin typeface="Calibri" pitchFamily="34" charset="0"/>
                <a:ea typeface="Calibri" pitchFamily="34" charset="-122"/>
                <a:cs typeface="Calibri" pitchFamily="34" charset="-120"/>
              </a:rPr>
              <a:t>The Functional Process means dividing the organization into parts and sub-parts, each specializing in a single function, then regrouping them on the basis of similarity and compatibility. This process creates line and staff organizations within a formal organization.</a:t>
            </a:r>
            <a:endParaRPr lang="en-US" sz="1300" dirty="0"/>
          </a:p>
        </p:txBody>
      </p:sp>
      <p:sp>
        <p:nvSpPr>
          <p:cNvPr id="5" name="Shape 3"/>
          <p:cNvSpPr/>
          <p:nvPr/>
        </p:nvSpPr>
        <p:spPr>
          <a:xfrm>
            <a:off x="9509760" y="2697480"/>
            <a:ext cx="0" cy="795528"/>
          </a:xfrm>
          <a:prstGeom prst="line">
            <a:avLst/>
          </a:prstGeom>
          <a:noFill/>
          <a:ln w="15875">
            <a:solidFill>
              <a:srgbClr val="1E2761"/>
            </a:solidFill>
            <a:prstDash val="solid"/>
          </a:ln>
        </p:spPr>
      </p:sp>
      <p:sp>
        <p:nvSpPr>
          <p:cNvPr id="6" name="Shape 4"/>
          <p:cNvSpPr/>
          <p:nvPr/>
        </p:nvSpPr>
        <p:spPr>
          <a:xfrm>
            <a:off x="8366760" y="3749040"/>
            <a:ext cx="2286000" cy="0"/>
          </a:xfrm>
          <a:prstGeom prst="line">
            <a:avLst/>
          </a:prstGeom>
          <a:noFill/>
          <a:ln w="15875">
            <a:solidFill>
              <a:srgbClr val="1E2761"/>
            </a:solidFill>
            <a:prstDash val="solid"/>
          </a:ln>
        </p:spPr>
      </p:sp>
      <p:sp>
        <p:nvSpPr>
          <p:cNvPr id="7" name="Shape 5"/>
          <p:cNvSpPr/>
          <p:nvPr/>
        </p:nvSpPr>
        <p:spPr>
          <a:xfrm>
            <a:off x="9509760" y="3995928"/>
            <a:ext cx="0" cy="804672"/>
          </a:xfrm>
          <a:prstGeom prst="line">
            <a:avLst/>
          </a:prstGeom>
          <a:noFill/>
          <a:ln w="15875">
            <a:solidFill>
              <a:srgbClr val="1E2761"/>
            </a:solidFill>
            <a:prstDash val="solid"/>
          </a:ln>
        </p:spPr>
      </p:sp>
      <p:sp>
        <p:nvSpPr>
          <p:cNvPr id="8" name="Shape 6"/>
          <p:cNvSpPr/>
          <p:nvPr/>
        </p:nvSpPr>
        <p:spPr>
          <a:xfrm>
            <a:off x="8686800" y="2194560"/>
            <a:ext cx="1645920" cy="502920"/>
          </a:xfrm>
          <a:prstGeom prst="roundRect">
            <a:avLst>
              <a:gd name="adj" fmla="val 10909"/>
            </a:avLst>
          </a:prstGeom>
          <a:solidFill>
            <a:srgbClr val="1E2761"/>
          </a:solidFill>
          <a:ln/>
        </p:spPr>
      </p:sp>
      <p:sp>
        <p:nvSpPr>
          <p:cNvPr id="9" name="Text 7"/>
          <p:cNvSpPr/>
          <p:nvPr/>
        </p:nvSpPr>
        <p:spPr>
          <a:xfrm>
            <a:off x="8686800" y="2194560"/>
            <a:ext cx="164592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Structure</a:t>
            </a:r>
            <a:endParaRPr lang="en-US" sz="1250" dirty="0"/>
          </a:p>
        </p:txBody>
      </p:sp>
      <p:sp>
        <p:nvSpPr>
          <p:cNvPr id="10" name="Shape 8"/>
          <p:cNvSpPr/>
          <p:nvPr/>
        </p:nvSpPr>
        <p:spPr>
          <a:xfrm>
            <a:off x="7543800" y="3493008"/>
            <a:ext cx="1645920" cy="502920"/>
          </a:xfrm>
          <a:prstGeom prst="roundRect">
            <a:avLst>
              <a:gd name="adj" fmla="val 10909"/>
            </a:avLst>
          </a:prstGeom>
          <a:solidFill>
            <a:srgbClr val="1E2761"/>
          </a:solidFill>
          <a:ln/>
        </p:spPr>
      </p:sp>
      <p:sp>
        <p:nvSpPr>
          <p:cNvPr id="11" name="Text 9"/>
          <p:cNvSpPr/>
          <p:nvPr/>
        </p:nvSpPr>
        <p:spPr>
          <a:xfrm>
            <a:off x="7543800" y="3493008"/>
            <a:ext cx="164592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Technology</a:t>
            </a:r>
            <a:endParaRPr lang="en-US" sz="1250" dirty="0"/>
          </a:p>
        </p:txBody>
      </p:sp>
      <p:sp>
        <p:nvSpPr>
          <p:cNvPr id="12" name="Shape 10"/>
          <p:cNvSpPr/>
          <p:nvPr/>
        </p:nvSpPr>
        <p:spPr>
          <a:xfrm>
            <a:off x="9829800" y="3493008"/>
            <a:ext cx="1645920" cy="502920"/>
          </a:xfrm>
          <a:prstGeom prst="roundRect">
            <a:avLst>
              <a:gd name="adj" fmla="val 10909"/>
            </a:avLst>
          </a:prstGeom>
          <a:solidFill>
            <a:srgbClr val="1E2761"/>
          </a:solidFill>
          <a:ln/>
        </p:spPr>
      </p:sp>
      <p:sp>
        <p:nvSpPr>
          <p:cNvPr id="13" name="Text 11"/>
          <p:cNvSpPr/>
          <p:nvPr/>
        </p:nvSpPr>
        <p:spPr>
          <a:xfrm>
            <a:off x="9829800" y="3493008"/>
            <a:ext cx="164592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Task</a:t>
            </a:r>
            <a:endParaRPr lang="en-US" sz="1250" dirty="0"/>
          </a:p>
        </p:txBody>
      </p:sp>
      <p:sp>
        <p:nvSpPr>
          <p:cNvPr id="14" name="Shape 12"/>
          <p:cNvSpPr/>
          <p:nvPr/>
        </p:nvSpPr>
        <p:spPr>
          <a:xfrm>
            <a:off x="8686800" y="4800600"/>
            <a:ext cx="1645920" cy="502920"/>
          </a:xfrm>
          <a:prstGeom prst="roundRect">
            <a:avLst>
              <a:gd name="adj" fmla="val 10909"/>
            </a:avLst>
          </a:prstGeom>
          <a:solidFill>
            <a:srgbClr val="1E2761"/>
          </a:solidFill>
          <a:ln/>
        </p:spPr>
      </p:sp>
      <p:sp>
        <p:nvSpPr>
          <p:cNvPr id="15" name="Text 13"/>
          <p:cNvSpPr/>
          <p:nvPr/>
        </p:nvSpPr>
        <p:spPr>
          <a:xfrm>
            <a:off x="8686800" y="4800600"/>
            <a:ext cx="1645920"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People</a:t>
            </a:r>
            <a:endParaRPr lang="en-US" sz="1250" dirty="0"/>
          </a:p>
        </p:txBody>
      </p:sp>
      <p:sp>
        <p:nvSpPr>
          <p:cNvPr id="16"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12.3 SCALAR &amp; FUNCTIONAL PROCESSES</a:t>
            </a:r>
            <a:endParaRPr lang="en-US" sz="1100" dirty="0"/>
          </a:p>
        </p:txBody>
      </p:sp>
      <p:sp>
        <p:nvSpPr>
          <p:cNvPr id="17"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12.3. FOUR PRINCIPLES OF CLASSICAL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 Span of Control or Supervision</a:t>
            </a:r>
            <a:endParaRPr lang="en-US" sz="2700" dirty="0"/>
          </a:p>
        </p:txBody>
      </p:sp>
      <p:sp>
        <p:nvSpPr>
          <p:cNvPr id="4" name="Text 2"/>
          <p:cNvSpPr/>
          <p:nvPr/>
        </p:nvSpPr>
        <p:spPr>
          <a:xfrm>
            <a:off x="548640" y="1645920"/>
            <a:ext cx="11064240" cy="2148840"/>
          </a:xfrm>
          <a:prstGeom prst="rect">
            <a:avLst/>
          </a:prstGeom>
          <a:noFill/>
          <a:ln/>
        </p:spPr>
        <p:txBody>
          <a:bodyPr wrap="square" rtlCol="0" anchor="t"/>
          <a:lstStyle/>
          <a:p>
            <a:pPr indent="0" marL="0">
              <a:lnSpc>
                <a:spcPct val="108000"/>
              </a:lnSpc>
              <a:spcAft>
                <a:spcPts val="800"/>
              </a:spcAft>
              <a:buNone/>
            </a:pPr>
            <a:r>
              <a:rPr lang="en-US" sz="1280" dirty="0">
                <a:solidFill>
                  <a:srgbClr val="2B2B33"/>
                </a:solidFill>
                <a:latin typeface="Calibri" pitchFamily="34" charset="0"/>
                <a:ea typeface="Calibri" pitchFamily="34" charset="-122"/>
                <a:cs typeface="Calibri" pitchFamily="34" charset="-120"/>
              </a:rPr>
              <a:t>Span means the number of subordinates a manager can effectively supervise. As Brech puts it, span refers to the number of persons performing managerial/supervisory duties for whom the senior manager holds over-embracing responsibility of direction, planning, coordination, motivation and control.</a:t>
            </a:r>
            <a:endParaRPr lang="en-US" sz="1280" dirty="0"/>
          </a:p>
          <a:p>
            <a:pPr indent="0" marL="0">
              <a:lnSpc>
                <a:spcPct val="108000"/>
              </a:lnSpc>
              <a:spcAft>
                <a:spcPts val="800"/>
              </a:spcAft>
              <a:buNone/>
            </a:pPr>
            <a:r>
              <a:rPr lang="en-US" sz="1280" dirty="0">
                <a:solidFill>
                  <a:srgbClr val="2B2B33"/>
                </a:solidFill>
                <a:latin typeface="Calibri" pitchFamily="34" charset="0"/>
                <a:ea typeface="Calibri" pitchFamily="34" charset="-122"/>
                <a:cs typeface="Calibri" pitchFamily="34" charset="-120"/>
              </a:rPr>
              <a:t>Some experts suggest 4–8 subordinates at higher levels and 8–20 at lower levels; Lyndall Urwick suggested a maximum of 4 at higher levels and 8–12 at lower levels.</a:t>
            </a:r>
            <a:endParaRPr lang="en-US" sz="1280" dirty="0"/>
          </a:p>
          <a:p>
            <a:pPr indent="0" marL="0">
              <a:lnSpc>
                <a:spcPct val="108000"/>
              </a:lnSpc>
              <a:buNone/>
            </a:pPr>
            <a:r>
              <a:rPr lang="en-US" sz="1280" dirty="0">
                <a:solidFill>
                  <a:srgbClr val="2B2B33"/>
                </a:solidFill>
                <a:latin typeface="Calibri" pitchFamily="34" charset="0"/>
                <a:ea typeface="Calibri" pitchFamily="34" charset="-122"/>
                <a:cs typeface="Calibri" pitchFamily="34" charset="-120"/>
              </a:rPr>
              <a:t>In 1933, V.A. Graicunas showed mathematically that control complexity grows fast with each added subordinate — 2 subordinates create 6 potential relationships; with 18 subordinates, the number reaches a staggering 23,59,602!</a:t>
            </a:r>
            <a:endParaRPr lang="en-US" sz="1280" dirty="0"/>
          </a:p>
        </p:txBody>
      </p:sp>
      <p:sp>
        <p:nvSpPr>
          <p:cNvPr id="5" name="Text 3"/>
          <p:cNvSpPr/>
          <p:nvPr/>
        </p:nvSpPr>
        <p:spPr>
          <a:xfrm>
            <a:off x="548640" y="3886200"/>
            <a:ext cx="11064240" cy="228600"/>
          </a:xfrm>
          <a:prstGeom prst="rect">
            <a:avLst/>
          </a:prstGeom>
          <a:noFill/>
          <a:ln/>
        </p:spPr>
        <p:txBody>
          <a:bodyPr wrap="square"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Wide Span of Management — One Manager, Several Operatives</a:t>
            </a:r>
            <a:endParaRPr lang="en-US" sz="1100" dirty="0"/>
          </a:p>
        </p:txBody>
      </p:sp>
      <p:sp>
        <p:nvSpPr>
          <p:cNvPr id="6" name="Shape 4"/>
          <p:cNvSpPr/>
          <p:nvPr/>
        </p:nvSpPr>
        <p:spPr>
          <a:xfrm>
            <a:off x="5541264" y="4160520"/>
            <a:ext cx="320040" cy="256032"/>
          </a:xfrm>
          <a:prstGeom prst="rect">
            <a:avLst/>
          </a:prstGeom>
          <a:solidFill>
            <a:srgbClr val="1E2761"/>
          </a:solidFill>
          <a:ln/>
        </p:spPr>
      </p:sp>
      <p:sp>
        <p:nvSpPr>
          <p:cNvPr id="7" name="Shape 5"/>
          <p:cNvSpPr/>
          <p:nvPr/>
        </p:nvSpPr>
        <p:spPr>
          <a:xfrm>
            <a:off x="914400" y="4416552"/>
            <a:ext cx="4782312" cy="109728"/>
          </a:xfrm>
          <a:prstGeom prst="line">
            <a:avLst/>
          </a:prstGeom>
          <a:noFill/>
          <a:ln w="6350">
            <a:solidFill>
              <a:srgbClr val="6B7280"/>
            </a:solidFill>
            <a:prstDash val="solid"/>
          </a:ln>
        </p:spPr>
      </p:sp>
      <p:sp>
        <p:nvSpPr>
          <p:cNvPr id="8" name="Shape 6"/>
          <p:cNvSpPr/>
          <p:nvPr/>
        </p:nvSpPr>
        <p:spPr>
          <a:xfrm>
            <a:off x="822960" y="4526280"/>
            <a:ext cx="182880" cy="146304"/>
          </a:xfrm>
          <a:prstGeom prst="rect">
            <a:avLst/>
          </a:prstGeom>
          <a:solidFill>
            <a:srgbClr val="EEF3FC"/>
          </a:solidFill>
          <a:ln w="9525">
            <a:solidFill>
              <a:srgbClr val="3A4A8C"/>
            </a:solidFill>
            <a:prstDash val="solid"/>
          </a:ln>
        </p:spPr>
      </p:sp>
      <p:sp>
        <p:nvSpPr>
          <p:cNvPr id="9" name="Shape 7"/>
          <p:cNvSpPr/>
          <p:nvPr/>
        </p:nvSpPr>
        <p:spPr>
          <a:xfrm>
            <a:off x="1572768" y="4416552"/>
            <a:ext cx="4123944" cy="109728"/>
          </a:xfrm>
          <a:prstGeom prst="line">
            <a:avLst/>
          </a:prstGeom>
          <a:noFill/>
          <a:ln w="6350">
            <a:solidFill>
              <a:srgbClr val="6B7280"/>
            </a:solidFill>
            <a:prstDash val="solid"/>
          </a:ln>
        </p:spPr>
      </p:sp>
      <p:sp>
        <p:nvSpPr>
          <p:cNvPr id="10" name="Shape 8"/>
          <p:cNvSpPr/>
          <p:nvPr/>
        </p:nvSpPr>
        <p:spPr>
          <a:xfrm>
            <a:off x="1481328" y="4526280"/>
            <a:ext cx="182880" cy="146304"/>
          </a:xfrm>
          <a:prstGeom prst="rect">
            <a:avLst/>
          </a:prstGeom>
          <a:solidFill>
            <a:srgbClr val="EEF3FC"/>
          </a:solidFill>
          <a:ln w="9525">
            <a:solidFill>
              <a:srgbClr val="3A4A8C"/>
            </a:solidFill>
            <a:prstDash val="solid"/>
          </a:ln>
        </p:spPr>
      </p:sp>
      <p:sp>
        <p:nvSpPr>
          <p:cNvPr id="11" name="Shape 9"/>
          <p:cNvSpPr/>
          <p:nvPr/>
        </p:nvSpPr>
        <p:spPr>
          <a:xfrm>
            <a:off x="2231136" y="4416552"/>
            <a:ext cx="3465576" cy="109728"/>
          </a:xfrm>
          <a:prstGeom prst="line">
            <a:avLst/>
          </a:prstGeom>
          <a:noFill/>
          <a:ln w="6350">
            <a:solidFill>
              <a:srgbClr val="6B7280"/>
            </a:solidFill>
            <a:prstDash val="solid"/>
          </a:ln>
        </p:spPr>
      </p:sp>
      <p:sp>
        <p:nvSpPr>
          <p:cNvPr id="12" name="Shape 10"/>
          <p:cNvSpPr/>
          <p:nvPr/>
        </p:nvSpPr>
        <p:spPr>
          <a:xfrm>
            <a:off x="2139696" y="4526280"/>
            <a:ext cx="182880" cy="146304"/>
          </a:xfrm>
          <a:prstGeom prst="rect">
            <a:avLst/>
          </a:prstGeom>
          <a:solidFill>
            <a:srgbClr val="EEF3FC"/>
          </a:solidFill>
          <a:ln w="9525">
            <a:solidFill>
              <a:srgbClr val="3A4A8C"/>
            </a:solidFill>
            <a:prstDash val="solid"/>
          </a:ln>
        </p:spPr>
      </p:sp>
      <p:sp>
        <p:nvSpPr>
          <p:cNvPr id="13" name="Shape 11"/>
          <p:cNvSpPr/>
          <p:nvPr/>
        </p:nvSpPr>
        <p:spPr>
          <a:xfrm>
            <a:off x="2889504" y="4416552"/>
            <a:ext cx="2807208" cy="109728"/>
          </a:xfrm>
          <a:prstGeom prst="line">
            <a:avLst/>
          </a:prstGeom>
          <a:noFill/>
          <a:ln w="6350">
            <a:solidFill>
              <a:srgbClr val="6B7280"/>
            </a:solidFill>
            <a:prstDash val="solid"/>
          </a:ln>
        </p:spPr>
      </p:sp>
      <p:sp>
        <p:nvSpPr>
          <p:cNvPr id="14" name="Shape 12"/>
          <p:cNvSpPr/>
          <p:nvPr/>
        </p:nvSpPr>
        <p:spPr>
          <a:xfrm>
            <a:off x="2798064" y="4526280"/>
            <a:ext cx="182880" cy="146304"/>
          </a:xfrm>
          <a:prstGeom prst="rect">
            <a:avLst/>
          </a:prstGeom>
          <a:solidFill>
            <a:srgbClr val="EEF3FC"/>
          </a:solidFill>
          <a:ln w="9525">
            <a:solidFill>
              <a:srgbClr val="3A4A8C"/>
            </a:solidFill>
            <a:prstDash val="solid"/>
          </a:ln>
        </p:spPr>
      </p:sp>
      <p:sp>
        <p:nvSpPr>
          <p:cNvPr id="15" name="Shape 13"/>
          <p:cNvSpPr/>
          <p:nvPr/>
        </p:nvSpPr>
        <p:spPr>
          <a:xfrm>
            <a:off x="3547872" y="4416552"/>
            <a:ext cx="2148840" cy="109728"/>
          </a:xfrm>
          <a:prstGeom prst="line">
            <a:avLst/>
          </a:prstGeom>
          <a:noFill/>
          <a:ln w="6350">
            <a:solidFill>
              <a:srgbClr val="6B7280"/>
            </a:solidFill>
            <a:prstDash val="solid"/>
          </a:ln>
        </p:spPr>
      </p:sp>
      <p:sp>
        <p:nvSpPr>
          <p:cNvPr id="16" name="Shape 14"/>
          <p:cNvSpPr/>
          <p:nvPr/>
        </p:nvSpPr>
        <p:spPr>
          <a:xfrm>
            <a:off x="3456432" y="4526280"/>
            <a:ext cx="182880" cy="146304"/>
          </a:xfrm>
          <a:prstGeom prst="rect">
            <a:avLst/>
          </a:prstGeom>
          <a:solidFill>
            <a:srgbClr val="EEF3FC"/>
          </a:solidFill>
          <a:ln w="9525">
            <a:solidFill>
              <a:srgbClr val="3A4A8C"/>
            </a:solidFill>
            <a:prstDash val="solid"/>
          </a:ln>
        </p:spPr>
      </p:sp>
      <p:sp>
        <p:nvSpPr>
          <p:cNvPr id="17" name="Shape 15"/>
          <p:cNvSpPr/>
          <p:nvPr/>
        </p:nvSpPr>
        <p:spPr>
          <a:xfrm>
            <a:off x="4206240" y="4416552"/>
            <a:ext cx="1490472" cy="109728"/>
          </a:xfrm>
          <a:prstGeom prst="line">
            <a:avLst/>
          </a:prstGeom>
          <a:noFill/>
          <a:ln w="6350">
            <a:solidFill>
              <a:srgbClr val="6B7280"/>
            </a:solidFill>
            <a:prstDash val="solid"/>
          </a:ln>
        </p:spPr>
      </p:sp>
      <p:sp>
        <p:nvSpPr>
          <p:cNvPr id="18" name="Shape 16"/>
          <p:cNvSpPr/>
          <p:nvPr/>
        </p:nvSpPr>
        <p:spPr>
          <a:xfrm>
            <a:off x="4114800" y="4526280"/>
            <a:ext cx="182880" cy="146304"/>
          </a:xfrm>
          <a:prstGeom prst="rect">
            <a:avLst/>
          </a:prstGeom>
          <a:solidFill>
            <a:srgbClr val="EEF3FC"/>
          </a:solidFill>
          <a:ln w="9525">
            <a:solidFill>
              <a:srgbClr val="3A4A8C"/>
            </a:solidFill>
            <a:prstDash val="solid"/>
          </a:ln>
        </p:spPr>
      </p:sp>
      <p:sp>
        <p:nvSpPr>
          <p:cNvPr id="19" name="Shape 17"/>
          <p:cNvSpPr/>
          <p:nvPr/>
        </p:nvSpPr>
        <p:spPr>
          <a:xfrm>
            <a:off x="4864608" y="4416552"/>
            <a:ext cx="832104" cy="109728"/>
          </a:xfrm>
          <a:prstGeom prst="line">
            <a:avLst/>
          </a:prstGeom>
          <a:noFill/>
          <a:ln w="6350">
            <a:solidFill>
              <a:srgbClr val="6B7280"/>
            </a:solidFill>
            <a:prstDash val="solid"/>
          </a:ln>
        </p:spPr>
      </p:sp>
      <p:sp>
        <p:nvSpPr>
          <p:cNvPr id="20" name="Shape 18"/>
          <p:cNvSpPr/>
          <p:nvPr/>
        </p:nvSpPr>
        <p:spPr>
          <a:xfrm>
            <a:off x="4773168" y="4526280"/>
            <a:ext cx="182880" cy="146304"/>
          </a:xfrm>
          <a:prstGeom prst="rect">
            <a:avLst/>
          </a:prstGeom>
          <a:solidFill>
            <a:srgbClr val="EEF3FC"/>
          </a:solidFill>
          <a:ln w="9525">
            <a:solidFill>
              <a:srgbClr val="3A4A8C"/>
            </a:solidFill>
            <a:prstDash val="solid"/>
          </a:ln>
        </p:spPr>
      </p:sp>
      <p:sp>
        <p:nvSpPr>
          <p:cNvPr id="21" name="Shape 19"/>
          <p:cNvSpPr/>
          <p:nvPr/>
        </p:nvSpPr>
        <p:spPr>
          <a:xfrm>
            <a:off x="5522976" y="4416552"/>
            <a:ext cx="173736" cy="109728"/>
          </a:xfrm>
          <a:prstGeom prst="line">
            <a:avLst/>
          </a:prstGeom>
          <a:noFill/>
          <a:ln w="6350">
            <a:solidFill>
              <a:srgbClr val="6B7280"/>
            </a:solidFill>
            <a:prstDash val="solid"/>
          </a:ln>
        </p:spPr>
      </p:sp>
      <p:sp>
        <p:nvSpPr>
          <p:cNvPr id="22" name="Shape 20"/>
          <p:cNvSpPr/>
          <p:nvPr/>
        </p:nvSpPr>
        <p:spPr>
          <a:xfrm>
            <a:off x="5431536" y="4526280"/>
            <a:ext cx="182880" cy="146304"/>
          </a:xfrm>
          <a:prstGeom prst="rect">
            <a:avLst/>
          </a:prstGeom>
          <a:solidFill>
            <a:srgbClr val="EEF3FC"/>
          </a:solidFill>
          <a:ln w="9525">
            <a:solidFill>
              <a:srgbClr val="3A4A8C"/>
            </a:solidFill>
            <a:prstDash val="solid"/>
          </a:ln>
        </p:spPr>
      </p:sp>
      <p:sp>
        <p:nvSpPr>
          <p:cNvPr id="23" name="Shape 21"/>
          <p:cNvSpPr/>
          <p:nvPr/>
        </p:nvSpPr>
        <p:spPr>
          <a:xfrm>
            <a:off x="5696712" y="4416552"/>
            <a:ext cx="484632" cy="109728"/>
          </a:xfrm>
          <a:prstGeom prst="line">
            <a:avLst/>
          </a:prstGeom>
          <a:noFill/>
          <a:ln w="6350">
            <a:solidFill>
              <a:srgbClr val="6B7280"/>
            </a:solidFill>
            <a:prstDash val="solid"/>
          </a:ln>
        </p:spPr>
      </p:sp>
      <p:sp>
        <p:nvSpPr>
          <p:cNvPr id="24" name="Shape 22"/>
          <p:cNvSpPr/>
          <p:nvPr/>
        </p:nvSpPr>
        <p:spPr>
          <a:xfrm>
            <a:off x="6089904" y="4526280"/>
            <a:ext cx="182880" cy="146304"/>
          </a:xfrm>
          <a:prstGeom prst="rect">
            <a:avLst/>
          </a:prstGeom>
          <a:solidFill>
            <a:srgbClr val="EEF3FC"/>
          </a:solidFill>
          <a:ln w="9525">
            <a:solidFill>
              <a:srgbClr val="3A4A8C"/>
            </a:solidFill>
            <a:prstDash val="solid"/>
          </a:ln>
        </p:spPr>
      </p:sp>
      <p:sp>
        <p:nvSpPr>
          <p:cNvPr id="25" name="Shape 23"/>
          <p:cNvSpPr/>
          <p:nvPr/>
        </p:nvSpPr>
        <p:spPr>
          <a:xfrm>
            <a:off x="5696712" y="4416552"/>
            <a:ext cx="1143000" cy="109728"/>
          </a:xfrm>
          <a:prstGeom prst="line">
            <a:avLst/>
          </a:prstGeom>
          <a:noFill/>
          <a:ln w="6350">
            <a:solidFill>
              <a:srgbClr val="6B7280"/>
            </a:solidFill>
            <a:prstDash val="solid"/>
          </a:ln>
        </p:spPr>
      </p:sp>
      <p:sp>
        <p:nvSpPr>
          <p:cNvPr id="26" name="Shape 24"/>
          <p:cNvSpPr/>
          <p:nvPr/>
        </p:nvSpPr>
        <p:spPr>
          <a:xfrm>
            <a:off x="6748272" y="4526280"/>
            <a:ext cx="182880" cy="146304"/>
          </a:xfrm>
          <a:prstGeom prst="rect">
            <a:avLst/>
          </a:prstGeom>
          <a:solidFill>
            <a:srgbClr val="EEF3FC"/>
          </a:solidFill>
          <a:ln w="9525">
            <a:solidFill>
              <a:srgbClr val="3A4A8C"/>
            </a:solidFill>
            <a:prstDash val="solid"/>
          </a:ln>
        </p:spPr>
      </p:sp>
      <p:sp>
        <p:nvSpPr>
          <p:cNvPr id="27" name="Shape 25"/>
          <p:cNvSpPr/>
          <p:nvPr/>
        </p:nvSpPr>
        <p:spPr>
          <a:xfrm>
            <a:off x="5696712" y="4416552"/>
            <a:ext cx="1801368" cy="109728"/>
          </a:xfrm>
          <a:prstGeom prst="line">
            <a:avLst/>
          </a:prstGeom>
          <a:noFill/>
          <a:ln w="6350">
            <a:solidFill>
              <a:srgbClr val="6B7280"/>
            </a:solidFill>
            <a:prstDash val="solid"/>
          </a:ln>
        </p:spPr>
      </p:sp>
      <p:sp>
        <p:nvSpPr>
          <p:cNvPr id="28" name="Shape 26"/>
          <p:cNvSpPr/>
          <p:nvPr/>
        </p:nvSpPr>
        <p:spPr>
          <a:xfrm>
            <a:off x="7406640" y="4526280"/>
            <a:ext cx="182880" cy="146304"/>
          </a:xfrm>
          <a:prstGeom prst="rect">
            <a:avLst/>
          </a:prstGeom>
          <a:solidFill>
            <a:srgbClr val="EEF3FC"/>
          </a:solidFill>
          <a:ln w="9525">
            <a:solidFill>
              <a:srgbClr val="3A4A8C"/>
            </a:solidFill>
            <a:prstDash val="solid"/>
          </a:ln>
        </p:spPr>
      </p:sp>
      <p:sp>
        <p:nvSpPr>
          <p:cNvPr id="29" name="Shape 27"/>
          <p:cNvSpPr/>
          <p:nvPr/>
        </p:nvSpPr>
        <p:spPr>
          <a:xfrm>
            <a:off x="5696712" y="4416552"/>
            <a:ext cx="2459736" cy="109728"/>
          </a:xfrm>
          <a:prstGeom prst="line">
            <a:avLst/>
          </a:prstGeom>
          <a:noFill/>
          <a:ln w="6350">
            <a:solidFill>
              <a:srgbClr val="6B7280"/>
            </a:solidFill>
            <a:prstDash val="solid"/>
          </a:ln>
        </p:spPr>
      </p:sp>
      <p:sp>
        <p:nvSpPr>
          <p:cNvPr id="30" name="Shape 28"/>
          <p:cNvSpPr/>
          <p:nvPr/>
        </p:nvSpPr>
        <p:spPr>
          <a:xfrm>
            <a:off x="8065008" y="4526280"/>
            <a:ext cx="182880" cy="146304"/>
          </a:xfrm>
          <a:prstGeom prst="rect">
            <a:avLst/>
          </a:prstGeom>
          <a:solidFill>
            <a:srgbClr val="EEF3FC"/>
          </a:solidFill>
          <a:ln w="9525">
            <a:solidFill>
              <a:srgbClr val="3A4A8C"/>
            </a:solidFill>
            <a:prstDash val="solid"/>
          </a:ln>
        </p:spPr>
      </p:sp>
      <p:sp>
        <p:nvSpPr>
          <p:cNvPr id="31" name="Shape 29"/>
          <p:cNvSpPr/>
          <p:nvPr/>
        </p:nvSpPr>
        <p:spPr>
          <a:xfrm>
            <a:off x="5696712" y="4416552"/>
            <a:ext cx="3118104" cy="109728"/>
          </a:xfrm>
          <a:prstGeom prst="line">
            <a:avLst/>
          </a:prstGeom>
          <a:noFill/>
          <a:ln w="6350">
            <a:solidFill>
              <a:srgbClr val="6B7280"/>
            </a:solidFill>
            <a:prstDash val="solid"/>
          </a:ln>
        </p:spPr>
      </p:sp>
      <p:sp>
        <p:nvSpPr>
          <p:cNvPr id="32" name="Shape 30"/>
          <p:cNvSpPr/>
          <p:nvPr/>
        </p:nvSpPr>
        <p:spPr>
          <a:xfrm>
            <a:off x="8723376" y="4526280"/>
            <a:ext cx="182880" cy="146304"/>
          </a:xfrm>
          <a:prstGeom prst="rect">
            <a:avLst/>
          </a:prstGeom>
          <a:solidFill>
            <a:srgbClr val="EEF3FC"/>
          </a:solidFill>
          <a:ln w="9525">
            <a:solidFill>
              <a:srgbClr val="3A4A8C"/>
            </a:solidFill>
            <a:prstDash val="solid"/>
          </a:ln>
        </p:spPr>
      </p:sp>
      <p:sp>
        <p:nvSpPr>
          <p:cNvPr id="33" name="Shape 31"/>
          <p:cNvSpPr/>
          <p:nvPr/>
        </p:nvSpPr>
        <p:spPr>
          <a:xfrm>
            <a:off x="5696712" y="4416552"/>
            <a:ext cx="3776472" cy="109728"/>
          </a:xfrm>
          <a:prstGeom prst="line">
            <a:avLst/>
          </a:prstGeom>
          <a:noFill/>
          <a:ln w="6350">
            <a:solidFill>
              <a:srgbClr val="6B7280"/>
            </a:solidFill>
            <a:prstDash val="solid"/>
          </a:ln>
        </p:spPr>
      </p:sp>
      <p:sp>
        <p:nvSpPr>
          <p:cNvPr id="34" name="Shape 32"/>
          <p:cNvSpPr/>
          <p:nvPr/>
        </p:nvSpPr>
        <p:spPr>
          <a:xfrm>
            <a:off x="9381744" y="4526280"/>
            <a:ext cx="182880" cy="146304"/>
          </a:xfrm>
          <a:prstGeom prst="rect">
            <a:avLst/>
          </a:prstGeom>
          <a:solidFill>
            <a:srgbClr val="EEF3FC"/>
          </a:solidFill>
          <a:ln w="9525">
            <a:solidFill>
              <a:srgbClr val="3A4A8C"/>
            </a:solidFill>
            <a:prstDash val="solid"/>
          </a:ln>
        </p:spPr>
      </p:sp>
      <p:sp>
        <p:nvSpPr>
          <p:cNvPr id="35" name="Shape 33"/>
          <p:cNvSpPr/>
          <p:nvPr/>
        </p:nvSpPr>
        <p:spPr>
          <a:xfrm>
            <a:off x="5696712" y="4416552"/>
            <a:ext cx="4434840" cy="109728"/>
          </a:xfrm>
          <a:prstGeom prst="line">
            <a:avLst/>
          </a:prstGeom>
          <a:noFill/>
          <a:ln w="6350">
            <a:solidFill>
              <a:srgbClr val="6B7280"/>
            </a:solidFill>
            <a:prstDash val="solid"/>
          </a:ln>
        </p:spPr>
      </p:sp>
      <p:sp>
        <p:nvSpPr>
          <p:cNvPr id="36" name="Shape 34"/>
          <p:cNvSpPr/>
          <p:nvPr/>
        </p:nvSpPr>
        <p:spPr>
          <a:xfrm>
            <a:off x="10040112" y="4526280"/>
            <a:ext cx="182880" cy="146304"/>
          </a:xfrm>
          <a:prstGeom prst="rect">
            <a:avLst/>
          </a:prstGeom>
          <a:solidFill>
            <a:srgbClr val="EEF3FC"/>
          </a:solidFill>
          <a:ln w="9525">
            <a:solidFill>
              <a:srgbClr val="3A4A8C"/>
            </a:solidFill>
            <a:prstDash val="solid"/>
          </a:ln>
        </p:spPr>
      </p:sp>
      <p:sp>
        <p:nvSpPr>
          <p:cNvPr id="37" name="Shape 35"/>
          <p:cNvSpPr/>
          <p:nvPr/>
        </p:nvSpPr>
        <p:spPr>
          <a:xfrm>
            <a:off x="5696712" y="4416552"/>
            <a:ext cx="5093208" cy="109728"/>
          </a:xfrm>
          <a:prstGeom prst="line">
            <a:avLst/>
          </a:prstGeom>
          <a:noFill/>
          <a:ln w="6350">
            <a:solidFill>
              <a:srgbClr val="6B7280"/>
            </a:solidFill>
            <a:prstDash val="solid"/>
          </a:ln>
        </p:spPr>
      </p:sp>
      <p:sp>
        <p:nvSpPr>
          <p:cNvPr id="38" name="Shape 36"/>
          <p:cNvSpPr/>
          <p:nvPr/>
        </p:nvSpPr>
        <p:spPr>
          <a:xfrm>
            <a:off x="10698480" y="4526280"/>
            <a:ext cx="182880" cy="146304"/>
          </a:xfrm>
          <a:prstGeom prst="rect">
            <a:avLst/>
          </a:prstGeom>
          <a:solidFill>
            <a:srgbClr val="EEF3FC"/>
          </a:solidFill>
          <a:ln w="9525">
            <a:solidFill>
              <a:srgbClr val="3A4A8C"/>
            </a:solidFill>
            <a:prstDash val="solid"/>
          </a:ln>
        </p:spPr>
      </p:sp>
      <p:sp>
        <p:nvSpPr>
          <p:cNvPr id="39" name="Text 37"/>
          <p:cNvSpPr/>
          <p:nvPr/>
        </p:nvSpPr>
        <p:spPr>
          <a:xfrm>
            <a:off x="548640" y="4800600"/>
            <a:ext cx="11064240" cy="228600"/>
          </a:xfrm>
          <a:prstGeom prst="rect">
            <a:avLst/>
          </a:prstGeom>
          <a:noFill/>
          <a:ln/>
        </p:spPr>
        <p:txBody>
          <a:bodyPr wrap="square"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Narrow Span of Management — Several Layers, Few Reports Each</a:t>
            </a:r>
            <a:endParaRPr lang="en-US" sz="1100" dirty="0"/>
          </a:p>
        </p:txBody>
      </p:sp>
      <p:sp>
        <p:nvSpPr>
          <p:cNvPr id="40" name="Shape 38"/>
          <p:cNvSpPr/>
          <p:nvPr/>
        </p:nvSpPr>
        <p:spPr>
          <a:xfrm>
            <a:off x="5541264" y="5074920"/>
            <a:ext cx="320040" cy="237744"/>
          </a:xfrm>
          <a:prstGeom prst="rect">
            <a:avLst/>
          </a:prstGeom>
          <a:solidFill>
            <a:srgbClr val="1E2761"/>
          </a:solidFill>
          <a:ln/>
        </p:spPr>
      </p:sp>
      <p:sp>
        <p:nvSpPr>
          <p:cNvPr id="41" name="Shape 39"/>
          <p:cNvSpPr/>
          <p:nvPr/>
        </p:nvSpPr>
        <p:spPr>
          <a:xfrm>
            <a:off x="2286000" y="5312664"/>
            <a:ext cx="3410712" cy="109728"/>
          </a:xfrm>
          <a:prstGeom prst="line">
            <a:avLst/>
          </a:prstGeom>
          <a:noFill/>
          <a:ln w="9525">
            <a:solidFill>
              <a:srgbClr val="6B7280"/>
            </a:solidFill>
            <a:prstDash val="solid"/>
          </a:ln>
        </p:spPr>
      </p:sp>
      <p:sp>
        <p:nvSpPr>
          <p:cNvPr id="42" name="Shape 40"/>
          <p:cNvSpPr/>
          <p:nvPr/>
        </p:nvSpPr>
        <p:spPr>
          <a:xfrm>
            <a:off x="2148840" y="5422392"/>
            <a:ext cx="274320" cy="201168"/>
          </a:xfrm>
          <a:prstGeom prst="rect">
            <a:avLst/>
          </a:prstGeom>
          <a:solidFill>
            <a:srgbClr val="3A4A8C"/>
          </a:solidFill>
          <a:ln/>
        </p:spPr>
      </p:sp>
      <p:sp>
        <p:nvSpPr>
          <p:cNvPr id="43" name="Shape 41"/>
          <p:cNvSpPr/>
          <p:nvPr/>
        </p:nvSpPr>
        <p:spPr>
          <a:xfrm>
            <a:off x="5696712" y="5312664"/>
            <a:ext cx="0" cy="109728"/>
          </a:xfrm>
          <a:prstGeom prst="line">
            <a:avLst/>
          </a:prstGeom>
          <a:noFill/>
          <a:ln w="9525">
            <a:solidFill>
              <a:srgbClr val="6B7280"/>
            </a:solidFill>
            <a:prstDash val="solid"/>
          </a:ln>
        </p:spPr>
      </p:sp>
      <p:sp>
        <p:nvSpPr>
          <p:cNvPr id="44" name="Shape 42"/>
          <p:cNvSpPr/>
          <p:nvPr/>
        </p:nvSpPr>
        <p:spPr>
          <a:xfrm>
            <a:off x="5559552" y="5422392"/>
            <a:ext cx="274320" cy="201168"/>
          </a:xfrm>
          <a:prstGeom prst="rect">
            <a:avLst/>
          </a:prstGeom>
          <a:solidFill>
            <a:srgbClr val="3A4A8C"/>
          </a:solidFill>
          <a:ln/>
        </p:spPr>
      </p:sp>
      <p:sp>
        <p:nvSpPr>
          <p:cNvPr id="45" name="Shape 43"/>
          <p:cNvSpPr/>
          <p:nvPr/>
        </p:nvSpPr>
        <p:spPr>
          <a:xfrm>
            <a:off x="5696712" y="5312664"/>
            <a:ext cx="3264408" cy="109728"/>
          </a:xfrm>
          <a:prstGeom prst="line">
            <a:avLst/>
          </a:prstGeom>
          <a:noFill/>
          <a:ln w="9525">
            <a:solidFill>
              <a:srgbClr val="6B7280"/>
            </a:solidFill>
            <a:prstDash val="solid"/>
          </a:ln>
        </p:spPr>
      </p:sp>
      <p:sp>
        <p:nvSpPr>
          <p:cNvPr id="46" name="Shape 44"/>
          <p:cNvSpPr/>
          <p:nvPr/>
        </p:nvSpPr>
        <p:spPr>
          <a:xfrm>
            <a:off x="8823960" y="5422392"/>
            <a:ext cx="274320" cy="201168"/>
          </a:xfrm>
          <a:prstGeom prst="rect">
            <a:avLst/>
          </a:prstGeom>
          <a:solidFill>
            <a:srgbClr val="3A4A8C"/>
          </a:solidFill>
          <a:ln/>
        </p:spPr>
      </p:sp>
      <p:sp>
        <p:nvSpPr>
          <p:cNvPr id="47" name="Shape 45"/>
          <p:cNvSpPr/>
          <p:nvPr/>
        </p:nvSpPr>
        <p:spPr>
          <a:xfrm>
            <a:off x="2286000" y="5623560"/>
            <a:ext cx="-384048" cy="91440"/>
          </a:xfrm>
          <a:prstGeom prst="line">
            <a:avLst/>
          </a:prstGeom>
          <a:noFill/>
          <a:ln w="6350">
            <a:solidFill>
              <a:srgbClr val="6B7280"/>
            </a:solidFill>
            <a:prstDash val="solid"/>
          </a:ln>
        </p:spPr>
      </p:sp>
      <p:sp>
        <p:nvSpPr>
          <p:cNvPr id="48" name="Shape 46"/>
          <p:cNvSpPr/>
          <p:nvPr/>
        </p:nvSpPr>
        <p:spPr>
          <a:xfrm>
            <a:off x="1810512" y="5715000"/>
            <a:ext cx="182880" cy="146304"/>
          </a:xfrm>
          <a:prstGeom prst="rect">
            <a:avLst/>
          </a:prstGeom>
          <a:solidFill>
            <a:srgbClr val="EEF3FC"/>
          </a:solidFill>
          <a:ln w="6350">
            <a:solidFill>
              <a:srgbClr val="3A4A8C"/>
            </a:solidFill>
            <a:prstDash val="solid"/>
          </a:ln>
        </p:spPr>
      </p:sp>
      <p:sp>
        <p:nvSpPr>
          <p:cNvPr id="49" name="Shape 47"/>
          <p:cNvSpPr/>
          <p:nvPr/>
        </p:nvSpPr>
        <p:spPr>
          <a:xfrm>
            <a:off x="2286000" y="5623560"/>
            <a:ext cx="0" cy="91440"/>
          </a:xfrm>
          <a:prstGeom prst="line">
            <a:avLst/>
          </a:prstGeom>
          <a:noFill/>
          <a:ln w="6350">
            <a:solidFill>
              <a:srgbClr val="6B7280"/>
            </a:solidFill>
            <a:prstDash val="solid"/>
          </a:ln>
        </p:spPr>
      </p:sp>
      <p:sp>
        <p:nvSpPr>
          <p:cNvPr id="50" name="Shape 48"/>
          <p:cNvSpPr/>
          <p:nvPr/>
        </p:nvSpPr>
        <p:spPr>
          <a:xfrm>
            <a:off x="2194560" y="5715000"/>
            <a:ext cx="182880" cy="146304"/>
          </a:xfrm>
          <a:prstGeom prst="rect">
            <a:avLst/>
          </a:prstGeom>
          <a:solidFill>
            <a:srgbClr val="EEF3FC"/>
          </a:solidFill>
          <a:ln w="6350">
            <a:solidFill>
              <a:srgbClr val="3A4A8C"/>
            </a:solidFill>
            <a:prstDash val="solid"/>
          </a:ln>
        </p:spPr>
      </p:sp>
      <p:sp>
        <p:nvSpPr>
          <p:cNvPr id="51" name="Shape 49"/>
          <p:cNvSpPr/>
          <p:nvPr/>
        </p:nvSpPr>
        <p:spPr>
          <a:xfrm>
            <a:off x="2286000" y="5623560"/>
            <a:ext cx="384048" cy="91440"/>
          </a:xfrm>
          <a:prstGeom prst="line">
            <a:avLst/>
          </a:prstGeom>
          <a:noFill/>
          <a:ln w="6350">
            <a:solidFill>
              <a:srgbClr val="6B7280"/>
            </a:solidFill>
            <a:prstDash val="solid"/>
          </a:ln>
        </p:spPr>
      </p:sp>
      <p:sp>
        <p:nvSpPr>
          <p:cNvPr id="52" name="Shape 50"/>
          <p:cNvSpPr/>
          <p:nvPr/>
        </p:nvSpPr>
        <p:spPr>
          <a:xfrm>
            <a:off x="2578608" y="5715000"/>
            <a:ext cx="182880" cy="146304"/>
          </a:xfrm>
          <a:prstGeom prst="rect">
            <a:avLst/>
          </a:prstGeom>
          <a:solidFill>
            <a:srgbClr val="EEF3FC"/>
          </a:solidFill>
          <a:ln w="6350">
            <a:solidFill>
              <a:srgbClr val="3A4A8C"/>
            </a:solidFill>
            <a:prstDash val="solid"/>
          </a:ln>
        </p:spPr>
      </p:sp>
      <p:sp>
        <p:nvSpPr>
          <p:cNvPr id="53" name="Shape 51"/>
          <p:cNvSpPr/>
          <p:nvPr/>
        </p:nvSpPr>
        <p:spPr>
          <a:xfrm>
            <a:off x="5696712" y="5623560"/>
            <a:ext cx="-384048" cy="91440"/>
          </a:xfrm>
          <a:prstGeom prst="line">
            <a:avLst/>
          </a:prstGeom>
          <a:noFill/>
          <a:ln w="6350">
            <a:solidFill>
              <a:srgbClr val="6B7280"/>
            </a:solidFill>
            <a:prstDash val="solid"/>
          </a:ln>
        </p:spPr>
      </p:sp>
      <p:sp>
        <p:nvSpPr>
          <p:cNvPr id="54" name="Shape 52"/>
          <p:cNvSpPr/>
          <p:nvPr/>
        </p:nvSpPr>
        <p:spPr>
          <a:xfrm>
            <a:off x="5221224" y="5715000"/>
            <a:ext cx="182880" cy="146304"/>
          </a:xfrm>
          <a:prstGeom prst="rect">
            <a:avLst/>
          </a:prstGeom>
          <a:solidFill>
            <a:srgbClr val="EEF3FC"/>
          </a:solidFill>
          <a:ln w="6350">
            <a:solidFill>
              <a:srgbClr val="3A4A8C"/>
            </a:solidFill>
            <a:prstDash val="solid"/>
          </a:ln>
        </p:spPr>
      </p:sp>
      <p:sp>
        <p:nvSpPr>
          <p:cNvPr id="55" name="Shape 53"/>
          <p:cNvSpPr/>
          <p:nvPr/>
        </p:nvSpPr>
        <p:spPr>
          <a:xfrm>
            <a:off x="5696712" y="5623560"/>
            <a:ext cx="0" cy="91440"/>
          </a:xfrm>
          <a:prstGeom prst="line">
            <a:avLst/>
          </a:prstGeom>
          <a:noFill/>
          <a:ln w="6350">
            <a:solidFill>
              <a:srgbClr val="6B7280"/>
            </a:solidFill>
            <a:prstDash val="solid"/>
          </a:ln>
        </p:spPr>
      </p:sp>
      <p:sp>
        <p:nvSpPr>
          <p:cNvPr id="56" name="Shape 54"/>
          <p:cNvSpPr/>
          <p:nvPr/>
        </p:nvSpPr>
        <p:spPr>
          <a:xfrm>
            <a:off x="5605272" y="5715000"/>
            <a:ext cx="182880" cy="146304"/>
          </a:xfrm>
          <a:prstGeom prst="rect">
            <a:avLst/>
          </a:prstGeom>
          <a:solidFill>
            <a:srgbClr val="EEF3FC"/>
          </a:solidFill>
          <a:ln w="6350">
            <a:solidFill>
              <a:srgbClr val="3A4A8C"/>
            </a:solidFill>
            <a:prstDash val="solid"/>
          </a:ln>
        </p:spPr>
      </p:sp>
      <p:sp>
        <p:nvSpPr>
          <p:cNvPr id="57" name="Shape 55"/>
          <p:cNvSpPr/>
          <p:nvPr/>
        </p:nvSpPr>
        <p:spPr>
          <a:xfrm>
            <a:off x="5696712" y="5623560"/>
            <a:ext cx="384048" cy="91440"/>
          </a:xfrm>
          <a:prstGeom prst="line">
            <a:avLst/>
          </a:prstGeom>
          <a:noFill/>
          <a:ln w="6350">
            <a:solidFill>
              <a:srgbClr val="6B7280"/>
            </a:solidFill>
            <a:prstDash val="solid"/>
          </a:ln>
        </p:spPr>
      </p:sp>
      <p:sp>
        <p:nvSpPr>
          <p:cNvPr id="58" name="Shape 56"/>
          <p:cNvSpPr/>
          <p:nvPr/>
        </p:nvSpPr>
        <p:spPr>
          <a:xfrm>
            <a:off x="5989320" y="5715000"/>
            <a:ext cx="182880" cy="146304"/>
          </a:xfrm>
          <a:prstGeom prst="rect">
            <a:avLst/>
          </a:prstGeom>
          <a:solidFill>
            <a:srgbClr val="EEF3FC"/>
          </a:solidFill>
          <a:ln w="6350">
            <a:solidFill>
              <a:srgbClr val="3A4A8C"/>
            </a:solidFill>
            <a:prstDash val="solid"/>
          </a:ln>
        </p:spPr>
      </p:sp>
      <p:sp>
        <p:nvSpPr>
          <p:cNvPr id="59" name="Shape 57"/>
          <p:cNvSpPr/>
          <p:nvPr/>
        </p:nvSpPr>
        <p:spPr>
          <a:xfrm>
            <a:off x="8961120" y="5623560"/>
            <a:ext cx="-384048" cy="91440"/>
          </a:xfrm>
          <a:prstGeom prst="line">
            <a:avLst/>
          </a:prstGeom>
          <a:noFill/>
          <a:ln w="6350">
            <a:solidFill>
              <a:srgbClr val="6B7280"/>
            </a:solidFill>
            <a:prstDash val="solid"/>
          </a:ln>
        </p:spPr>
      </p:sp>
      <p:sp>
        <p:nvSpPr>
          <p:cNvPr id="60" name="Shape 58"/>
          <p:cNvSpPr/>
          <p:nvPr/>
        </p:nvSpPr>
        <p:spPr>
          <a:xfrm>
            <a:off x="8485632" y="5715000"/>
            <a:ext cx="182880" cy="146304"/>
          </a:xfrm>
          <a:prstGeom prst="rect">
            <a:avLst/>
          </a:prstGeom>
          <a:solidFill>
            <a:srgbClr val="EEF3FC"/>
          </a:solidFill>
          <a:ln w="6350">
            <a:solidFill>
              <a:srgbClr val="3A4A8C"/>
            </a:solidFill>
            <a:prstDash val="solid"/>
          </a:ln>
        </p:spPr>
      </p:sp>
      <p:sp>
        <p:nvSpPr>
          <p:cNvPr id="61" name="Shape 59"/>
          <p:cNvSpPr/>
          <p:nvPr/>
        </p:nvSpPr>
        <p:spPr>
          <a:xfrm>
            <a:off x="8961120" y="5623560"/>
            <a:ext cx="0" cy="91440"/>
          </a:xfrm>
          <a:prstGeom prst="line">
            <a:avLst/>
          </a:prstGeom>
          <a:noFill/>
          <a:ln w="6350">
            <a:solidFill>
              <a:srgbClr val="6B7280"/>
            </a:solidFill>
            <a:prstDash val="solid"/>
          </a:ln>
        </p:spPr>
      </p:sp>
      <p:sp>
        <p:nvSpPr>
          <p:cNvPr id="62" name="Shape 60"/>
          <p:cNvSpPr/>
          <p:nvPr/>
        </p:nvSpPr>
        <p:spPr>
          <a:xfrm>
            <a:off x="8869680" y="5715000"/>
            <a:ext cx="182880" cy="146304"/>
          </a:xfrm>
          <a:prstGeom prst="rect">
            <a:avLst/>
          </a:prstGeom>
          <a:solidFill>
            <a:srgbClr val="EEF3FC"/>
          </a:solidFill>
          <a:ln w="6350">
            <a:solidFill>
              <a:srgbClr val="3A4A8C"/>
            </a:solidFill>
            <a:prstDash val="solid"/>
          </a:ln>
        </p:spPr>
      </p:sp>
      <p:sp>
        <p:nvSpPr>
          <p:cNvPr id="63" name="Shape 61"/>
          <p:cNvSpPr/>
          <p:nvPr/>
        </p:nvSpPr>
        <p:spPr>
          <a:xfrm>
            <a:off x="8961120" y="5623560"/>
            <a:ext cx="384048" cy="91440"/>
          </a:xfrm>
          <a:prstGeom prst="line">
            <a:avLst/>
          </a:prstGeom>
          <a:noFill/>
          <a:ln w="6350">
            <a:solidFill>
              <a:srgbClr val="6B7280"/>
            </a:solidFill>
            <a:prstDash val="solid"/>
          </a:ln>
        </p:spPr>
      </p:sp>
      <p:sp>
        <p:nvSpPr>
          <p:cNvPr id="64" name="Shape 62"/>
          <p:cNvSpPr/>
          <p:nvPr/>
        </p:nvSpPr>
        <p:spPr>
          <a:xfrm>
            <a:off x="9253728" y="5715000"/>
            <a:ext cx="182880" cy="146304"/>
          </a:xfrm>
          <a:prstGeom prst="rect">
            <a:avLst/>
          </a:prstGeom>
          <a:solidFill>
            <a:srgbClr val="EEF3FC"/>
          </a:solidFill>
          <a:ln w="6350">
            <a:solidFill>
              <a:srgbClr val="3A4A8C"/>
            </a:solidFill>
            <a:prstDash val="solid"/>
          </a:ln>
        </p:spPr>
      </p:sp>
      <p:sp>
        <p:nvSpPr>
          <p:cNvPr id="65" name="Text 6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12.3 SPAN OF CONTROL</a:t>
            </a:r>
            <a:endParaRPr lang="en-US" sz="1100" dirty="0"/>
          </a:p>
        </p:txBody>
      </p:sp>
      <p:sp>
        <p:nvSpPr>
          <p:cNvPr id="66" name="Text 6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12.4. INFORMAL ORGANIZATION OR GROUPS</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What is an informal organization?</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Factors bringing it into existence</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Resists change in 'status quo'</a:t>
            </a:r>
            <a:endParaRPr lang="en-US" sz="1200" dirty="0"/>
          </a:p>
        </p:txBody>
      </p:sp>
      <p:sp>
        <p:nvSpPr>
          <p:cNvPr id="18" name="Shape 13"/>
          <p:cNvSpPr/>
          <p:nvPr/>
        </p:nvSpPr>
        <p:spPr>
          <a:xfrm>
            <a:off x="548640" y="3675888"/>
            <a:ext cx="3590544" cy="1965960"/>
          </a:xfrm>
          <a:prstGeom prst="roundRect">
            <a:avLst>
              <a:gd name="adj" fmla="val 4186"/>
            </a:avLst>
          </a:prstGeom>
          <a:solidFill>
            <a:srgbClr val="1E2761"/>
          </a:solidFill>
          <a:ln/>
        </p:spPr>
      </p:sp>
      <p:sp>
        <p:nvSpPr>
          <p:cNvPr id="19" name="Shape 14"/>
          <p:cNvSpPr/>
          <p:nvPr/>
        </p:nvSpPr>
        <p:spPr>
          <a:xfrm>
            <a:off x="713232" y="3840480"/>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832104" y="3959352"/>
            <a:ext cx="219456" cy="219456"/>
          </a:xfrm>
          <a:prstGeom prst="rect">
            <a:avLst/>
          </a:prstGeom>
        </p:spPr>
      </p:pic>
      <p:sp>
        <p:nvSpPr>
          <p:cNvPr id="21" name="Text 15"/>
          <p:cNvSpPr/>
          <p:nvPr/>
        </p:nvSpPr>
        <p:spPr>
          <a:xfrm>
            <a:off x="359054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713232"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Patterns of work-behavior</a:t>
            </a:r>
            <a:endParaRPr lang="en-US" sz="1200" dirty="0"/>
          </a:p>
        </p:txBody>
      </p:sp>
      <p:sp>
        <p:nvSpPr>
          <p:cNvPr id="23" name="Shape 17"/>
          <p:cNvSpPr/>
          <p:nvPr/>
        </p:nvSpPr>
        <p:spPr>
          <a:xfrm>
            <a:off x="4285488" y="3675888"/>
            <a:ext cx="3590544" cy="1965960"/>
          </a:xfrm>
          <a:prstGeom prst="roundRect">
            <a:avLst>
              <a:gd name="adj" fmla="val 4186"/>
            </a:avLst>
          </a:prstGeom>
          <a:solidFill>
            <a:srgbClr val="1E2761"/>
          </a:solidFill>
          <a:ln/>
        </p:spPr>
      </p:sp>
      <p:sp>
        <p:nvSpPr>
          <p:cNvPr id="24" name="Shape 18"/>
          <p:cNvSpPr/>
          <p:nvPr/>
        </p:nvSpPr>
        <p:spPr>
          <a:xfrm>
            <a:off x="4450080"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4568952" y="3959352"/>
            <a:ext cx="219456" cy="219456"/>
          </a:xfrm>
          <a:prstGeom prst="rect">
            <a:avLst/>
          </a:prstGeom>
        </p:spPr>
      </p:pic>
      <p:sp>
        <p:nvSpPr>
          <p:cNvPr id="26" name="Text 19"/>
          <p:cNvSpPr/>
          <p:nvPr/>
        </p:nvSpPr>
        <p:spPr>
          <a:xfrm>
            <a:off x="732739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4450080"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Interaction with formal organization</a:t>
            </a:r>
            <a:endParaRPr lang="en-US" sz="1200" dirty="0"/>
          </a:p>
        </p:txBody>
      </p:sp>
      <p:sp>
        <p:nvSpPr>
          <p:cNvPr id="28" name="Shape 21"/>
          <p:cNvSpPr/>
          <p:nvPr/>
        </p:nvSpPr>
        <p:spPr>
          <a:xfrm>
            <a:off x="8022336" y="3675888"/>
            <a:ext cx="3590544" cy="1965960"/>
          </a:xfrm>
          <a:prstGeom prst="roundRect">
            <a:avLst>
              <a:gd name="adj" fmla="val 4186"/>
            </a:avLst>
          </a:prstGeom>
          <a:solidFill>
            <a:srgbClr val="1E2761"/>
          </a:solidFill>
          <a:ln/>
        </p:spPr>
      </p:sp>
      <p:sp>
        <p:nvSpPr>
          <p:cNvPr id="29" name="Shape 22"/>
          <p:cNvSpPr/>
          <p:nvPr/>
        </p:nvSpPr>
        <p:spPr>
          <a:xfrm>
            <a:off x="818692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8305800" y="3959352"/>
            <a:ext cx="219456" cy="219456"/>
          </a:xfrm>
          <a:prstGeom prst="rect">
            <a:avLst/>
          </a:prstGeom>
        </p:spPr>
      </p:pic>
      <p:sp>
        <p:nvSpPr>
          <p:cNvPr id="31" name="Text 23"/>
          <p:cNvSpPr/>
          <p:nvPr/>
        </p:nvSpPr>
        <p:spPr>
          <a:xfrm>
            <a:off x="11064240"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8186928" y="4361688"/>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Notorious for rumor-mongering</a:t>
            </a:r>
            <a:endParaRPr lang="en-US" sz="1200" dirty="0"/>
          </a:p>
        </p:txBody>
      </p:sp>
      <p:sp>
        <p:nvSpPr>
          <p:cNvPr id="33" name="Text 25"/>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INFORMAL ORGANIZATION OR GROUPS</a:t>
            </a:r>
            <a:endParaRPr lang="en-US" sz="1100" dirty="0"/>
          </a:p>
        </p:txBody>
      </p:sp>
      <p:sp>
        <p:nvSpPr>
          <p:cNvPr id="34" name="Text 26"/>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12.4. INFORMAL ORGANIZATION OR GROUPS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Meaning, Causes &amp; Resistance to Change</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What is an Informal Organization?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Informal relationships between individuals and groups that are neither planned nor officially described in the organization chart — arising from common interests, ideals, attitudes, and socio-economic, cultural or religious background.</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Factors Behind Its Formation</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Desire to socialize and escape monotony/boredom (b) Desire to find a platform to display capabilities and talents not put to use in specialized jobs, and (c) Desire to escape the rigid formal information and communication network.</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Resists Change in 'Status Quo'</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Informal organizations prefer things as they are and resent change, since stable relationships are vital to their survival. The manager should bring them round through persuasion, not repressive enforcement, which would only be counter-productive.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INFORMAL ORGANIZATION OR GROUPS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12.4. INFORMAL ORGANIZATION OR GROUPS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Behavior Patterns, Interaction &amp; Rumors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Patterns of Work-Behavior</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formal organization prescribes permanent patterns of work behavior through official channels; informal organizations define their own culture-based standards of conduct, status and communication systems.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Interaction Between Formal &amp; Informal Organization</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Informal organization is a fait accompli, an inescapable part of any formal organization. The manager cannot wish away its existence, and is better advised to acknowledge, accept, and mobilize it toward formal organizational goals.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Notorious for Rumor-Mongering</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Rumor-mongering is a product of uncertainty and vagueness, and a major weakness of informal organizations. The manager's remedy is a friendly, transparent environment that removes any sense of threat to workers.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INFORMAL ORGANIZATION OR GROUPS</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12.4. INFORMAL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Merits and Demerits of Informal Organization</a:t>
            </a:r>
            <a:endParaRPr lang="en-US" sz="2700" dirty="0"/>
          </a:p>
        </p:txBody>
      </p:sp>
      <p:sp>
        <p:nvSpPr>
          <p:cNvPr id="4" name="Shape 2"/>
          <p:cNvSpPr/>
          <p:nvPr/>
        </p:nvSpPr>
        <p:spPr>
          <a:xfrm>
            <a:off x="548640" y="1645920"/>
            <a:ext cx="2651760" cy="588645"/>
          </a:xfrm>
          <a:prstGeom prst="rect">
            <a:avLst/>
          </a:prstGeom>
          <a:solidFill>
            <a:srgbClr val="1E2761"/>
          </a:solidFill>
          <a:ln/>
        </p:spPr>
      </p:sp>
      <p:sp>
        <p:nvSpPr>
          <p:cNvPr id="5" name="Shape 3"/>
          <p:cNvSpPr/>
          <p:nvPr/>
        </p:nvSpPr>
        <p:spPr>
          <a:xfrm>
            <a:off x="3200400" y="1645920"/>
            <a:ext cx="4206240" cy="588645"/>
          </a:xfrm>
          <a:prstGeom prst="rect">
            <a:avLst/>
          </a:prstGeom>
          <a:solidFill>
            <a:srgbClr val="3A4A8C"/>
          </a:solidFill>
          <a:ln/>
        </p:spPr>
      </p:sp>
      <p:sp>
        <p:nvSpPr>
          <p:cNvPr id="6" name="Shape 4"/>
          <p:cNvSpPr/>
          <p:nvPr/>
        </p:nvSpPr>
        <p:spPr>
          <a:xfrm>
            <a:off x="7406640" y="1645920"/>
            <a:ext cx="4206240" cy="588645"/>
          </a:xfrm>
          <a:prstGeom prst="rect">
            <a:avLst/>
          </a:prstGeom>
          <a:solidFill>
            <a:srgbClr val="C9A24B"/>
          </a:solidFill>
          <a:ln/>
        </p:spPr>
      </p:sp>
      <p:sp>
        <p:nvSpPr>
          <p:cNvPr id="7" name="Text 5"/>
          <p:cNvSpPr/>
          <p:nvPr/>
        </p:nvSpPr>
        <p:spPr>
          <a:xfrm>
            <a:off x="548640" y="1645920"/>
            <a:ext cx="2651760" cy="588645"/>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BASIS</a:t>
            </a:r>
            <a:endParaRPr lang="en-US" sz="1250" dirty="0"/>
          </a:p>
        </p:txBody>
      </p:sp>
      <p:sp>
        <p:nvSpPr>
          <p:cNvPr id="8" name="Text 6"/>
          <p:cNvSpPr/>
          <p:nvPr/>
        </p:nvSpPr>
        <p:spPr>
          <a:xfrm>
            <a:off x="3200400" y="1645920"/>
            <a:ext cx="4206240" cy="588645"/>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MERITS</a:t>
            </a:r>
            <a:endParaRPr lang="en-US" sz="1250" dirty="0"/>
          </a:p>
        </p:txBody>
      </p:sp>
      <p:sp>
        <p:nvSpPr>
          <p:cNvPr id="9" name="Text 7"/>
          <p:cNvSpPr/>
          <p:nvPr/>
        </p:nvSpPr>
        <p:spPr>
          <a:xfrm>
            <a:off x="7406640" y="1645920"/>
            <a:ext cx="4206240" cy="588645"/>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DEMERITS</a:t>
            </a:r>
            <a:endParaRPr lang="en-US" sz="1250" dirty="0"/>
          </a:p>
        </p:txBody>
      </p:sp>
      <p:sp>
        <p:nvSpPr>
          <p:cNvPr id="10" name="Shape 8"/>
          <p:cNvSpPr/>
          <p:nvPr/>
        </p:nvSpPr>
        <p:spPr>
          <a:xfrm>
            <a:off x="548640" y="2234565"/>
            <a:ext cx="2651760" cy="588645"/>
          </a:xfrm>
          <a:prstGeom prst="rect">
            <a:avLst/>
          </a:prstGeom>
          <a:solidFill>
            <a:srgbClr val="EEF3FC"/>
          </a:solidFill>
          <a:ln/>
        </p:spPr>
      </p:sp>
      <p:sp>
        <p:nvSpPr>
          <p:cNvPr id="11" name="Shape 9"/>
          <p:cNvSpPr/>
          <p:nvPr/>
        </p:nvSpPr>
        <p:spPr>
          <a:xfrm>
            <a:off x="3200400" y="2234565"/>
            <a:ext cx="4206240" cy="588645"/>
          </a:xfrm>
          <a:prstGeom prst="rect">
            <a:avLst/>
          </a:prstGeom>
          <a:solidFill>
            <a:srgbClr val="EEF3FC"/>
          </a:solidFill>
          <a:ln/>
        </p:spPr>
      </p:sp>
      <p:sp>
        <p:nvSpPr>
          <p:cNvPr id="12" name="Shape 10"/>
          <p:cNvSpPr/>
          <p:nvPr/>
        </p:nvSpPr>
        <p:spPr>
          <a:xfrm>
            <a:off x="7406640" y="2234565"/>
            <a:ext cx="4206240" cy="588645"/>
          </a:xfrm>
          <a:prstGeom prst="rect">
            <a:avLst/>
          </a:prstGeom>
          <a:solidFill>
            <a:srgbClr val="EEF3FC"/>
          </a:solidFill>
          <a:ln/>
        </p:spPr>
      </p:sp>
      <p:sp>
        <p:nvSpPr>
          <p:cNvPr id="13" name="Text 11"/>
          <p:cNvSpPr/>
          <p:nvPr/>
        </p:nvSpPr>
        <p:spPr>
          <a:xfrm>
            <a:off x="685800" y="2234565"/>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Helps make the organization system effective</a:t>
            </a:r>
            <a:endParaRPr lang="en-US" sz="1150" dirty="0"/>
          </a:p>
        </p:txBody>
      </p:sp>
      <p:sp>
        <p:nvSpPr>
          <p:cNvPr id="14" name="Text 12"/>
          <p:cNvSpPr/>
          <p:nvPr/>
        </p:nvSpPr>
        <p:spPr>
          <a:xfrm>
            <a:off x="3337560" y="2234565"/>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Causes frustration and lack of motivation</a:t>
            </a:r>
            <a:endParaRPr lang="en-US" sz="1080" dirty="0"/>
          </a:p>
        </p:txBody>
      </p:sp>
      <p:sp>
        <p:nvSpPr>
          <p:cNvPr id="15" name="Text 13"/>
          <p:cNvSpPr/>
          <p:nvPr/>
        </p:nvSpPr>
        <p:spPr>
          <a:xfrm>
            <a:off x="7543800" y="2234565"/>
            <a:ext cx="3931920" cy="588645"/>
          </a:xfrm>
          <a:prstGeom prst="rect">
            <a:avLst/>
          </a:prstGeom>
          <a:noFill/>
          <a:ln/>
        </p:spPr>
        <p:txBody>
          <a:bodyPr wrap="square" rtlCol="0" anchor="ctr"/>
          <a:lstStyle/>
          <a:p>
            <a:pPr indent="0" marL="0">
              <a:buNone/>
            </a:pPr>
            <a:endParaRPr lang="en-US" sz="1080" dirty="0"/>
          </a:p>
        </p:txBody>
      </p:sp>
      <p:sp>
        <p:nvSpPr>
          <p:cNvPr id="16" name="Shape 14"/>
          <p:cNvSpPr/>
          <p:nvPr/>
        </p:nvSpPr>
        <p:spPr>
          <a:xfrm>
            <a:off x="548640" y="2823210"/>
            <a:ext cx="2651760" cy="588645"/>
          </a:xfrm>
          <a:prstGeom prst="rect">
            <a:avLst/>
          </a:prstGeom>
          <a:solidFill>
            <a:srgbClr val="FFFFFF"/>
          </a:solidFill>
          <a:ln/>
        </p:spPr>
      </p:sp>
      <p:sp>
        <p:nvSpPr>
          <p:cNvPr id="17" name="Shape 15"/>
          <p:cNvSpPr/>
          <p:nvPr/>
        </p:nvSpPr>
        <p:spPr>
          <a:xfrm>
            <a:off x="3200400" y="2823210"/>
            <a:ext cx="4206240" cy="588645"/>
          </a:xfrm>
          <a:prstGeom prst="rect">
            <a:avLst/>
          </a:prstGeom>
          <a:solidFill>
            <a:srgbClr val="FFFFFF"/>
          </a:solidFill>
          <a:ln/>
        </p:spPr>
      </p:sp>
      <p:sp>
        <p:nvSpPr>
          <p:cNvPr id="18" name="Shape 16"/>
          <p:cNvSpPr/>
          <p:nvPr/>
        </p:nvSpPr>
        <p:spPr>
          <a:xfrm>
            <a:off x="7406640" y="2823210"/>
            <a:ext cx="4206240" cy="588645"/>
          </a:xfrm>
          <a:prstGeom prst="rect">
            <a:avLst/>
          </a:prstGeom>
          <a:solidFill>
            <a:srgbClr val="FFFFFF"/>
          </a:solidFill>
          <a:ln/>
        </p:spPr>
      </p:sp>
      <p:sp>
        <p:nvSpPr>
          <p:cNvPr id="19" name="Text 17"/>
          <p:cNvSpPr/>
          <p:nvPr/>
        </p:nvSpPr>
        <p:spPr>
          <a:xfrm>
            <a:off x="685800" y="2823210"/>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Reduces managerial work-load</a:t>
            </a:r>
            <a:endParaRPr lang="en-US" sz="1150" dirty="0"/>
          </a:p>
        </p:txBody>
      </p:sp>
      <p:sp>
        <p:nvSpPr>
          <p:cNvPr id="20" name="Text 18"/>
          <p:cNvSpPr/>
          <p:nvPr/>
        </p:nvSpPr>
        <p:spPr>
          <a:xfrm>
            <a:off x="3337560" y="2823210"/>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Encourages cynicism and negativism</a:t>
            </a:r>
            <a:endParaRPr lang="en-US" sz="1080" dirty="0"/>
          </a:p>
        </p:txBody>
      </p:sp>
      <p:sp>
        <p:nvSpPr>
          <p:cNvPr id="21" name="Text 19"/>
          <p:cNvSpPr/>
          <p:nvPr/>
        </p:nvSpPr>
        <p:spPr>
          <a:xfrm>
            <a:off x="7543800" y="2823210"/>
            <a:ext cx="3931920" cy="588645"/>
          </a:xfrm>
          <a:prstGeom prst="rect">
            <a:avLst/>
          </a:prstGeom>
          <a:noFill/>
          <a:ln/>
        </p:spPr>
        <p:txBody>
          <a:bodyPr wrap="square" rtlCol="0" anchor="ctr"/>
          <a:lstStyle/>
          <a:p>
            <a:pPr indent="0" marL="0">
              <a:buNone/>
            </a:pPr>
            <a:endParaRPr lang="en-US" sz="1080" dirty="0"/>
          </a:p>
        </p:txBody>
      </p:sp>
      <p:sp>
        <p:nvSpPr>
          <p:cNvPr id="22" name="Shape 20"/>
          <p:cNvSpPr/>
          <p:nvPr/>
        </p:nvSpPr>
        <p:spPr>
          <a:xfrm>
            <a:off x="548640" y="3411855"/>
            <a:ext cx="2651760" cy="588645"/>
          </a:xfrm>
          <a:prstGeom prst="rect">
            <a:avLst/>
          </a:prstGeom>
          <a:solidFill>
            <a:srgbClr val="EEF3FC"/>
          </a:solidFill>
          <a:ln/>
        </p:spPr>
      </p:sp>
      <p:sp>
        <p:nvSpPr>
          <p:cNvPr id="23" name="Shape 21"/>
          <p:cNvSpPr/>
          <p:nvPr/>
        </p:nvSpPr>
        <p:spPr>
          <a:xfrm>
            <a:off x="3200400" y="3411855"/>
            <a:ext cx="4206240" cy="588645"/>
          </a:xfrm>
          <a:prstGeom prst="rect">
            <a:avLst/>
          </a:prstGeom>
          <a:solidFill>
            <a:srgbClr val="EEF3FC"/>
          </a:solidFill>
          <a:ln/>
        </p:spPr>
      </p:sp>
      <p:sp>
        <p:nvSpPr>
          <p:cNvPr id="24" name="Shape 22"/>
          <p:cNvSpPr/>
          <p:nvPr/>
        </p:nvSpPr>
        <p:spPr>
          <a:xfrm>
            <a:off x="7406640" y="3411855"/>
            <a:ext cx="4206240" cy="588645"/>
          </a:xfrm>
          <a:prstGeom prst="rect">
            <a:avLst/>
          </a:prstGeom>
          <a:solidFill>
            <a:srgbClr val="EEF3FC"/>
          </a:solidFill>
          <a:ln/>
        </p:spPr>
      </p:sp>
      <p:sp>
        <p:nvSpPr>
          <p:cNvPr id="25" name="Text 23"/>
          <p:cNvSpPr/>
          <p:nvPr/>
        </p:nvSpPr>
        <p:spPr>
          <a:xfrm>
            <a:off x="685800" y="3411855"/>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Promotes co-operation</a:t>
            </a:r>
            <a:endParaRPr lang="en-US" sz="1150" dirty="0"/>
          </a:p>
        </p:txBody>
      </p:sp>
      <p:sp>
        <p:nvSpPr>
          <p:cNvPr id="26" name="Text 24"/>
          <p:cNvSpPr/>
          <p:nvPr/>
        </p:nvSpPr>
        <p:spPr>
          <a:xfrm>
            <a:off x="3337560" y="3411855"/>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Generates inter-personal and group rivalry</a:t>
            </a:r>
            <a:endParaRPr lang="en-US" sz="1080" dirty="0"/>
          </a:p>
        </p:txBody>
      </p:sp>
      <p:sp>
        <p:nvSpPr>
          <p:cNvPr id="27" name="Text 25"/>
          <p:cNvSpPr/>
          <p:nvPr/>
        </p:nvSpPr>
        <p:spPr>
          <a:xfrm>
            <a:off x="7543800" y="3411855"/>
            <a:ext cx="3931920" cy="588645"/>
          </a:xfrm>
          <a:prstGeom prst="rect">
            <a:avLst/>
          </a:prstGeom>
          <a:noFill/>
          <a:ln/>
        </p:spPr>
        <p:txBody>
          <a:bodyPr wrap="square" rtlCol="0" anchor="ctr"/>
          <a:lstStyle/>
          <a:p>
            <a:pPr indent="0" marL="0">
              <a:buNone/>
            </a:pPr>
            <a:endParaRPr lang="en-US" sz="1080" dirty="0"/>
          </a:p>
        </p:txBody>
      </p:sp>
      <p:sp>
        <p:nvSpPr>
          <p:cNvPr id="28" name="Shape 26"/>
          <p:cNvSpPr/>
          <p:nvPr/>
        </p:nvSpPr>
        <p:spPr>
          <a:xfrm>
            <a:off x="548640" y="4000500"/>
            <a:ext cx="2651760" cy="588645"/>
          </a:xfrm>
          <a:prstGeom prst="rect">
            <a:avLst/>
          </a:prstGeom>
          <a:solidFill>
            <a:srgbClr val="FFFFFF"/>
          </a:solidFill>
          <a:ln/>
        </p:spPr>
      </p:sp>
      <p:sp>
        <p:nvSpPr>
          <p:cNvPr id="29" name="Shape 27"/>
          <p:cNvSpPr/>
          <p:nvPr/>
        </p:nvSpPr>
        <p:spPr>
          <a:xfrm>
            <a:off x="3200400" y="4000500"/>
            <a:ext cx="4206240" cy="588645"/>
          </a:xfrm>
          <a:prstGeom prst="rect">
            <a:avLst/>
          </a:prstGeom>
          <a:solidFill>
            <a:srgbClr val="FFFFFF"/>
          </a:solidFill>
          <a:ln/>
        </p:spPr>
      </p:sp>
      <p:sp>
        <p:nvSpPr>
          <p:cNvPr id="30" name="Shape 28"/>
          <p:cNvSpPr/>
          <p:nvPr/>
        </p:nvSpPr>
        <p:spPr>
          <a:xfrm>
            <a:off x="7406640" y="4000500"/>
            <a:ext cx="4206240" cy="588645"/>
          </a:xfrm>
          <a:prstGeom prst="rect">
            <a:avLst/>
          </a:prstGeom>
          <a:solidFill>
            <a:srgbClr val="FFFFFF"/>
          </a:solidFill>
          <a:ln/>
        </p:spPr>
      </p:sp>
      <p:sp>
        <p:nvSpPr>
          <p:cNvPr id="31" name="Text 29"/>
          <p:cNvSpPr/>
          <p:nvPr/>
        </p:nvSpPr>
        <p:spPr>
          <a:xfrm>
            <a:off x="685800" y="4000500"/>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Enables work to be done efficiently and effectively</a:t>
            </a:r>
            <a:endParaRPr lang="en-US" sz="1150" dirty="0"/>
          </a:p>
        </p:txBody>
      </p:sp>
      <p:sp>
        <p:nvSpPr>
          <p:cNvPr id="32" name="Text 30"/>
          <p:cNvSpPr/>
          <p:nvPr/>
        </p:nvSpPr>
        <p:spPr>
          <a:xfrm>
            <a:off x="3337560" y="4000500"/>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Resents and resists any change</a:t>
            </a:r>
            <a:endParaRPr lang="en-US" sz="1080" dirty="0"/>
          </a:p>
        </p:txBody>
      </p:sp>
      <p:sp>
        <p:nvSpPr>
          <p:cNvPr id="33" name="Text 31"/>
          <p:cNvSpPr/>
          <p:nvPr/>
        </p:nvSpPr>
        <p:spPr>
          <a:xfrm>
            <a:off x="7543800" y="4000500"/>
            <a:ext cx="3931920" cy="588645"/>
          </a:xfrm>
          <a:prstGeom prst="rect">
            <a:avLst/>
          </a:prstGeom>
          <a:noFill/>
          <a:ln/>
        </p:spPr>
        <p:txBody>
          <a:bodyPr wrap="square" rtlCol="0" anchor="ctr"/>
          <a:lstStyle/>
          <a:p>
            <a:pPr indent="0" marL="0">
              <a:buNone/>
            </a:pPr>
            <a:endParaRPr lang="en-US" sz="1080" dirty="0"/>
          </a:p>
        </p:txBody>
      </p:sp>
      <p:sp>
        <p:nvSpPr>
          <p:cNvPr id="34" name="Shape 32"/>
          <p:cNvSpPr/>
          <p:nvPr/>
        </p:nvSpPr>
        <p:spPr>
          <a:xfrm>
            <a:off x="548640" y="4589145"/>
            <a:ext cx="2651760" cy="588645"/>
          </a:xfrm>
          <a:prstGeom prst="rect">
            <a:avLst/>
          </a:prstGeom>
          <a:solidFill>
            <a:srgbClr val="EEF3FC"/>
          </a:solidFill>
          <a:ln/>
        </p:spPr>
      </p:sp>
      <p:sp>
        <p:nvSpPr>
          <p:cNvPr id="35" name="Shape 33"/>
          <p:cNvSpPr/>
          <p:nvPr/>
        </p:nvSpPr>
        <p:spPr>
          <a:xfrm>
            <a:off x="3200400" y="4589145"/>
            <a:ext cx="4206240" cy="588645"/>
          </a:xfrm>
          <a:prstGeom prst="rect">
            <a:avLst/>
          </a:prstGeom>
          <a:solidFill>
            <a:srgbClr val="EEF3FC"/>
          </a:solidFill>
          <a:ln/>
        </p:spPr>
      </p:sp>
      <p:sp>
        <p:nvSpPr>
          <p:cNvPr id="36" name="Shape 34"/>
          <p:cNvSpPr/>
          <p:nvPr/>
        </p:nvSpPr>
        <p:spPr>
          <a:xfrm>
            <a:off x="7406640" y="4589145"/>
            <a:ext cx="4206240" cy="588645"/>
          </a:xfrm>
          <a:prstGeom prst="rect">
            <a:avLst/>
          </a:prstGeom>
          <a:solidFill>
            <a:srgbClr val="EEF3FC"/>
          </a:solidFill>
          <a:ln/>
        </p:spPr>
      </p:sp>
      <p:sp>
        <p:nvSpPr>
          <p:cNvPr id="37" name="Text 35"/>
          <p:cNvSpPr/>
          <p:nvPr/>
        </p:nvSpPr>
        <p:spPr>
          <a:xfrm>
            <a:off x="685800" y="4589145"/>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Helps promote job-satisfaction among employees</a:t>
            </a:r>
            <a:endParaRPr lang="en-US" sz="1150" dirty="0"/>
          </a:p>
        </p:txBody>
      </p:sp>
      <p:sp>
        <p:nvSpPr>
          <p:cNvPr id="38" name="Text 36"/>
          <p:cNvSpPr/>
          <p:nvPr/>
        </p:nvSpPr>
        <p:spPr>
          <a:xfrm>
            <a:off x="3337560" y="4589145"/>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Source of undue harassment to certain employees</a:t>
            </a:r>
            <a:endParaRPr lang="en-US" sz="1080" dirty="0"/>
          </a:p>
        </p:txBody>
      </p:sp>
      <p:sp>
        <p:nvSpPr>
          <p:cNvPr id="39" name="Text 37"/>
          <p:cNvSpPr/>
          <p:nvPr/>
        </p:nvSpPr>
        <p:spPr>
          <a:xfrm>
            <a:off x="7543800" y="4589145"/>
            <a:ext cx="3931920" cy="588645"/>
          </a:xfrm>
          <a:prstGeom prst="rect">
            <a:avLst/>
          </a:prstGeom>
          <a:noFill/>
          <a:ln/>
        </p:spPr>
        <p:txBody>
          <a:bodyPr wrap="square" rtlCol="0" anchor="ctr"/>
          <a:lstStyle/>
          <a:p>
            <a:pPr indent="0" marL="0">
              <a:buNone/>
            </a:pPr>
            <a:endParaRPr lang="en-US" sz="1080" dirty="0"/>
          </a:p>
        </p:txBody>
      </p:sp>
      <p:sp>
        <p:nvSpPr>
          <p:cNvPr id="40" name="Shape 38"/>
          <p:cNvSpPr/>
          <p:nvPr/>
        </p:nvSpPr>
        <p:spPr>
          <a:xfrm>
            <a:off x="548640" y="5177790"/>
            <a:ext cx="2651760" cy="588645"/>
          </a:xfrm>
          <a:prstGeom prst="rect">
            <a:avLst/>
          </a:prstGeom>
          <a:solidFill>
            <a:srgbClr val="FFFFFF"/>
          </a:solidFill>
          <a:ln/>
        </p:spPr>
      </p:sp>
      <p:sp>
        <p:nvSpPr>
          <p:cNvPr id="41" name="Shape 39"/>
          <p:cNvSpPr/>
          <p:nvPr/>
        </p:nvSpPr>
        <p:spPr>
          <a:xfrm>
            <a:off x="3200400" y="5177790"/>
            <a:ext cx="4206240" cy="588645"/>
          </a:xfrm>
          <a:prstGeom prst="rect">
            <a:avLst/>
          </a:prstGeom>
          <a:solidFill>
            <a:srgbClr val="FFFFFF"/>
          </a:solidFill>
          <a:ln/>
        </p:spPr>
      </p:sp>
      <p:sp>
        <p:nvSpPr>
          <p:cNvPr id="42" name="Shape 40"/>
          <p:cNvSpPr/>
          <p:nvPr/>
        </p:nvSpPr>
        <p:spPr>
          <a:xfrm>
            <a:off x="7406640" y="5177790"/>
            <a:ext cx="4206240" cy="588645"/>
          </a:xfrm>
          <a:prstGeom prst="rect">
            <a:avLst/>
          </a:prstGeom>
          <a:solidFill>
            <a:srgbClr val="FFFFFF"/>
          </a:solidFill>
          <a:ln/>
        </p:spPr>
      </p:sp>
      <p:sp>
        <p:nvSpPr>
          <p:cNvPr id="43" name="Text 41"/>
          <p:cNvSpPr/>
          <p:nvPr/>
        </p:nvSpPr>
        <p:spPr>
          <a:xfrm>
            <a:off x="685800" y="5177790"/>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Leads to effective communication</a:t>
            </a:r>
            <a:endParaRPr lang="en-US" sz="1150" dirty="0"/>
          </a:p>
        </p:txBody>
      </p:sp>
      <p:sp>
        <p:nvSpPr>
          <p:cNvPr id="44" name="Text 42"/>
          <p:cNvSpPr/>
          <p:nvPr/>
        </p:nvSpPr>
        <p:spPr>
          <a:xfrm>
            <a:off x="3337560" y="5177790"/>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Promotes undesirable rumor-mongering</a:t>
            </a:r>
            <a:endParaRPr lang="en-US" sz="1080" dirty="0"/>
          </a:p>
        </p:txBody>
      </p:sp>
      <p:sp>
        <p:nvSpPr>
          <p:cNvPr id="45" name="Text 43"/>
          <p:cNvSpPr/>
          <p:nvPr/>
        </p:nvSpPr>
        <p:spPr>
          <a:xfrm>
            <a:off x="7543800" y="5177790"/>
            <a:ext cx="3931920" cy="588645"/>
          </a:xfrm>
          <a:prstGeom prst="rect">
            <a:avLst/>
          </a:prstGeom>
          <a:noFill/>
          <a:ln/>
        </p:spPr>
        <p:txBody>
          <a:bodyPr wrap="square" rtlCol="0" anchor="ctr"/>
          <a:lstStyle/>
          <a:p>
            <a:pPr indent="0" marL="0">
              <a:buNone/>
            </a:pPr>
            <a:endParaRPr lang="en-US" sz="1080" dirty="0"/>
          </a:p>
        </p:txBody>
      </p:sp>
      <p:sp>
        <p:nvSpPr>
          <p:cNvPr id="46" name="Shape 44"/>
          <p:cNvSpPr/>
          <p:nvPr/>
        </p:nvSpPr>
        <p:spPr>
          <a:xfrm>
            <a:off x="548640" y="5766435"/>
            <a:ext cx="2651760" cy="588645"/>
          </a:xfrm>
          <a:prstGeom prst="rect">
            <a:avLst/>
          </a:prstGeom>
          <a:solidFill>
            <a:srgbClr val="EEF3FC"/>
          </a:solidFill>
          <a:ln/>
        </p:spPr>
      </p:sp>
      <p:sp>
        <p:nvSpPr>
          <p:cNvPr id="47" name="Shape 45"/>
          <p:cNvSpPr/>
          <p:nvPr/>
        </p:nvSpPr>
        <p:spPr>
          <a:xfrm>
            <a:off x="3200400" y="5766435"/>
            <a:ext cx="4206240" cy="588645"/>
          </a:xfrm>
          <a:prstGeom prst="rect">
            <a:avLst/>
          </a:prstGeom>
          <a:solidFill>
            <a:srgbClr val="EEF3FC"/>
          </a:solidFill>
          <a:ln/>
        </p:spPr>
      </p:sp>
      <p:sp>
        <p:nvSpPr>
          <p:cNvPr id="48" name="Shape 46"/>
          <p:cNvSpPr/>
          <p:nvPr/>
        </p:nvSpPr>
        <p:spPr>
          <a:xfrm>
            <a:off x="7406640" y="5766435"/>
            <a:ext cx="4206240" cy="588645"/>
          </a:xfrm>
          <a:prstGeom prst="rect">
            <a:avLst/>
          </a:prstGeom>
          <a:solidFill>
            <a:srgbClr val="EEF3FC"/>
          </a:solidFill>
          <a:ln/>
        </p:spPr>
      </p:sp>
      <p:sp>
        <p:nvSpPr>
          <p:cNvPr id="49" name="Text 47"/>
          <p:cNvSpPr/>
          <p:nvPr/>
        </p:nvSpPr>
        <p:spPr>
          <a:xfrm>
            <a:off x="685800" y="5766435"/>
            <a:ext cx="2377440" cy="588645"/>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Provides an outlet for employee emotions</a:t>
            </a:r>
            <a:endParaRPr lang="en-US" sz="1150" dirty="0"/>
          </a:p>
        </p:txBody>
      </p:sp>
      <p:sp>
        <p:nvSpPr>
          <p:cNvPr id="50" name="Text 48"/>
          <p:cNvSpPr/>
          <p:nvPr/>
        </p:nvSpPr>
        <p:spPr>
          <a:xfrm>
            <a:off x="3337560" y="5766435"/>
            <a:ext cx="3931920" cy="588645"/>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Promotes dissatisfaction among employees</a:t>
            </a:r>
            <a:endParaRPr lang="en-US" sz="1080" dirty="0"/>
          </a:p>
        </p:txBody>
      </p:sp>
      <p:sp>
        <p:nvSpPr>
          <p:cNvPr id="51" name="Text 49"/>
          <p:cNvSpPr/>
          <p:nvPr/>
        </p:nvSpPr>
        <p:spPr>
          <a:xfrm>
            <a:off x="7543800" y="5766435"/>
            <a:ext cx="3931920" cy="588645"/>
          </a:xfrm>
          <a:prstGeom prst="rect">
            <a:avLst/>
          </a:prstGeom>
          <a:noFill/>
          <a:ln/>
        </p:spPr>
        <p:txBody>
          <a:bodyPr wrap="square" rtlCol="0" anchor="ctr"/>
          <a:lstStyle/>
          <a:p>
            <a:pPr indent="0" marL="0">
              <a:buNone/>
            </a:pPr>
            <a:endParaRPr lang="en-US" sz="1080" dirty="0"/>
          </a:p>
        </p:txBody>
      </p:sp>
      <p:sp>
        <p:nvSpPr>
          <p:cNvPr id="52" name="Text 50"/>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12.4. INFORMAL ORGANIZATION</a:t>
            </a:r>
            <a:endParaRPr lang="en-US" sz="1100" dirty="0"/>
          </a:p>
        </p:txBody>
      </p:sp>
      <p:sp>
        <p:nvSpPr>
          <p:cNvPr id="53" name="Text 5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12.5. CLASSICAL THEORY — 'BUREAUCRACY MODEL' OF MAX WEBER</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Meaning, Merits and Demerits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bureaucracy model, developed by Max Weber, refers to a situation where authority-responsibility relationships defined in the organizational structure, and prescribed rules and procedures, are strictly followed.</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It is distinguished by a large, complex administrative system, high specialization, rigid authority levels, and detailed rules and regulations scrupulously observed and enforced. Impersonality is essential — management stays aloof and maintains distance from subordinates.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Merit: stability, and unified focusing of organizational resources toward stated objectives. Demerits: excessive concern with enforcing rules, heavy paperwork, decline in managerial effectiveness, and alienation of the workforce.</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Rules Above All</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government office that will not process your form unless every box is filled exactly as prescribed — stable and predictable, but often frustratingly impersonal.</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12.5. CLASSICAL THEORY — 'BUREAUCRACY MODEL' OF MAX WEBER</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12.6. EVALUATION OF 'CLASSICAL THEORIES'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Merits &amp; Limitations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Merits: Classical theory places great emphasis on increasing productivity through motivation, good human relations, and the spirit of cooperation. Its core areas include: (a) Importance of leadership (b) Participative management (c) Emphasis on interpersonal relationships (d) Mobilizing informal groups to achieve organization goals, and (e) Establishing an adaptive relationship between internal and external environment.</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Limitations: Classical theory deals mainly with the analysis of a formal organization and pays little attention to day-to-day administrative problems, human interactions, informal groups, decision-making processes, and the impact of individual workers' personal conflicts on the organization. The contribution of behavioral science theory is also largely ignored.</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Strong Structure, Blind Spots</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Classical theory perfects the org chart on paper — but says little about why two brilliant employees on that chart simply can't get along.</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12.6. EVALUATION OF 'CLASSICAL THEORIES'</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12.7. 'NEO-CLASSICAL THEORY'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Origin &amp; Contribution</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Neo-Classical Theory seeks to modify classical theories. Its origin is owed to the Human Relations Movement, carried out by Elton Mayo and the staff of Harvard Business School, following experiments at the Hawthorne plant of Western Electric Company.</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It has largely filled the gaps in classical theory. Its valuable contribution: it strongly favors a wide span of control, remedying the narrow span's problems of communication gaps, distance between decision-makers and implementers, and lack of motivation.</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It also advocates increased delegation and decentralization, recognizing the need for wider participation of subordinates in decision-making, and acknowledges the useful role of informal organization in accomplishing formal goals.</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Hawthorne Effect</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Workers whose lighting was changed as part of an experiment worked harder simply because they felt observed and valued — the discovery that sparked the Human Relations Movement.</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12.7. 'NEO-CLASSICAL THEORY' OF ORGANIZATION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12.7. 'NEO-CLASSICAL THEORY'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Modifications to Classical Principles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Modification of Division of Labor</a:t>
            </a:r>
            <a:endParaRPr lang="en-US" sz="1320" dirty="0"/>
          </a:p>
        </p:txBody>
      </p:sp>
      <p:sp>
        <p:nvSpPr>
          <p:cNvPr id="8" name="Text 5"/>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Accepting the principle, Neo-Classical Theory notes the monotony, fatigue, boredom and loneliness workers experience doing the same work repeatedly — underlining the need for motivation, coordination and leadership.</a:t>
            </a:r>
            <a:endParaRPr lang="en-US" sz="1060" dirty="0"/>
          </a:p>
        </p:txBody>
      </p:sp>
      <p:sp>
        <p:nvSpPr>
          <p:cNvPr id="9" name="Shape 6"/>
          <p:cNvSpPr/>
          <p:nvPr/>
        </p:nvSpPr>
        <p:spPr>
          <a:xfrm>
            <a:off x="4279392" y="1645920"/>
            <a:ext cx="3602736" cy="4434840"/>
          </a:xfrm>
          <a:prstGeom prst="roundRect">
            <a:avLst>
              <a:gd name="adj" fmla="val 2284"/>
            </a:avLst>
          </a:prstGeom>
          <a:solidFill>
            <a:srgbClr val="EEF3FC"/>
          </a:solidFill>
          <a:ln/>
        </p:spPr>
      </p:sp>
      <p:sp>
        <p:nvSpPr>
          <p:cNvPr id="10" name="Shape 7"/>
          <p:cNvSpPr/>
          <p:nvPr/>
        </p:nvSpPr>
        <p:spPr>
          <a:xfrm>
            <a:off x="5815584" y="1847088"/>
            <a:ext cx="530352" cy="530352"/>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2" name="Text 8"/>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Suggestion for Effective Delegation</a:t>
            </a:r>
            <a:endParaRPr lang="en-US" sz="1320" dirty="0"/>
          </a:p>
        </p:txBody>
      </p:sp>
      <p:sp>
        <p:nvSpPr>
          <p:cNvPr id="13" name="Text 9"/>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scalar/functional processes framework is accepted, but with added emphasis on delegation of authority and assignment of responsibility, whose imperfect implementation causes numerous human problems.</a:t>
            </a:r>
            <a:endParaRPr lang="en-US" sz="1060" dirty="0"/>
          </a:p>
        </p:txBody>
      </p:sp>
      <p:sp>
        <p:nvSpPr>
          <p:cNvPr id="14" name="Shape 10"/>
          <p:cNvSpPr/>
          <p:nvPr/>
        </p:nvSpPr>
        <p:spPr>
          <a:xfrm>
            <a:off x="8010144" y="1645920"/>
            <a:ext cx="3602736" cy="4434840"/>
          </a:xfrm>
          <a:prstGeom prst="roundRect">
            <a:avLst>
              <a:gd name="adj" fmla="val 2284"/>
            </a:avLst>
          </a:prstGeom>
          <a:solidFill>
            <a:srgbClr val="EEF3FC"/>
          </a:solidFill>
          <a:ln/>
        </p:spPr>
      </p:sp>
      <p:sp>
        <p:nvSpPr>
          <p:cNvPr id="15" name="Shape 11"/>
          <p:cNvSpPr/>
          <p:nvPr/>
        </p:nvSpPr>
        <p:spPr>
          <a:xfrm>
            <a:off x="9546336" y="1847088"/>
            <a:ext cx="530352" cy="530352"/>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7" name="Text 12"/>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Emphasis on Informal Groups</a:t>
            </a:r>
            <a:endParaRPr lang="en-US" sz="1320" dirty="0"/>
          </a:p>
        </p:txBody>
      </p:sp>
      <p:sp>
        <p:nvSpPr>
          <p:cNvPr id="18" name="Text 13"/>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Human behavior can disrupt the best organization plans. The theory suggests workers' participation in decision-making, bottom-up management, recognition of human dignity, and effective communication between superiors and subordinates.</a:t>
            </a:r>
            <a:endParaRPr lang="en-US" sz="1060" dirty="0"/>
          </a:p>
        </p:txBody>
      </p:sp>
      <p:sp>
        <p:nvSpPr>
          <p:cNvPr id="19" name="Text 1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12.7. 'NEO-CLASSICAL THEORY' OF ORGANIZATION</a:t>
            </a:r>
            <a:endParaRPr lang="en-US" sz="1100" dirty="0"/>
          </a:p>
        </p:txBody>
      </p:sp>
      <p:sp>
        <p:nvSpPr>
          <p:cNvPr id="20" name="Text 1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12.8–12.9. MERITS &amp; DRAWBACKS OF NEO-CLASSICAL THEORY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Weighing the Human Relations Contribution</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548640"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12.8(1)</a:t>
            </a:r>
            <a:endParaRPr lang="en-US" sz="1200" dirty="0"/>
          </a:p>
        </p:txBody>
      </p:sp>
      <p:sp>
        <p:nvSpPr>
          <p:cNvPr id="8" name="Text 5"/>
          <p:cNvSpPr/>
          <p:nvPr/>
        </p:nvSpPr>
        <p:spPr>
          <a:xfrm>
            <a:off x="667512"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Emphasis on Broad Span of Control</a:t>
            </a:r>
            <a:endParaRPr lang="en-US" sz="1320" dirty="0"/>
          </a:p>
        </p:txBody>
      </p:sp>
      <p:sp>
        <p:nvSpPr>
          <p:cNvPr id="9" name="Text 6"/>
          <p:cNvSpPr/>
          <p:nvPr/>
        </p:nvSpPr>
        <p:spPr>
          <a:xfrm>
            <a:off x="694944"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Resolves problems of narrow span — communication gaps, distance between decision-makers and implementers, and lack of motivation.</a:t>
            </a:r>
            <a:endParaRPr lang="en-US" sz="1060" dirty="0"/>
          </a:p>
        </p:txBody>
      </p:sp>
      <p:sp>
        <p:nvSpPr>
          <p:cNvPr id="10" name="Shape 7"/>
          <p:cNvSpPr/>
          <p:nvPr/>
        </p:nvSpPr>
        <p:spPr>
          <a:xfrm>
            <a:off x="3346704" y="1645920"/>
            <a:ext cx="2670048" cy="4434840"/>
          </a:xfrm>
          <a:prstGeom prst="roundRect">
            <a:avLst>
              <a:gd name="adj" fmla="val 3082"/>
            </a:avLst>
          </a:prstGeom>
          <a:solidFill>
            <a:srgbClr val="EEF3FC"/>
          </a:solidFill>
          <a:ln/>
        </p:spPr>
      </p:sp>
      <p:sp>
        <p:nvSpPr>
          <p:cNvPr id="11" name="Shape 8"/>
          <p:cNvSpPr/>
          <p:nvPr/>
        </p:nvSpPr>
        <p:spPr>
          <a:xfrm>
            <a:off x="4416552"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3" name="Text 9"/>
          <p:cNvSpPr/>
          <p:nvPr/>
        </p:nvSpPr>
        <p:spPr>
          <a:xfrm>
            <a:off x="3346704"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12.8(2)</a:t>
            </a:r>
            <a:endParaRPr lang="en-US" sz="1200" dirty="0"/>
          </a:p>
        </p:txBody>
      </p:sp>
      <p:sp>
        <p:nvSpPr>
          <p:cNvPr id="14" name="Text 10"/>
          <p:cNvSpPr/>
          <p:nvPr/>
        </p:nvSpPr>
        <p:spPr>
          <a:xfrm>
            <a:off x="3465576"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Recognition of Informal Groups</a:t>
            </a:r>
            <a:endParaRPr lang="en-US" sz="1320" dirty="0"/>
          </a:p>
        </p:txBody>
      </p:sp>
      <p:sp>
        <p:nvSpPr>
          <p:cNvPr id="15" name="Text 11"/>
          <p:cNvSpPr/>
          <p:nvPr/>
        </p:nvSpPr>
        <p:spPr>
          <a:xfrm>
            <a:off x="3493008"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Advocates increased delegation and decentralization, and acknowledges the useful role of informal organization in accomplishing goals.</a:t>
            </a:r>
            <a:endParaRPr lang="en-US" sz="1060" dirty="0"/>
          </a:p>
        </p:txBody>
      </p:sp>
      <p:sp>
        <p:nvSpPr>
          <p:cNvPr id="16" name="Shape 12"/>
          <p:cNvSpPr/>
          <p:nvPr/>
        </p:nvSpPr>
        <p:spPr>
          <a:xfrm>
            <a:off x="6144768" y="1645920"/>
            <a:ext cx="2670048" cy="4434840"/>
          </a:xfrm>
          <a:prstGeom prst="roundRect">
            <a:avLst>
              <a:gd name="adj" fmla="val 3082"/>
            </a:avLst>
          </a:prstGeom>
          <a:solidFill>
            <a:srgbClr val="EEF3FC"/>
          </a:solidFill>
          <a:ln/>
        </p:spPr>
      </p:sp>
      <p:sp>
        <p:nvSpPr>
          <p:cNvPr id="17" name="Shape 13"/>
          <p:cNvSpPr/>
          <p:nvPr/>
        </p:nvSpPr>
        <p:spPr>
          <a:xfrm>
            <a:off x="721461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9" name="Text 14"/>
          <p:cNvSpPr/>
          <p:nvPr/>
        </p:nvSpPr>
        <p:spPr>
          <a:xfrm>
            <a:off x="6144768"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12.9(1)</a:t>
            </a:r>
            <a:endParaRPr lang="en-US" sz="1200" dirty="0"/>
          </a:p>
        </p:txBody>
      </p:sp>
      <p:sp>
        <p:nvSpPr>
          <p:cNvPr id="20" name="Text 15"/>
          <p:cNvSpPr/>
          <p:nvPr/>
        </p:nvSpPr>
        <p:spPr>
          <a:xfrm>
            <a:off x="6263640"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 Tool for Cynical Puppeteering”</a:t>
            </a:r>
            <a:endParaRPr lang="en-US" sz="1320" dirty="0"/>
          </a:p>
        </p:txBody>
      </p:sp>
      <p:sp>
        <p:nvSpPr>
          <p:cNvPr id="21" name="Text 16"/>
          <p:cNvSpPr/>
          <p:nvPr/>
        </p:nvSpPr>
        <p:spPr>
          <a:xfrm>
            <a:off x="6291072"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Critics say human relations theory is merely descriptive information, and that reconciling differences of opinion — often structural, not just psychological — is genuinely difficult.</a:t>
            </a:r>
            <a:endParaRPr lang="en-US" sz="1060" dirty="0"/>
          </a:p>
        </p:txBody>
      </p:sp>
      <p:sp>
        <p:nvSpPr>
          <p:cNvPr id="22" name="Shape 17"/>
          <p:cNvSpPr/>
          <p:nvPr/>
        </p:nvSpPr>
        <p:spPr>
          <a:xfrm>
            <a:off x="8942832" y="1645920"/>
            <a:ext cx="2670048" cy="4434840"/>
          </a:xfrm>
          <a:prstGeom prst="roundRect">
            <a:avLst>
              <a:gd name="adj" fmla="val 3082"/>
            </a:avLst>
          </a:prstGeom>
          <a:solidFill>
            <a:srgbClr val="EEF3FC"/>
          </a:solidFill>
          <a:ln/>
        </p:spPr>
      </p:sp>
      <p:sp>
        <p:nvSpPr>
          <p:cNvPr id="23" name="Shape 18"/>
          <p:cNvSpPr/>
          <p:nvPr/>
        </p:nvSpPr>
        <p:spPr>
          <a:xfrm>
            <a:off x="10012680" y="1847088"/>
            <a:ext cx="530352" cy="53035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5" name="Text 19"/>
          <p:cNvSpPr/>
          <p:nvPr/>
        </p:nvSpPr>
        <p:spPr>
          <a:xfrm>
            <a:off x="8942832"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12.9(2)</a:t>
            </a:r>
            <a:endParaRPr lang="en-US" sz="1200" dirty="0"/>
          </a:p>
        </p:txBody>
      </p:sp>
      <p:sp>
        <p:nvSpPr>
          <p:cNvPr id="26" name="Text 20"/>
          <p:cNvSpPr/>
          <p:nvPr/>
        </p:nvSpPr>
        <p:spPr>
          <a:xfrm>
            <a:off x="9061704"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Theory is Incomplete</a:t>
            </a:r>
            <a:endParaRPr lang="en-US" sz="1320" dirty="0"/>
          </a:p>
        </p:txBody>
      </p:sp>
      <p:sp>
        <p:nvSpPr>
          <p:cNvPr id="27" name="Text 21"/>
          <p:cNvSpPr/>
          <p:nvPr/>
        </p:nvSpPr>
        <p:spPr>
          <a:xfrm>
            <a:off x="9089136"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Like classical theory, Neo-Classical Theory is incomplete — the organization structures it provides cannot be applied to all businesses; no one structure fits all.</a:t>
            </a:r>
            <a:endParaRPr lang="en-US" sz="1060" dirty="0"/>
          </a:p>
        </p:txBody>
      </p:sp>
      <p:sp>
        <p:nvSpPr>
          <p:cNvPr id="28" name="Text 2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12.8–12.9. MERITS &amp; DRAWBACKS OF NEO-CLASSICAL THEORY</a:t>
            </a:r>
            <a:endParaRPr lang="en-US" sz="1100" dirty="0"/>
          </a:p>
        </p:txBody>
      </p:sp>
      <p:sp>
        <p:nvSpPr>
          <p:cNvPr id="29" name="Text 2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12.10. MODERN THEORIES OF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Organization as a 'System' &amp; Mutual Dependency</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Modern theories owe their development to experts like Herbert Simon, Newman, Russel, and others. They offer a conceptual-analytical base relying on empirical research data, and follow an integrative approach to studying organization.</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They recognize that all systems within a business organization are more or less related to each other, and that the business organization as a whole is a complete or total system comprising all functional systems that support individual functions.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Modern theories study an organization by identifying: (a) its strategic parts, (b) the nature and mutual dependency that links the parts together and enables their adjustment and adaptation to one another, and (c) the objectives sought to be accomplished by the system.</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Body as a System</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Just as the human body's organs are distinct yet interdependent, a modern organization's departments are distinct systems that must adapt to one another to keep the whole healthy.</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12.10. MODERN THEORIES OF ORGANIZATION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C</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13.1 – 13.2</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Types of Organization</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How organizations are structured varies with their size and the nature of their activities.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13.1. VARIOUS TYPES OF ORGANIZATION</a:t>
            </a:r>
            <a:endParaRPr lang="en-US" sz="2000" dirty="0"/>
          </a:p>
        </p:txBody>
      </p:sp>
      <p:sp>
        <p:nvSpPr>
          <p:cNvPr id="3" name="Shape 1"/>
          <p:cNvSpPr/>
          <p:nvPr/>
        </p:nvSpPr>
        <p:spPr>
          <a:xfrm>
            <a:off x="548640" y="1508760"/>
            <a:ext cx="2656332"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265633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Military or Line Organization</a:t>
            </a:r>
            <a:endParaRPr lang="en-US" sz="1200" dirty="0"/>
          </a:p>
        </p:txBody>
      </p:sp>
      <p:sp>
        <p:nvSpPr>
          <p:cNvPr id="8" name="Shape 5"/>
          <p:cNvSpPr/>
          <p:nvPr/>
        </p:nvSpPr>
        <p:spPr>
          <a:xfrm>
            <a:off x="3351276" y="1508760"/>
            <a:ext cx="2656332" cy="1965960"/>
          </a:xfrm>
          <a:prstGeom prst="roundRect">
            <a:avLst>
              <a:gd name="adj" fmla="val 4186"/>
            </a:avLst>
          </a:prstGeom>
          <a:solidFill>
            <a:srgbClr val="1E2761"/>
          </a:solidFill>
          <a:ln/>
        </p:spPr>
      </p:sp>
      <p:sp>
        <p:nvSpPr>
          <p:cNvPr id="9" name="Shape 6"/>
          <p:cNvSpPr/>
          <p:nvPr/>
        </p:nvSpPr>
        <p:spPr>
          <a:xfrm>
            <a:off x="3515868"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3634740" y="1792224"/>
            <a:ext cx="219456" cy="219456"/>
          </a:xfrm>
          <a:prstGeom prst="rect">
            <a:avLst/>
          </a:prstGeom>
        </p:spPr>
      </p:pic>
      <p:sp>
        <p:nvSpPr>
          <p:cNvPr id="11" name="Text 7"/>
          <p:cNvSpPr/>
          <p:nvPr/>
        </p:nvSpPr>
        <p:spPr>
          <a:xfrm>
            <a:off x="5458968"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3515868"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Line and Staff Organization</a:t>
            </a:r>
            <a:endParaRPr lang="en-US" sz="1200" dirty="0"/>
          </a:p>
        </p:txBody>
      </p:sp>
      <p:sp>
        <p:nvSpPr>
          <p:cNvPr id="13" name="Shape 9"/>
          <p:cNvSpPr/>
          <p:nvPr/>
        </p:nvSpPr>
        <p:spPr>
          <a:xfrm>
            <a:off x="6153912" y="1508760"/>
            <a:ext cx="2656332" cy="1965960"/>
          </a:xfrm>
          <a:prstGeom prst="roundRect">
            <a:avLst>
              <a:gd name="adj" fmla="val 4186"/>
            </a:avLst>
          </a:prstGeom>
          <a:solidFill>
            <a:srgbClr val="1E2761"/>
          </a:solidFill>
          <a:ln/>
        </p:spPr>
      </p:sp>
      <p:sp>
        <p:nvSpPr>
          <p:cNvPr id="14" name="Shape 10"/>
          <p:cNvSpPr/>
          <p:nvPr/>
        </p:nvSpPr>
        <p:spPr>
          <a:xfrm>
            <a:off x="6318504"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6437376" y="1792224"/>
            <a:ext cx="219456" cy="219456"/>
          </a:xfrm>
          <a:prstGeom prst="rect">
            <a:avLst/>
          </a:prstGeom>
        </p:spPr>
      </p:pic>
      <p:sp>
        <p:nvSpPr>
          <p:cNvPr id="16" name="Text 11"/>
          <p:cNvSpPr/>
          <p:nvPr/>
        </p:nvSpPr>
        <p:spPr>
          <a:xfrm>
            <a:off x="826160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6318504"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Functional Organization</a:t>
            </a:r>
            <a:endParaRPr lang="en-US" sz="1200" dirty="0"/>
          </a:p>
        </p:txBody>
      </p:sp>
      <p:sp>
        <p:nvSpPr>
          <p:cNvPr id="18" name="Shape 13"/>
          <p:cNvSpPr/>
          <p:nvPr/>
        </p:nvSpPr>
        <p:spPr>
          <a:xfrm>
            <a:off x="8956548" y="1508760"/>
            <a:ext cx="2656332" cy="1965960"/>
          </a:xfrm>
          <a:prstGeom prst="roundRect">
            <a:avLst>
              <a:gd name="adj" fmla="val 4186"/>
            </a:avLst>
          </a:prstGeom>
          <a:solidFill>
            <a:srgbClr val="1E2761"/>
          </a:solidFill>
          <a:ln/>
        </p:spPr>
      </p:sp>
      <p:sp>
        <p:nvSpPr>
          <p:cNvPr id="19" name="Shape 14"/>
          <p:cNvSpPr/>
          <p:nvPr/>
        </p:nvSpPr>
        <p:spPr>
          <a:xfrm>
            <a:off x="9121140" y="1673352"/>
            <a:ext cx="457200" cy="457200"/>
          </a:xfrm>
          <a:prstGeom prst="ellipse">
            <a:avLst/>
          </a:prstGeom>
          <a:solidFill>
            <a:srgbClr val="C9A24B"/>
          </a:solidFill>
          <a:ln/>
        </p:spPr>
      </p:sp>
      <p:pic>
        <p:nvPicPr>
          <p:cNvPr id="20" name="Image 3" descr="preencoded.png">    </p:cNvPr>
          <p:cNvPicPr>
            <a:picLocks noChangeAspect="1"/>
          </p:cNvPicPr>
          <p:nvPr/>
        </p:nvPicPr>
        <p:blipFill>
          <a:blip r:embed="rId4"/>
          <a:stretch>
            <a:fillRect/>
          </a:stretch>
        </p:blipFill>
        <p:spPr>
          <a:xfrm>
            <a:off x="9240012" y="1792224"/>
            <a:ext cx="219456" cy="219456"/>
          </a:xfrm>
          <a:prstGeom prst="rect">
            <a:avLst/>
          </a:prstGeom>
        </p:spPr>
      </p:pic>
      <p:sp>
        <p:nvSpPr>
          <p:cNvPr id="21" name="Text 15"/>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4</a:t>
            </a:r>
            <a:endParaRPr lang="en-US" sz="1600" dirty="0"/>
          </a:p>
        </p:txBody>
      </p:sp>
      <p:sp>
        <p:nvSpPr>
          <p:cNvPr id="22" name="Text 16"/>
          <p:cNvSpPr/>
          <p:nvPr/>
        </p:nvSpPr>
        <p:spPr>
          <a:xfrm>
            <a:off x="9121140" y="2194560"/>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Project Organization</a:t>
            </a:r>
            <a:endParaRPr lang="en-US" sz="1200" dirty="0"/>
          </a:p>
        </p:txBody>
      </p:sp>
      <p:sp>
        <p:nvSpPr>
          <p:cNvPr id="23" name="Shape 17"/>
          <p:cNvSpPr/>
          <p:nvPr/>
        </p:nvSpPr>
        <p:spPr>
          <a:xfrm>
            <a:off x="548640" y="3675888"/>
            <a:ext cx="2656332" cy="1965960"/>
          </a:xfrm>
          <a:prstGeom prst="roundRect">
            <a:avLst>
              <a:gd name="adj" fmla="val 4186"/>
            </a:avLst>
          </a:prstGeom>
          <a:solidFill>
            <a:srgbClr val="1E2761"/>
          </a:solidFill>
          <a:ln/>
        </p:spPr>
      </p:sp>
      <p:sp>
        <p:nvSpPr>
          <p:cNvPr id="24" name="Shape 18"/>
          <p:cNvSpPr/>
          <p:nvPr/>
        </p:nvSpPr>
        <p:spPr>
          <a:xfrm>
            <a:off x="713232" y="3840480"/>
            <a:ext cx="457200" cy="457200"/>
          </a:xfrm>
          <a:prstGeom prst="ellipse">
            <a:avLst/>
          </a:prstGeom>
          <a:solidFill>
            <a:srgbClr val="C9A24B"/>
          </a:solidFill>
          <a:ln/>
        </p:spPr>
      </p:sp>
      <p:pic>
        <p:nvPicPr>
          <p:cNvPr id="25" name="Image 4" descr="preencoded.png">    </p:cNvPr>
          <p:cNvPicPr>
            <a:picLocks noChangeAspect="1"/>
          </p:cNvPicPr>
          <p:nvPr/>
        </p:nvPicPr>
        <p:blipFill>
          <a:blip r:embed="rId5"/>
          <a:stretch>
            <a:fillRect/>
          </a:stretch>
        </p:blipFill>
        <p:spPr>
          <a:xfrm>
            <a:off x="832104" y="3959352"/>
            <a:ext cx="219456" cy="219456"/>
          </a:xfrm>
          <a:prstGeom prst="rect">
            <a:avLst/>
          </a:prstGeom>
        </p:spPr>
      </p:pic>
      <p:sp>
        <p:nvSpPr>
          <p:cNvPr id="26" name="Text 19"/>
          <p:cNvSpPr/>
          <p:nvPr/>
        </p:nvSpPr>
        <p:spPr>
          <a:xfrm>
            <a:off x="2656332"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5</a:t>
            </a:r>
            <a:endParaRPr lang="en-US" sz="1600" dirty="0"/>
          </a:p>
        </p:txBody>
      </p:sp>
      <p:sp>
        <p:nvSpPr>
          <p:cNvPr id="27" name="Text 20"/>
          <p:cNvSpPr/>
          <p:nvPr/>
        </p:nvSpPr>
        <p:spPr>
          <a:xfrm>
            <a:off x="713232"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Matrix Organization</a:t>
            </a:r>
            <a:endParaRPr lang="en-US" sz="1200" dirty="0"/>
          </a:p>
        </p:txBody>
      </p:sp>
      <p:sp>
        <p:nvSpPr>
          <p:cNvPr id="28" name="Shape 21"/>
          <p:cNvSpPr/>
          <p:nvPr/>
        </p:nvSpPr>
        <p:spPr>
          <a:xfrm>
            <a:off x="3351276" y="3675888"/>
            <a:ext cx="2656332" cy="1965960"/>
          </a:xfrm>
          <a:prstGeom prst="roundRect">
            <a:avLst>
              <a:gd name="adj" fmla="val 4186"/>
            </a:avLst>
          </a:prstGeom>
          <a:solidFill>
            <a:srgbClr val="1E2761"/>
          </a:solidFill>
          <a:ln/>
        </p:spPr>
      </p:sp>
      <p:sp>
        <p:nvSpPr>
          <p:cNvPr id="29" name="Shape 22"/>
          <p:cNvSpPr/>
          <p:nvPr/>
        </p:nvSpPr>
        <p:spPr>
          <a:xfrm>
            <a:off x="3515868" y="3840480"/>
            <a:ext cx="457200" cy="457200"/>
          </a:xfrm>
          <a:prstGeom prst="ellipse">
            <a:avLst/>
          </a:prstGeom>
          <a:solidFill>
            <a:srgbClr val="C9A24B"/>
          </a:solidFill>
          <a:ln/>
        </p:spPr>
      </p:sp>
      <p:pic>
        <p:nvPicPr>
          <p:cNvPr id="30" name="Image 5" descr="preencoded.png">    </p:cNvPr>
          <p:cNvPicPr>
            <a:picLocks noChangeAspect="1"/>
          </p:cNvPicPr>
          <p:nvPr/>
        </p:nvPicPr>
        <p:blipFill>
          <a:blip r:embed="rId6"/>
          <a:stretch>
            <a:fillRect/>
          </a:stretch>
        </p:blipFill>
        <p:spPr>
          <a:xfrm>
            <a:off x="3634740" y="3959352"/>
            <a:ext cx="219456" cy="219456"/>
          </a:xfrm>
          <a:prstGeom prst="rect">
            <a:avLst/>
          </a:prstGeom>
        </p:spPr>
      </p:pic>
      <p:sp>
        <p:nvSpPr>
          <p:cNvPr id="31" name="Text 23"/>
          <p:cNvSpPr/>
          <p:nvPr/>
        </p:nvSpPr>
        <p:spPr>
          <a:xfrm>
            <a:off x="5458968"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6</a:t>
            </a:r>
            <a:endParaRPr lang="en-US" sz="1600" dirty="0"/>
          </a:p>
        </p:txBody>
      </p:sp>
      <p:sp>
        <p:nvSpPr>
          <p:cNvPr id="32" name="Text 24"/>
          <p:cNvSpPr/>
          <p:nvPr/>
        </p:nvSpPr>
        <p:spPr>
          <a:xfrm>
            <a:off x="3515868"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Committee Organization</a:t>
            </a:r>
            <a:endParaRPr lang="en-US" sz="1200" dirty="0"/>
          </a:p>
        </p:txBody>
      </p:sp>
      <p:sp>
        <p:nvSpPr>
          <p:cNvPr id="33" name="Shape 25"/>
          <p:cNvSpPr/>
          <p:nvPr/>
        </p:nvSpPr>
        <p:spPr>
          <a:xfrm>
            <a:off x="6153912" y="3675888"/>
            <a:ext cx="2656332" cy="1965960"/>
          </a:xfrm>
          <a:prstGeom prst="roundRect">
            <a:avLst>
              <a:gd name="adj" fmla="val 4186"/>
            </a:avLst>
          </a:prstGeom>
          <a:solidFill>
            <a:srgbClr val="1E2761"/>
          </a:solidFill>
          <a:ln/>
        </p:spPr>
      </p:sp>
      <p:sp>
        <p:nvSpPr>
          <p:cNvPr id="34" name="Shape 26"/>
          <p:cNvSpPr/>
          <p:nvPr/>
        </p:nvSpPr>
        <p:spPr>
          <a:xfrm>
            <a:off x="6318504" y="3840480"/>
            <a:ext cx="457200" cy="457200"/>
          </a:xfrm>
          <a:prstGeom prst="ellipse">
            <a:avLst/>
          </a:prstGeom>
          <a:solidFill>
            <a:srgbClr val="C9A24B"/>
          </a:solidFill>
          <a:ln/>
        </p:spPr>
      </p:sp>
      <p:pic>
        <p:nvPicPr>
          <p:cNvPr id="35" name="Image 6" descr="preencoded.png">    </p:cNvPr>
          <p:cNvPicPr>
            <a:picLocks noChangeAspect="1"/>
          </p:cNvPicPr>
          <p:nvPr/>
        </p:nvPicPr>
        <p:blipFill>
          <a:blip r:embed="rId7"/>
          <a:stretch>
            <a:fillRect/>
          </a:stretch>
        </p:blipFill>
        <p:spPr>
          <a:xfrm>
            <a:off x="6437376" y="3959352"/>
            <a:ext cx="219456" cy="219456"/>
          </a:xfrm>
          <a:prstGeom prst="rect">
            <a:avLst/>
          </a:prstGeom>
        </p:spPr>
      </p:pic>
      <p:sp>
        <p:nvSpPr>
          <p:cNvPr id="36" name="Text 27"/>
          <p:cNvSpPr/>
          <p:nvPr/>
        </p:nvSpPr>
        <p:spPr>
          <a:xfrm>
            <a:off x="8261604" y="3785616"/>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7</a:t>
            </a:r>
            <a:endParaRPr lang="en-US" sz="1600" dirty="0"/>
          </a:p>
        </p:txBody>
      </p:sp>
      <p:sp>
        <p:nvSpPr>
          <p:cNvPr id="37" name="Text 28"/>
          <p:cNvSpPr/>
          <p:nvPr/>
        </p:nvSpPr>
        <p:spPr>
          <a:xfrm>
            <a:off x="6318504" y="4361688"/>
            <a:ext cx="2327148"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Free-Form Organization</a:t>
            </a:r>
            <a:endParaRPr lang="en-US" sz="1200" dirty="0"/>
          </a:p>
        </p:txBody>
      </p:sp>
      <p:sp>
        <p:nvSpPr>
          <p:cNvPr id="38" name="Text 29"/>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13.1. VARIOUS TYPES OF ORGANIZATION</a:t>
            </a:r>
            <a:endParaRPr lang="en-US" sz="1100" dirty="0"/>
          </a:p>
        </p:txBody>
      </p:sp>
      <p:sp>
        <p:nvSpPr>
          <p:cNvPr id="39" name="Text 30"/>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13.2. TYPES — (1) LINE OR 'MILITARY' ORGANIZATION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Hierarchy of Authority &amp; Flow of Command</a:t>
            </a:r>
            <a:endParaRPr lang="en-US" sz="2700" dirty="0"/>
          </a:p>
        </p:txBody>
      </p:sp>
      <p:sp>
        <p:nvSpPr>
          <p:cNvPr id="4" name="Text 2"/>
          <p:cNvSpPr/>
          <p:nvPr/>
        </p:nvSpPr>
        <p:spPr>
          <a:xfrm>
            <a:off x="548640" y="1645920"/>
            <a:ext cx="5212080" cy="4480560"/>
          </a:xfrm>
          <a:prstGeom prst="rect">
            <a:avLst/>
          </a:prstGeom>
          <a:noFill/>
          <a:ln/>
        </p:spPr>
        <p:txBody>
          <a:bodyPr wrap="square" rtlCol="0" anchor="t"/>
          <a:lstStyle/>
          <a:p>
            <a:pPr indent="0" marL="0">
              <a:lnSpc>
                <a:spcPct val="108000"/>
              </a:lnSpc>
              <a:spcAft>
                <a:spcPts val="800"/>
              </a:spcAft>
              <a:buNone/>
            </a:pPr>
            <a:r>
              <a:rPr lang="en-US" sz="1200" dirty="0">
                <a:solidFill>
                  <a:srgbClr val="2B2B33"/>
                </a:solidFill>
                <a:latin typeface="Calibri" pitchFamily="34" charset="0"/>
                <a:ea typeface="Calibri" pitchFamily="34" charset="-122"/>
                <a:cs typeface="Calibri" pitchFamily="34" charset="-120"/>
              </a:rPr>
              <a:t>By far the oldest form of organization. Persons with greater decision-making authority are placed at the top, and those with the least at the bottom, with intermediate and supervisory levels in between.</a:t>
            </a:r>
            <a:endParaRPr lang="en-US" sz="1200" dirty="0"/>
          </a:p>
          <a:p>
            <a:pPr indent="0" marL="0">
              <a:lnSpc>
                <a:spcPct val="108000"/>
              </a:lnSpc>
              <a:spcAft>
                <a:spcPts val="800"/>
              </a:spcAft>
              <a:buNone/>
            </a:pPr>
            <a:r>
              <a:rPr lang="en-US" sz="1200" dirty="0">
                <a:solidFill>
                  <a:srgbClr val="2B2B33"/>
                </a:solidFill>
                <a:latin typeface="Calibri" pitchFamily="34" charset="0"/>
                <a:ea typeface="Calibri" pitchFamily="34" charset="-122"/>
                <a:cs typeface="Calibri" pitchFamily="34" charset="-120"/>
              </a:rPr>
              <a:t>Line executives are the 'doorstep people' directly involved in the basic activities of the organization — they constitute its backbone.</a:t>
            </a:r>
            <a:endParaRPr lang="en-US" sz="1200" dirty="0"/>
          </a:p>
          <a:p>
            <a:pPr indent="0" marL="0">
              <a:lnSpc>
                <a:spcPct val="108000"/>
              </a:lnSpc>
              <a:spcAft>
                <a:spcPts val="800"/>
              </a:spcAft>
              <a:buNone/>
            </a:pPr>
            <a:r>
              <a:rPr lang="en-US" sz="1200" dirty="0">
                <a:solidFill>
                  <a:srgbClr val="2B2B33"/>
                </a:solidFill>
                <a:latin typeface="Calibri" pitchFamily="34" charset="0"/>
                <a:ea typeface="Calibri" pitchFamily="34" charset="-122"/>
                <a:cs typeface="Calibri" pitchFamily="34" charset="-120"/>
              </a:rPr>
              <a:t>The manager at each level makes decisions within the scope of authority delegated by his boss, then communicates decisions to his subordinates, and so on down the chain. Each person is accountable only to the superior who delegated authority to him, and to none else.</a:t>
            </a:r>
            <a:endParaRPr lang="en-US" sz="1200" dirty="0"/>
          </a:p>
          <a:p>
            <a:pPr indent="0" marL="0">
              <a:lnSpc>
                <a:spcPct val="108000"/>
              </a:lnSpc>
              <a:buNone/>
            </a:pPr>
            <a:r>
              <a:rPr lang="en-US" sz="1200" dirty="0">
                <a:solidFill>
                  <a:srgbClr val="2B2B33"/>
                </a:solidFill>
                <a:latin typeface="Calibri" pitchFamily="34" charset="0"/>
                <a:ea typeface="Calibri" pitchFamily="34" charset="-122"/>
                <a:cs typeface="Calibri" pitchFamily="34" charset="-120"/>
              </a:rPr>
              <a:t>Because authority flows in a vertical line, this is called 'line organization' — and because the army follows the same pattern, it is also called 'military organization.'</a:t>
            </a:r>
            <a:endParaRPr lang="en-US" sz="1200" dirty="0"/>
          </a:p>
        </p:txBody>
      </p:sp>
      <p:sp>
        <p:nvSpPr>
          <p:cNvPr id="5" name="Shape 3"/>
          <p:cNvSpPr/>
          <p:nvPr/>
        </p:nvSpPr>
        <p:spPr>
          <a:xfrm>
            <a:off x="7680960" y="1737360"/>
            <a:ext cx="2011680" cy="411480"/>
          </a:xfrm>
          <a:prstGeom prst="roundRect">
            <a:avLst>
              <a:gd name="adj" fmla="val 11111"/>
            </a:avLst>
          </a:prstGeom>
          <a:solidFill>
            <a:srgbClr val="1E2761"/>
          </a:solidFill>
          <a:ln/>
        </p:spPr>
      </p:sp>
      <p:sp>
        <p:nvSpPr>
          <p:cNvPr id="6" name="Text 4"/>
          <p:cNvSpPr/>
          <p:nvPr/>
        </p:nvSpPr>
        <p:spPr>
          <a:xfrm>
            <a:off x="7680960" y="1737360"/>
            <a:ext cx="2011680" cy="411480"/>
          </a:xfrm>
          <a:prstGeom prst="rect">
            <a:avLst/>
          </a:prstGeom>
          <a:noFill/>
          <a:ln/>
        </p:spPr>
        <p:txBody>
          <a:bodyPr wrap="square"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General Manager</a:t>
            </a:r>
            <a:endParaRPr lang="en-US" sz="1050" dirty="0"/>
          </a:p>
        </p:txBody>
      </p:sp>
      <p:sp>
        <p:nvSpPr>
          <p:cNvPr id="7" name="Shape 5"/>
          <p:cNvSpPr/>
          <p:nvPr/>
        </p:nvSpPr>
        <p:spPr>
          <a:xfrm>
            <a:off x="8686800" y="2148840"/>
            <a:ext cx="0" cy="274320"/>
          </a:xfrm>
          <a:prstGeom prst="line">
            <a:avLst/>
          </a:prstGeom>
          <a:noFill/>
          <a:ln w="19050">
            <a:solidFill>
              <a:srgbClr val="1E2761"/>
            </a:solidFill>
            <a:prstDash val="solid"/>
          </a:ln>
        </p:spPr>
      </p:sp>
      <p:sp>
        <p:nvSpPr>
          <p:cNvPr id="8" name="Shape 6"/>
          <p:cNvSpPr/>
          <p:nvPr/>
        </p:nvSpPr>
        <p:spPr>
          <a:xfrm>
            <a:off x="7132320" y="2423160"/>
            <a:ext cx="3108960" cy="0"/>
          </a:xfrm>
          <a:prstGeom prst="line">
            <a:avLst/>
          </a:prstGeom>
          <a:noFill/>
          <a:ln w="19050">
            <a:solidFill>
              <a:srgbClr val="1E2761"/>
            </a:solidFill>
            <a:prstDash val="solid"/>
          </a:ln>
        </p:spPr>
      </p:sp>
      <p:sp>
        <p:nvSpPr>
          <p:cNvPr id="9" name="Shape 7"/>
          <p:cNvSpPr/>
          <p:nvPr/>
        </p:nvSpPr>
        <p:spPr>
          <a:xfrm>
            <a:off x="8046720" y="2423160"/>
            <a:ext cx="0" cy="182880"/>
          </a:xfrm>
          <a:prstGeom prst="line">
            <a:avLst/>
          </a:prstGeom>
          <a:noFill/>
          <a:ln w="19050">
            <a:solidFill>
              <a:srgbClr val="1E2761"/>
            </a:solidFill>
            <a:prstDash val="solid"/>
          </a:ln>
        </p:spPr>
      </p:sp>
      <p:sp>
        <p:nvSpPr>
          <p:cNvPr id="10" name="Shape 8"/>
          <p:cNvSpPr/>
          <p:nvPr/>
        </p:nvSpPr>
        <p:spPr>
          <a:xfrm>
            <a:off x="7132320" y="2606040"/>
            <a:ext cx="1828800" cy="457200"/>
          </a:xfrm>
          <a:prstGeom prst="roundRect">
            <a:avLst>
              <a:gd name="adj" fmla="val 10000"/>
            </a:avLst>
          </a:prstGeom>
          <a:solidFill>
            <a:srgbClr val="3A4A8C"/>
          </a:solidFill>
          <a:ln/>
        </p:spPr>
      </p:sp>
      <p:sp>
        <p:nvSpPr>
          <p:cNvPr id="11" name="Text 9"/>
          <p:cNvSpPr/>
          <p:nvPr/>
        </p:nvSpPr>
        <p:spPr>
          <a:xfrm>
            <a:off x="7132320" y="2606040"/>
            <a:ext cx="182880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 of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Eastern Division</a:t>
            </a:r>
            <a:endParaRPr lang="en-US" sz="900" dirty="0"/>
          </a:p>
        </p:txBody>
      </p:sp>
      <p:sp>
        <p:nvSpPr>
          <p:cNvPr id="12" name="Shape 10"/>
          <p:cNvSpPr/>
          <p:nvPr/>
        </p:nvSpPr>
        <p:spPr>
          <a:xfrm>
            <a:off x="9692640" y="2423160"/>
            <a:ext cx="0" cy="182880"/>
          </a:xfrm>
          <a:prstGeom prst="line">
            <a:avLst/>
          </a:prstGeom>
          <a:noFill/>
          <a:ln w="19050">
            <a:solidFill>
              <a:srgbClr val="1E2761"/>
            </a:solidFill>
            <a:prstDash val="solid"/>
          </a:ln>
        </p:spPr>
      </p:sp>
      <p:sp>
        <p:nvSpPr>
          <p:cNvPr id="13" name="Shape 11"/>
          <p:cNvSpPr/>
          <p:nvPr/>
        </p:nvSpPr>
        <p:spPr>
          <a:xfrm>
            <a:off x="8778240" y="2606040"/>
            <a:ext cx="1828800" cy="457200"/>
          </a:xfrm>
          <a:prstGeom prst="roundRect">
            <a:avLst>
              <a:gd name="adj" fmla="val 10000"/>
            </a:avLst>
          </a:prstGeom>
          <a:solidFill>
            <a:srgbClr val="3A4A8C"/>
          </a:solidFill>
          <a:ln/>
        </p:spPr>
      </p:sp>
      <p:sp>
        <p:nvSpPr>
          <p:cNvPr id="14" name="Text 12"/>
          <p:cNvSpPr/>
          <p:nvPr/>
        </p:nvSpPr>
        <p:spPr>
          <a:xfrm>
            <a:off x="8778240" y="2606040"/>
            <a:ext cx="1828800" cy="4572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Manager of</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Western Division</a:t>
            </a:r>
            <a:endParaRPr lang="en-US" sz="900" dirty="0"/>
          </a:p>
        </p:txBody>
      </p:sp>
      <p:sp>
        <p:nvSpPr>
          <p:cNvPr id="15" name="Shape 13"/>
          <p:cNvSpPr/>
          <p:nvPr/>
        </p:nvSpPr>
        <p:spPr>
          <a:xfrm>
            <a:off x="8046720" y="3063240"/>
            <a:ext cx="0" cy="137160"/>
          </a:xfrm>
          <a:prstGeom prst="line">
            <a:avLst/>
          </a:prstGeom>
          <a:noFill/>
          <a:ln w="15875">
            <a:solidFill>
              <a:srgbClr val="1E2761"/>
            </a:solidFill>
            <a:prstDash val="solid"/>
          </a:ln>
        </p:spPr>
      </p:sp>
      <p:sp>
        <p:nvSpPr>
          <p:cNvPr id="16" name="Shape 14"/>
          <p:cNvSpPr/>
          <p:nvPr/>
        </p:nvSpPr>
        <p:spPr>
          <a:xfrm>
            <a:off x="7040880" y="3200400"/>
            <a:ext cx="1280160" cy="0"/>
          </a:xfrm>
          <a:prstGeom prst="line">
            <a:avLst/>
          </a:prstGeom>
          <a:noFill/>
          <a:ln w="15875">
            <a:solidFill>
              <a:srgbClr val="1E2761"/>
            </a:solidFill>
            <a:prstDash val="solid"/>
          </a:ln>
        </p:spPr>
      </p:sp>
      <p:sp>
        <p:nvSpPr>
          <p:cNvPr id="17" name="Shape 15"/>
          <p:cNvSpPr/>
          <p:nvPr/>
        </p:nvSpPr>
        <p:spPr>
          <a:xfrm>
            <a:off x="7269480" y="3200400"/>
            <a:ext cx="0" cy="109728"/>
          </a:xfrm>
          <a:prstGeom prst="line">
            <a:avLst/>
          </a:prstGeom>
          <a:noFill/>
          <a:ln w="12700">
            <a:solidFill>
              <a:srgbClr val="1E2761"/>
            </a:solidFill>
            <a:prstDash val="solid"/>
          </a:ln>
        </p:spPr>
      </p:sp>
      <p:sp>
        <p:nvSpPr>
          <p:cNvPr id="18" name="Shape 16"/>
          <p:cNvSpPr/>
          <p:nvPr/>
        </p:nvSpPr>
        <p:spPr>
          <a:xfrm>
            <a:off x="6995160" y="3310128"/>
            <a:ext cx="566928" cy="365760"/>
          </a:xfrm>
          <a:prstGeom prst="rect">
            <a:avLst/>
          </a:prstGeom>
          <a:solidFill>
            <a:srgbClr val="EEF3FC"/>
          </a:solidFill>
          <a:ln w="9525">
            <a:solidFill>
              <a:srgbClr val="1E2761"/>
            </a:solidFill>
            <a:prstDash val="solid"/>
          </a:ln>
        </p:spPr>
      </p:sp>
      <p:sp>
        <p:nvSpPr>
          <p:cNvPr id="19" name="Text 17"/>
          <p:cNvSpPr/>
          <p:nvPr/>
        </p:nvSpPr>
        <p:spPr>
          <a:xfrm>
            <a:off x="6995160" y="3310128"/>
            <a:ext cx="566928" cy="365760"/>
          </a:xfrm>
          <a:prstGeom prst="rect">
            <a:avLst/>
          </a:prstGeom>
          <a:noFill/>
          <a:ln/>
        </p:spPr>
        <p:txBody>
          <a:bodyPr wrap="square" rtlCol="0" anchor="ctr"/>
          <a:lstStyle/>
          <a:p>
            <a:pPr algn="ctr" indent="0" marL="0">
              <a:buNone/>
            </a:pPr>
            <a:r>
              <a:rPr lang="en-US" sz="750" dirty="0">
                <a:solidFill>
                  <a:srgbClr val="1E2761"/>
                </a:solidFill>
                <a:latin typeface="Calibri" pitchFamily="34" charset="0"/>
                <a:ea typeface="Calibri" pitchFamily="34" charset="-122"/>
                <a:cs typeface="Calibri" pitchFamily="34" charset="-120"/>
              </a:rPr>
              <a:t>Dist. 1</a:t>
            </a:r>
            <a:endParaRPr lang="en-US" sz="750" dirty="0"/>
          </a:p>
        </p:txBody>
      </p:sp>
      <p:sp>
        <p:nvSpPr>
          <p:cNvPr id="20" name="Shape 18"/>
          <p:cNvSpPr/>
          <p:nvPr/>
        </p:nvSpPr>
        <p:spPr>
          <a:xfrm>
            <a:off x="7927848" y="3200400"/>
            <a:ext cx="0" cy="109728"/>
          </a:xfrm>
          <a:prstGeom prst="line">
            <a:avLst/>
          </a:prstGeom>
          <a:noFill/>
          <a:ln w="12700">
            <a:solidFill>
              <a:srgbClr val="1E2761"/>
            </a:solidFill>
            <a:prstDash val="solid"/>
          </a:ln>
        </p:spPr>
      </p:sp>
      <p:sp>
        <p:nvSpPr>
          <p:cNvPr id="21" name="Shape 19"/>
          <p:cNvSpPr/>
          <p:nvPr/>
        </p:nvSpPr>
        <p:spPr>
          <a:xfrm>
            <a:off x="7653528" y="3310128"/>
            <a:ext cx="566928" cy="365760"/>
          </a:xfrm>
          <a:prstGeom prst="rect">
            <a:avLst/>
          </a:prstGeom>
          <a:solidFill>
            <a:srgbClr val="EEF3FC"/>
          </a:solidFill>
          <a:ln w="9525">
            <a:solidFill>
              <a:srgbClr val="1E2761"/>
            </a:solidFill>
            <a:prstDash val="solid"/>
          </a:ln>
        </p:spPr>
      </p:sp>
      <p:sp>
        <p:nvSpPr>
          <p:cNvPr id="22" name="Text 20"/>
          <p:cNvSpPr/>
          <p:nvPr/>
        </p:nvSpPr>
        <p:spPr>
          <a:xfrm>
            <a:off x="7653528" y="3310128"/>
            <a:ext cx="566928" cy="365760"/>
          </a:xfrm>
          <a:prstGeom prst="rect">
            <a:avLst/>
          </a:prstGeom>
          <a:noFill/>
          <a:ln/>
        </p:spPr>
        <p:txBody>
          <a:bodyPr wrap="square" rtlCol="0" anchor="ctr"/>
          <a:lstStyle/>
          <a:p>
            <a:pPr algn="ctr" indent="0" marL="0">
              <a:buNone/>
            </a:pPr>
            <a:r>
              <a:rPr lang="en-US" sz="750" dirty="0">
                <a:solidFill>
                  <a:srgbClr val="1E2761"/>
                </a:solidFill>
                <a:latin typeface="Calibri" pitchFamily="34" charset="0"/>
                <a:ea typeface="Calibri" pitchFamily="34" charset="-122"/>
                <a:cs typeface="Calibri" pitchFamily="34" charset="-120"/>
              </a:rPr>
              <a:t>Dist. 2</a:t>
            </a:r>
            <a:endParaRPr lang="en-US" sz="750" dirty="0"/>
          </a:p>
        </p:txBody>
      </p:sp>
      <p:sp>
        <p:nvSpPr>
          <p:cNvPr id="23" name="Shape 21"/>
          <p:cNvSpPr/>
          <p:nvPr/>
        </p:nvSpPr>
        <p:spPr>
          <a:xfrm>
            <a:off x="8586216" y="3200400"/>
            <a:ext cx="0" cy="109728"/>
          </a:xfrm>
          <a:prstGeom prst="line">
            <a:avLst/>
          </a:prstGeom>
          <a:noFill/>
          <a:ln w="12700">
            <a:solidFill>
              <a:srgbClr val="1E2761"/>
            </a:solidFill>
            <a:prstDash val="solid"/>
          </a:ln>
        </p:spPr>
      </p:sp>
      <p:sp>
        <p:nvSpPr>
          <p:cNvPr id="24" name="Shape 22"/>
          <p:cNvSpPr/>
          <p:nvPr/>
        </p:nvSpPr>
        <p:spPr>
          <a:xfrm>
            <a:off x="8311896" y="3310128"/>
            <a:ext cx="566928" cy="365760"/>
          </a:xfrm>
          <a:prstGeom prst="rect">
            <a:avLst/>
          </a:prstGeom>
          <a:solidFill>
            <a:srgbClr val="EEF3FC"/>
          </a:solidFill>
          <a:ln w="9525">
            <a:solidFill>
              <a:srgbClr val="1E2761"/>
            </a:solidFill>
            <a:prstDash val="solid"/>
          </a:ln>
        </p:spPr>
      </p:sp>
      <p:sp>
        <p:nvSpPr>
          <p:cNvPr id="25" name="Text 23"/>
          <p:cNvSpPr/>
          <p:nvPr/>
        </p:nvSpPr>
        <p:spPr>
          <a:xfrm>
            <a:off x="8311896" y="3310128"/>
            <a:ext cx="566928" cy="365760"/>
          </a:xfrm>
          <a:prstGeom prst="rect">
            <a:avLst/>
          </a:prstGeom>
          <a:noFill/>
          <a:ln/>
        </p:spPr>
        <p:txBody>
          <a:bodyPr wrap="square" rtlCol="0" anchor="ctr"/>
          <a:lstStyle/>
          <a:p>
            <a:pPr algn="ctr" indent="0" marL="0">
              <a:buNone/>
            </a:pPr>
            <a:r>
              <a:rPr lang="en-US" sz="750" dirty="0">
                <a:solidFill>
                  <a:srgbClr val="1E2761"/>
                </a:solidFill>
                <a:latin typeface="Calibri" pitchFamily="34" charset="0"/>
                <a:ea typeface="Calibri" pitchFamily="34" charset="-122"/>
                <a:cs typeface="Calibri" pitchFamily="34" charset="-120"/>
              </a:rPr>
              <a:t>Dist. 3</a:t>
            </a:r>
            <a:endParaRPr lang="en-US" sz="750" dirty="0"/>
          </a:p>
        </p:txBody>
      </p:sp>
      <p:sp>
        <p:nvSpPr>
          <p:cNvPr id="26" name="Shape 24"/>
          <p:cNvSpPr/>
          <p:nvPr/>
        </p:nvSpPr>
        <p:spPr>
          <a:xfrm>
            <a:off x="9692640" y="3063240"/>
            <a:ext cx="0" cy="137160"/>
          </a:xfrm>
          <a:prstGeom prst="line">
            <a:avLst/>
          </a:prstGeom>
          <a:noFill/>
          <a:ln w="15875">
            <a:solidFill>
              <a:srgbClr val="1E2761"/>
            </a:solidFill>
            <a:prstDash val="solid"/>
          </a:ln>
        </p:spPr>
      </p:sp>
      <p:sp>
        <p:nvSpPr>
          <p:cNvPr id="27" name="Shape 25"/>
          <p:cNvSpPr/>
          <p:nvPr/>
        </p:nvSpPr>
        <p:spPr>
          <a:xfrm>
            <a:off x="9098280" y="3200400"/>
            <a:ext cx="822960" cy="0"/>
          </a:xfrm>
          <a:prstGeom prst="line">
            <a:avLst/>
          </a:prstGeom>
          <a:noFill/>
          <a:ln w="15875">
            <a:solidFill>
              <a:srgbClr val="1E2761"/>
            </a:solidFill>
            <a:prstDash val="solid"/>
          </a:ln>
        </p:spPr>
      </p:sp>
      <p:sp>
        <p:nvSpPr>
          <p:cNvPr id="28" name="Shape 26"/>
          <p:cNvSpPr/>
          <p:nvPr/>
        </p:nvSpPr>
        <p:spPr>
          <a:xfrm>
            <a:off x="9326880" y="3200400"/>
            <a:ext cx="0" cy="109728"/>
          </a:xfrm>
          <a:prstGeom prst="line">
            <a:avLst/>
          </a:prstGeom>
          <a:noFill/>
          <a:ln w="12700">
            <a:solidFill>
              <a:srgbClr val="1E2761"/>
            </a:solidFill>
            <a:prstDash val="solid"/>
          </a:ln>
        </p:spPr>
      </p:sp>
      <p:sp>
        <p:nvSpPr>
          <p:cNvPr id="29" name="Shape 27"/>
          <p:cNvSpPr/>
          <p:nvPr/>
        </p:nvSpPr>
        <p:spPr>
          <a:xfrm>
            <a:off x="9052560" y="3310128"/>
            <a:ext cx="566928" cy="365760"/>
          </a:xfrm>
          <a:prstGeom prst="rect">
            <a:avLst/>
          </a:prstGeom>
          <a:solidFill>
            <a:srgbClr val="EEF3FC"/>
          </a:solidFill>
          <a:ln w="9525">
            <a:solidFill>
              <a:srgbClr val="1E2761"/>
            </a:solidFill>
            <a:prstDash val="solid"/>
          </a:ln>
        </p:spPr>
      </p:sp>
      <p:sp>
        <p:nvSpPr>
          <p:cNvPr id="30" name="Text 28"/>
          <p:cNvSpPr/>
          <p:nvPr/>
        </p:nvSpPr>
        <p:spPr>
          <a:xfrm>
            <a:off x="9052560" y="3310128"/>
            <a:ext cx="566928" cy="365760"/>
          </a:xfrm>
          <a:prstGeom prst="rect">
            <a:avLst/>
          </a:prstGeom>
          <a:noFill/>
          <a:ln/>
        </p:spPr>
        <p:txBody>
          <a:bodyPr wrap="square" rtlCol="0" anchor="ctr"/>
          <a:lstStyle/>
          <a:p>
            <a:pPr algn="ctr" indent="0" marL="0">
              <a:buNone/>
            </a:pPr>
            <a:r>
              <a:rPr lang="en-US" sz="750" dirty="0">
                <a:solidFill>
                  <a:srgbClr val="1E2761"/>
                </a:solidFill>
                <a:latin typeface="Calibri" pitchFamily="34" charset="0"/>
                <a:ea typeface="Calibri" pitchFamily="34" charset="-122"/>
                <a:cs typeface="Calibri" pitchFamily="34" charset="-120"/>
              </a:rPr>
              <a:t>Dist. 4</a:t>
            </a:r>
            <a:endParaRPr lang="en-US" sz="750" dirty="0"/>
          </a:p>
        </p:txBody>
      </p:sp>
      <p:sp>
        <p:nvSpPr>
          <p:cNvPr id="31" name="Shape 29"/>
          <p:cNvSpPr/>
          <p:nvPr/>
        </p:nvSpPr>
        <p:spPr>
          <a:xfrm>
            <a:off x="9985248" y="3200400"/>
            <a:ext cx="0" cy="109728"/>
          </a:xfrm>
          <a:prstGeom prst="line">
            <a:avLst/>
          </a:prstGeom>
          <a:noFill/>
          <a:ln w="12700">
            <a:solidFill>
              <a:srgbClr val="1E2761"/>
            </a:solidFill>
            <a:prstDash val="solid"/>
          </a:ln>
        </p:spPr>
      </p:sp>
      <p:sp>
        <p:nvSpPr>
          <p:cNvPr id="32" name="Shape 30"/>
          <p:cNvSpPr/>
          <p:nvPr/>
        </p:nvSpPr>
        <p:spPr>
          <a:xfrm>
            <a:off x="9710928" y="3310128"/>
            <a:ext cx="566928" cy="365760"/>
          </a:xfrm>
          <a:prstGeom prst="rect">
            <a:avLst/>
          </a:prstGeom>
          <a:solidFill>
            <a:srgbClr val="EEF3FC"/>
          </a:solidFill>
          <a:ln w="9525">
            <a:solidFill>
              <a:srgbClr val="1E2761"/>
            </a:solidFill>
            <a:prstDash val="solid"/>
          </a:ln>
        </p:spPr>
      </p:sp>
      <p:sp>
        <p:nvSpPr>
          <p:cNvPr id="33" name="Text 31"/>
          <p:cNvSpPr/>
          <p:nvPr/>
        </p:nvSpPr>
        <p:spPr>
          <a:xfrm>
            <a:off x="9710928" y="3310128"/>
            <a:ext cx="566928" cy="365760"/>
          </a:xfrm>
          <a:prstGeom prst="rect">
            <a:avLst/>
          </a:prstGeom>
          <a:noFill/>
          <a:ln/>
        </p:spPr>
        <p:txBody>
          <a:bodyPr wrap="square" rtlCol="0" anchor="ctr"/>
          <a:lstStyle/>
          <a:p>
            <a:pPr algn="ctr" indent="0" marL="0">
              <a:buNone/>
            </a:pPr>
            <a:r>
              <a:rPr lang="en-US" sz="750" dirty="0">
                <a:solidFill>
                  <a:srgbClr val="1E2761"/>
                </a:solidFill>
                <a:latin typeface="Calibri" pitchFamily="34" charset="0"/>
                <a:ea typeface="Calibri" pitchFamily="34" charset="-122"/>
                <a:cs typeface="Calibri" pitchFamily="34" charset="-120"/>
              </a:rPr>
              <a:t>Dist. 5</a:t>
            </a:r>
            <a:endParaRPr lang="en-US" sz="750" dirty="0"/>
          </a:p>
        </p:txBody>
      </p:sp>
      <p:sp>
        <p:nvSpPr>
          <p:cNvPr id="34" name="Text 32"/>
          <p:cNvSpPr/>
          <p:nvPr/>
        </p:nvSpPr>
        <p:spPr>
          <a:xfrm>
            <a:off x="6949440" y="3931920"/>
            <a:ext cx="3840480" cy="731520"/>
          </a:xfrm>
          <a:prstGeom prst="rect">
            <a:avLst/>
          </a:prstGeom>
          <a:noFill/>
          <a:ln/>
        </p:spPr>
        <p:txBody>
          <a:bodyPr wrap="square"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Line executives are called the organization's ‘backbone’ — like an army's chain of command from General down to platoon.</a:t>
            </a:r>
            <a:endParaRPr lang="en-US" sz="1050" dirty="0"/>
          </a:p>
        </p:txBody>
      </p:sp>
      <p:sp>
        <p:nvSpPr>
          <p:cNvPr id="35" name="Text 3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13.2 LINE OR MILITARY ORGANIZATION</a:t>
            </a:r>
            <a:endParaRPr lang="en-US" sz="1100" dirty="0"/>
          </a:p>
        </p:txBody>
      </p:sp>
      <p:sp>
        <p:nvSpPr>
          <p:cNvPr id="36" name="Text 3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D</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14.2 – 14.5</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Authority — Concept, Characteristics, Power &amp; Sources</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What authority really means, how it differs from mere power, and where it ultimately comes from.</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 CONCEPT OR MEANING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Legal Power &amp; Key Definitions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Authority means a formal, institutional or legal power in a particular job, function or position, that empowers the holder to successfully perform his task.</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Barnard: Authority is the character of a communication (order) in a formal organization, by virtue of which it is accepted by a contributor to, or member of, the organization as governing what he does or does not do.</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Simon: Authority is the power to make decisions which guide the action of another. It is a relationship between two individuals — a superior who frames and transmits decisions, and a subordinate who is expected to accept and comply with them.</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Formal Right to Act</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newly-appointed branch manager can sign cheques up to a limit from day one — not because of personal skill yet, but because the position itself carries that authority.</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 CONCEPT OR MEANING OF 'AUTHORITY'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14.3. CHARACTERISTICS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Defining Features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Drives Staff to Perform Assigned Tasks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Authority means the right to influence behavior, flowing from a legal-institutional framework, tradition, or the charisma of a person. Shareholders delegate authority to directors because Company Law gives them this right.</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Only the Authority-Holder Can Decide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Decision-making is the main feature of authority. A manager has authority to order subordinates to act, or not act, in a particular manner — because he has made a decision about their work behavior.</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Exercise May Have an Element of Subjectivity</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manager's decision to reward or punish is often influenced by personal likes/dislikes and socio-economic, educational and cultural background — not purely by the formal legal framework.</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14.3. CHARACTERISTICS OF AUTHORITY</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14.4. DISTINCTION BETWEEN 'POWER' AND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Meaning of Power</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(a) Power refers to the ability or potential to influence others' behavior, whether or not backed by legal/formal authority. Authority means the legal, formal right to give orders and take decisions.</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(b) Power is in-built in an individual's personality; official authority only gives the right to direct resources within the prescribed framework.</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(c) Power comes from an individual's superior knowledge/expertise; authority flows from the position or office held.</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(d) Exercise of power is not always dependent on one's position in the authority-structure.</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(e) Exercise of power may not always be legitimate or strictly legal, while authority is always backed by legitimacy.</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Power Without a Title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Anna Hazare raised a nationwide movement against political corruption without holding any formal position or authority — pure influence, from personal credibility.</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14.4. DISTINCTION BETWEEN 'POWER' AND 'AUTHORITY'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14.4. DISTINCTION BETWEEN 'POWER' AND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(2)–(4) Submission, Matching Needs &amp; Influencing Behavior</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Why Subordinates Submit to Authority</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People obey the manager because he controls resources they need for financial, security and social needs. But submission is not always willing — lack of willing acceptance breeds indifference, affecting output quality and quantity.</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Matching Needs Brings Willing Performance</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Only rules, regulations and orders that satisfy workers' needs, desires and aspirations secure willing compliance — fair wage, job security, safe conditions, congenial atmosphere, growth opportunity, and respect.</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Ideal Way to Influence Worker Behavior</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best way to earn willing compliance is to involve workers themselves in decision-making — they will work wholeheartedly to implement a decision they had a hand in making, boosting their ego and commitment.</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14.4. DISTINCTION BETWEEN 'POWER' AND 'AUTHORITY'</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1B48"/>
        </a:solidFill>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14.5. THEORIES OF 'SOURCES OF AUTHORITY'</a:t>
            </a:r>
            <a:endParaRPr lang="en-US" sz="2000" dirty="0"/>
          </a:p>
        </p:txBody>
      </p:sp>
      <p:sp>
        <p:nvSpPr>
          <p:cNvPr id="3" name="Shape 1"/>
          <p:cNvSpPr/>
          <p:nvPr/>
        </p:nvSpPr>
        <p:spPr>
          <a:xfrm>
            <a:off x="548640" y="1508760"/>
            <a:ext cx="3590544" cy="1965960"/>
          </a:xfrm>
          <a:prstGeom prst="roundRect">
            <a:avLst>
              <a:gd name="adj" fmla="val 4186"/>
            </a:avLst>
          </a:prstGeom>
          <a:solidFill>
            <a:srgbClr val="1E2761"/>
          </a:solidFill>
          <a:ln/>
        </p:spPr>
      </p:sp>
      <p:sp>
        <p:nvSpPr>
          <p:cNvPr id="4" name="Shape 2"/>
          <p:cNvSpPr/>
          <p:nvPr/>
        </p:nvSpPr>
        <p:spPr>
          <a:xfrm>
            <a:off x="713232" y="1673352"/>
            <a:ext cx="457200" cy="457200"/>
          </a:xfrm>
          <a:prstGeom prst="ellipse">
            <a:avLst/>
          </a:prstGeom>
          <a:solidFill>
            <a:srgbClr val="C9A24B"/>
          </a:solidFill>
          <a:ln/>
        </p:spPr>
      </p:sp>
      <p:pic>
        <p:nvPicPr>
          <p:cNvPr id="5" name="Image 0" descr="preencoded.png">    </p:cNvPr>
          <p:cNvPicPr>
            <a:picLocks noChangeAspect="1"/>
          </p:cNvPicPr>
          <p:nvPr/>
        </p:nvPicPr>
        <p:blipFill>
          <a:blip r:embed="rId1"/>
          <a:stretch>
            <a:fillRect/>
          </a:stretch>
        </p:blipFill>
        <p:spPr>
          <a:xfrm>
            <a:off x="832104" y="1792224"/>
            <a:ext cx="219456" cy="219456"/>
          </a:xfrm>
          <a:prstGeom prst="rect">
            <a:avLst/>
          </a:prstGeom>
        </p:spPr>
      </p:pic>
      <p:sp>
        <p:nvSpPr>
          <p:cNvPr id="6" name="Text 3"/>
          <p:cNvSpPr/>
          <p:nvPr/>
        </p:nvSpPr>
        <p:spPr>
          <a:xfrm>
            <a:off x="3590544"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1</a:t>
            </a:r>
            <a:endParaRPr lang="en-US" sz="1600" dirty="0"/>
          </a:p>
        </p:txBody>
      </p:sp>
      <p:sp>
        <p:nvSpPr>
          <p:cNvPr id="7" name="Text 4"/>
          <p:cNvSpPr/>
          <p:nvPr/>
        </p:nvSpPr>
        <p:spPr>
          <a:xfrm>
            <a:off x="713232"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'Formal', 'Traditional', or 'Top-Down' Theory</a:t>
            </a:r>
            <a:endParaRPr lang="en-US" sz="1200" dirty="0"/>
          </a:p>
        </p:txBody>
      </p:sp>
      <p:sp>
        <p:nvSpPr>
          <p:cNvPr id="8" name="Shape 5"/>
          <p:cNvSpPr/>
          <p:nvPr/>
        </p:nvSpPr>
        <p:spPr>
          <a:xfrm>
            <a:off x="4285488" y="1508760"/>
            <a:ext cx="3590544" cy="1965960"/>
          </a:xfrm>
          <a:prstGeom prst="roundRect">
            <a:avLst>
              <a:gd name="adj" fmla="val 4186"/>
            </a:avLst>
          </a:prstGeom>
          <a:solidFill>
            <a:srgbClr val="1E2761"/>
          </a:solidFill>
          <a:ln/>
        </p:spPr>
      </p:sp>
      <p:sp>
        <p:nvSpPr>
          <p:cNvPr id="9" name="Shape 6"/>
          <p:cNvSpPr/>
          <p:nvPr/>
        </p:nvSpPr>
        <p:spPr>
          <a:xfrm>
            <a:off x="4450080" y="1673352"/>
            <a:ext cx="457200" cy="457200"/>
          </a:xfrm>
          <a:prstGeom prst="ellipse">
            <a:avLst/>
          </a:prstGeom>
          <a:solidFill>
            <a:srgbClr val="C9A24B"/>
          </a:solidFill>
          <a:ln/>
        </p:spPr>
      </p:sp>
      <p:pic>
        <p:nvPicPr>
          <p:cNvPr id="10" name="Image 1" descr="preencoded.png">    </p:cNvPr>
          <p:cNvPicPr>
            <a:picLocks noChangeAspect="1"/>
          </p:cNvPicPr>
          <p:nvPr/>
        </p:nvPicPr>
        <p:blipFill>
          <a:blip r:embed="rId2"/>
          <a:stretch>
            <a:fillRect/>
          </a:stretch>
        </p:blipFill>
        <p:spPr>
          <a:xfrm>
            <a:off x="4568952" y="1792224"/>
            <a:ext cx="219456" cy="219456"/>
          </a:xfrm>
          <a:prstGeom prst="rect">
            <a:avLst/>
          </a:prstGeom>
        </p:spPr>
      </p:pic>
      <p:sp>
        <p:nvSpPr>
          <p:cNvPr id="11" name="Text 7"/>
          <p:cNvSpPr/>
          <p:nvPr/>
        </p:nvSpPr>
        <p:spPr>
          <a:xfrm>
            <a:off x="7327392"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2</a:t>
            </a:r>
            <a:endParaRPr lang="en-US" sz="1600" dirty="0"/>
          </a:p>
        </p:txBody>
      </p:sp>
      <p:sp>
        <p:nvSpPr>
          <p:cNvPr id="12" name="Text 8"/>
          <p:cNvSpPr/>
          <p:nvPr/>
        </p:nvSpPr>
        <p:spPr>
          <a:xfrm>
            <a:off x="4450080"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'Acceptance' or 'Bottom-Up' Theory</a:t>
            </a:r>
            <a:endParaRPr lang="en-US" sz="1200" dirty="0"/>
          </a:p>
        </p:txBody>
      </p:sp>
      <p:sp>
        <p:nvSpPr>
          <p:cNvPr id="13" name="Shape 9"/>
          <p:cNvSpPr/>
          <p:nvPr/>
        </p:nvSpPr>
        <p:spPr>
          <a:xfrm>
            <a:off x="8022336" y="1508760"/>
            <a:ext cx="3590544" cy="1965960"/>
          </a:xfrm>
          <a:prstGeom prst="roundRect">
            <a:avLst>
              <a:gd name="adj" fmla="val 4186"/>
            </a:avLst>
          </a:prstGeom>
          <a:solidFill>
            <a:srgbClr val="1E2761"/>
          </a:solidFill>
          <a:ln/>
        </p:spPr>
      </p:sp>
      <p:sp>
        <p:nvSpPr>
          <p:cNvPr id="14" name="Shape 10"/>
          <p:cNvSpPr/>
          <p:nvPr/>
        </p:nvSpPr>
        <p:spPr>
          <a:xfrm>
            <a:off x="8186928" y="1673352"/>
            <a:ext cx="457200" cy="457200"/>
          </a:xfrm>
          <a:prstGeom prst="ellipse">
            <a:avLst/>
          </a:prstGeom>
          <a:solidFill>
            <a:srgbClr val="C9A24B"/>
          </a:solidFill>
          <a:ln/>
        </p:spPr>
      </p:sp>
      <p:pic>
        <p:nvPicPr>
          <p:cNvPr id="15" name="Image 2" descr="preencoded.png">    </p:cNvPr>
          <p:cNvPicPr>
            <a:picLocks noChangeAspect="1"/>
          </p:cNvPicPr>
          <p:nvPr/>
        </p:nvPicPr>
        <p:blipFill>
          <a:blip r:embed="rId3"/>
          <a:stretch>
            <a:fillRect/>
          </a:stretch>
        </p:blipFill>
        <p:spPr>
          <a:xfrm>
            <a:off x="8305800" y="1792224"/>
            <a:ext cx="219456" cy="219456"/>
          </a:xfrm>
          <a:prstGeom prst="rect">
            <a:avLst/>
          </a:prstGeom>
        </p:spPr>
      </p:pic>
      <p:sp>
        <p:nvSpPr>
          <p:cNvPr id="16" name="Text 11"/>
          <p:cNvSpPr/>
          <p:nvPr/>
        </p:nvSpPr>
        <p:spPr>
          <a:xfrm>
            <a:off x="11064240" y="1618488"/>
            <a:ext cx="411480" cy="365760"/>
          </a:xfrm>
          <a:prstGeom prst="rect">
            <a:avLst/>
          </a:prstGeom>
          <a:noFill/>
          <a:ln/>
        </p:spPr>
        <p:txBody>
          <a:bodyPr wrap="square" lIns="0" tIns="0" rIns="0" bIns="0" rtlCol="0" anchor="ctr"/>
          <a:lstStyle/>
          <a:p>
            <a:pPr algn="r" indent="0" marL="0">
              <a:buNone/>
            </a:pPr>
            <a:r>
              <a:rPr lang="en-US" sz="1600" b="1" dirty="0">
                <a:solidFill>
                  <a:srgbClr val="C9A24B"/>
                </a:solidFill>
                <a:latin typeface="Cambria" pitchFamily="34" charset="0"/>
                <a:ea typeface="Cambria" pitchFamily="34" charset="-122"/>
                <a:cs typeface="Cambria" pitchFamily="34" charset="-120"/>
              </a:rPr>
              <a:t>3</a:t>
            </a:r>
            <a:endParaRPr lang="en-US" sz="1600" dirty="0"/>
          </a:p>
        </p:txBody>
      </p:sp>
      <p:sp>
        <p:nvSpPr>
          <p:cNvPr id="17" name="Text 12"/>
          <p:cNvSpPr/>
          <p:nvPr/>
        </p:nvSpPr>
        <p:spPr>
          <a:xfrm>
            <a:off x="8186928" y="2194560"/>
            <a:ext cx="3261360" cy="118872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'Competence' or 'Personal Authority' Theory</a:t>
            </a:r>
            <a:endParaRPr lang="en-US" sz="1200" dirty="0"/>
          </a:p>
        </p:txBody>
      </p:sp>
      <p:sp>
        <p:nvSpPr>
          <p:cNvPr id="18" name="Text 1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14.5. THEORIES OF 'SOURCES OF AUTHORITY'</a:t>
            </a:r>
            <a:endParaRPr lang="en-US" sz="1100" dirty="0"/>
          </a:p>
        </p:txBody>
      </p:sp>
      <p:sp>
        <p:nvSpPr>
          <p:cNvPr id="19" name="Text 1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14.5. THEORIES OF 'SOURCES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 'Formal', 'Traditional', or 'Top-Down' Theory</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Formal authority flows from law, rules, and regulations framed by, or with the consent of, all stakeholders. Shareholders are the source of all legal authority to control and manage a company's affairs, and delegate it, through legal process, to the Board of Directors.</a:t>
            </a:r>
            <a:endParaRPr lang="en-US" sz="1500" dirty="0"/>
          </a:p>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The Board selects and appoints staff, assigns tasks and responsibility based on competence, and delegates matching authority. Top managers owe responsibility to the Board, who are responsible to shareholders — the flow of legal authority is top-down at each level.</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Delegation of authority does not diminish the manager's own authority and responsibility — he remains the source of authority vested in him, and continues to be responsible for performance of the assigned task.</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Authority Cascades Down</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Shareholders → Board → CEO → Senior Managers → Junior Managers: each link gets its authority from the one above it, in a clean top-down cascade.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14.5. THEORIES OF 'SOURCES OF AUTHORITY'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14.5. THEORIES OF 'SOURCES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(3) 'Acceptance Theory' of Authority</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The exact opposite of the traditional theory. According to Chester Barnard, who formulated it, a manager's authority is in direct proportion to the acceptance given to it by his subordinates — legal authority or social/cultural norms become irrelevant if subordinates do not accept it.</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Barnard: a subordinate accepts authority only if it falls within his 'zone of acceptance' — that is, if (a) rewards from acceptance exceed the value of skills/effort required, (b) he has a strong sense of belonging, or (c) not accepting would damage his career prospects.</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The ideal source of authority is one under which subordinates accept to perform because they trust the manager's ability and integrity — resting equally on legal, social and cultural norms that satisfy the test of voluntary acceptance.</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Zone of Acceptance</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soldier follows a risky order from a trusted, competent commanding officer without question — but might hesitate under an officer he neither trusts nor respects.</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14.5. THEORIES OF 'SOURCES OF AUTHORITY'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14.5. THEORIES OF 'SOURCES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(4)–(5) Competence Theory &amp; Tradition-Centric Authority</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'Competence Theory' of Authority</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person can influence others' behavior even without formal authority, when followers see him as the personification of their urges and aspirations — because of his charisma, technical, social or human qualities. A relatively junior union leader may be chosen to argue a salary case because of his forceful, well-documented advocacy.</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'Tradition-Centric' Authority</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Every civilized society follows certain traditions — respecting elders, raising children responsibly. Lord Ram went into exile to honor a promise made by his father; Shravan Kumar carried his parents on his shoulders to pilgrim centers. In modern society, this tradition-conferred authority is diluting.</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14.5. THEORIES OF 'SOURCES OF AUTHORITY'</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E</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14.6 – 14.11</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Responsibility &amp; Delegation of Authority</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The obligation that comes with a task, and the process by which a manager multiplies himself through others.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14.6. RESPONSIBILITY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Meaning, Accountability &amp; Only Humans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Meaning</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'Duty' or 'responsibility' refers to an obligation or liability for performance of a task assigned. Koontz and O'Donnel define it as the obligation of a subordinate, to whom a superior has assigned a task and delegated authority, to perform the task as required.</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Is Responsibility Different from Accountability?</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Accountability means an obligation to account for, or explain, why an assigned task was not performed as desired. A person is accountable only when assigned a task by the person who commands authority over him.</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Only Assigned to Human Beings</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Non-living, inanimate things — machines, tools, capital — cannot be assigned task or responsibility. They do not work on their own; they need humans to work them, and cannot be held accountable for failure.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14.6. RESPONSIBILITY</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14.6. RESPONSIBILITY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Requires Two Parties, Command-Obey &amp; Duration</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Requires Two or More Persons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Assignment requires, first, an authority-holding person to assign the task, and second, one or more subordinates to perform it. Only a person holding legal, traditional or competence-based authority can assign task or responsibility.</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Manager Commands, Subordinates Obey</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manager vested with official, legal authority can assign tasks and demand accountability. Subordinates accept responsibility because they are bound by a service contract entitling them to monetary and other benefits.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Continuous or Specific-Duration</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task may be a continuing obligation (a production manager's ongoing responsibility) or limited by time (an auditor appointed annually). Responsibility may be expressed as functions, targets or quantitative goals.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14.6. RESPONSIBILITY</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14.7. DELEGATION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Meaning &amp; Key Definitions</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To delegate means to transfer one's authority and power to someone else, to enable or empower him to perform an assigned task.</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Louis A. Allen: Delegation is the dynamic of management — the process by which a manager divides the work assigned to him so he performs only the part which only he can do, and gets others to help with the rest.</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E.F.L. Brech: Delegation means passing on to others a share in the four elements of the management process — command of activities, and responsibility for decisions determining planning, coordination and control.</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Koontz and O'Donnell: The entire delegation process involves determination of results expected, assignment of tasks, delegation of authority for their accomplishment, and exaction of responsibility for accomplishment.</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Passing on the Baton</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relay runner (manager) can't run the whole race alone — delegation passes part of the effort to teammates, while the manager still owns the outcome.</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14.7. DELEGATION OF AUTHORITY</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14.8. ELEMENTS OF DELEGATION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Elements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Assignment of Duty/Task/Responsibility</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manager cannot perform all tasks assigned to him by superiors, so he assigns certain tasks to subordinates — after satisfying himself they are competent, willing and experienced enough.</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Delegation of Authority</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Along with tasks, the manager must delegate matching authority to use and control resources. Without it, subordinates will feel helpless and frustrated, unable to perform the assigned task.</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Accountability for Performance</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Delegation is complete only when the subordinate is made to account for performance — explaining whether any shortfall was due to lack of ability, failure to motivate others, or failure to exercise delegated authority.</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14.8. ELEMENTS OF DELEGATION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14.9. PRINCIPLES OF DELEGATION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Objectives, Non-Delegable Responsibility &amp; Proportionate Authority</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Delegation Should Serve Desired Objectives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The nature and extent of tasks assigned, and authority delegated, should accord with overall organizational objectives — decided only after objectives, policies and procedures are clear.</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Responsibility Cannot Be Delegated</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manager can only delegate authority to use and control resources, not his own responsibility for the duty assigned to him. The ultimate responsibility for performance remains his and his alone.</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Authority Proportionate to Responsibility</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Delegation is meaningful only when it enables efficient performance. Just as an inadequately armed soldier cannot fight successfully, a subordinate with inadequate authority cannot succeed in the assigned task.</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14.9. PRINCIPLES OF DELEGATION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14.9. PRINCIPLES OF DELEGATION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(4)–(5) Unity of Command &amp; Well-Defined Limits</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Unity of Command</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subordinate should only be assigned duties and responsibility, and delegated authority, by one manager/superior — and be accountable to that same superior. Multiple commanding superiors create uncertainty and confusion.</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Limits to Authority Should Be Well-Defined</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manager cannot properly delegate authority unless he fully knows his own authority-limits. Written manuals and orders should indicate the limits of authority area for each manager, to avoid confusion.</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14.9. PRINCIPLES OF DELEGATION</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14.10. TYPES OF DELEGATION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Four Ways to Classify Delegation</a:t>
            </a:r>
            <a:endParaRPr lang="en-US" sz="2700" dirty="0"/>
          </a:p>
        </p:txBody>
      </p:sp>
      <p:sp>
        <p:nvSpPr>
          <p:cNvPr id="4" name="Shape 2"/>
          <p:cNvSpPr/>
          <p:nvPr/>
        </p:nvSpPr>
        <p:spPr>
          <a:xfrm>
            <a:off x="548640" y="1645920"/>
            <a:ext cx="2670048" cy="4434840"/>
          </a:xfrm>
          <a:prstGeom prst="roundRect">
            <a:avLst>
              <a:gd name="adj" fmla="val 3082"/>
            </a:avLst>
          </a:prstGeom>
          <a:solidFill>
            <a:srgbClr val="EEF3FC"/>
          </a:solidFill>
          <a:ln/>
        </p:spPr>
      </p:sp>
      <p:sp>
        <p:nvSpPr>
          <p:cNvPr id="5" name="Shape 3"/>
          <p:cNvSpPr/>
          <p:nvPr/>
        </p:nvSpPr>
        <p:spPr>
          <a:xfrm>
            <a:off x="1618488"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756380" y="1984980"/>
            <a:ext cx="254569" cy="254569"/>
          </a:xfrm>
          <a:prstGeom prst="rect">
            <a:avLst/>
          </a:prstGeom>
        </p:spPr>
      </p:pic>
      <p:sp>
        <p:nvSpPr>
          <p:cNvPr id="7" name="Text 4"/>
          <p:cNvSpPr/>
          <p:nvPr/>
        </p:nvSpPr>
        <p:spPr>
          <a:xfrm>
            <a:off x="548640"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General or Specific</a:t>
            </a:r>
            <a:endParaRPr lang="en-US" sz="1320" dirty="0"/>
          </a:p>
        </p:txBody>
      </p:sp>
      <p:sp>
        <p:nvSpPr>
          <p:cNvPr id="9" name="Text 6"/>
          <p:cNvSpPr/>
          <p:nvPr/>
        </p:nvSpPr>
        <p:spPr>
          <a:xfrm>
            <a:off x="694944"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General delegation authorizes all necessary functions in a department, subject to monitoring. Specific delegation is functional — e.g., a production manager looking after production alone.</a:t>
            </a:r>
            <a:endParaRPr lang="en-US" sz="1060" dirty="0"/>
          </a:p>
        </p:txBody>
      </p:sp>
      <p:sp>
        <p:nvSpPr>
          <p:cNvPr id="10" name="Shape 7"/>
          <p:cNvSpPr/>
          <p:nvPr/>
        </p:nvSpPr>
        <p:spPr>
          <a:xfrm>
            <a:off x="3346704" y="1645920"/>
            <a:ext cx="2670048" cy="4434840"/>
          </a:xfrm>
          <a:prstGeom prst="roundRect">
            <a:avLst>
              <a:gd name="adj" fmla="val 3082"/>
            </a:avLst>
          </a:prstGeom>
          <a:solidFill>
            <a:srgbClr val="EEF3FC"/>
          </a:solidFill>
          <a:ln/>
        </p:spPr>
      </p:sp>
      <p:sp>
        <p:nvSpPr>
          <p:cNvPr id="11" name="Shape 8"/>
          <p:cNvSpPr/>
          <p:nvPr/>
        </p:nvSpPr>
        <p:spPr>
          <a:xfrm>
            <a:off x="4416552"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4554444" y="1984980"/>
            <a:ext cx="254569" cy="254569"/>
          </a:xfrm>
          <a:prstGeom prst="rect">
            <a:avLst/>
          </a:prstGeom>
        </p:spPr>
      </p:pic>
      <p:sp>
        <p:nvSpPr>
          <p:cNvPr id="13" name="Text 9"/>
          <p:cNvSpPr/>
          <p:nvPr/>
        </p:nvSpPr>
        <p:spPr>
          <a:xfrm>
            <a:off x="3346704"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3465576"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Written or Unwritten</a:t>
            </a:r>
            <a:endParaRPr lang="en-US" sz="1320" dirty="0"/>
          </a:p>
        </p:txBody>
      </p:sp>
      <p:sp>
        <p:nvSpPr>
          <p:cNvPr id="15" name="Text 11"/>
          <p:cNvSpPr/>
          <p:nvPr/>
        </p:nvSpPr>
        <p:spPr>
          <a:xfrm>
            <a:off x="3493008"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Written delegation takes place through formal orders and notifications. Unwritten delegation is based on custom, convention, or usage.</a:t>
            </a:r>
            <a:endParaRPr lang="en-US" sz="1060" dirty="0"/>
          </a:p>
        </p:txBody>
      </p:sp>
      <p:sp>
        <p:nvSpPr>
          <p:cNvPr id="16" name="Shape 12"/>
          <p:cNvSpPr/>
          <p:nvPr/>
        </p:nvSpPr>
        <p:spPr>
          <a:xfrm>
            <a:off x="6144768" y="1645920"/>
            <a:ext cx="2670048" cy="4434840"/>
          </a:xfrm>
          <a:prstGeom prst="roundRect">
            <a:avLst>
              <a:gd name="adj" fmla="val 3082"/>
            </a:avLst>
          </a:prstGeom>
          <a:solidFill>
            <a:srgbClr val="EEF3FC"/>
          </a:solidFill>
          <a:ln/>
        </p:spPr>
      </p:sp>
      <p:sp>
        <p:nvSpPr>
          <p:cNvPr id="17" name="Shape 13"/>
          <p:cNvSpPr/>
          <p:nvPr/>
        </p:nvSpPr>
        <p:spPr>
          <a:xfrm>
            <a:off x="721461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7352508" y="1984980"/>
            <a:ext cx="254569" cy="254569"/>
          </a:xfrm>
          <a:prstGeom prst="rect">
            <a:avLst/>
          </a:prstGeom>
        </p:spPr>
      </p:pic>
      <p:sp>
        <p:nvSpPr>
          <p:cNvPr id="19" name="Text 14"/>
          <p:cNvSpPr/>
          <p:nvPr/>
        </p:nvSpPr>
        <p:spPr>
          <a:xfrm>
            <a:off x="6144768"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6263640"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Formal or Informal</a:t>
            </a:r>
            <a:endParaRPr lang="en-US" sz="1320" dirty="0"/>
          </a:p>
        </p:txBody>
      </p:sp>
      <p:sp>
        <p:nvSpPr>
          <p:cNvPr id="21" name="Text 16"/>
          <p:cNvSpPr/>
          <p:nvPr/>
        </p:nvSpPr>
        <p:spPr>
          <a:xfrm>
            <a:off x="6291072"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Formal delegation is depicted in the organization chart. Informal delegation occurs when subordinates exercise authority not formally assigned, because it helps them perform their assigned tasks better.</a:t>
            </a:r>
            <a:endParaRPr lang="en-US" sz="1060" dirty="0"/>
          </a:p>
        </p:txBody>
      </p:sp>
      <p:sp>
        <p:nvSpPr>
          <p:cNvPr id="22" name="Shape 17"/>
          <p:cNvSpPr/>
          <p:nvPr/>
        </p:nvSpPr>
        <p:spPr>
          <a:xfrm>
            <a:off x="8942832" y="1645920"/>
            <a:ext cx="2670048" cy="4434840"/>
          </a:xfrm>
          <a:prstGeom prst="roundRect">
            <a:avLst>
              <a:gd name="adj" fmla="val 3082"/>
            </a:avLst>
          </a:prstGeom>
          <a:solidFill>
            <a:srgbClr val="EEF3FC"/>
          </a:solidFill>
          <a:ln/>
        </p:spPr>
      </p:sp>
      <p:sp>
        <p:nvSpPr>
          <p:cNvPr id="23" name="Shape 18"/>
          <p:cNvSpPr/>
          <p:nvPr/>
        </p:nvSpPr>
        <p:spPr>
          <a:xfrm>
            <a:off x="10012680" y="1847088"/>
            <a:ext cx="530352" cy="530352"/>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10150572" y="1984980"/>
            <a:ext cx="254569" cy="254569"/>
          </a:xfrm>
          <a:prstGeom prst="rect">
            <a:avLst/>
          </a:prstGeom>
        </p:spPr>
      </p:pic>
      <p:sp>
        <p:nvSpPr>
          <p:cNvPr id="25" name="Text 19"/>
          <p:cNvSpPr/>
          <p:nvPr/>
        </p:nvSpPr>
        <p:spPr>
          <a:xfrm>
            <a:off x="8942832" y="2468880"/>
            <a:ext cx="2670048"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26" name="Text 20"/>
          <p:cNvSpPr/>
          <p:nvPr/>
        </p:nvSpPr>
        <p:spPr>
          <a:xfrm>
            <a:off x="9061704" y="2724912"/>
            <a:ext cx="2432304"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Downward, Upward &amp; Sideward</a:t>
            </a:r>
            <a:endParaRPr lang="en-US" sz="1320" dirty="0"/>
          </a:p>
        </p:txBody>
      </p:sp>
      <p:sp>
        <p:nvSpPr>
          <p:cNvPr id="27" name="Text 21"/>
          <p:cNvSpPr/>
          <p:nvPr/>
        </p:nvSpPr>
        <p:spPr>
          <a:xfrm>
            <a:off x="9089136" y="3291840"/>
            <a:ext cx="2377440"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Downward (most common): authority flows top to bottom. Upward: a subordinate exercises authority held by his superior while performing a task for him. Sideward: a subordinate assigns some of his own tasks to fellow-subordinates.</a:t>
            </a:r>
            <a:endParaRPr lang="en-US" sz="1060" dirty="0"/>
          </a:p>
        </p:txBody>
      </p:sp>
      <p:sp>
        <p:nvSpPr>
          <p:cNvPr id="28" name="Text 2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14.10. TYPES OF DELEGATION</a:t>
            </a:r>
            <a:endParaRPr lang="en-US" sz="1100" dirty="0"/>
          </a:p>
        </p:txBody>
      </p:sp>
      <p:sp>
        <p:nvSpPr>
          <p:cNvPr id="29" name="Text 2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14.10. TYPES OF DELEGATION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 Downward Delegation — the Most Common Form</a:t>
            </a:r>
            <a:endParaRPr lang="en-US" sz="2700" dirty="0"/>
          </a:p>
        </p:txBody>
      </p:sp>
      <p:sp>
        <p:nvSpPr>
          <p:cNvPr id="4" name="Text 2"/>
          <p:cNvSpPr/>
          <p:nvPr/>
        </p:nvSpPr>
        <p:spPr>
          <a:xfrm>
            <a:off x="548640" y="1645920"/>
            <a:ext cx="11064240" cy="777240"/>
          </a:xfrm>
          <a:prstGeom prst="rect">
            <a:avLst/>
          </a:prstGeom>
          <a:noFill/>
          <a:ln/>
        </p:spPr>
        <p:txBody>
          <a:bodyPr wrap="square" rtlCol="0" anchor="t"/>
          <a:lstStyle/>
          <a:p>
            <a:pPr indent="0" marL="0">
              <a:buNone/>
            </a:pPr>
            <a:r>
              <a:rPr lang="en-US" sz="1350" dirty="0">
                <a:solidFill>
                  <a:srgbClr val="2B2B33"/>
                </a:solidFill>
                <a:latin typeface="Calibri" pitchFamily="34" charset="0"/>
                <a:ea typeface="Calibri" pitchFamily="34" charset="-122"/>
                <a:cs typeface="Calibri" pitchFamily="34" charset="-120"/>
              </a:rPr>
              <a:t>Downward delegation takes place when a manager assigns tasks and responsibility to his subordinates, and delegates them authority to use and control organizational resources to perform those tasks. Authority flows from top to bottom — the most common form of delegation.</a:t>
            </a:r>
            <a:endParaRPr lang="en-US" sz="1350" dirty="0"/>
          </a:p>
        </p:txBody>
      </p:sp>
      <p:sp>
        <p:nvSpPr>
          <p:cNvPr id="5" name="Shape 3"/>
          <p:cNvSpPr/>
          <p:nvPr/>
        </p:nvSpPr>
        <p:spPr>
          <a:xfrm>
            <a:off x="5897880" y="2606040"/>
            <a:ext cx="365760" cy="292608"/>
          </a:xfrm>
          <a:prstGeom prst="rect">
            <a:avLst/>
          </a:prstGeom>
          <a:solidFill>
            <a:srgbClr val="1E2761"/>
          </a:solidFill>
          <a:ln/>
        </p:spPr>
      </p:sp>
      <p:sp>
        <p:nvSpPr>
          <p:cNvPr id="6" name="Shape 4"/>
          <p:cNvSpPr/>
          <p:nvPr/>
        </p:nvSpPr>
        <p:spPr>
          <a:xfrm>
            <a:off x="868680" y="3108960"/>
            <a:ext cx="5212080" cy="137160"/>
          </a:xfrm>
          <a:prstGeom prst="line">
            <a:avLst/>
          </a:prstGeom>
          <a:noFill/>
          <a:ln w="5080">
            <a:solidFill>
              <a:srgbClr val="6B7280"/>
            </a:solidFill>
            <a:prstDash val="solid"/>
          </a:ln>
        </p:spPr>
      </p:sp>
      <p:sp>
        <p:nvSpPr>
          <p:cNvPr id="7" name="Shape 5"/>
          <p:cNvSpPr/>
          <p:nvPr/>
        </p:nvSpPr>
        <p:spPr>
          <a:xfrm>
            <a:off x="822960" y="3246120"/>
            <a:ext cx="164592" cy="164592"/>
          </a:xfrm>
          <a:prstGeom prst="rect">
            <a:avLst/>
          </a:prstGeom>
          <a:solidFill>
            <a:srgbClr val="EEF3FC"/>
          </a:solidFill>
          <a:ln w="6350">
            <a:solidFill>
              <a:srgbClr val="3A4A8C"/>
            </a:solidFill>
            <a:prstDash val="solid"/>
          </a:ln>
        </p:spPr>
      </p:sp>
      <p:sp>
        <p:nvSpPr>
          <p:cNvPr id="8" name="Shape 6"/>
          <p:cNvSpPr/>
          <p:nvPr/>
        </p:nvSpPr>
        <p:spPr>
          <a:xfrm>
            <a:off x="1371600" y="3108960"/>
            <a:ext cx="4709160" cy="137160"/>
          </a:xfrm>
          <a:prstGeom prst="line">
            <a:avLst/>
          </a:prstGeom>
          <a:noFill/>
          <a:ln w="5080">
            <a:solidFill>
              <a:srgbClr val="6B7280"/>
            </a:solidFill>
            <a:prstDash val="solid"/>
          </a:ln>
        </p:spPr>
      </p:sp>
      <p:sp>
        <p:nvSpPr>
          <p:cNvPr id="9" name="Shape 7"/>
          <p:cNvSpPr/>
          <p:nvPr/>
        </p:nvSpPr>
        <p:spPr>
          <a:xfrm>
            <a:off x="1325880" y="3246120"/>
            <a:ext cx="164592" cy="164592"/>
          </a:xfrm>
          <a:prstGeom prst="rect">
            <a:avLst/>
          </a:prstGeom>
          <a:solidFill>
            <a:srgbClr val="EEF3FC"/>
          </a:solidFill>
          <a:ln w="6350">
            <a:solidFill>
              <a:srgbClr val="3A4A8C"/>
            </a:solidFill>
            <a:prstDash val="solid"/>
          </a:ln>
        </p:spPr>
      </p:sp>
      <p:sp>
        <p:nvSpPr>
          <p:cNvPr id="10" name="Shape 8"/>
          <p:cNvSpPr/>
          <p:nvPr/>
        </p:nvSpPr>
        <p:spPr>
          <a:xfrm>
            <a:off x="1874520" y="3108960"/>
            <a:ext cx="4206240" cy="137160"/>
          </a:xfrm>
          <a:prstGeom prst="line">
            <a:avLst/>
          </a:prstGeom>
          <a:noFill/>
          <a:ln w="5080">
            <a:solidFill>
              <a:srgbClr val="6B7280"/>
            </a:solidFill>
            <a:prstDash val="solid"/>
          </a:ln>
        </p:spPr>
      </p:sp>
      <p:sp>
        <p:nvSpPr>
          <p:cNvPr id="11" name="Shape 9"/>
          <p:cNvSpPr/>
          <p:nvPr/>
        </p:nvSpPr>
        <p:spPr>
          <a:xfrm>
            <a:off x="1828800" y="3246120"/>
            <a:ext cx="164592" cy="164592"/>
          </a:xfrm>
          <a:prstGeom prst="rect">
            <a:avLst/>
          </a:prstGeom>
          <a:solidFill>
            <a:srgbClr val="EEF3FC"/>
          </a:solidFill>
          <a:ln w="6350">
            <a:solidFill>
              <a:srgbClr val="3A4A8C"/>
            </a:solidFill>
            <a:prstDash val="solid"/>
          </a:ln>
        </p:spPr>
      </p:sp>
      <p:sp>
        <p:nvSpPr>
          <p:cNvPr id="12" name="Shape 10"/>
          <p:cNvSpPr/>
          <p:nvPr/>
        </p:nvSpPr>
        <p:spPr>
          <a:xfrm>
            <a:off x="2377440" y="3108960"/>
            <a:ext cx="3703320" cy="137160"/>
          </a:xfrm>
          <a:prstGeom prst="line">
            <a:avLst/>
          </a:prstGeom>
          <a:noFill/>
          <a:ln w="5080">
            <a:solidFill>
              <a:srgbClr val="6B7280"/>
            </a:solidFill>
            <a:prstDash val="solid"/>
          </a:ln>
        </p:spPr>
      </p:sp>
      <p:sp>
        <p:nvSpPr>
          <p:cNvPr id="13" name="Shape 11"/>
          <p:cNvSpPr/>
          <p:nvPr/>
        </p:nvSpPr>
        <p:spPr>
          <a:xfrm>
            <a:off x="2331720" y="3246120"/>
            <a:ext cx="164592" cy="164592"/>
          </a:xfrm>
          <a:prstGeom prst="rect">
            <a:avLst/>
          </a:prstGeom>
          <a:solidFill>
            <a:srgbClr val="EEF3FC"/>
          </a:solidFill>
          <a:ln w="6350">
            <a:solidFill>
              <a:srgbClr val="3A4A8C"/>
            </a:solidFill>
            <a:prstDash val="solid"/>
          </a:ln>
        </p:spPr>
      </p:sp>
      <p:sp>
        <p:nvSpPr>
          <p:cNvPr id="14" name="Shape 12"/>
          <p:cNvSpPr/>
          <p:nvPr/>
        </p:nvSpPr>
        <p:spPr>
          <a:xfrm>
            <a:off x="2880360" y="3108960"/>
            <a:ext cx="3200400" cy="137160"/>
          </a:xfrm>
          <a:prstGeom prst="line">
            <a:avLst/>
          </a:prstGeom>
          <a:noFill/>
          <a:ln w="5080">
            <a:solidFill>
              <a:srgbClr val="6B7280"/>
            </a:solidFill>
            <a:prstDash val="solid"/>
          </a:ln>
        </p:spPr>
      </p:sp>
      <p:sp>
        <p:nvSpPr>
          <p:cNvPr id="15" name="Shape 13"/>
          <p:cNvSpPr/>
          <p:nvPr/>
        </p:nvSpPr>
        <p:spPr>
          <a:xfrm>
            <a:off x="2834640" y="3246120"/>
            <a:ext cx="164592" cy="164592"/>
          </a:xfrm>
          <a:prstGeom prst="rect">
            <a:avLst/>
          </a:prstGeom>
          <a:solidFill>
            <a:srgbClr val="EEF3FC"/>
          </a:solidFill>
          <a:ln w="6350">
            <a:solidFill>
              <a:srgbClr val="3A4A8C"/>
            </a:solidFill>
            <a:prstDash val="solid"/>
          </a:ln>
        </p:spPr>
      </p:sp>
      <p:sp>
        <p:nvSpPr>
          <p:cNvPr id="16" name="Shape 14"/>
          <p:cNvSpPr/>
          <p:nvPr/>
        </p:nvSpPr>
        <p:spPr>
          <a:xfrm>
            <a:off x="3383280" y="3108960"/>
            <a:ext cx="2697480" cy="137160"/>
          </a:xfrm>
          <a:prstGeom prst="line">
            <a:avLst/>
          </a:prstGeom>
          <a:noFill/>
          <a:ln w="5080">
            <a:solidFill>
              <a:srgbClr val="6B7280"/>
            </a:solidFill>
            <a:prstDash val="solid"/>
          </a:ln>
        </p:spPr>
      </p:sp>
      <p:sp>
        <p:nvSpPr>
          <p:cNvPr id="17" name="Shape 15"/>
          <p:cNvSpPr/>
          <p:nvPr/>
        </p:nvSpPr>
        <p:spPr>
          <a:xfrm>
            <a:off x="3337560" y="3246120"/>
            <a:ext cx="164592" cy="164592"/>
          </a:xfrm>
          <a:prstGeom prst="rect">
            <a:avLst/>
          </a:prstGeom>
          <a:solidFill>
            <a:srgbClr val="EEF3FC"/>
          </a:solidFill>
          <a:ln w="6350">
            <a:solidFill>
              <a:srgbClr val="3A4A8C"/>
            </a:solidFill>
            <a:prstDash val="solid"/>
          </a:ln>
        </p:spPr>
      </p:sp>
      <p:sp>
        <p:nvSpPr>
          <p:cNvPr id="18" name="Shape 16"/>
          <p:cNvSpPr/>
          <p:nvPr/>
        </p:nvSpPr>
        <p:spPr>
          <a:xfrm>
            <a:off x="3886200" y="3108960"/>
            <a:ext cx="2194560" cy="137160"/>
          </a:xfrm>
          <a:prstGeom prst="line">
            <a:avLst/>
          </a:prstGeom>
          <a:noFill/>
          <a:ln w="5080">
            <a:solidFill>
              <a:srgbClr val="6B7280"/>
            </a:solidFill>
            <a:prstDash val="solid"/>
          </a:ln>
        </p:spPr>
      </p:sp>
      <p:sp>
        <p:nvSpPr>
          <p:cNvPr id="19" name="Shape 17"/>
          <p:cNvSpPr/>
          <p:nvPr/>
        </p:nvSpPr>
        <p:spPr>
          <a:xfrm>
            <a:off x="3840480" y="3246120"/>
            <a:ext cx="164592" cy="164592"/>
          </a:xfrm>
          <a:prstGeom prst="rect">
            <a:avLst/>
          </a:prstGeom>
          <a:solidFill>
            <a:srgbClr val="EEF3FC"/>
          </a:solidFill>
          <a:ln w="6350">
            <a:solidFill>
              <a:srgbClr val="3A4A8C"/>
            </a:solidFill>
            <a:prstDash val="solid"/>
          </a:ln>
        </p:spPr>
      </p:sp>
      <p:sp>
        <p:nvSpPr>
          <p:cNvPr id="20" name="Shape 18"/>
          <p:cNvSpPr/>
          <p:nvPr/>
        </p:nvSpPr>
        <p:spPr>
          <a:xfrm>
            <a:off x="4389120" y="3108960"/>
            <a:ext cx="1691640" cy="137160"/>
          </a:xfrm>
          <a:prstGeom prst="line">
            <a:avLst/>
          </a:prstGeom>
          <a:noFill/>
          <a:ln w="5080">
            <a:solidFill>
              <a:srgbClr val="6B7280"/>
            </a:solidFill>
            <a:prstDash val="solid"/>
          </a:ln>
        </p:spPr>
      </p:sp>
      <p:sp>
        <p:nvSpPr>
          <p:cNvPr id="21" name="Shape 19"/>
          <p:cNvSpPr/>
          <p:nvPr/>
        </p:nvSpPr>
        <p:spPr>
          <a:xfrm>
            <a:off x="4343400" y="3246120"/>
            <a:ext cx="164592" cy="164592"/>
          </a:xfrm>
          <a:prstGeom prst="rect">
            <a:avLst/>
          </a:prstGeom>
          <a:solidFill>
            <a:srgbClr val="EEF3FC"/>
          </a:solidFill>
          <a:ln w="6350">
            <a:solidFill>
              <a:srgbClr val="3A4A8C"/>
            </a:solidFill>
            <a:prstDash val="solid"/>
          </a:ln>
        </p:spPr>
      </p:sp>
      <p:sp>
        <p:nvSpPr>
          <p:cNvPr id="22" name="Shape 20"/>
          <p:cNvSpPr/>
          <p:nvPr/>
        </p:nvSpPr>
        <p:spPr>
          <a:xfrm>
            <a:off x="4892040" y="3108960"/>
            <a:ext cx="1188720" cy="137160"/>
          </a:xfrm>
          <a:prstGeom prst="line">
            <a:avLst/>
          </a:prstGeom>
          <a:noFill/>
          <a:ln w="5080">
            <a:solidFill>
              <a:srgbClr val="6B7280"/>
            </a:solidFill>
            <a:prstDash val="solid"/>
          </a:ln>
        </p:spPr>
      </p:sp>
      <p:sp>
        <p:nvSpPr>
          <p:cNvPr id="23" name="Shape 21"/>
          <p:cNvSpPr/>
          <p:nvPr/>
        </p:nvSpPr>
        <p:spPr>
          <a:xfrm>
            <a:off x="4846320" y="3246120"/>
            <a:ext cx="164592" cy="164592"/>
          </a:xfrm>
          <a:prstGeom prst="rect">
            <a:avLst/>
          </a:prstGeom>
          <a:solidFill>
            <a:srgbClr val="EEF3FC"/>
          </a:solidFill>
          <a:ln w="6350">
            <a:solidFill>
              <a:srgbClr val="3A4A8C"/>
            </a:solidFill>
            <a:prstDash val="solid"/>
          </a:ln>
        </p:spPr>
      </p:sp>
      <p:sp>
        <p:nvSpPr>
          <p:cNvPr id="24" name="Shape 22"/>
          <p:cNvSpPr/>
          <p:nvPr/>
        </p:nvSpPr>
        <p:spPr>
          <a:xfrm>
            <a:off x="5394960" y="3108960"/>
            <a:ext cx="685800" cy="137160"/>
          </a:xfrm>
          <a:prstGeom prst="line">
            <a:avLst/>
          </a:prstGeom>
          <a:noFill/>
          <a:ln w="5080">
            <a:solidFill>
              <a:srgbClr val="6B7280"/>
            </a:solidFill>
            <a:prstDash val="solid"/>
          </a:ln>
        </p:spPr>
      </p:sp>
      <p:sp>
        <p:nvSpPr>
          <p:cNvPr id="25" name="Shape 23"/>
          <p:cNvSpPr/>
          <p:nvPr/>
        </p:nvSpPr>
        <p:spPr>
          <a:xfrm>
            <a:off x="5349240" y="3246120"/>
            <a:ext cx="164592" cy="164592"/>
          </a:xfrm>
          <a:prstGeom prst="rect">
            <a:avLst/>
          </a:prstGeom>
          <a:solidFill>
            <a:srgbClr val="EEF3FC"/>
          </a:solidFill>
          <a:ln w="6350">
            <a:solidFill>
              <a:srgbClr val="3A4A8C"/>
            </a:solidFill>
            <a:prstDash val="solid"/>
          </a:ln>
        </p:spPr>
      </p:sp>
      <p:sp>
        <p:nvSpPr>
          <p:cNvPr id="26" name="Shape 24"/>
          <p:cNvSpPr/>
          <p:nvPr/>
        </p:nvSpPr>
        <p:spPr>
          <a:xfrm>
            <a:off x="5897880" y="3108960"/>
            <a:ext cx="182880" cy="137160"/>
          </a:xfrm>
          <a:prstGeom prst="line">
            <a:avLst/>
          </a:prstGeom>
          <a:noFill/>
          <a:ln w="5080">
            <a:solidFill>
              <a:srgbClr val="6B7280"/>
            </a:solidFill>
            <a:prstDash val="solid"/>
          </a:ln>
        </p:spPr>
      </p:sp>
      <p:sp>
        <p:nvSpPr>
          <p:cNvPr id="27" name="Shape 25"/>
          <p:cNvSpPr/>
          <p:nvPr/>
        </p:nvSpPr>
        <p:spPr>
          <a:xfrm>
            <a:off x="5852160" y="3246120"/>
            <a:ext cx="164592" cy="164592"/>
          </a:xfrm>
          <a:prstGeom prst="rect">
            <a:avLst/>
          </a:prstGeom>
          <a:solidFill>
            <a:srgbClr val="EEF3FC"/>
          </a:solidFill>
          <a:ln w="6350">
            <a:solidFill>
              <a:srgbClr val="3A4A8C"/>
            </a:solidFill>
            <a:prstDash val="solid"/>
          </a:ln>
        </p:spPr>
      </p:sp>
      <p:sp>
        <p:nvSpPr>
          <p:cNvPr id="28" name="Shape 26"/>
          <p:cNvSpPr/>
          <p:nvPr/>
        </p:nvSpPr>
        <p:spPr>
          <a:xfrm>
            <a:off x="6080760" y="3108960"/>
            <a:ext cx="320040" cy="137160"/>
          </a:xfrm>
          <a:prstGeom prst="line">
            <a:avLst/>
          </a:prstGeom>
          <a:noFill/>
          <a:ln w="5080">
            <a:solidFill>
              <a:srgbClr val="6B7280"/>
            </a:solidFill>
            <a:prstDash val="solid"/>
          </a:ln>
        </p:spPr>
      </p:sp>
      <p:sp>
        <p:nvSpPr>
          <p:cNvPr id="29" name="Shape 27"/>
          <p:cNvSpPr/>
          <p:nvPr/>
        </p:nvSpPr>
        <p:spPr>
          <a:xfrm>
            <a:off x="6355080" y="3246120"/>
            <a:ext cx="164592" cy="164592"/>
          </a:xfrm>
          <a:prstGeom prst="rect">
            <a:avLst/>
          </a:prstGeom>
          <a:solidFill>
            <a:srgbClr val="EEF3FC"/>
          </a:solidFill>
          <a:ln w="6350">
            <a:solidFill>
              <a:srgbClr val="3A4A8C"/>
            </a:solidFill>
            <a:prstDash val="solid"/>
          </a:ln>
        </p:spPr>
      </p:sp>
      <p:sp>
        <p:nvSpPr>
          <p:cNvPr id="30" name="Shape 28"/>
          <p:cNvSpPr/>
          <p:nvPr/>
        </p:nvSpPr>
        <p:spPr>
          <a:xfrm>
            <a:off x="6080760" y="3108960"/>
            <a:ext cx="822960" cy="137160"/>
          </a:xfrm>
          <a:prstGeom prst="line">
            <a:avLst/>
          </a:prstGeom>
          <a:noFill/>
          <a:ln w="5080">
            <a:solidFill>
              <a:srgbClr val="6B7280"/>
            </a:solidFill>
            <a:prstDash val="solid"/>
          </a:ln>
        </p:spPr>
      </p:sp>
      <p:sp>
        <p:nvSpPr>
          <p:cNvPr id="31" name="Shape 29"/>
          <p:cNvSpPr/>
          <p:nvPr/>
        </p:nvSpPr>
        <p:spPr>
          <a:xfrm>
            <a:off x="6858000" y="3246120"/>
            <a:ext cx="164592" cy="164592"/>
          </a:xfrm>
          <a:prstGeom prst="rect">
            <a:avLst/>
          </a:prstGeom>
          <a:solidFill>
            <a:srgbClr val="EEF3FC"/>
          </a:solidFill>
          <a:ln w="6350">
            <a:solidFill>
              <a:srgbClr val="3A4A8C"/>
            </a:solidFill>
            <a:prstDash val="solid"/>
          </a:ln>
        </p:spPr>
      </p:sp>
      <p:sp>
        <p:nvSpPr>
          <p:cNvPr id="32" name="Shape 30"/>
          <p:cNvSpPr/>
          <p:nvPr/>
        </p:nvSpPr>
        <p:spPr>
          <a:xfrm>
            <a:off x="6080760" y="3108960"/>
            <a:ext cx="1325880" cy="137160"/>
          </a:xfrm>
          <a:prstGeom prst="line">
            <a:avLst/>
          </a:prstGeom>
          <a:noFill/>
          <a:ln w="5080">
            <a:solidFill>
              <a:srgbClr val="6B7280"/>
            </a:solidFill>
            <a:prstDash val="solid"/>
          </a:ln>
        </p:spPr>
      </p:sp>
      <p:sp>
        <p:nvSpPr>
          <p:cNvPr id="33" name="Shape 31"/>
          <p:cNvSpPr/>
          <p:nvPr/>
        </p:nvSpPr>
        <p:spPr>
          <a:xfrm>
            <a:off x="7360920" y="3246120"/>
            <a:ext cx="164592" cy="164592"/>
          </a:xfrm>
          <a:prstGeom prst="rect">
            <a:avLst/>
          </a:prstGeom>
          <a:solidFill>
            <a:srgbClr val="EEF3FC"/>
          </a:solidFill>
          <a:ln w="6350">
            <a:solidFill>
              <a:srgbClr val="3A4A8C"/>
            </a:solidFill>
            <a:prstDash val="solid"/>
          </a:ln>
        </p:spPr>
      </p:sp>
      <p:sp>
        <p:nvSpPr>
          <p:cNvPr id="34" name="Shape 32"/>
          <p:cNvSpPr/>
          <p:nvPr/>
        </p:nvSpPr>
        <p:spPr>
          <a:xfrm>
            <a:off x="6080760" y="3108960"/>
            <a:ext cx="1828800" cy="137160"/>
          </a:xfrm>
          <a:prstGeom prst="line">
            <a:avLst/>
          </a:prstGeom>
          <a:noFill/>
          <a:ln w="5080">
            <a:solidFill>
              <a:srgbClr val="6B7280"/>
            </a:solidFill>
            <a:prstDash val="solid"/>
          </a:ln>
        </p:spPr>
      </p:sp>
      <p:sp>
        <p:nvSpPr>
          <p:cNvPr id="35" name="Shape 33"/>
          <p:cNvSpPr/>
          <p:nvPr/>
        </p:nvSpPr>
        <p:spPr>
          <a:xfrm>
            <a:off x="7863840" y="3246120"/>
            <a:ext cx="164592" cy="164592"/>
          </a:xfrm>
          <a:prstGeom prst="rect">
            <a:avLst/>
          </a:prstGeom>
          <a:solidFill>
            <a:srgbClr val="EEF3FC"/>
          </a:solidFill>
          <a:ln w="6350">
            <a:solidFill>
              <a:srgbClr val="3A4A8C"/>
            </a:solidFill>
            <a:prstDash val="solid"/>
          </a:ln>
        </p:spPr>
      </p:sp>
      <p:sp>
        <p:nvSpPr>
          <p:cNvPr id="36" name="Shape 34"/>
          <p:cNvSpPr/>
          <p:nvPr/>
        </p:nvSpPr>
        <p:spPr>
          <a:xfrm>
            <a:off x="6080760" y="3108960"/>
            <a:ext cx="2331720" cy="137160"/>
          </a:xfrm>
          <a:prstGeom prst="line">
            <a:avLst/>
          </a:prstGeom>
          <a:noFill/>
          <a:ln w="5080">
            <a:solidFill>
              <a:srgbClr val="6B7280"/>
            </a:solidFill>
            <a:prstDash val="solid"/>
          </a:ln>
        </p:spPr>
      </p:sp>
      <p:sp>
        <p:nvSpPr>
          <p:cNvPr id="37" name="Shape 35"/>
          <p:cNvSpPr/>
          <p:nvPr/>
        </p:nvSpPr>
        <p:spPr>
          <a:xfrm>
            <a:off x="8366760" y="3246120"/>
            <a:ext cx="164592" cy="164592"/>
          </a:xfrm>
          <a:prstGeom prst="rect">
            <a:avLst/>
          </a:prstGeom>
          <a:solidFill>
            <a:srgbClr val="EEF3FC"/>
          </a:solidFill>
          <a:ln w="6350">
            <a:solidFill>
              <a:srgbClr val="3A4A8C"/>
            </a:solidFill>
            <a:prstDash val="solid"/>
          </a:ln>
        </p:spPr>
      </p:sp>
      <p:sp>
        <p:nvSpPr>
          <p:cNvPr id="38" name="Shape 36"/>
          <p:cNvSpPr/>
          <p:nvPr/>
        </p:nvSpPr>
        <p:spPr>
          <a:xfrm>
            <a:off x="6080760" y="3108960"/>
            <a:ext cx="2834640" cy="137160"/>
          </a:xfrm>
          <a:prstGeom prst="line">
            <a:avLst/>
          </a:prstGeom>
          <a:noFill/>
          <a:ln w="5080">
            <a:solidFill>
              <a:srgbClr val="6B7280"/>
            </a:solidFill>
            <a:prstDash val="solid"/>
          </a:ln>
        </p:spPr>
      </p:sp>
      <p:sp>
        <p:nvSpPr>
          <p:cNvPr id="39" name="Shape 37"/>
          <p:cNvSpPr/>
          <p:nvPr/>
        </p:nvSpPr>
        <p:spPr>
          <a:xfrm>
            <a:off x="8869680" y="3246120"/>
            <a:ext cx="164592" cy="164592"/>
          </a:xfrm>
          <a:prstGeom prst="rect">
            <a:avLst/>
          </a:prstGeom>
          <a:solidFill>
            <a:srgbClr val="EEF3FC"/>
          </a:solidFill>
          <a:ln w="6350">
            <a:solidFill>
              <a:srgbClr val="3A4A8C"/>
            </a:solidFill>
            <a:prstDash val="solid"/>
          </a:ln>
        </p:spPr>
      </p:sp>
      <p:sp>
        <p:nvSpPr>
          <p:cNvPr id="40" name="Shape 38"/>
          <p:cNvSpPr/>
          <p:nvPr/>
        </p:nvSpPr>
        <p:spPr>
          <a:xfrm>
            <a:off x="6080760" y="3108960"/>
            <a:ext cx="3337560" cy="137160"/>
          </a:xfrm>
          <a:prstGeom prst="line">
            <a:avLst/>
          </a:prstGeom>
          <a:noFill/>
          <a:ln w="5080">
            <a:solidFill>
              <a:srgbClr val="6B7280"/>
            </a:solidFill>
            <a:prstDash val="solid"/>
          </a:ln>
        </p:spPr>
      </p:sp>
      <p:sp>
        <p:nvSpPr>
          <p:cNvPr id="41" name="Shape 39"/>
          <p:cNvSpPr/>
          <p:nvPr/>
        </p:nvSpPr>
        <p:spPr>
          <a:xfrm>
            <a:off x="9372600" y="3246120"/>
            <a:ext cx="164592" cy="164592"/>
          </a:xfrm>
          <a:prstGeom prst="rect">
            <a:avLst/>
          </a:prstGeom>
          <a:solidFill>
            <a:srgbClr val="EEF3FC"/>
          </a:solidFill>
          <a:ln w="6350">
            <a:solidFill>
              <a:srgbClr val="3A4A8C"/>
            </a:solidFill>
            <a:prstDash val="solid"/>
          </a:ln>
        </p:spPr>
      </p:sp>
      <p:sp>
        <p:nvSpPr>
          <p:cNvPr id="42" name="Shape 40"/>
          <p:cNvSpPr/>
          <p:nvPr/>
        </p:nvSpPr>
        <p:spPr>
          <a:xfrm>
            <a:off x="6080760" y="3108960"/>
            <a:ext cx="3840480" cy="137160"/>
          </a:xfrm>
          <a:prstGeom prst="line">
            <a:avLst/>
          </a:prstGeom>
          <a:noFill/>
          <a:ln w="5080">
            <a:solidFill>
              <a:srgbClr val="6B7280"/>
            </a:solidFill>
            <a:prstDash val="solid"/>
          </a:ln>
        </p:spPr>
      </p:sp>
      <p:sp>
        <p:nvSpPr>
          <p:cNvPr id="43" name="Shape 41"/>
          <p:cNvSpPr/>
          <p:nvPr/>
        </p:nvSpPr>
        <p:spPr>
          <a:xfrm>
            <a:off x="9875520" y="3246120"/>
            <a:ext cx="164592" cy="164592"/>
          </a:xfrm>
          <a:prstGeom prst="rect">
            <a:avLst/>
          </a:prstGeom>
          <a:solidFill>
            <a:srgbClr val="EEF3FC"/>
          </a:solidFill>
          <a:ln w="6350">
            <a:solidFill>
              <a:srgbClr val="3A4A8C"/>
            </a:solidFill>
            <a:prstDash val="solid"/>
          </a:ln>
        </p:spPr>
      </p:sp>
      <p:sp>
        <p:nvSpPr>
          <p:cNvPr id="44" name="Shape 42"/>
          <p:cNvSpPr/>
          <p:nvPr/>
        </p:nvSpPr>
        <p:spPr>
          <a:xfrm>
            <a:off x="6080760" y="3108960"/>
            <a:ext cx="4343400" cy="137160"/>
          </a:xfrm>
          <a:prstGeom prst="line">
            <a:avLst/>
          </a:prstGeom>
          <a:noFill/>
          <a:ln w="5080">
            <a:solidFill>
              <a:srgbClr val="6B7280"/>
            </a:solidFill>
            <a:prstDash val="solid"/>
          </a:ln>
        </p:spPr>
      </p:sp>
      <p:sp>
        <p:nvSpPr>
          <p:cNvPr id="45" name="Shape 43"/>
          <p:cNvSpPr/>
          <p:nvPr/>
        </p:nvSpPr>
        <p:spPr>
          <a:xfrm>
            <a:off x="10378440" y="3246120"/>
            <a:ext cx="164592" cy="164592"/>
          </a:xfrm>
          <a:prstGeom prst="rect">
            <a:avLst/>
          </a:prstGeom>
          <a:solidFill>
            <a:srgbClr val="EEF3FC"/>
          </a:solidFill>
          <a:ln w="6350">
            <a:solidFill>
              <a:srgbClr val="3A4A8C"/>
            </a:solidFill>
            <a:prstDash val="solid"/>
          </a:ln>
        </p:spPr>
      </p:sp>
      <p:sp>
        <p:nvSpPr>
          <p:cNvPr id="46" name="Text 44"/>
          <p:cNvSpPr/>
          <p:nvPr/>
        </p:nvSpPr>
        <p:spPr>
          <a:xfrm>
            <a:off x="4983480" y="2286000"/>
            <a:ext cx="2194560" cy="274320"/>
          </a:xfrm>
          <a:prstGeom prst="rect">
            <a:avLst/>
          </a:prstGeom>
          <a:noFill/>
          <a:ln/>
        </p:spPr>
        <p:txBody>
          <a:bodyPr wrap="square" rtlCol="0" anchor="ctr"/>
          <a:lstStyle/>
          <a:p>
            <a:pPr algn="ctr" indent="0" marL="0">
              <a:buNone/>
            </a:pPr>
            <a:r>
              <a:rPr lang="en-US" sz="1100" b="1" dirty="0">
                <a:solidFill>
                  <a:srgbClr val="1E2761"/>
                </a:solidFill>
                <a:latin typeface="Cambria" pitchFamily="34" charset="0"/>
                <a:ea typeface="Cambria" pitchFamily="34" charset="-122"/>
                <a:cs typeface="Cambria" pitchFamily="34" charset="-120"/>
              </a:rPr>
              <a:t>Downward Delegation</a:t>
            </a:r>
            <a:endParaRPr lang="en-US" sz="1100" dirty="0"/>
          </a:p>
        </p:txBody>
      </p:sp>
      <p:sp>
        <p:nvSpPr>
          <p:cNvPr id="47" name="Shape 45"/>
          <p:cNvSpPr/>
          <p:nvPr/>
        </p:nvSpPr>
        <p:spPr>
          <a:xfrm>
            <a:off x="6080760" y="2898648"/>
            <a:ext cx="0" cy="804672"/>
          </a:xfrm>
          <a:prstGeom prst="line">
            <a:avLst/>
          </a:prstGeom>
          <a:noFill/>
          <a:ln w="19050">
            <a:solidFill>
              <a:srgbClr val="1E2761"/>
            </a:solidFill>
            <a:prstDash val="solid"/>
          </a:ln>
        </p:spPr>
      </p:sp>
      <p:sp>
        <p:nvSpPr>
          <p:cNvPr id="48" name="Shape 46"/>
          <p:cNvSpPr/>
          <p:nvPr/>
        </p:nvSpPr>
        <p:spPr>
          <a:xfrm>
            <a:off x="5879592" y="3703320"/>
            <a:ext cx="402336" cy="310896"/>
          </a:xfrm>
          <a:prstGeom prst="rect">
            <a:avLst/>
          </a:prstGeom>
          <a:solidFill>
            <a:srgbClr val="3A4A8C"/>
          </a:solidFill>
          <a:ln/>
        </p:spPr>
      </p:sp>
      <p:sp>
        <p:nvSpPr>
          <p:cNvPr id="49" name="Shape 47"/>
          <p:cNvSpPr/>
          <p:nvPr/>
        </p:nvSpPr>
        <p:spPr>
          <a:xfrm>
            <a:off x="6080760" y="4014216"/>
            <a:ext cx="0" cy="182880"/>
          </a:xfrm>
          <a:prstGeom prst="line">
            <a:avLst/>
          </a:prstGeom>
          <a:noFill/>
          <a:ln w="15875">
            <a:solidFill>
              <a:srgbClr val="1E2761"/>
            </a:solidFill>
            <a:prstDash val="solid"/>
          </a:ln>
        </p:spPr>
      </p:sp>
      <p:sp>
        <p:nvSpPr>
          <p:cNvPr id="50" name="Shape 48"/>
          <p:cNvSpPr/>
          <p:nvPr/>
        </p:nvSpPr>
        <p:spPr>
          <a:xfrm>
            <a:off x="3703320" y="4197096"/>
            <a:ext cx="4754880" cy="0"/>
          </a:xfrm>
          <a:prstGeom prst="line">
            <a:avLst/>
          </a:prstGeom>
          <a:noFill/>
          <a:ln w="15875">
            <a:solidFill>
              <a:srgbClr val="1E2761"/>
            </a:solidFill>
            <a:prstDash val="solid"/>
          </a:ln>
        </p:spPr>
      </p:sp>
      <p:sp>
        <p:nvSpPr>
          <p:cNvPr id="51" name="Shape 49"/>
          <p:cNvSpPr/>
          <p:nvPr/>
        </p:nvSpPr>
        <p:spPr>
          <a:xfrm>
            <a:off x="3703320" y="4197096"/>
            <a:ext cx="0" cy="146304"/>
          </a:xfrm>
          <a:prstGeom prst="line">
            <a:avLst/>
          </a:prstGeom>
          <a:noFill/>
          <a:ln w="12700">
            <a:solidFill>
              <a:srgbClr val="1E2761"/>
            </a:solidFill>
            <a:prstDash val="solid"/>
          </a:ln>
        </p:spPr>
      </p:sp>
      <p:sp>
        <p:nvSpPr>
          <p:cNvPr id="52" name="Shape 50"/>
          <p:cNvSpPr/>
          <p:nvPr/>
        </p:nvSpPr>
        <p:spPr>
          <a:xfrm>
            <a:off x="3520440" y="4343400"/>
            <a:ext cx="365760" cy="274320"/>
          </a:xfrm>
          <a:prstGeom prst="rect">
            <a:avLst/>
          </a:prstGeom>
          <a:solidFill>
            <a:srgbClr val="5E71B8"/>
          </a:solidFill>
          <a:ln/>
        </p:spPr>
      </p:sp>
      <p:sp>
        <p:nvSpPr>
          <p:cNvPr id="53" name="Shape 51"/>
          <p:cNvSpPr/>
          <p:nvPr/>
        </p:nvSpPr>
        <p:spPr>
          <a:xfrm>
            <a:off x="3703320" y="4617720"/>
            <a:ext cx="-274320" cy="137160"/>
          </a:xfrm>
          <a:prstGeom prst="line">
            <a:avLst/>
          </a:prstGeom>
          <a:noFill/>
          <a:ln w="6350">
            <a:solidFill>
              <a:srgbClr val="6B7280"/>
            </a:solidFill>
            <a:prstDash val="solid"/>
          </a:ln>
        </p:spPr>
      </p:sp>
      <p:sp>
        <p:nvSpPr>
          <p:cNvPr id="54" name="Shape 52"/>
          <p:cNvSpPr/>
          <p:nvPr/>
        </p:nvSpPr>
        <p:spPr>
          <a:xfrm>
            <a:off x="3319272" y="4754880"/>
            <a:ext cx="219456" cy="201168"/>
          </a:xfrm>
          <a:prstGeom prst="rect">
            <a:avLst/>
          </a:prstGeom>
          <a:solidFill>
            <a:srgbClr val="EEF3FC"/>
          </a:solidFill>
          <a:ln w="6350">
            <a:solidFill>
              <a:srgbClr val="3A4A8C"/>
            </a:solidFill>
            <a:prstDash val="solid"/>
          </a:ln>
        </p:spPr>
      </p:sp>
      <p:sp>
        <p:nvSpPr>
          <p:cNvPr id="55" name="Shape 53"/>
          <p:cNvSpPr/>
          <p:nvPr/>
        </p:nvSpPr>
        <p:spPr>
          <a:xfrm>
            <a:off x="3703320" y="4617720"/>
            <a:ext cx="0" cy="137160"/>
          </a:xfrm>
          <a:prstGeom prst="line">
            <a:avLst/>
          </a:prstGeom>
          <a:noFill/>
          <a:ln w="6350">
            <a:solidFill>
              <a:srgbClr val="6B7280"/>
            </a:solidFill>
            <a:prstDash val="solid"/>
          </a:ln>
        </p:spPr>
      </p:sp>
      <p:sp>
        <p:nvSpPr>
          <p:cNvPr id="56" name="Shape 54"/>
          <p:cNvSpPr/>
          <p:nvPr/>
        </p:nvSpPr>
        <p:spPr>
          <a:xfrm>
            <a:off x="3593592" y="4754880"/>
            <a:ext cx="219456" cy="201168"/>
          </a:xfrm>
          <a:prstGeom prst="rect">
            <a:avLst/>
          </a:prstGeom>
          <a:solidFill>
            <a:srgbClr val="EEF3FC"/>
          </a:solidFill>
          <a:ln w="6350">
            <a:solidFill>
              <a:srgbClr val="3A4A8C"/>
            </a:solidFill>
            <a:prstDash val="solid"/>
          </a:ln>
        </p:spPr>
      </p:sp>
      <p:sp>
        <p:nvSpPr>
          <p:cNvPr id="57" name="Shape 55"/>
          <p:cNvSpPr/>
          <p:nvPr/>
        </p:nvSpPr>
        <p:spPr>
          <a:xfrm>
            <a:off x="3703320" y="4617720"/>
            <a:ext cx="274320" cy="137160"/>
          </a:xfrm>
          <a:prstGeom prst="line">
            <a:avLst/>
          </a:prstGeom>
          <a:noFill/>
          <a:ln w="6350">
            <a:solidFill>
              <a:srgbClr val="6B7280"/>
            </a:solidFill>
            <a:prstDash val="solid"/>
          </a:ln>
        </p:spPr>
      </p:sp>
      <p:sp>
        <p:nvSpPr>
          <p:cNvPr id="58" name="Shape 56"/>
          <p:cNvSpPr/>
          <p:nvPr/>
        </p:nvSpPr>
        <p:spPr>
          <a:xfrm>
            <a:off x="3867912" y="4754880"/>
            <a:ext cx="219456" cy="201168"/>
          </a:xfrm>
          <a:prstGeom prst="rect">
            <a:avLst/>
          </a:prstGeom>
          <a:solidFill>
            <a:srgbClr val="EEF3FC"/>
          </a:solidFill>
          <a:ln w="6350">
            <a:solidFill>
              <a:srgbClr val="3A4A8C"/>
            </a:solidFill>
            <a:prstDash val="solid"/>
          </a:ln>
        </p:spPr>
      </p:sp>
      <p:sp>
        <p:nvSpPr>
          <p:cNvPr id="59" name="Shape 57"/>
          <p:cNvSpPr/>
          <p:nvPr/>
        </p:nvSpPr>
        <p:spPr>
          <a:xfrm>
            <a:off x="5166360" y="4197096"/>
            <a:ext cx="0" cy="146304"/>
          </a:xfrm>
          <a:prstGeom prst="line">
            <a:avLst/>
          </a:prstGeom>
          <a:noFill/>
          <a:ln w="12700">
            <a:solidFill>
              <a:srgbClr val="1E2761"/>
            </a:solidFill>
            <a:prstDash val="solid"/>
          </a:ln>
        </p:spPr>
      </p:sp>
      <p:sp>
        <p:nvSpPr>
          <p:cNvPr id="60" name="Shape 58"/>
          <p:cNvSpPr/>
          <p:nvPr/>
        </p:nvSpPr>
        <p:spPr>
          <a:xfrm>
            <a:off x="4983480" y="4343400"/>
            <a:ext cx="365760" cy="274320"/>
          </a:xfrm>
          <a:prstGeom prst="rect">
            <a:avLst/>
          </a:prstGeom>
          <a:solidFill>
            <a:srgbClr val="5E71B8"/>
          </a:solidFill>
          <a:ln/>
        </p:spPr>
      </p:sp>
      <p:sp>
        <p:nvSpPr>
          <p:cNvPr id="61" name="Shape 59"/>
          <p:cNvSpPr/>
          <p:nvPr/>
        </p:nvSpPr>
        <p:spPr>
          <a:xfrm>
            <a:off x="5166360" y="4617720"/>
            <a:ext cx="-274320" cy="137160"/>
          </a:xfrm>
          <a:prstGeom prst="line">
            <a:avLst/>
          </a:prstGeom>
          <a:noFill/>
          <a:ln w="6350">
            <a:solidFill>
              <a:srgbClr val="6B7280"/>
            </a:solidFill>
            <a:prstDash val="solid"/>
          </a:ln>
        </p:spPr>
      </p:sp>
      <p:sp>
        <p:nvSpPr>
          <p:cNvPr id="62" name="Shape 60"/>
          <p:cNvSpPr/>
          <p:nvPr/>
        </p:nvSpPr>
        <p:spPr>
          <a:xfrm>
            <a:off x="4782312" y="4754880"/>
            <a:ext cx="219456" cy="201168"/>
          </a:xfrm>
          <a:prstGeom prst="rect">
            <a:avLst/>
          </a:prstGeom>
          <a:solidFill>
            <a:srgbClr val="EEF3FC"/>
          </a:solidFill>
          <a:ln w="6350">
            <a:solidFill>
              <a:srgbClr val="3A4A8C"/>
            </a:solidFill>
            <a:prstDash val="solid"/>
          </a:ln>
        </p:spPr>
      </p:sp>
      <p:sp>
        <p:nvSpPr>
          <p:cNvPr id="63" name="Shape 61"/>
          <p:cNvSpPr/>
          <p:nvPr/>
        </p:nvSpPr>
        <p:spPr>
          <a:xfrm>
            <a:off x="5166360" y="4617720"/>
            <a:ext cx="0" cy="137160"/>
          </a:xfrm>
          <a:prstGeom prst="line">
            <a:avLst/>
          </a:prstGeom>
          <a:noFill/>
          <a:ln w="6350">
            <a:solidFill>
              <a:srgbClr val="6B7280"/>
            </a:solidFill>
            <a:prstDash val="solid"/>
          </a:ln>
        </p:spPr>
      </p:sp>
      <p:sp>
        <p:nvSpPr>
          <p:cNvPr id="64" name="Shape 62"/>
          <p:cNvSpPr/>
          <p:nvPr/>
        </p:nvSpPr>
        <p:spPr>
          <a:xfrm>
            <a:off x="5056632" y="4754880"/>
            <a:ext cx="219456" cy="201168"/>
          </a:xfrm>
          <a:prstGeom prst="rect">
            <a:avLst/>
          </a:prstGeom>
          <a:solidFill>
            <a:srgbClr val="EEF3FC"/>
          </a:solidFill>
          <a:ln w="6350">
            <a:solidFill>
              <a:srgbClr val="3A4A8C"/>
            </a:solidFill>
            <a:prstDash val="solid"/>
          </a:ln>
        </p:spPr>
      </p:sp>
      <p:sp>
        <p:nvSpPr>
          <p:cNvPr id="65" name="Shape 63"/>
          <p:cNvSpPr/>
          <p:nvPr/>
        </p:nvSpPr>
        <p:spPr>
          <a:xfrm>
            <a:off x="5166360" y="4617720"/>
            <a:ext cx="274320" cy="137160"/>
          </a:xfrm>
          <a:prstGeom prst="line">
            <a:avLst/>
          </a:prstGeom>
          <a:noFill/>
          <a:ln w="6350">
            <a:solidFill>
              <a:srgbClr val="6B7280"/>
            </a:solidFill>
            <a:prstDash val="solid"/>
          </a:ln>
        </p:spPr>
      </p:sp>
      <p:sp>
        <p:nvSpPr>
          <p:cNvPr id="66" name="Shape 64"/>
          <p:cNvSpPr/>
          <p:nvPr/>
        </p:nvSpPr>
        <p:spPr>
          <a:xfrm>
            <a:off x="5330952" y="4754880"/>
            <a:ext cx="219456" cy="201168"/>
          </a:xfrm>
          <a:prstGeom prst="rect">
            <a:avLst/>
          </a:prstGeom>
          <a:solidFill>
            <a:srgbClr val="EEF3FC"/>
          </a:solidFill>
          <a:ln w="6350">
            <a:solidFill>
              <a:srgbClr val="3A4A8C"/>
            </a:solidFill>
            <a:prstDash val="solid"/>
          </a:ln>
        </p:spPr>
      </p:sp>
      <p:sp>
        <p:nvSpPr>
          <p:cNvPr id="67" name="Shape 65"/>
          <p:cNvSpPr/>
          <p:nvPr/>
        </p:nvSpPr>
        <p:spPr>
          <a:xfrm>
            <a:off x="6720840" y="4197096"/>
            <a:ext cx="0" cy="146304"/>
          </a:xfrm>
          <a:prstGeom prst="line">
            <a:avLst/>
          </a:prstGeom>
          <a:noFill/>
          <a:ln w="12700">
            <a:solidFill>
              <a:srgbClr val="1E2761"/>
            </a:solidFill>
            <a:prstDash val="solid"/>
          </a:ln>
        </p:spPr>
      </p:sp>
      <p:sp>
        <p:nvSpPr>
          <p:cNvPr id="68" name="Shape 66"/>
          <p:cNvSpPr/>
          <p:nvPr/>
        </p:nvSpPr>
        <p:spPr>
          <a:xfrm>
            <a:off x="6537960" y="4343400"/>
            <a:ext cx="365760" cy="274320"/>
          </a:xfrm>
          <a:prstGeom prst="rect">
            <a:avLst/>
          </a:prstGeom>
          <a:solidFill>
            <a:srgbClr val="5E71B8"/>
          </a:solidFill>
          <a:ln/>
        </p:spPr>
      </p:sp>
      <p:sp>
        <p:nvSpPr>
          <p:cNvPr id="69" name="Shape 67"/>
          <p:cNvSpPr/>
          <p:nvPr/>
        </p:nvSpPr>
        <p:spPr>
          <a:xfrm>
            <a:off x="6720840" y="4617720"/>
            <a:ext cx="-274320" cy="137160"/>
          </a:xfrm>
          <a:prstGeom prst="line">
            <a:avLst/>
          </a:prstGeom>
          <a:noFill/>
          <a:ln w="6350">
            <a:solidFill>
              <a:srgbClr val="6B7280"/>
            </a:solidFill>
            <a:prstDash val="solid"/>
          </a:ln>
        </p:spPr>
      </p:sp>
      <p:sp>
        <p:nvSpPr>
          <p:cNvPr id="70" name="Shape 68"/>
          <p:cNvSpPr/>
          <p:nvPr/>
        </p:nvSpPr>
        <p:spPr>
          <a:xfrm>
            <a:off x="6336792" y="4754880"/>
            <a:ext cx="219456" cy="201168"/>
          </a:xfrm>
          <a:prstGeom prst="rect">
            <a:avLst/>
          </a:prstGeom>
          <a:solidFill>
            <a:srgbClr val="EEF3FC"/>
          </a:solidFill>
          <a:ln w="6350">
            <a:solidFill>
              <a:srgbClr val="3A4A8C"/>
            </a:solidFill>
            <a:prstDash val="solid"/>
          </a:ln>
        </p:spPr>
      </p:sp>
      <p:sp>
        <p:nvSpPr>
          <p:cNvPr id="71" name="Shape 69"/>
          <p:cNvSpPr/>
          <p:nvPr/>
        </p:nvSpPr>
        <p:spPr>
          <a:xfrm>
            <a:off x="6720840" y="4617720"/>
            <a:ext cx="0" cy="137160"/>
          </a:xfrm>
          <a:prstGeom prst="line">
            <a:avLst/>
          </a:prstGeom>
          <a:noFill/>
          <a:ln w="6350">
            <a:solidFill>
              <a:srgbClr val="6B7280"/>
            </a:solidFill>
            <a:prstDash val="solid"/>
          </a:ln>
        </p:spPr>
      </p:sp>
      <p:sp>
        <p:nvSpPr>
          <p:cNvPr id="72" name="Shape 70"/>
          <p:cNvSpPr/>
          <p:nvPr/>
        </p:nvSpPr>
        <p:spPr>
          <a:xfrm>
            <a:off x="6611112" y="4754880"/>
            <a:ext cx="219456" cy="201168"/>
          </a:xfrm>
          <a:prstGeom prst="rect">
            <a:avLst/>
          </a:prstGeom>
          <a:solidFill>
            <a:srgbClr val="EEF3FC"/>
          </a:solidFill>
          <a:ln w="6350">
            <a:solidFill>
              <a:srgbClr val="3A4A8C"/>
            </a:solidFill>
            <a:prstDash val="solid"/>
          </a:ln>
        </p:spPr>
      </p:sp>
      <p:sp>
        <p:nvSpPr>
          <p:cNvPr id="73" name="Shape 71"/>
          <p:cNvSpPr/>
          <p:nvPr/>
        </p:nvSpPr>
        <p:spPr>
          <a:xfrm>
            <a:off x="6720840" y="4617720"/>
            <a:ext cx="274320" cy="137160"/>
          </a:xfrm>
          <a:prstGeom prst="line">
            <a:avLst/>
          </a:prstGeom>
          <a:noFill/>
          <a:ln w="6350">
            <a:solidFill>
              <a:srgbClr val="6B7280"/>
            </a:solidFill>
            <a:prstDash val="solid"/>
          </a:ln>
        </p:spPr>
      </p:sp>
      <p:sp>
        <p:nvSpPr>
          <p:cNvPr id="74" name="Shape 72"/>
          <p:cNvSpPr/>
          <p:nvPr/>
        </p:nvSpPr>
        <p:spPr>
          <a:xfrm>
            <a:off x="6885432" y="4754880"/>
            <a:ext cx="219456" cy="201168"/>
          </a:xfrm>
          <a:prstGeom prst="rect">
            <a:avLst/>
          </a:prstGeom>
          <a:solidFill>
            <a:srgbClr val="EEF3FC"/>
          </a:solidFill>
          <a:ln w="6350">
            <a:solidFill>
              <a:srgbClr val="3A4A8C"/>
            </a:solidFill>
            <a:prstDash val="solid"/>
          </a:ln>
        </p:spPr>
      </p:sp>
      <p:sp>
        <p:nvSpPr>
          <p:cNvPr id="75" name="Shape 73"/>
          <p:cNvSpPr/>
          <p:nvPr/>
        </p:nvSpPr>
        <p:spPr>
          <a:xfrm>
            <a:off x="8229600" y="4197096"/>
            <a:ext cx="0" cy="146304"/>
          </a:xfrm>
          <a:prstGeom prst="line">
            <a:avLst/>
          </a:prstGeom>
          <a:noFill/>
          <a:ln w="12700">
            <a:solidFill>
              <a:srgbClr val="1E2761"/>
            </a:solidFill>
            <a:prstDash val="solid"/>
          </a:ln>
        </p:spPr>
      </p:sp>
      <p:sp>
        <p:nvSpPr>
          <p:cNvPr id="76" name="Shape 74"/>
          <p:cNvSpPr/>
          <p:nvPr/>
        </p:nvSpPr>
        <p:spPr>
          <a:xfrm>
            <a:off x="8046720" y="4343400"/>
            <a:ext cx="365760" cy="274320"/>
          </a:xfrm>
          <a:prstGeom prst="rect">
            <a:avLst/>
          </a:prstGeom>
          <a:solidFill>
            <a:srgbClr val="5E71B8"/>
          </a:solidFill>
          <a:ln/>
        </p:spPr>
      </p:sp>
      <p:sp>
        <p:nvSpPr>
          <p:cNvPr id="77" name="Shape 75"/>
          <p:cNvSpPr/>
          <p:nvPr/>
        </p:nvSpPr>
        <p:spPr>
          <a:xfrm>
            <a:off x="8229600" y="4617720"/>
            <a:ext cx="-274320" cy="137160"/>
          </a:xfrm>
          <a:prstGeom prst="line">
            <a:avLst/>
          </a:prstGeom>
          <a:noFill/>
          <a:ln w="6350">
            <a:solidFill>
              <a:srgbClr val="6B7280"/>
            </a:solidFill>
            <a:prstDash val="solid"/>
          </a:ln>
        </p:spPr>
      </p:sp>
      <p:sp>
        <p:nvSpPr>
          <p:cNvPr id="78" name="Shape 76"/>
          <p:cNvSpPr/>
          <p:nvPr/>
        </p:nvSpPr>
        <p:spPr>
          <a:xfrm>
            <a:off x="7845552" y="4754880"/>
            <a:ext cx="219456" cy="201168"/>
          </a:xfrm>
          <a:prstGeom prst="rect">
            <a:avLst/>
          </a:prstGeom>
          <a:solidFill>
            <a:srgbClr val="EEF3FC"/>
          </a:solidFill>
          <a:ln w="6350">
            <a:solidFill>
              <a:srgbClr val="3A4A8C"/>
            </a:solidFill>
            <a:prstDash val="solid"/>
          </a:ln>
        </p:spPr>
      </p:sp>
      <p:sp>
        <p:nvSpPr>
          <p:cNvPr id="79" name="Shape 77"/>
          <p:cNvSpPr/>
          <p:nvPr/>
        </p:nvSpPr>
        <p:spPr>
          <a:xfrm>
            <a:off x="8229600" y="4617720"/>
            <a:ext cx="0" cy="137160"/>
          </a:xfrm>
          <a:prstGeom prst="line">
            <a:avLst/>
          </a:prstGeom>
          <a:noFill/>
          <a:ln w="6350">
            <a:solidFill>
              <a:srgbClr val="6B7280"/>
            </a:solidFill>
            <a:prstDash val="solid"/>
          </a:ln>
        </p:spPr>
      </p:sp>
      <p:sp>
        <p:nvSpPr>
          <p:cNvPr id="80" name="Shape 78"/>
          <p:cNvSpPr/>
          <p:nvPr/>
        </p:nvSpPr>
        <p:spPr>
          <a:xfrm>
            <a:off x="8119872" y="4754880"/>
            <a:ext cx="219456" cy="201168"/>
          </a:xfrm>
          <a:prstGeom prst="rect">
            <a:avLst/>
          </a:prstGeom>
          <a:solidFill>
            <a:srgbClr val="EEF3FC"/>
          </a:solidFill>
          <a:ln w="6350">
            <a:solidFill>
              <a:srgbClr val="3A4A8C"/>
            </a:solidFill>
            <a:prstDash val="solid"/>
          </a:ln>
        </p:spPr>
      </p:sp>
      <p:sp>
        <p:nvSpPr>
          <p:cNvPr id="81" name="Shape 79"/>
          <p:cNvSpPr/>
          <p:nvPr/>
        </p:nvSpPr>
        <p:spPr>
          <a:xfrm>
            <a:off x="8229600" y="4617720"/>
            <a:ext cx="274320" cy="137160"/>
          </a:xfrm>
          <a:prstGeom prst="line">
            <a:avLst/>
          </a:prstGeom>
          <a:noFill/>
          <a:ln w="6350">
            <a:solidFill>
              <a:srgbClr val="6B7280"/>
            </a:solidFill>
            <a:prstDash val="solid"/>
          </a:ln>
        </p:spPr>
      </p:sp>
      <p:sp>
        <p:nvSpPr>
          <p:cNvPr id="82" name="Shape 80"/>
          <p:cNvSpPr/>
          <p:nvPr/>
        </p:nvSpPr>
        <p:spPr>
          <a:xfrm>
            <a:off x="8394192" y="4754880"/>
            <a:ext cx="219456" cy="201168"/>
          </a:xfrm>
          <a:prstGeom prst="rect">
            <a:avLst/>
          </a:prstGeom>
          <a:solidFill>
            <a:srgbClr val="EEF3FC"/>
          </a:solidFill>
          <a:ln w="6350">
            <a:solidFill>
              <a:srgbClr val="3A4A8C"/>
            </a:solidFill>
            <a:prstDash val="solid"/>
          </a:ln>
        </p:spPr>
      </p:sp>
      <p:sp>
        <p:nvSpPr>
          <p:cNvPr id="83" name="Text 81"/>
          <p:cNvSpPr/>
          <p:nvPr/>
        </p:nvSpPr>
        <p:spPr>
          <a:xfrm>
            <a:off x="548640" y="5303520"/>
            <a:ext cx="11064240" cy="640080"/>
          </a:xfrm>
          <a:prstGeom prst="rect">
            <a:avLst/>
          </a:prstGeom>
          <a:noFill/>
          <a:ln/>
        </p:spPr>
        <p:txBody>
          <a:bodyPr wrap="square"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Top: one manager, a wide span of direct reports. Below: authority cascades further down through successive layers of subordinates — each layer delegating a share of its own authority downward.</a:t>
            </a:r>
            <a:endParaRPr lang="en-US" sz="1150" dirty="0"/>
          </a:p>
        </p:txBody>
      </p:sp>
      <p:sp>
        <p:nvSpPr>
          <p:cNvPr id="84" name="Text 8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14.10 DOWNWARD DELEGATION</a:t>
            </a:r>
            <a:endParaRPr lang="en-US" sz="1100" dirty="0"/>
          </a:p>
        </p:txBody>
      </p:sp>
      <p:sp>
        <p:nvSpPr>
          <p:cNvPr id="85" name="Text 8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14.11. IMPORTANCE OF DELEGATION OF AUTHORITY</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Reasons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 Common Feature of Any Organization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Wherever human beings live or work in groups, some form of delegation takes place — a family head, voters in a democracy, an elected leader assigning tasks to cabinet members.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Necessary Beyond Individual Capacity</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single owner or CEO, however competent, cannot perform every task of a business alone. The only way is to divide the work and assign matching authority and resources to subordinates.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Key to Individual Efficiency</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Delegation multiplies the manager — he becomes not one but several persons performing the tasks needed. Subordinates, in turn, gain experience and become capable of managing different areas over time.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14.11. IMPORTANCE OF DELEGATION OF AUTHORITY</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F</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14.16 – 14.22</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Departmentation</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Grouping activities into departments — and the five common bases on which that grouping can be done.</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14.16. DEPARTMENTATION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Meaning &amp; a Typical Departmentation Chart</a:t>
            </a:r>
            <a:endParaRPr lang="en-US" sz="2700" dirty="0"/>
          </a:p>
        </p:txBody>
      </p:sp>
      <p:sp>
        <p:nvSpPr>
          <p:cNvPr id="4" name="Text 2"/>
          <p:cNvSpPr/>
          <p:nvPr/>
        </p:nvSpPr>
        <p:spPr>
          <a:xfrm>
            <a:off x="548640" y="1645920"/>
            <a:ext cx="11064240" cy="1371600"/>
          </a:xfrm>
          <a:prstGeom prst="rect">
            <a:avLst/>
          </a:prstGeom>
          <a:noFill/>
          <a:ln/>
        </p:spPr>
        <p:txBody>
          <a:bodyPr wrap="square" rtlCol="0" anchor="t"/>
          <a:lstStyle/>
          <a:p>
            <a:pPr indent="0" marL="0">
              <a:lnSpc>
                <a:spcPct val="108000"/>
              </a:lnSpc>
              <a:spcAft>
                <a:spcPts val="600"/>
              </a:spcAft>
              <a:buNone/>
            </a:pPr>
            <a:r>
              <a:rPr lang="en-US" sz="1300" dirty="0">
                <a:solidFill>
                  <a:srgbClr val="2B2B33"/>
                </a:solidFill>
                <a:latin typeface="Calibri" pitchFamily="34" charset="0"/>
                <a:ea typeface="Calibri" pitchFamily="34" charset="-122"/>
                <a:cs typeface="Calibri" pitchFamily="34" charset="-120"/>
              </a:rPr>
              <a:t>Departmentation or departmentalization refers to:</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(a) Dividing the total effort into operating tasks (production, sales, finance, personnel, etc.)</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(b) Grouping tasks into functions, activities or jobs to be performed by individuals or groups</a:t>
            </a:r>
            <a:endParaRPr lang="en-US" sz="1300" dirty="0"/>
          </a:p>
          <a:p>
            <a:pPr marL="342900" indent="-342900">
              <a:lnSpc>
                <a:spcPct val="108000"/>
              </a:lnSpc>
              <a:spcAft>
                <a:spcPts val="300"/>
              </a:spcAft>
              <a:buSzPct val="100000"/>
              <a:buChar char="•"/>
            </a:pPr>
            <a:r>
              <a:rPr lang="en-US" sz="1300" dirty="0">
                <a:solidFill>
                  <a:srgbClr val="2B2B33"/>
                </a:solidFill>
                <a:latin typeface="Calibri" pitchFamily="34" charset="0"/>
                <a:ea typeface="Calibri" pitchFamily="34" charset="-122"/>
                <a:cs typeface="Calibri" pitchFamily="34" charset="-120"/>
              </a:rPr>
              <a:t>(c) Combining functions and sub-functions into efficient work-groups, and</a:t>
            </a:r>
            <a:endParaRPr lang="en-US" sz="1300" dirty="0"/>
          </a:p>
          <a:p>
            <a:pPr marL="342900" indent="-342900">
              <a:lnSpc>
                <a:spcPct val="108000"/>
              </a:lnSpc>
              <a:buSzPct val="100000"/>
              <a:buChar char="•"/>
            </a:pPr>
            <a:r>
              <a:rPr lang="en-US" sz="1300" dirty="0">
                <a:solidFill>
                  <a:srgbClr val="2B2B33"/>
                </a:solidFill>
                <a:latin typeface="Calibri" pitchFamily="34" charset="0"/>
                <a:ea typeface="Calibri" pitchFamily="34" charset="-122"/>
                <a:cs typeface="Calibri" pitchFamily="34" charset="-120"/>
              </a:rPr>
              <a:t>(d) Combining work-groups into departments.</a:t>
            </a:r>
            <a:endParaRPr lang="en-US" sz="1300" dirty="0"/>
          </a:p>
        </p:txBody>
      </p:sp>
      <p:sp>
        <p:nvSpPr>
          <p:cNvPr id="5" name="Shape 3"/>
          <p:cNvSpPr/>
          <p:nvPr/>
        </p:nvSpPr>
        <p:spPr>
          <a:xfrm>
            <a:off x="5074920" y="3200400"/>
            <a:ext cx="2011680" cy="411480"/>
          </a:xfrm>
          <a:prstGeom prst="roundRect">
            <a:avLst>
              <a:gd name="adj" fmla="val 11111"/>
            </a:avLst>
          </a:prstGeom>
          <a:solidFill>
            <a:srgbClr val="1E2761"/>
          </a:solidFill>
          <a:ln/>
        </p:spPr>
      </p:sp>
      <p:sp>
        <p:nvSpPr>
          <p:cNvPr id="6" name="Text 4"/>
          <p:cNvSpPr/>
          <p:nvPr/>
        </p:nvSpPr>
        <p:spPr>
          <a:xfrm>
            <a:off x="5074920" y="3200400"/>
            <a:ext cx="2011680" cy="411480"/>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Managing Director</a:t>
            </a:r>
            <a:endParaRPr lang="en-US" sz="1100" dirty="0"/>
          </a:p>
        </p:txBody>
      </p:sp>
      <p:sp>
        <p:nvSpPr>
          <p:cNvPr id="7" name="Shape 5"/>
          <p:cNvSpPr/>
          <p:nvPr/>
        </p:nvSpPr>
        <p:spPr>
          <a:xfrm>
            <a:off x="6080760" y="3611880"/>
            <a:ext cx="0" cy="182880"/>
          </a:xfrm>
          <a:prstGeom prst="line">
            <a:avLst/>
          </a:prstGeom>
          <a:noFill/>
          <a:ln w="19050">
            <a:solidFill>
              <a:srgbClr val="1E2761"/>
            </a:solidFill>
            <a:prstDash val="solid"/>
          </a:ln>
        </p:spPr>
      </p:sp>
      <p:sp>
        <p:nvSpPr>
          <p:cNvPr id="8" name="Shape 6"/>
          <p:cNvSpPr/>
          <p:nvPr/>
        </p:nvSpPr>
        <p:spPr>
          <a:xfrm>
            <a:off x="2148840" y="3794760"/>
            <a:ext cx="7863840" cy="0"/>
          </a:xfrm>
          <a:prstGeom prst="line">
            <a:avLst/>
          </a:prstGeom>
          <a:noFill/>
          <a:ln w="19050">
            <a:solidFill>
              <a:srgbClr val="1E2761"/>
            </a:solidFill>
            <a:prstDash val="solid"/>
          </a:ln>
        </p:spPr>
      </p:sp>
      <p:sp>
        <p:nvSpPr>
          <p:cNvPr id="9" name="Shape 7"/>
          <p:cNvSpPr/>
          <p:nvPr/>
        </p:nvSpPr>
        <p:spPr>
          <a:xfrm>
            <a:off x="3063240" y="3794760"/>
            <a:ext cx="0" cy="137160"/>
          </a:xfrm>
          <a:prstGeom prst="line">
            <a:avLst/>
          </a:prstGeom>
          <a:noFill/>
          <a:ln w="15875">
            <a:solidFill>
              <a:srgbClr val="1E2761"/>
            </a:solidFill>
            <a:prstDash val="solid"/>
          </a:ln>
        </p:spPr>
      </p:sp>
      <p:sp>
        <p:nvSpPr>
          <p:cNvPr id="10" name="Shape 8"/>
          <p:cNvSpPr/>
          <p:nvPr/>
        </p:nvSpPr>
        <p:spPr>
          <a:xfrm>
            <a:off x="2148840" y="3931920"/>
            <a:ext cx="1828800" cy="457200"/>
          </a:xfrm>
          <a:prstGeom prst="roundRect">
            <a:avLst>
              <a:gd name="adj" fmla="val 10000"/>
            </a:avLst>
          </a:prstGeom>
          <a:solidFill>
            <a:srgbClr val="3A4A8C"/>
          </a:solidFill>
          <a:ln/>
        </p:spPr>
      </p:sp>
      <p:sp>
        <p:nvSpPr>
          <p:cNvPr id="11" name="Text 9"/>
          <p:cNvSpPr/>
          <p:nvPr/>
        </p:nvSpPr>
        <p:spPr>
          <a:xfrm>
            <a:off x="2148840" y="3931920"/>
            <a:ext cx="182880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Production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Manager</a:t>
            </a:r>
            <a:endParaRPr lang="en-US" sz="950" dirty="0"/>
          </a:p>
        </p:txBody>
      </p:sp>
      <p:sp>
        <p:nvSpPr>
          <p:cNvPr id="12" name="Shape 10"/>
          <p:cNvSpPr/>
          <p:nvPr/>
        </p:nvSpPr>
        <p:spPr>
          <a:xfrm>
            <a:off x="2148840" y="4480560"/>
            <a:ext cx="1828800" cy="292608"/>
          </a:xfrm>
          <a:prstGeom prst="rect">
            <a:avLst/>
          </a:prstGeom>
          <a:solidFill>
            <a:srgbClr val="EEF3FC"/>
          </a:solidFill>
          <a:ln w="6350">
            <a:solidFill>
              <a:srgbClr val="3A4A8C"/>
            </a:solidFill>
            <a:prstDash val="solid"/>
          </a:ln>
        </p:spPr>
      </p:sp>
      <p:sp>
        <p:nvSpPr>
          <p:cNvPr id="13" name="Text 11"/>
          <p:cNvSpPr/>
          <p:nvPr/>
        </p:nvSpPr>
        <p:spPr>
          <a:xfrm>
            <a:off x="2194560" y="4480560"/>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Production Planning</a:t>
            </a:r>
            <a:endParaRPr lang="en-US" sz="800" dirty="0"/>
          </a:p>
        </p:txBody>
      </p:sp>
      <p:sp>
        <p:nvSpPr>
          <p:cNvPr id="14" name="Shape 12"/>
          <p:cNvSpPr/>
          <p:nvPr/>
        </p:nvSpPr>
        <p:spPr>
          <a:xfrm>
            <a:off x="2148840" y="4809744"/>
            <a:ext cx="1828800" cy="292608"/>
          </a:xfrm>
          <a:prstGeom prst="rect">
            <a:avLst/>
          </a:prstGeom>
          <a:solidFill>
            <a:srgbClr val="EEF3FC"/>
          </a:solidFill>
          <a:ln w="6350">
            <a:solidFill>
              <a:srgbClr val="3A4A8C"/>
            </a:solidFill>
            <a:prstDash val="solid"/>
          </a:ln>
        </p:spPr>
      </p:sp>
      <p:sp>
        <p:nvSpPr>
          <p:cNvPr id="15" name="Text 13"/>
          <p:cNvSpPr/>
          <p:nvPr/>
        </p:nvSpPr>
        <p:spPr>
          <a:xfrm>
            <a:off x="2194560" y="4809744"/>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Engineering</a:t>
            </a:r>
            <a:endParaRPr lang="en-US" sz="800" dirty="0"/>
          </a:p>
        </p:txBody>
      </p:sp>
      <p:sp>
        <p:nvSpPr>
          <p:cNvPr id="16" name="Shape 14"/>
          <p:cNvSpPr/>
          <p:nvPr/>
        </p:nvSpPr>
        <p:spPr>
          <a:xfrm>
            <a:off x="2148840" y="5138928"/>
            <a:ext cx="1828800" cy="292608"/>
          </a:xfrm>
          <a:prstGeom prst="rect">
            <a:avLst/>
          </a:prstGeom>
          <a:solidFill>
            <a:srgbClr val="EEF3FC"/>
          </a:solidFill>
          <a:ln w="6350">
            <a:solidFill>
              <a:srgbClr val="3A4A8C"/>
            </a:solidFill>
            <a:prstDash val="solid"/>
          </a:ln>
        </p:spPr>
      </p:sp>
      <p:sp>
        <p:nvSpPr>
          <p:cNvPr id="17" name="Text 15"/>
          <p:cNvSpPr/>
          <p:nvPr/>
        </p:nvSpPr>
        <p:spPr>
          <a:xfrm>
            <a:off x="2194560" y="5138928"/>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Purchasing</a:t>
            </a:r>
            <a:endParaRPr lang="en-US" sz="800" dirty="0"/>
          </a:p>
        </p:txBody>
      </p:sp>
      <p:sp>
        <p:nvSpPr>
          <p:cNvPr id="18" name="Shape 16"/>
          <p:cNvSpPr/>
          <p:nvPr/>
        </p:nvSpPr>
        <p:spPr>
          <a:xfrm>
            <a:off x="2148840" y="5468112"/>
            <a:ext cx="1828800" cy="292608"/>
          </a:xfrm>
          <a:prstGeom prst="rect">
            <a:avLst/>
          </a:prstGeom>
          <a:solidFill>
            <a:srgbClr val="EEF3FC"/>
          </a:solidFill>
          <a:ln w="6350">
            <a:solidFill>
              <a:srgbClr val="3A4A8C"/>
            </a:solidFill>
            <a:prstDash val="solid"/>
          </a:ln>
        </p:spPr>
      </p:sp>
      <p:sp>
        <p:nvSpPr>
          <p:cNvPr id="19" name="Text 17"/>
          <p:cNvSpPr/>
          <p:nvPr/>
        </p:nvSpPr>
        <p:spPr>
          <a:xfrm>
            <a:off x="2194560" y="5468112"/>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Equipment</a:t>
            </a:r>
            <a:endParaRPr lang="en-US" sz="800" dirty="0"/>
          </a:p>
        </p:txBody>
      </p:sp>
      <p:sp>
        <p:nvSpPr>
          <p:cNvPr id="20" name="Shape 18"/>
          <p:cNvSpPr/>
          <p:nvPr/>
        </p:nvSpPr>
        <p:spPr>
          <a:xfrm>
            <a:off x="5687568" y="3794760"/>
            <a:ext cx="0" cy="137160"/>
          </a:xfrm>
          <a:prstGeom prst="line">
            <a:avLst/>
          </a:prstGeom>
          <a:noFill/>
          <a:ln w="15875">
            <a:solidFill>
              <a:srgbClr val="1E2761"/>
            </a:solidFill>
            <a:prstDash val="solid"/>
          </a:ln>
        </p:spPr>
      </p:sp>
      <p:sp>
        <p:nvSpPr>
          <p:cNvPr id="21" name="Shape 19"/>
          <p:cNvSpPr/>
          <p:nvPr/>
        </p:nvSpPr>
        <p:spPr>
          <a:xfrm>
            <a:off x="4773168" y="3931920"/>
            <a:ext cx="1828800" cy="457200"/>
          </a:xfrm>
          <a:prstGeom prst="roundRect">
            <a:avLst>
              <a:gd name="adj" fmla="val 10000"/>
            </a:avLst>
          </a:prstGeom>
          <a:solidFill>
            <a:srgbClr val="3A4A8C"/>
          </a:solidFill>
          <a:ln/>
        </p:spPr>
      </p:sp>
      <p:sp>
        <p:nvSpPr>
          <p:cNvPr id="22" name="Text 20"/>
          <p:cNvSpPr/>
          <p:nvPr/>
        </p:nvSpPr>
        <p:spPr>
          <a:xfrm>
            <a:off x="4773168" y="3931920"/>
            <a:ext cx="182880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Marketing</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Manager</a:t>
            </a:r>
            <a:endParaRPr lang="en-US" sz="950" dirty="0"/>
          </a:p>
        </p:txBody>
      </p:sp>
      <p:sp>
        <p:nvSpPr>
          <p:cNvPr id="23" name="Shape 21"/>
          <p:cNvSpPr/>
          <p:nvPr/>
        </p:nvSpPr>
        <p:spPr>
          <a:xfrm>
            <a:off x="4773168" y="4480560"/>
            <a:ext cx="1828800" cy="292608"/>
          </a:xfrm>
          <a:prstGeom prst="rect">
            <a:avLst/>
          </a:prstGeom>
          <a:solidFill>
            <a:srgbClr val="EEF3FC"/>
          </a:solidFill>
          <a:ln w="6350">
            <a:solidFill>
              <a:srgbClr val="3A4A8C"/>
            </a:solidFill>
            <a:prstDash val="solid"/>
          </a:ln>
        </p:spPr>
      </p:sp>
      <p:sp>
        <p:nvSpPr>
          <p:cNvPr id="24" name="Text 22"/>
          <p:cNvSpPr/>
          <p:nvPr/>
        </p:nvSpPr>
        <p:spPr>
          <a:xfrm>
            <a:off x="4818888" y="4480560"/>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Market Research</a:t>
            </a:r>
            <a:endParaRPr lang="en-US" sz="800" dirty="0"/>
          </a:p>
        </p:txBody>
      </p:sp>
      <p:sp>
        <p:nvSpPr>
          <p:cNvPr id="25" name="Shape 23"/>
          <p:cNvSpPr/>
          <p:nvPr/>
        </p:nvSpPr>
        <p:spPr>
          <a:xfrm>
            <a:off x="4773168" y="4809744"/>
            <a:ext cx="1828800" cy="292608"/>
          </a:xfrm>
          <a:prstGeom prst="rect">
            <a:avLst/>
          </a:prstGeom>
          <a:solidFill>
            <a:srgbClr val="EEF3FC"/>
          </a:solidFill>
          <a:ln w="6350">
            <a:solidFill>
              <a:srgbClr val="3A4A8C"/>
            </a:solidFill>
            <a:prstDash val="solid"/>
          </a:ln>
        </p:spPr>
      </p:sp>
      <p:sp>
        <p:nvSpPr>
          <p:cNvPr id="26" name="Text 24"/>
          <p:cNvSpPr/>
          <p:nvPr/>
        </p:nvSpPr>
        <p:spPr>
          <a:xfrm>
            <a:off x="4818888" y="4809744"/>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Advertising &amp; Sales Promotion</a:t>
            </a:r>
            <a:endParaRPr lang="en-US" sz="800" dirty="0"/>
          </a:p>
        </p:txBody>
      </p:sp>
      <p:sp>
        <p:nvSpPr>
          <p:cNvPr id="27" name="Shape 25"/>
          <p:cNvSpPr/>
          <p:nvPr/>
        </p:nvSpPr>
        <p:spPr>
          <a:xfrm>
            <a:off x="4773168" y="5138928"/>
            <a:ext cx="1828800" cy="292608"/>
          </a:xfrm>
          <a:prstGeom prst="rect">
            <a:avLst/>
          </a:prstGeom>
          <a:solidFill>
            <a:srgbClr val="EEF3FC"/>
          </a:solidFill>
          <a:ln w="6350">
            <a:solidFill>
              <a:srgbClr val="3A4A8C"/>
            </a:solidFill>
            <a:prstDash val="solid"/>
          </a:ln>
        </p:spPr>
      </p:sp>
      <p:sp>
        <p:nvSpPr>
          <p:cNvPr id="28" name="Text 26"/>
          <p:cNvSpPr/>
          <p:nvPr/>
        </p:nvSpPr>
        <p:spPr>
          <a:xfrm>
            <a:off x="4818888" y="5138928"/>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Sales Management</a:t>
            </a:r>
            <a:endParaRPr lang="en-US" sz="800" dirty="0"/>
          </a:p>
        </p:txBody>
      </p:sp>
      <p:sp>
        <p:nvSpPr>
          <p:cNvPr id="29" name="Shape 27"/>
          <p:cNvSpPr/>
          <p:nvPr/>
        </p:nvSpPr>
        <p:spPr>
          <a:xfrm>
            <a:off x="4773168" y="5468112"/>
            <a:ext cx="1828800" cy="292608"/>
          </a:xfrm>
          <a:prstGeom prst="rect">
            <a:avLst/>
          </a:prstGeom>
          <a:solidFill>
            <a:srgbClr val="EEF3FC"/>
          </a:solidFill>
          <a:ln w="6350">
            <a:solidFill>
              <a:srgbClr val="3A4A8C"/>
            </a:solidFill>
            <a:prstDash val="solid"/>
          </a:ln>
        </p:spPr>
      </p:sp>
      <p:sp>
        <p:nvSpPr>
          <p:cNvPr id="30" name="Text 28"/>
          <p:cNvSpPr/>
          <p:nvPr/>
        </p:nvSpPr>
        <p:spPr>
          <a:xfrm>
            <a:off x="4818888" y="5468112"/>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Sales</a:t>
            </a:r>
            <a:endParaRPr lang="en-US" sz="800" dirty="0"/>
          </a:p>
        </p:txBody>
      </p:sp>
      <p:sp>
        <p:nvSpPr>
          <p:cNvPr id="31" name="Shape 29"/>
          <p:cNvSpPr/>
          <p:nvPr/>
        </p:nvSpPr>
        <p:spPr>
          <a:xfrm>
            <a:off x="8311896" y="3794760"/>
            <a:ext cx="0" cy="137160"/>
          </a:xfrm>
          <a:prstGeom prst="line">
            <a:avLst/>
          </a:prstGeom>
          <a:noFill/>
          <a:ln w="15875">
            <a:solidFill>
              <a:srgbClr val="1E2761"/>
            </a:solidFill>
            <a:prstDash val="solid"/>
          </a:ln>
        </p:spPr>
      </p:sp>
      <p:sp>
        <p:nvSpPr>
          <p:cNvPr id="32" name="Shape 30"/>
          <p:cNvSpPr/>
          <p:nvPr/>
        </p:nvSpPr>
        <p:spPr>
          <a:xfrm>
            <a:off x="7397496" y="3931920"/>
            <a:ext cx="1828800" cy="457200"/>
          </a:xfrm>
          <a:prstGeom prst="roundRect">
            <a:avLst>
              <a:gd name="adj" fmla="val 10000"/>
            </a:avLst>
          </a:prstGeom>
          <a:solidFill>
            <a:srgbClr val="3A4A8C"/>
          </a:solidFill>
          <a:ln/>
        </p:spPr>
      </p:sp>
      <p:sp>
        <p:nvSpPr>
          <p:cNvPr id="33" name="Text 31"/>
          <p:cNvSpPr/>
          <p:nvPr/>
        </p:nvSpPr>
        <p:spPr>
          <a:xfrm>
            <a:off x="7397496" y="3931920"/>
            <a:ext cx="182880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Manager</a:t>
            </a:r>
            <a:endParaRPr lang="en-US" sz="950" dirty="0"/>
          </a:p>
        </p:txBody>
      </p:sp>
      <p:sp>
        <p:nvSpPr>
          <p:cNvPr id="34" name="Shape 32"/>
          <p:cNvSpPr/>
          <p:nvPr/>
        </p:nvSpPr>
        <p:spPr>
          <a:xfrm>
            <a:off x="7397496" y="4480560"/>
            <a:ext cx="1828800" cy="292608"/>
          </a:xfrm>
          <a:prstGeom prst="rect">
            <a:avLst/>
          </a:prstGeom>
          <a:solidFill>
            <a:srgbClr val="EEF3FC"/>
          </a:solidFill>
          <a:ln w="6350">
            <a:solidFill>
              <a:srgbClr val="3A4A8C"/>
            </a:solidFill>
            <a:prstDash val="solid"/>
          </a:ln>
        </p:spPr>
      </p:sp>
      <p:sp>
        <p:nvSpPr>
          <p:cNvPr id="35" name="Text 33"/>
          <p:cNvSpPr/>
          <p:nvPr/>
        </p:nvSpPr>
        <p:spPr>
          <a:xfrm>
            <a:off x="7443216" y="4480560"/>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Financial Planning</a:t>
            </a:r>
            <a:endParaRPr lang="en-US" sz="800" dirty="0"/>
          </a:p>
        </p:txBody>
      </p:sp>
      <p:sp>
        <p:nvSpPr>
          <p:cNvPr id="36" name="Shape 34"/>
          <p:cNvSpPr/>
          <p:nvPr/>
        </p:nvSpPr>
        <p:spPr>
          <a:xfrm>
            <a:off x="7397496" y="4809744"/>
            <a:ext cx="1828800" cy="292608"/>
          </a:xfrm>
          <a:prstGeom prst="rect">
            <a:avLst/>
          </a:prstGeom>
          <a:solidFill>
            <a:srgbClr val="EEF3FC"/>
          </a:solidFill>
          <a:ln w="6350">
            <a:solidFill>
              <a:srgbClr val="3A4A8C"/>
            </a:solidFill>
            <a:prstDash val="solid"/>
          </a:ln>
        </p:spPr>
      </p:sp>
      <p:sp>
        <p:nvSpPr>
          <p:cNvPr id="37" name="Text 35"/>
          <p:cNvSpPr/>
          <p:nvPr/>
        </p:nvSpPr>
        <p:spPr>
          <a:xfrm>
            <a:off x="7443216" y="4809744"/>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Budgeting</a:t>
            </a:r>
            <a:endParaRPr lang="en-US" sz="800" dirty="0"/>
          </a:p>
        </p:txBody>
      </p:sp>
      <p:sp>
        <p:nvSpPr>
          <p:cNvPr id="38" name="Shape 36"/>
          <p:cNvSpPr/>
          <p:nvPr/>
        </p:nvSpPr>
        <p:spPr>
          <a:xfrm>
            <a:off x="7397496" y="5138928"/>
            <a:ext cx="1828800" cy="292608"/>
          </a:xfrm>
          <a:prstGeom prst="rect">
            <a:avLst/>
          </a:prstGeom>
          <a:solidFill>
            <a:srgbClr val="EEF3FC"/>
          </a:solidFill>
          <a:ln w="6350">
            <a:solidFill>
              <a:srgbClr val="3A4A8C"/>
            </a:solidFill>
            <a:prstDash val="solid"/>
          </a:ln>
        </p:spPr>
      </p:sp>
      <p:sp>
        <p:nvSpPr>
          <p:cNvPr id="39" name="Text 37"/>
          <p:cNvSpPr/>
          <p:nvPr/>
        </p:nvSpPr>
        <p:spPr>
          <a:xfrm>
            <a:off x="7443216" y="5138928"/>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Central Accounting</a:t>
            </a:r>
            <a:endParaRPr lang="en-US" sz="800" dirty="0"/>
          </a:p>
        </p:txBody>
      </p:sp>
      <p:sp>
        <p:nvSpPr>
          <p:cNvPr id="40" name="Shape 38"/>
          <p:cNvSpPr/>
          <p:nvPr/>
        </p:nvSpPr>
        <p:spPr>
          <a:xfrm>
            <a:off x="7397496" y="5468112"/>
            <a:ext cx="1828800" cy="292608"/>
          </a:xfrm>
          <a:prstGeom prst="rect">
            <a:avLst/>
          </a:prstGeom>
          <a:solidFill>
            <a:srgbClr val="EEF3FC"/>
          </a:solidFill>
          <a:ln w="6350">
            <a:solidFill>
              <a:srgbClr val="3A4A8C"/>
            </a:solidFill>
            <a:prstDash val="solid"/>
          </a:ln>
        </p:spPr>
      </p:sp>
      <p:sp>
        <p:nvSpPr>
          <p:cNvPr id="41" name="Text 39"/>
          <p:cNvSpPr/>
          <p:nvPr/>
        </p:nvSpPr>
        <p:spPr>
          <a:xfrm>
            <a:off x="7443216" y="5468112"/>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Cost Accounting</a:t>
            </a:r>
            <a:endParaRPr lang="en-US" sz="800" dirty="0"/>
          </a:p>
        </p:txBody>
      </p:sp>
      <p:sp>
        <p:nvSpPr>
          <p:cNvPr id="42" name="Shape 40"/>
          <p:cNvSpPr/>
          <p:nvPr/>
        </p:nvSpPr>
        <p:spPr>
          <a:xfrm>
            <a:off x="10936224" y="3794760"/>
            <a:ext cx="0" cy="137160"/>
          </a:xfrm>
          <a:prstGeom prst="line">
            <a:avLst/>
          </a:prstGeom>
          <a:noFill/>
          <a:ln w="15875">
            <a:solidFill>
              <a:srgbClr val="1E2761"/>
            </a:solidFill>
            <a:prstDash val="solid"/>
          </a:ln>
        </p:spPr>
      </p:sp>
      <p:sp>
        <p:nvSpPr>
          <p:cNvPr id="43" name="Shape 41"/>
          <p:cNvSpPr/>
          <p:nvPr/>
        </p:nvSpPr>
        <p:spPr>
          <a:xfrm>
            <a:off x="10021824" y="3931920"/>
            <a:ext cx="1828800" cy="457200"/>
          </a:xfrm>
          <a:prstGeom prst="roundRect">
            <a:avLst>
              <a:gd name="adj" fmla="val 10000"/>
            </a:avLst>
          </a:prstGeom>
          <a:solidFill>
            <a:srgbClr val="3A4A8C"/>
          </a:solidFill>
          <a:ln/>
        </p:spPr>
      </p:sp>
      <p:sp>
        <p:nvSpPr>
          <p:cNvPr id="44" name="Text 42"/>
          <p:cNvSpPr/>
          <p:nvPr/>
        </p:nvSpPr>
        <p:spPr>
          <a:xfrm>
            <a:off x="10021824" y="3931920"/>
            <a:ext cx="1828800" cy="45720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Personnel</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Manager</a:t>
            </a:r>
            <a:endParaRPr lang="en-US" sz="950" dirty="0"/>
          </a:p>
        </p:txBody>
      </p:sp>
      <p:sp>
        <p:nvSpPr>
          <p:cNvPr id="45" name="Shape 43"/>
          <p:cNvSpPr/>
          <p:nvPr/>
        </p:nvSpPr>
        <p:spPr>
          <a:xfrm>
            <a:off x="10021824" y="4480560"/>
            <a:ext cx="1828800" cy="292608"/>
          </a:xfrm>
          <a:prstGeom prst="rect">
            <a:avLst/>
          </a:prstGeom>
          <a:solidFill>
            <a:srgbClr val="EEF3FC"/>
          </a:solidFill>
          <a:ln w="6350">
            <a:solidFill>
              <a:srgbClr val="3A4A8C"/>
            </a:solidFill>
            <a:prstDash val="solid"/>
          </a:ln>
        </p:spPr>
      </p:sp>
      <p:sp>
        <p:nvSpPr>
          <p:cNvPr id="46" name="Text 44"/>
          <p:cNvSpPr/>
          <p:nvPr/>
        </p:nvSpPr>
        <p:spPr>
          <a:xfrm>
            <a:off x="10067544" y="4480560"/>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Recruitment &amp; Selection</a:t>
            </a:r>
            <a:endParaRPr lang="en-US" sz="800" dirty="0"/>
          </a:p>
        </p:txBody>
      </p:sp>
      <p:sp>
        <p:nvSpPr>
          <p:cNvPr id="47" name="Shape 45"/>
          <p:cNvSpPr/>
          <p:nvPr/>
        </p:nvSpPr>
        <p:spPr>
          <a:xfrm>
            <a:off x="10021824" y="4809744"/>
            <a:ext cx="1828800" cy="292608"/>
          </a:xfrm>
          <a:prstGeom prst="rect">
            <a:avLst/>
          </a:prstGeom>
          <a:solidFill>
            <a:srgbClr val="EEF3FC"/>
          </a:solidFill>
          <a:ln w="6350">
            <a:solidFill>
              <a:srgbClr val="3A4A8C"/>
            </a:solidFill>
            <a:prstDash val="solid"/>
          </a:ln>
        </p:spPr>
      </p:sp>
      <p:sp>
        <p:nvSpPr>
          <p:cNvPr id="48" name="Text 46"/>
          <p:cNvSpPr/>
          <p:nvPr/>
        </p:nvSpPr>
        <p:spPr>
          <a:xfrm>
            <a:off x="10067544" y="4809744"/>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Training</a:t>
            </a:r>
            <a:endParaRPr lang="en-US" sz="800" dirty="0"/>
          </a:p>
        </p:txBody>
      </p:sp>
      <p:sp>
        <p:nvSpPr>
          <p:cNvPr id="49" name="Shape 47"/>
          <p:cNvSpPr/>
          <p:nvPr/>
        </p:nvSpPr>
        <p:spPr>
          <a:xfrm>
            <a:off x="10021824" y="5138928"/>
            <a:ext cx="1828800" cy="292608"/>
          </a:xfrm>
          <a:prstGeom prst="rect">
            <a:avLst/>
          </a:prstGeom>
          <a:solidFill>
            <a:srgbClr val="EEF3FC"/>
          </a:solidFill>
          <a:ln w="6350">
            <a:solidFill>
              <a:srgbClr val="3A4A8C"/>
            </a:solidFill>
            <a:prstDash val="solid"/>
          </a:ln>
        </p:spPr>
      </p:sp>
      <p:sp>
        <p:nvSpPr>
          <p:cNvPr id="50" name="Text 48"/>
          <p:cNvSpPr/>
          <p:nvPr/>
        </p:nvSpPr>
        <p:spPr>
          <a:xfrm>
            <a:off x="10067544" y="5138928"/>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Wage Administration</a:t>
            </a:r>
            <a:endParaRPr lang="en-US" sz="800" dirty="0"/>
          </a:p>
        </p:txBody>
      </p:sp>
      <p:sp>
        <p:nvSpPr>
          <p:cNvPr id="51" name="Shape 49"/>
          <p:cNvSpPr/>
          <p:nvPr/>
        </p:nvSpPr>
        <p:spPr>
          <a:xfrm>
            <a:off x="10021824" y="5468112"/>
            <a:ext cx="1828800" cy="292608"/>
          </a:xfrm>
          <a:prstGeom prst="rect">
            <a:avLst/>
          </a:prstGeom>
          <a:solidFill>
            <a:srgbClr val="EEF3FC"/>
          </a:solidFill>
          <a:ln w="6350">
            <a:solidFill>
              <a:srgbClr val="3A4A8C"/>
            </a:solidFill>
            <a:prstDash val="solid"/>
          </a:ln>
        </p:spPr>
      </p:sp>
      <p:sp>
        <p:nvSpPr>
          <p:cNvPr id="52" name="Text 50"/>
          <p:cNvSpPr/>
          <p:nvPr/>
        </p:nvSpPr>
        <p:spPr>
          <a:xfrm>
            <a:off x="10067544" y="5468112"/>
            <a:ext cx="1737360" cy="292608"/>
          </a:xfrm>
          <a:prstGeom prst="rect">
            <a:avLst/>
          </a:prstGeom>
          <a:noFill/>
          <a:ln/>
        </p:spPr>
        <p:txBody>
          <a:bodyPr wrap="square" rtlCol="0" anchor="ctr"/>
          <a:lstStyle/>
          <a:p>
            <a:pPr algn="ctr" indent="0" marL="0">
              <a:buNone/>
            </a:pPr>
            <a:r>
              <a:rPr lang="en-US" sz="800" dirty="0">
                <a:solidFill>
                  <a:srgbClr val="2B2B33"/>
                </a:solidFill>
                <a:latin typeface="Calibri" pitchFamily="34" charset="0"/>
                <a:ea typeface="Calibri" pitchFamily="34" charset="-122"/>
                <a:cs typeface="Calibri" pitchFamily="34" charset="-120"/>
              </a:rPr>
              <a:t>Employee Welfare</a:t>
            </a:r>
            <a:endParaRPr lang="en-US" sz="800" dirty="0"/>
          </a:p>
        </p:txBody>
      </p:sp>
      <p:sp>
        <p:nvSpPr>
          <p:cNvPr id="53" name="Text 51"/>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14.16 DEPARTMENTATION</a:t>
            </a:r>
            <a:endParaRPr lang="en-US" sz="1100" dirty="0"/>
          </a:p>
        </p:txBody>
      </p:sp>
      <p:sp>
        <p:nvSpPr>
          <p:cNvPr id="54" name="Text 5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14.17. BASIS OF DEPARTMENTATION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(1)–(2) Factors to Consider &amp; Classification of Departments</a:t>
            </a:r>
            <a:endParaRPr lang="en-US" sz="2700" dirty="0"/>
          </a:p>
        </p:txBody>
      </p:sp>
      <p:sp>
        <p:nvSpPr>
          <p:cNvPr id="4" name="Text 2"/>
          <p:cNvSpPr/>
          <p:nvPr/>
        </p:nvSpPr>
        <p:spPr>
          <a:xfrm>
            <a:off x="548640" y="1645920"/>
            <a:ext cx="6858000" cy="3520440"/>
          </a:xfrm>
          <a:prstGeom prst="rect">
            <a:avLst/>
          </a:prstGeom>
          <a:noFill/>
          <a:ln/>
        </p:spPr>
        <p:txBody>
          <a:bodyPr wrap="square" rtlCol="0" anchor="t"/>
          <a:lstStyle/>
          <a:p>
            <a:pPr indent="0" marL="0">
              <a:lnSpc>
                <a:spcPct val="110000"/>
              </a:lnSpc>
              <a:spcAft>
                <a:spcPts val="1000"/>
              </a:spcAft>
              <a:buNone/>
            </a:pPr>
            <a:r>
              <a:rPr lang="en-US" sz="1500" dirty="0">
                <a:solidFill>
                  <a:srgbClr val="2B2B33"/>
                </a:solidFill>
                <a:latin typeface="Calibri" pitchFamily="34" charset="0"/>
                <a:ea typeface="Calibri" pitchFamily="34" charset="-122"/>
                <a:cs typeface="Calibri" pitchFamily="34" charset="-120"/>
              </a:rPr>
              <a:t>Factors to be kept in mind while creating departments: (a) work to be done and processes employed (b) ability and skill-levels of employees (c) promotion of specialization (d) single or variety of technology used (e) ability to adjust to competitors' challenges (f) ease of coordination between activities, and (g) optimum utilization of resources.</a:t>
            </a:r>
            <a:endParaRPr lang="en-US" sz="1500" dirty="0"/>
          </a:p>
          <a:p>
            <a:pPr indent="0" marL="0">
              <a:lnSpc>
                <a:spcPct val="110000"/>
              </a:lnSpc>
              <a:spcAft>
                <a:spcPts val="600"/>
              </a:spcAft>
              <a:buNone/>
            </a:pPr>
            <a:r>
              <a:rPr lang="en-US" sz="1500" dirty="0">
                <a:solidFill>
                  <a:srgbClr val="2B2B33"/>
                </a:solidFill>
                <a:latin typeface="Calibri" pitchFamily="34" charset="0"/>
                <a:ea typeface="Calibri" pitchFamily="34" charset="-122"/>
                <a:cs typeface="Calibri" pitchFamily="34" charset="-120"/>
              </a:rPr>
              <a:t>Classification of Departments — common types:</a:t>
            </a:r>
            <a:endParaRPr lang="en-US" sz="1500" dirty="0"/>
          </a:p>
          <a:p>
            <a:pPr marL="342900" indent="-342900">
              <a:lnSpc>
                <a:spcPct val="110000"/>
              </a:lnSpc>
              <a:spcAft>
                <a:spcPts val="300"/>
              </a:spcAft>
              <a:buSzPct val="100000"/>
              <a:buChar char="•"/>
            </a:pPr>
            <a:r>
              <a:rPr lang="en-US" sz="1500" dirty="0">
                <a:solidFill>
                  <a:srgbClr val="2B2B33"/>
                </a:solidFill>
                <a:latin typeface="Calibri" pitchFamily="34" charset="0"/>
                <a:ea typeface="Calibri" pitchFamily="34" charset="-122"/>
                <a:cs typeface="Calibri" pitchFamily="34" charset="-120"/>
              </a:rPr>
              <a:t>(a) Functional departmentation</a:t>
            </a:r>
            <a:endParaRPr lang="en-US" sz="1500" dirty="0"/>
          </a:p>
          <a:p>
            <a:pPr marL="342900" indent="-342900">
              <a:lnSpc>
                <a:spcPct val="110000"/>
              </a:lnSpc>
              <a:spcAft>
                <a:spcPts val="300"/>
              </a:spcAft>
              <a:buSzPct val="100000"/>
              <a:buChar char="•"/>
            </a:pPr>
            <a:r>
              <a:rPr lang="en-US" sz="1500" dirty="0">
                <a:solidFill>
                  <a:srgbClr val="2B2B33"/>
                </a:solidFill>
                <a:latin typeface="Calibri" pitchFamily="34" charset="0"/>
                <a:ea typeface="Calibri" pitchFamily="34" charset="-122"/>
                <a:cs typeface="Calibri" pitchFamily="34" charset="-120"/>
              </a:rPr>
              <a:t>(b) Geographical or territory-wise departmentation</a:t>
            </a:r>
            <a:endParaRPr lang="en-US" sz="1500" dirty="0"/>
          </a:p>
          <a:p>
            <a:pPr marL="342900" indent="-342900">
              <a:lnSpc>
                <a:spcPct val="110000"/>
              </a:lnSpc>
              <a:spcAft>
                <a:spcPts val="300"/>
              </a:spcAft>
              <a:buSzPct val="100000"/>
              <a:buChar char="•"/>
            </a:pPr>
            <a:r>
              <a:rPr lang="en-US" sz="1500" dirty="0">
                <a:solidFill>
                  <a:srgbClr val="2B2B33"/>
                </a:solidFill>
                <a:latin typeface="Calibri" pitchFamily="34" charset="0"/>
                <a:ea typeface="Calibri" pitchFamily="34" charset="-122"/>
                <a:cs typeface="Calibri" pitchFamily="34" charset="-120"/>
              </a:rPr>
              <a:t>(c) Product-wise departmentation</a:t>
            </a:r>
            <a:endParaRPr lang="en-US" sz="1500" dirty="0"/>
          </a:p>
          <a:p>
            <a:pPr marL="342900" indent="-342900">
              <a:lnSpc>
                <a:spcPct val="110000"/>
              </a:lnSpc>
              <a:spcAft>
                <a:spcPts val="300"/>
              </a:spcAft>
              <a:buSzPct val="100000"/>
              <a:buChar char="•"/>
            </a:pPr>
            <a:r>
              <a:rPr lang="en-US" sz="1500" dirty="0">
                <a:solidFill>
                  <a:srgbClr val="2B2B33"/>
                </a:solidFill>
                <a:latin typeface="Calibri" pitchFamily="34" charset="0"/>
                <a:ea typeface="Calibri" pitchFamily="34" charset="-122"/>
                <a:cs typeface="Calibri" pitchFamily="34" charset="-120"/>
              </a:rPr>
              <a:t>(d) Customer-wise departmentation</a:t>
            </a:r>
            <a:endParaRPr lang="en-US" sz="1500" dirty="0"/>
          </a:p>
          <a:p>
            <a:pPr marL="342900" indent="-342900">
              <a:lnSpc>
                <a:spcPct val="110000"/>
              </a:lnSpc>
              <a:buSzPct val="100000"/>
              <a:buChar char="•"/>
            </a:pPr>
            <a:r>
              <a:rPr lang="en-US" sz="1500" dirty="0">
                <a:solidFill>
                  <a:srgbClr val="2B2B33"/>
                </a:solidFill>
                <a:latin typeface="Calibri" pitchFamily="34" charset="0"/>
                <a:ea typeface="Calibri" pitchFamily="34" charset="-122"/>
                <a:cs typeface="Calibri" pitchFamily="34" charset="-120"/>
              </a:rPr>
              <a:t>(e) Numerical departmentation</a:t>
            </a:r>
            <a:endParaRPr lang="en-US" sz="1500" dirty="0"/>
          </a:p>
        </p:txBody>
      </p:sp>
      <p:sp>
        <p:nvSpPr>
          <p:cNvPr id="5" name="Shape 3"/>
          <p:cNvSpPr/>
          <p:nvPr/>
        </p:nvSpPr>
        <p:spPr>
          <a:xfrm>
            <a:off x="548640" y="5257800"/>
            <a:ext cx="6858000" cy="822960"/>
          </a:xfrm>
          <a:prstGeom prst="roundRect">
            <a:avLst>
              <a:gd name="adj" fmla="val 8889"/>
            </a:avLst>
          </a:prstGeom>
          <a:solidFill>
            <a:srgbClr val="FFF6E0"/>
          </a:solidFill>
          <a:ln w="12700">
            <a:solidFill>
              <a:srgbClr val="C9A24B"/>
            </a:solidFill>
            <a:prstDash val="solid"/>
          </a:ln>
        </p:spPr>
      </p:sp>
      <p:sp>
        <p:nvSpPr>
          <p:cNvPr id="6" name="Text 4"/>
          <p:cNvSpPr/>
          <p:nvPr/>
        </p:nvSpPr>
        <p:spPr>
          <a:xfrm>
            <a:off x="731520" y="5321808"/>
            <a:ext cx="6492240" cy="256032"/>
          </a:xfrm>
          <a:prstGeom prst="rect">
            <a:avLst/>
          </a:prstGeom>
          <a:noFill/>
          <a:ln/>
        </p:spPr>
        <p:txBody>
          <a:bodyPr wrap="square" rtlCol="0" anchor="ctr"/>
          <a:lstStyle/>
          <a:p>
            <a:pPr indent="0" marL="0">
              <a:buNone/>
            </a:pPr>
            <a:r>
              <a:rPr lang="en-US" sz="1050" b="1" spc="100" kern="0" dirty="0">
                <a:solidFill>
                  <a:srgbClr val="8A6D1D"/>
                </a:solidFill>
                <a:latin typeface="Calibri" pitchFamily="34" charset="0"/>
                <a:ea typeface="Calibri" pitchFamily="34" charset="-122"/>
                <a:cs typeface="Calibri" pitchFamily="34" charset="-120"/>
              </a:rPr>
              <a:t>🧠  MNEMONIC</a:t>
            </a:r>
            <a:endParaRPr lang="en-US" sz="1050" dirty="0"/>
          </a:p>
        </p:txBody>
      </p:sp>
      <p:sp>
        <p:nvSpPr>
          <p:cNvPr id="7" name="Text 5"/>
          <p:cNvSpPr/>
          <p:nvPr/>
        </p:nvSpPr>
        <p:spPr>
          <a:xfrm>
            <a:off x="731520" y="5577840"/>
            <a:ext cx="6492240" cy="457200"/>
          </a:xfrm>
          <a:prstGeom prst="rect">
            <a:avLst/>
          </a:prstGeom>
          <a:noFill/>
          <a:ln/>
        </p:spPr>
        <p:txBody>
          <a:bodyPr wrap="square" rtlCol="0" anchor="t"/>
          <a:lstStyle/>
          <a:p>
            <a:pPr indent="0" marL="0">
              <a:buNone/>
            </a:pPr>
            <a:r>
              <a:rPr lang="en-US" sz="1200" i="1" dirty="0">
                <a:solidFill>
                  <a:srgbClr val="2B2B33"/>
                </a:solidFill>
                <a:latin typeface="Calibri" pitchFamily="34" charset="0"/>
                <a:ea typeface="Calibri" pitchFamily="34" charset="-122"/>
                <a:cs typeface="Calibri" pitchFamily="34" charset="-120"/>
              </a:rPr>
              <a:t>“FGPCN”: Functional, Geographical, Product, Customer, Numerical — the five bases.</a:t>
            </a:r>
            <a:endParaRPr lang="en-US" sz="1200" dirty="0"/>
          </a:p>
        </p:txBody>
      </p:sp>
      <p:sp>
        <p:nvSpPr>
          <p:cNvPr id="8" name="Shape 6"/>
          <p:cNvSpPr/>
          <p:nvPr/>
        </p:nvSpPr>
        <p:spPr>
          <a:xfrm>
            <a:off x="7680960" y="1645920"/>
            <a:ext cx="3977640" cy="4297680"/>
          </a:xfrm>
          <a:prstGeom prst="roundRect">
            <a:avLst>
              <a:gd name="adj" fmla="val 2299"/>
            </a:avLst>
          </a:prstGeom>
          <a:solidFill>
            <a:srgbClr val="1E2761"/>
          </a:solidFill>
          <a:ln/>
        </p:spPr>
      </p:sp>
      <p:sp>
        <p:nvSpPr>
          <p:cNvPr id="9" name="Shape 7"/>
          <p:cNvSpPr/>
          <p:nvPr/>
        </p:nvSpPr>
        <p:spPr>
          <a:xfrm>
            <a:off x="8001000" y="1920240"/>
            <a:ext cx="621792" cy="621792"/>
          </a:xfrm>
          <a:prstGeom prst="ellipse">
            <a:avLst/>
          </a:prstGeom>
          <a:solidFill>
            <a:srgbClr val="C9A24B"/>
          </a:solidFill>
          <a:ln/>
        </p:spPr>
      </p:sp>
      <p:pic>
        <p:nvPicPr>
          <p:cNvPr id="10"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11" name="Text 8"/>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12" name="Text 9"/>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Choosing a Basis</a:t>
            </a:r>
            <a:endParaRPr lang="en-US" sz="1500" dirty="0"/>
          </a:p>
        </p:txBody>
      </p:sp>
      <p:sp>
        <p:nvSpPr>
          <p:cNvPr id="13" name="Text 10"/>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A regional bank groups branches by geography; a hospital groups departments by function (surgery, radiology); a conglomerate like Tata groups by product line.</a:t>
            </a:r>
            <a:endParaRPr lang="en-US" sz="1250" dirty="0"/>
          </a:p>
        </p:txBody>
      </p:sp>
      <p:sp>
        <p:nvSpPr>
          <p:cNvPr id="14" name="Text 11"/>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14.17. BASIS OF DEPARTMENTATION</a:t>
            </a:r>
            <a:endParaRPr lang="en-US" sz="11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14.18. FUNCTIONAL DEPARTMENTS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 Single Department for Similar Functions</a:t>
            </a:r>
            <a:endParaRPr lang="en-US" sz="2700" dirty="0"/>
          </a:p>
        </p:txBody>
      </p:sp>
      <p:sp>
        <p:nvSpPr>
          <p:cNvPr id="4" name="Text 2"/>
          <p:cNvSpPr/>
          <p:nvPr/>
        </p:nvSpPr>
        <p:spPr>
          <a:xfrm>
            <a:off x="548640" y="1645920"/>
            <a:ext cx="11064240" cy="685800"/>
          </a:xfrm>
          <a:prstGeom prst="rect">
            <a:avLst/>
          </a:prstGeom>
          <a:noFill/>
          <a:ln/>
        </p:spPr>
        <p:txBody>
          <a:bodyPr wrap="square" rtlCol="0" anchor="t"/>
          <a:lstStyle/>
          <a:p>
            <a:pPr indent="0" marL="0">
              <a:buNone/>
            </a:pPr>
            <a:r>
              <a:rPr lang="en-US" sz="1300" dirty="0">
                <a:solidFill>
                  <a:srgbClr val="2B2B33"/>
                </a:solidFill>
                <a:latin typeface="Calibri" pitchFamily="34" charset="0"/>
                <a:ea typeface="Calibri" pitchFamily="34" charset="-122"/>
                <a:cs typeface="Calibri" pitchFamily="34" charset="-120"/>
              </a:rPr>
              <a:t>Departmentation by functions is a popular mode of grouping activities. Activities are grouped on the basis of the functions to be performed — in a manufacturing company, the basic functions are production, marketing and finance; in a wholesaling business, buying, selling and finance.</a:t>
            </a:r>
            <a:endParaRPr lang="en-US" sz="1300" dirty="0"/>
          </a:p>
        </p:txBody>
      </p:sp>
      <p:sp>
        <p:nvSpPr>
          <p:cNvPr id="5" name="Shape 3"/>
          <p:cNvSpPr/>
          <p:nvPr/>
        </p:nvSpPr>
        <p:spPr>
          <a:xfrm>
            <a:off x="4892040" y="2514600"/>
            <a:ext cx="2377440" cy="411480"/>
          </a:xfrm>
          <a:prstGeom prst="roundRect">
            <a:avLst>
              <a:gd name="adj" fmla="val 11111"/>
            </a:avLst>
          </a:prstGeom>
          <a:solidFill>
            <a:srgbClr val="1E2761"/>
          </a:solidFill>
          <a:ln/>
        </p:spPr>
      </p:sp>
      <p:sp>
        <p:nvSpPr>
          <p:cNvPr id="6" name="Text 4"/>
          <p:cNvSpPr/>
          <p:nvPr/>
        </p:nvSpPr>
        <p:spPr>
          <a:xfrm>
            <a:off x="4892040" y="2514600"/>
            <a:ext cx="2377440" cy="41148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Managing Director / GM</a:t>
            </a:r>
            <a:endParaRPr lang="en-US" sz="1000" dirty="0"/>
          </a:p>
        </p:txBody>
      </p:sp>
      <p:sp>
        <p:nvSpPr>
          <p:cNvPr id="7" name="Shape 5"/>
          <p:cNvSpPr/>
          <p:nvPr/>
        </p:nvSpPr>
        <p:spPr>
          <a:xfrm>
            <a:off x="7543800" y="2514600"/>
            <a:ext cx="1554480" cy="365760"/>
          </a:xfrm>
          <a:prstGeom prst="roundRect">
            <a:avLst>
              <a:gd name="adj" fmla="val 12500"/>
            </a:avLst>
          </a:prstGeom>
          <a:solidFill>
            <a:srgbClr val="C9A24B"/>
          </a:solidFill>
          <a:ln/>
        </p:spPr>
      </p:sp>
      <p:sp>
        <p:nvSpPr>
          <p:cNvPr id="8" name="Text 6"/>
          <p:cNvSpPr/>
          <p:nvPr/>
        </p:nvSpPr>
        <p:spPr>
          <a:xfrm>
            <a:off x="7543800" y="2514600"/>
            <a:ext cx="1554480" cy="365760"/>
          </a:xfrm>
          <a:prstGeom prst="rect">
            <a:avLst/>
          </a:prstGeom>
          <a:noFill/>
          <a:ln/>
        </p:spPr>
        <p:txBody>
          <a:bodyPr wrap="square" rtlCol="0" anchor="ctr"/>
          <a:lstStyle/>
          <a:p>
            <a:pPr algn="ctr" indent="0" marL="0">
              <a:buNone/>
            </a:pPr>
            <a:r>
              <a:rPr lang="en-US" sz="800" b="1" dirty="0">
                <a:solidFill>
                  <a:srgbClr val="141B48"/>
                </a:solidFill>
                <a:latin typeface="Calibri" pitchFamily="34" charset="0"/>
                <a:ea typeface="Calibri" pitchFamily="34" charset="-122"/>
                <a:cs typeface="Calibri" pitchFamily="34" charset="-120"/>
              </a:rPr>
              <a:t>Personnel Manager</a:t>
            </a:r>
            <a:endParaRPr lang="en-US" sz="800" dirty="0"/>
          </a:p>
          <a:p>
            <a:pPr algn="ctr" indent="0" marL="0">
              <a:buNone/>
            </a:pPr>
            <a:r>
              <a:rPr lang="en-US" sz="800" b="1" dirty="0">
                <a:solidFill>
                  <a:srgbClr val="141B48"/>
                </a:solidFill>
                <a:latin typeface="Calibri" pitchFamily="34" charset="0"/>
                <a:ea typeface="Calibri" pitchFamily="34" charset="-122"/>
                <a:cs typeface="Calibri" pitchFamily="34" charset="-120"/>
              </a:rPr>
              <a:t>(Staff)</a:t>
            </a:r>
            <a:endParaRPr lang="en-US" sz="800" dirty="0"/>
          </a:p>
        </p:txBody>
      </p:sp>
      <p:sp>
        <p:nvSpPr>
          <p:cNvPr id="9" name="Shape 7"/>
          <p:cNvSpPr/>
          <p:nvPr/>
        </p:nvSpPr>
        <p:spPr>
          <a:xfrm>
            <a:off x="7269480" y="2715768"/>
            <a:ext cx="274320" cy="0"/>
          </a:xfrm>
          <a:prstGeom prst="line">
            <a:avLst/>
          </a:prstGeom>
          <a:noFill/>
          <a:ln w="12700">
            <a:solidFill>
              <a:srgbClr val="C9A24B"/>
            </a:solidFill>
            <a:prstDash val="dash"/>
          </a:ln>
        </p:spPr>
      </p:sp>
      <p:sp>
        <p:nvSpPr>
          <p:cNvPr id="10" name="Shape 8"/>
          <p:cNvSpPr/>
          <p:nvPr/>
        </p:nvSpPr>
        <p:spPr>
          <a:xfrm>
            <a:off x="6080760" y="2926080"/>
            <a:ext cx="0" cy="182880"/>
          </a:xfrm>
          <a:prstGeom prst="line">
            <a:avLst/>
          </a:prstGeom>
          <a:noFill/>
          <a:ln w="19050">
            <a:solidFill>
              <a:srgbClr val="1E2761"/>
            </a:solidFill>
            <a:prstDash val="solid"/>
          </a:ln>
        </p:spPr>
      </p:sp>
      <p:sp>
        <p:nvSpPr>
          <p:cNvPr id="11" name="Shape 9"/>
          <p:cNvSpPr/>
          <p:nvPr/>
        </p:nvSpPr>
        <p:spPr>
          <a:xfrm>
            <a:off x="2148840" y="3108960"/>
            <a:ext cx="7863840" cy="0"/>
          </a:xfrm>
          <a:prstGeom prst="line">
            <a:avLst/>
          </a:prstGeom>
          <a:noFill/>
          <a:ln w="19050">
            <a:solidFill>
              <a:srgbClr val="1E2761"/>
            </a:solidFill>
            <a:prstDash val="solid"/>
          </a:ln>
        </p:spPr>
      </p:sp>
      <p:sp>
        <p:nvSpPr>
          <p:cNvPr id="12" name="Shape 10"/>
          <p:cNvSpPr/>
          <p:nvPr/>
        </p:nvSpPr>
        <p:spPr>
          <a:xfrm>
            <a:off x="3063240" y="3108960"/>
            <a:ext cx="0" cy="137160"/>
          </a:xfrm>
          <a:prstGeom prst="line">
            <a:avLst/>
          </a:prstGeom>
          <a:noFill/>
          <a:ln w="15875">
            <a:solidFill>
              <a:srgbClr val="1E2761"/>
            </a:solidFill>
            <a:prstDash val="solid"/>
          </a:ln>
        </p:spPr>
      </p:sp>
      <p:sp>
        <p:nvSpPr>
          <p:cNvPr id="13" name="Shape 11"/>
          <p:cNvSpPr/>
          <p:nvPr/>
        </p:nvSpPr>
        <p:spPr>
          <a:xfrm>
            <a:off x="2148840" y="3246120"/>
            <a:ext cx="1828800" cy="365760"/>
          </a:xfrm>
          <a:prstGeom prst="roundRect">
            <a:avLst>
              <a:gd name="adj" fmla="val 12500"/>
            </a:avLst>
          </a:prstGeom>
          <a:solidFill>
            <a:srgbClr val="3A4A8C"/>
          </a:solidFill>
          <a:ln/>
        </p:spPr>
      </p:sp>
      <p:sp>
        <p:nvSpPr>
          <p:cNvPr id="14" name="Text 12"/>
          <p:cNvSpPr/>
          <p:nvPr/>
        </p:nvSpPr>
        <p:spPr>
          <a:xfrm>
            <a:off x="2148840" y="3246120"/>
            <a:ext cx="1828800" cy="36576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Marketing</a:t>
            </a:r>
            <a:endParaRPr lang="en-US" sz="1000" dirty="0"/>
          </a:p>
        </p:txBody>
      </p:sp>
      <p:sp>
        <p:nvSpPr>
          <p:cNvPr id="15" name="Shape 13"/>
          <p:cNvSpPr/>
          <p:nvPr/>
        </p:nvSpPr>
        <p:spPr>
          <a:xfrm>
            <a:off x="2148840" y="3703320"/>
            <a:ext cx="1828800" cy="265176"/>
          </a:xfrm>
          <a:prstGeom prst="rect">
            <a:avLst/>
          </a:prstGeom>
          <a:solidFill>
            <a:srgbClr val="EEF3FC"/>
          </a:solidFill>
          <a:ln w="6350">
            <a:solidFill>
              <a:srgbClr val="3A4A8C"/>
            </a:solidFill>
            <a:prstDash val="solid"/>
          </a:ln>
        </p:spPr>
      </p:sp>
      <p:sp>
        <p:nvSpPr>
          <p:cNvPr id="16" name="Text 14"/>
          <p:cNvSpPr/>
          <p:nvPr/>
        </p:nvSpPr>
        <p:spPr>
          <a:xfrm>
            <a:off x="2194560" y="3703320"/>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Market Research</a:t>
            </a:r>
            <a:endParaRPr lang="en-US" sz="750" dirty="0"/>
          </a:p>
        </p:txBody>
      </p:sp>
      <p:sp>
        <p:nvSpPr>
          <p:cNvPr id="17" name="Shape 15"/>
          <p:cNvSpPr/>
          <p:nvPr/>
        </p:nvSpPr>
        <p:spPr>
          <a:xfrm>
            <a:off x="2148840" y="3995928"/>
            <a:ext cx="1828800" cy="265176"/>
          </a:xfrm>
          <a:prstGeom prst="rect">
            <a:avLst/>
          </a:prstGeom>
          <a:solidFill>
            <a:srgbClr val="EEF3FC"/>
          </a:solidFill>
          <a:ln w="6350">
            <a:solidFill>
              <a:srgbClr val="3A4A8C"/>
            </a:solidFill>
            <a:prstDash val="solid"/>
          </a:ln>
        </p:spPr>
      </p:sp>
      <p:sp>
        <p:nvSpPr>
          <p:cNvPr id="18" name="Text 16"/>
          <p:cNvSpPr/>
          <p:nvPr/>
        </p:nvSpPr>
        <p:spPr>
          <a:xfrm>
            <a:off x="2194560" y="3995928"/>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Market Planning</a:t>
            </a:r>
            <a:endParaRPr lang="en-US" sz="750" dirty="0"/>
          </a:p>
        </p:txBody>
      </p:sp>
      <p:sp>
        <p:nvSpPr>
          <p:cNvPr id="19" name="Shape 17"/>
          <p:cNvSpPr/>
          <p:nvPr/>
        </p:nvSpPr>
        <p:spPr>
          <a:xfrm>
            <a:off x="2148840" y="4288536"/>
            <a:ext cx="1828800" cy="265176"/>
          </a:xfrm>
          <a:prstGeom prst="rect">
            <a:avLst/>
          </a:prstGeom>
          <a:solidFill>
            <a:srgbClr val="EEF3FC"/>
          </a:solidFill>
          <a:ln w="6350">
            <a:solidFill>
              <a:srgbClr val="3A4A8C"/>
            </a:solidFill>
            <a:prstDash val="solid"/>
          </a:ln>
        </p:spPr>
      </p:sp>
      <p:sp>
        <p:nvSpPr>
          <p:cNvPr id="20" name="Text 18"/>
          <p:cNvSpPr/>
          <p:nvPr/>
        </p:nvSpPr>
        <p:spPr>
          <a:xfrm>
            <a:off x="2194560" y="4288536"/>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Advertising &amp; Promotion</a:t>
            </a:r>
            <a:endParaRPr lang="en-US" sz="750" dirty="0"/>
          </a:p>
        </p:txBody>
      </p:sp>
      <p:sp>
        <p:nvSpPr>
          <p:cNvPr id="21" name="Shape 19"/>
          <p:cNvSpPr/>
          <p:nvPr/>
        </p:nvSpPr>
        <p:spPr>
          <a:xfrm>
            <a:off x="2148840" y="4581144"/>
            <a:ext cx="1828800" cy="265176"/>
          </a:xfrm>
          <a:prstGeom prst="rect">
            <a:avLst/>
          </a:prstGeom>
          <a:solidFill>
            <a:srgbClr val="EEF3FC"/>
          </a:solidFill>
          <a:ln w="6350">
            <a:solidFill>
              <a:srgbClr val="3A4A8C"/>
            </a:solidFill>
            <a:prstDash val="solid"/>
          </a:ln>
        </p:spPr>
      </p:sp>
      <p:sp>
        <p:nvSpPr>
          <p:cNvPr id="22" name="Text 20"/>
          <p:cNvSpPr/>
          <p:nvPr/>
        </p:nvSpPr>
        <p:spPr>
          <a:xfrm>
            <a:off x="2194560" y="4581144"/>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Sales Mgmt</a:t>
            </a:r>
            <a:endParaRPr lang="en-US" sz="750" dirty="0"/>
          </a:p>
        </p:txBody>
      </p:sp>
      <p:sp>
        <p:nvSpPr>
          <p:cNvPr id="23" name="Shape 21"/>
          <p:cNvSpPr/>
          <p:nvPr/>
        </p:nvSpPr>
        <p:spPr>
          <a:xfrm>
            <a:off x="2148840" y="4873752"/>
            <a:ext cx="1828800" cy="265176"/>
          </a:xfrm>
          <a:prstGeom prst="rect">
            <a:avLst/>
          </a:prstGeom>
          <a:solidFill>
            <a:srgbClr val="EEF3FC"/>
          </a:solidFill>
          <a:ln w="6350">
            <a:solidFill>
              <a:srgbClr val="3A4A8C"/>
            </a:solidFill>
            <a:prstDash val="solid"/>
          </a:ln>
        </p:spPr>
      </p:sp>
      <p:sp>
        <p:nvSpPr>
          <p:cNvPr id="24" name="Text 22"/>
          <p:cNvSpPr/>
          <p:nvPr/>
        </p:nvSpPr>
        <p:spPr>
          <a:xfrm>
            <a:off x="2194560" y="4873752"/>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Sales</a:t>
            </a:r>
            <a:endParaRPr lang="en-US" sz="750" dirty="0"/>
          </a:p>
        </p:txBody>
      </p:sp>
      <p:sp>
        <p:nvSpPr>
          <p:cNvPr id="25" name="Shape 23"/>
          <p:cNvSpPr/>
          <p:nvPr/>
        </p:nvSpPr>
        <p:spPr>
          <a:xfrm>
            <a:off x="5687568" y="3108960"/>
            <a:ext cx="0" cy="137160"/>
          </a:xfrm>
          <a:prstGeom prst="line">
            <a:avLst/>
          </a:prstGeom>
          <a:noFill/>
          <a:ln w="15875">
            <a:solidFill>
              <a:srgbClr val="1E2761"/>
            </a:solidFill>
            <a:prstDash val="solid"/>
          </a:ln>
        </p:spPr>
      </p:sp>
      <p:sp>
        <p:nvSpPr>
          <p:cNvPr id="26" name="Shape 24"/>
          <p:cNvSpPr/>
          <p:nvPr/>
        </p:nvSpPr>
        <p:spPr>
          <a:xfrm>
            <a:off x="4773168" y="3246120"/>
            <a:ext cx="1828800" cy="365760"/>
          </a:xfrm>
          <a:prstGeom prst="roundRect">
            <a:avLst>
              <a:gd name="adj" fmla="val 12500"/>
            </a:avLst>
          </a:prstGeom>
          <a:solidFill>
            <a:srgbClr val="3A4A8C"/>
          </a:solidFill>
          <a:ln/>
        </p:spPr>
      </p:sp>
      <p:sp>
        <p:nvSpPr>
          <p:cNvPr id="27" name="Text 25"/>
          <p:cNvSpPr/>
          <p:nvPr/>
        </p:nvSpPr>
        <p:spPr>
          <a:xfrm>
            <a:off x="4773168" y="3246120"/>
            <a:ext cx="1828800" cy="36576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Production</a:t>
            </a:r>
            <a:endParaRPr lang="en-US" sz="1000" dirty="0"/>
          </a:p>
        </p:txBody>
      </p:sp>
      <p:sp>
        <p:nvSpPr>
          <p:cNvPr id="28" name="Shape 26"/>
          <p:cNvSpPr/>
          <p:nvPr/>
        </p:nvSpPr>
        <p:spPr>
          <a:xfrm>
            <a:off x="4773168" y="3703320"/>
            <a:ext cx="1828800" cy="265176"/>
          </a:xfrm>
          <a:prstGeom prst="rect">
            <a:avLst/>
          </a:prstGeom>
          <a:solidFill>
            <a:srgbClr val="EEF3FC"/>
          </a:solidFill>
          <a:ln w="6350">
            <a:solidFill>
              <a:srgbClr val="3A4A8C"/>
            </a:solidFill>
            <a:prstDash val="solid"/>
          </a:ln>
        </p:spPr>
      </p:sp>
      <p:sp>
        <p:nvSpPr>
          <p:cNvPr id="29" name="Text 27"/>
          <p:cNvSpPr/>
          <p:nvPr/>
        </p:nvSpPr>
        <p:spPr>
          <a:xfrm>
            <a:off x="4818888" y="3703320"/>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Production Planning</a:t>
            </a:r>
            <a:endParaRPr lang="en-US" sz="750" dirty="0"/>
          </a:p>
        </p:txBody>
      </p:sp>
      <p:sp>
        <p:nvSpPr>
          <p:cNvPr id="30" name="Shape 28"/>
          <p:cNvSpPr/>
          <p:nvPr/>
        </p:nvSpPr>
        <p:spPr>
          <a:xfrm>
            <a:off x="4773168" y="3995928"/>
            <a:ext cx="1828800" cy="265176"/>
          </a:xfrm>
          <a:prstGeom prst="rect">
            <a:avLst/>
          </a:prstGeom>
          <a:solidFill>
            <a:srgbClr val="EEF3FC"/>
          </a:solidFill>
          <a:ln w="6350">
            <a:solidFill>
              <a:srgbClr val="3A4A8C"/>
            </a:solidFill>
            <a:prstDash val="solid"/>
          </a:ln>
        </p:spPr>
      </p:sp>
      <p:sp>
        <p:nvSpPr>
          <p:cNvPr id="31" name="Text 29"/>
          <p:cNvSpPr/>
          <p:nvPr/>
        </p:nvSpPr>
        <p:spPr>
          <a:xfrm>
            <a:off x="4818888" y="3995928"/>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Production Engineering</a:t>
            </a:r>
            <a:endParaRPr lang="en-US" sz="750" dirty="0"/>
          </a:p>
        </p:txBody>
      </p:sp>
      <p:sp>
        <p:nvSpPr>
          <p:cNvPr id="32" name="Shape 30"/>
          <p:cNvSpPr/>
          <p:nvPr/>
        </p:nvSpPr>
        <p:spPr>
          <a:xfrm>
            <a:off x="4773168" y="4288536"/>
            <a:ext cx="1828800" cy="265176"/>
          </a:xfrm>
          <a:prstGeom prst="rect">
            <a:avLst/>
          </a:prstGeom>
          <a:solidFill>
            <a:srgbClr val="EEF3FC"/>
          </a:solidFill>
          <a:ln w="6350">
            <a:solidFill>
              <a:srgbClr val="3A4A8C"/>
            </a:solidFill>
            <a:prstDash val="solid"/>
          </a:ln>
        </p:spPr>
      </p:sp>
      <p:sp>
        <p:nvSpPr>
          <p:cNvPr id="33" name="Text 31"/>
          <p:cNvSpPr/>
          <p:nvPr/>
        </p:nvSpPr>
        <p:spPr>
          <a:xfrm>
            <a:off x="4818888" y="4288536"/>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Purchasing</a:t>
            </a:r>
            <a:endParaRPr lang="en-US" sz="750" dirty="0"/>
          </a:p>
        </p:txBody>
      </p:sp>
      <p:sp>
        <p:nvSpPr>
          <p:cNvPr id="34" name="Shape 32"/>
          <p:cNvSpPr/>
          <p:nvPr/>
        </p:nvSpPr>
        <p:spPr>
          <a:xfrm>
            <a:off x="4773168" y="4581144"/>
            <a:ext cx="1828800" cy="265176"/>
          </a:xfrm>
          <a:prstGeom prst="rect">
            <a:avLst/>
          </a:prstGeom>
          <a:solidFill>
            <a:srgbClr val="EEF3FC"/>
          </a:solidFill>
          <a:ln w="6350">
            <a:solidFill>
              <a:srgbClr val="3A4A8C"/>
            </a:solidFill>
            <a:prstDash val="solid"/>
          </a:ln>
        </p:spPr>
      </p:sp>
      <p:sp>
        <p:nvSpPr>
          <p:cNvPr id="35" name="Text 33"/>
          <p:cNvSpPr/>
          <p:nvPr/>
        </p:nvSpPr>
        <p:spPr>
          <a:xfrm>
            <a:off x="4818888" y="4581144"/>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Tools &amp; Equipment</a:t>
            </a:r>
            <a:endParaRPr lang="en-US" sz="750" dirty="0"/>
          </a:p>
        </p:txBody>
      </p:sp>
      <p:sp>
        <p:nvSpPr>
          <p:cNvPr id="36" name="Shape 34"/>
          <p:cNvSpPr/>
          <p:nvPr/>
        </p:nvSpPr>
        <p:spPr>
          <a:xfrm>
            <a:off x="4773168" y="4873752"/>
            <a:ext cx="1828800" cy="265176"/>
          </a:xfrm>
          <a:prstGeom prst="rect">
            <a:avLst/>
          </a:prstGeom>
          <a:solidFill>
            <a:srgbClr val="EEF3FC"/>
          </a:solidFill>
          <a:ln w="6350">
            <a:solidFill>
              <a:srgbClr val="3A4A8C"/>
            </a:solidFill>
            <a:prstDash val="solid"/>
          </a:ln>
        </p:spPr>
      </p:sp>
      <p:sp>
        <p:nvSpPr>
          <p:cNvPr id="37" name="Text 35"/>
          <p:cNvSpPr/>
          <p:nvPr/>
        </p:nvSpPr>
        <p:spPr>
          <a:xfrm>
            <a:off x="4818888" y="4873752"/>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General Production</a:t>
            </a:r>
            <a:endParaRPr lang="en-US" sz="750" dirty="0"/>
          </a:p>
        </p:txBody>
      </p:sp>
      <p:sp>
        <p:nvSpPr>
          <p:cNvPr id="38" name="Shape 36"/>
          <p:cNvSpPr/>
          <p:nvPr/>
        </p:nvSpPr>
        <p:spPr>
          <a:xfrm>
            <a:off x="8311896" y="3108960"/>
            <a:ext cx="0" cy="137160"/>
          </a:xfrm>
          <a:prstGeom prst="line">
            <a:avLst/>
          </a:prstGeom>
          <a:noFill/>
          <a:ln w="15875">
            <a:solidFill>
              <a:srgbClr val="1E2761"/>
            </a:solidFill>
            <a:prstDash val="solid"/>
          </a:ln>
        </p:spPr>
      </p:sp>
      <p:sp>
        <p:nvSpPr>
          <p:cNvPr id="39" name="Shape 37"/>
          <p:cNvSpPr/>
          <p:nvPr/>
        </p:nvSpPr>
        <p:spPr>
          <a:xfrm>
            <a:off x="7397496" y="3246120"/>
            <a:ext cx="1828800" cy="365760"/>
          </a:xfrm>
          <a:prstGeom prst="roundRect">
            <a:avLst>
              <a:gd name="adj" fmla="val 12500"/>
            </a:avLst>
          </a:prstGeom>
          <a:solidFill>
            <a:srgbClr val="3A4A8C"/>
          </a:solidFill>
          <a:ln/>
        </p:spPr>
      </p:sp>
      <p:sp>
        <p:nvSpPr>
          <p:cNvPr id="40" name="Text 38"/>
          <p:cNvSpPr/>
          <p:nvPr/>
        </p:nvSpPr>
        <p:spPr>
          <a:xfrm>
            <a:off x="7397496" y="3246120"/>
            <a:ext cx="1828800" cy="36576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Engineering</a:t>
            </a:r>
            <a:endParaRPr lang="en-US" sz="1000" dirty="0"/>
          </a:p>
        </p:txBody>
      </p:sp>
      <p:sp>
        <p:nvSpPr>
          <p:cNvPr id="41" name="Shape 39"/>
          <p:cNvSpPr/>
          <p:nvPr/>
        </p:nvSpPr>
        <p:spPr>
          <a:xfrm>
            <a:off x="7397496" y="3703320"/>
            <a:ext cx="1828800" cy="265176"/>
          </a:xfrm>
          <a:prstGeom prst="rect">
            <a:avLst/>
          </a:prstGeom>
          <a:solidFill>
            <a:srgbClr val="EEF3FC"/>
          </a:solidFill>
          <a:ln w="6350">
            <a:solidFill>
              <a:srgbClr val="3A4A8C"/>
            </a:solidFill>
            <a:prstDash val="solid"/>
          </a:ln>
        </p:spPr>
      </p:sp>
      <p:sp>
        <p:nvSpPr>
          <p:cNvPr id="42" name="Text 40"/>
          <p:cNvSpPr/>
          <p:nvPr/>
        </p:nvSpPr>
        <p:spPr>
          <a:xfrm>
            <a:off x="7443216" y="3703320"/>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Designing</a:t>
            </a:r>
            <a:endParaRPr lang="en-US" sz="750" dirty="0"/>
          </a:p>
        </p:txBody>
      </p:sp>
      <p:sp>
        <p:nvSpPr>
          <p:cNvPr id="43" name="Shape 41"/>
          <p:cNvSpPr/>
          <p:nvPr/>
        </p:nvSpPr>
        <p:spPr>
          <a:xfrm>
            <a:off x="7397496" y="3995928"/>
            <a:ext cx="1828800" cy="265176"/>
          </a:xfrm>
          <a:prstGeom prst="rect">
            <a:avLst/>
          </a:prstGeom>
          <a:solidFill>
            <a:srgbClr val="EEF3FC"/>
          </a:solidFill>
          <a:ln w="6350">
            <a:solidFill>
              <a:srgbClr val="3A4A8C"/>
            </a:solidFill>
            <a:prstDash val="solid"/>
          </a:ln>
        </p:spPr>
      </p:sp>
      <p:sp>
        <p:nvSpPr>
          <p:cNvPr id="44" name="Text 42"/>
          <p:cNvSpPr/>
          <p:nvPr/>
        </p:nvSpPr>
        <p:spPr>
          <a:xfrm>
            <a:off x="7443216" y="3995928"/>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Electrical Engg.</a:t>
            </a:r>
            <a:endParaRPr lang="en-US" sz="750" dirty="0"/>
          </a:p>
        </p:txBody>
      </p:sp>
      <p:sp>
        <p:nvSpPr>
          <p:cNvPr id="45" name="Shape 43"/>
          <p:cNvSpPr/>
          <p:nvPr/>
        </p:nvSpPr>
        <p:spPr>
          <a:xfrm>
            <a:off x="7397496" y="4288536"/>
            <a:ext cx="1828800" cy="265176"/>
          </a:xfrm>
          <a:prstGeom prst="rect">
            <a:avLst/>
          </a:prstGeom>
          <a:solidFill>
            <a:srgbClr val="EEF3FC"/>
          </a:solidFill>
          <a:ln w="6350">
            <a:solidFill>
              <a:srgbClr val="3A4A8C"/>
            </a:solidFill>
            <a:prstDash val="solid"/>
          </a:ln>
        </p:spPr>
      </p:sp>
      <p:sp>
        <p:nvSpPr>
          <p:cNvPr id="46" name="Text 44"/>
          <p:cNvSpPr/>
          <p:nvPr/>
        </p:nvSpPr>
        <p:spPr>
          <a:xfrm>
            <a:off x="7443216" y="4288536"/>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Mechanical Engg.</a:t>
            </a:r>
            <a:endParaRPr lang="en-US" sz="750" dirty="0"/>
          </a:p>
        </p:txBody>
      </p:sp>
      <p:sp>
        <p:nvSpPr>
          <p:cNvPr id="47" name="Shape 45"/>
          <p:cNvSpPr/>
          <p:nvPr/>
        </p:nvSpPr>
        <p:spPr>
          <a:xfrm>
            <a:off x="7397496" y="4581144"/>
            <a:ext cx="1828800" cy="265176"/>
          </a:xfrm>
          <a:prstGeom prst="rect">
            <a:avLst/>
          </a:prstGeom>
          <a:solidFill>
            <a:srgbClr val="EEF3FC"/>
          </a:solidFill>
          <a:ln w="6350">
            <a:solidFill>
              <a:srgbClr val="3A4A8C"/>
            </a:solidFill>
            <a:prstDash val="solid"/>
          </a:ln>
        </p:spPr>
      </p:sp>
      <p:sp>
        <p:nvSpPr>
          <p:cNvPr id="48" name="Text 46"/>
          <p:cNvSpPr/>
          <p:nvPr/>
        </p:nvSpPr>
        <p:spPr>
          <a:xfrm>
            <a:off x="7443216" y="4581144"/>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Packaging</a:t>
            </a:r>
            <a:endParaRPr lang="en-US" sz="750" dirty="0"/>
          </a:p>
        </p:txBody>
      </p:sp>
      <p:sp>
        <p:nvSpPr>
          <p:cNvPr id="49" name="Shape 47"/>
          <p:cNvSpPr/>
          <p:nvPr/>
        </p:nvSpPr>
        <p:spPr>
          <a:xfrm>
            <a:off x="7397496" y="4873752"/>
            <a:ext cx="1828800" cy="265176"/>
          </a:xfrm>
          <a:prstGeom prst="rect">
            <a:avLst/>
          </a:prstGeom>
          <a:solidFill>
            <a:srgbClr val="EEF3FC"/>
          </a:solidFill>
          <a:ln w="6350">
            <a:solidFill>
              <a:srgbClr val="3A4A8C"/>
            </a:solidFill>
            <a:prstDash val="solid"/>
          </a:ln>
        </p:spPr>
      </p:sp>
      <p:sp>
        <p:nvSpPr>
          <p:cNvPr id="50" name="Text 48"/>
          <p:cNvSpPr/>
          <p:nvPr/>
        </p:nvSpPr>
        <p:spPr>
          <a:xfrm>
            <a:off x="7443216" y="4873752"/>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Quality Control</a:t>
            </a:r>
            <a:endParaRPr lang="en-US" sz="750" dirty="0"/>
          </a:p>
        </p:txBody>
      </p:sp>
      <p:sp>
        <p:nvSpPr>
          <p:cNvPr id="51" name="Shape 49"/>
          <p:cNvSpPr/>
          <p:nvPr/>
        </p:nvSpPr>
        <p:spPr>
          <a:xfrm>
            <a:off x="10936224" y="3108960"/>
            <a:ext cx="0" cy="137160"/>
          </a:xfrm>
          <a:prstGeom prst="line">
            <a:avLst/>
          </a:prstGeom>
          <a:noFill/>
          <a:ln w="15875">
            <a:solidFill>
              <a:srgbClr val="1E2761"/>
            </a:solidFill>
            <a:prstDash val="solid"/>
          </a:ln>
        </p:spPr>
      </p:sp>
      <p:sp>
        <p:nvSpPr>
          <p:cNvPr id="52" name="Shape 50"/>
          <p:cNvSpPr/>
          <p:nvPr/>
        </p:nvSpPr>
        <p:spPr>
          <a:xfrm>
            <a:off x="10021824" y="3246120"/>
            <a:ext cx="1828800" cy="365760"/>
          </a:xfrm>
          <a:prstGeom prst="roundRect">
            <a:avLst>
              <a:gd name="adj" fmla="val 12500"/>
            </a:avLst>
          </a:prstGeom>
          <a:solidFill>
            <a:srgbClr val="3A4A8C"/>
          </a:solidFill>
          <a:ln/>
        </p:spPr>
      </p:sp>
      <p:sp>
        <p:nvSpPr>
          <p:cNvPr id="53" name="Text 51"/>
          <p:cNvSpPr/>
          <p:nvPr/>
        </p:nvSpPr>
        <p:spPr>
          <a:xfrm>
            <a:off x="10021824" y="3246120"/>
            <a:ext cx="1828800" cy="36576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Finance</a:t>
            </a:r>
            <a:endParaRPr lang="en-US" sz="1000" dirty="0"/>
          </a:p>
        </p:txBody>
      </p:sp>
      <p:sp>
        <p:nvSpPr>
          <p:cNvPr id="54" name="Shape 52"/>
          <p:cNvSpPr/>
          <p:nvPr/>
        </p:nvSpPr>
        <p:spPr>
          <a:xfrm>
            <a:off x="10021824" y="3703320"/>
            <a:ext cx="1828800" cy="265176"/>
          </a:xfrm>
          <a:prstGeom prst="rect">
            <a:avLst/>
          </a:prstGeom>
          <a:solidFill>
            <a:srgbClr val="EEF3FC"/>
          </a:solidFill>
          <a:ln w="6350">
            <a:solidFill>
              <a:srgbClr val="3A4A8C"/>
            </a:solidFill>
            <a:prstDash val="solid"/>
          </a:ln>
        </p:spPr>
      </p:sp>
      <p:sp>
        <p:nvSpPr>
          <p:cNvPr id="55" name="Text 53"/>
          <p:cNvSpPr/>
          <p:nvPr/>
        </p:nvSpPr>
        <p:spPr>
          <a:xfrm>
            <a:off x="10067544" y="3703320"/>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Financial Planning</a:t>
            </a:r>
            <a:endParaRPr lang="en-US" sz="750" dirty="0"/>
          </a:p>
        </p:txBody>
      </p:sp>
      <p:sp>
        <p:nvSpPr>
          <p:cNvPr id="56" name="Shape 54"/>
          <p:cNvSpPr/>
          <p:nvPr/>
        </p:nvSpPr>
        <p:spPr>
          <a:xfrm>
            <a:off x="10021824" y="3995928"/>
            <a:ext cx="1828800" cy="265176"/>
          </a:xfrm>
          <a:prstGeom prst="rect">
            <a:avLst/>
          </a:prstGeom>
          <a:solidFill>
            <a:srgbClr val="EEF3FC"/>
          </a:solidFill>
          <a:ln w="6350">
            <a:solidFill>
              <a:srgbClr val="3A4A8C"/>
            </a:solidFill>
            <a:prstDash val="solid"/>
          </a:ln>
        </p:spPr>
      </p:sp>
      <p:sp>
        <p:nvSpPr>
          <p:cNvPr id="57" name="Text 55"/>
          <p:cNvSpPr/>
          <p:nvPr/>
        </p:nvSpPr>
        <p:spPr>
          <a:xfrm>
            <a:off x="10067544" y="3995928"/>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Budgeting</a:t>
            </a:r>
            <a:endParaRPr lang="en-US" sz="750" dirty="0"/>
          </a:p>
        </p:txBody>
      </p:sp>
      <p:sp>
        <p:nvSpPr>
          <p:cNvPr id="58" name="Shape 56"/>
          <p:cNvSpPr/>
          <p:nvPr/>
        </p:nvSpPr>
        <p:spPr>
          <a:xfrm>
            <a:off x="10021824" y="4288536"/>
            <a:ext cx="1828800" cy="265176"/>
          </a:xfrm>
          <a:prstGeom prst="rect">
            <a:avLst/>
          </a:prstGeom>
          <a:solidFill>
            <a:srgbClr val="EEF3FC"/>
          </a:solidFill>
          <a:ln w="6350">
            <a:solidFill>
              <a:srgbClr val="3A4A8C"/>
            </a:solidFill>
            <a:prstDash val="solid"/>
          </a:ln>
        </p:spPr>
      </p:sp>
      <p:sp>
        <p:nvSpPr>
          <p:cNvPr id="59" name="Text 57"/>
          <p:cNvSpPr/>
          <p:nvPr/>
        </p:nvSpPr>
        <p:spPr>
          <a:xfrm>
            <a:off x="10067544" y="4288536"/>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Accounting</a:t>
            </a:r>
            <a:endParaRPr lang="en-US" sz="750" dirty="0"/>
          </a:p>
        </p:txBody>
      </p:sp>
      <p:sp>
        <p:nvSpPr>
          <p:cNvPr id="60" name="Shape 58"/>
          <p:cNvSpPr/>
          <p:nvPr/>
        </p:nvSpPr>
        <p:spPr>
          <a:xfrm>
            <a:off x="10021824" y="4581144"/>
            <a:ext cx="1828800" cy="265176"/>
          </a:xfrm>
          <a:prstGeom prst="rect">
            <a:avLst/>
          </a:prstGeom>
          <a:solidFill>
            <a:srgbClr val="EEF3FC"/>
          </a:solidFill>
          <a:ln w="6350">
            <a:solidFill>
              <a:srgbClr val="3A4A8C"/>
            </a:solidFill>
            <a:prstDash val="solid"/>
          </a:ln>
        </p:spPr>
      </p:sp>
      <p:sp>
        <p:nvSpPr>
          <p:cNvPr id="61" name="Text 59"/>
          <p:cNvSpPr/>
          <p:nvPr/>
        </p:nvSpPr>
        <p:spPr>
          <a:xfrm>
            <a:off x="10067544" y="4581144"/>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Costing</a:t>
            </a:r>
            <a:endParaRPr lang="en-US" sz="750" dirty="0"/>
          </a:p>
        </p:txBody>
      </p:sp>
      <p:sp>
        <p:nvSpPr>
          <p:cNvPr id="62" name="Shape 60"/>
          <p:cNvSpPr/>
          <p:nvPr/>
        </p:nvSpPr>
        <p:spPr>
          <a:xfrm>
            <a:off x="10021824" y="4873752"/>
            <a:ext cx="1828800" cy="265176"/>
          </a:xfrm>
          <a:prstGeom prst="rect">
            <a:avLst/>
          </a:prstGeom>
          <a:solidFill>
            <a:srgbClr val="EEF3FC"/>
          </a:solidFill>
          <a:ln w="6350">
            <a:solidFill>
              <a:srgbClr val="3A4A8C"/>
            </a:solidFill>
            <a:prstDash val="solid"/>
          </a:ln>
        </p:spPr>
      </p:sp>
      <p:sp>
        <p:nvSpPr>
          <p:cNvPr id="63" name="Text 61"/>
          <p:cNvSpPr/>
          <p:nvPr/>
        </p:nvSpPr>
        <p:spPr>
          <a:xfrm>
            <a:off x="10067544" y="4873752"/>
            <a:ext cx="1737360" cy="265176"/>
          </a:xfrm>
          <a:prstGeom prst="rect">
            <a:avLst/>
          </a:prstGeom>
          <a:noFill/>
          <a:ln/>
        </p:spPr>
        <p:txBody>
          <a:bodyPr wrap="square" rtlCol="0" anchor="ctr"/>
          <a:lstStyle/>
          <a:p>
            <a:pPr algn="ctr" indent="0" marL="0">
              <a:buNone/>
            </a:pPr>
            <a:r>
              <a:rPr lang="en-US" sz="750" dirty="0">
                <a:solidFill>
                  <a:srgbClr val="2B2B33"/>
                </a:solidFill>
                <a:latin typeface="Calibri" pitchFamily="34" charset="0"/>
                <a:ea typeface="Calibri" pitchFamily="34" charset="-122"/>
                <a:cs typeface="Calibri" pitchFamily="34" charset="-120"/>
              </a:rPr>
              <a:t>Data Collection</a:t>
            </a:r>
            <a:endParaRPr lang="en-US" sz="750" dirty="0"/>
          </a:p>
        </p:txBody>
      </p:sp>
      <p:sp>
        <p:nvSpPr>
          <p:cNvPr id="64" name="Text 6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14.18 FUNCTIONAL DEPARTMENTS</a:t>
            </a:r>
            <a:endParaRPr lang="en-US" sz="1100" dirty="0"/>
          </a:p>
        </p:txBody>
      </p:sp>
      <p:sp>
        <p:nvSpPr>
          <p:cNvPr id="65" name="Text 6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14.18. FUNCTIONAL DEPARTMENTS</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(2)–(3) Evaluation — Merits &amp; Demerits</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MERITS</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Why It Works</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 scientific, time-tested method. It reflects the importance of basic functions, follows the principle of specialization, and enables effective control and coordination of functions.</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DEMERITS</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Where It Struggles</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Not suitable for widespread, diverse functions. Creates excessive workload for departmental heads, carries specialization too far (narrowing employees' integrated view), and creates difficulty coordinating different functions.</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14.18. FUNCTIONAL DEPARTMENTS</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55</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14.19–14.22. OTHER BASES OF DEPARTMENTATION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Geographical, Product, Customer &amp; Numerical Departments</a:t>
            </a:r>
            <a:endParaRPr lang="en-US" sz="2700" dirty="0"/>
          </a:p>
        </p:txBody>
      </p:sp>
      <p:sp>
        <p:nvSpPr>
          <p:cNvPr id="4" name="Shape 2"/>
          <p:cNvSpPr/>
          <p:nvPr/>
        </p:nvSpPr>
        <p:spPr>
          <a:xfrm>
            <a:off x="548640" y="1645920"/>
            <a:ext cx="2011680" cy="941832"/>
          </a:xfrm>
          <a:prstGeom prst="rect">
            <a:avLst/>
          </a:prstGeom>
          <a:solidFill>
            <a:srgbClr val="1E2761"/>
          </a:solidFill>
          <a:ln/>
        </p:spPr>
      </p:sp>
      <p:sp>
        <p:nvSpPr>
          <p:cNvPr id="5" name="Text 3"/>
          <p:cNvSpPr/>
          <p:nvPr/>
        </p:nvSpPr>
        <p:spPr>
          <a:xfrm>
            <a:off x="594360" y="1645920"/>
            <a:ext cx="1920240" cy="941832"/>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Basis</a:t>
            </a:r>
            <a:endParaRPr lang="en-US" sz="1150" dirty="0"/>
          </a:p>
        </p:txBody>
      </p:sp>
      <p:sp>
        <p:nvSpPr>
          <p:cNvPr id="6" name="Shape 4"/>
          <p:cNvSpPr/>
          <p:nvPr/>
        </p:nvSpPr>
        <p:spPr>
          <a:xfrm>
            <a:off x="2560320" y="1645920"/>
            <a:ext cx="2606040" cy="941832"/>
          </a:xfrm>
          <a:prstGeom prst="rect">
            <a:avLst/>
          </a:prstGeom>
          <a:solidFill>
            <a:srgbClr val="3A4A8C"/>
          </a:solidFill>
          <a:ln/>
        </p:spPr>
      </p:sp>
      <p:sp>
        <p:nvSpPr>
          <p:cNvPr id="7" name="Text 5"/>
          <p:cNvSpPr/>
          <p:nvPr/>
        </p:nvSpPr>
        <p:spPr>
          <a:xfrm>
            <a:off x="2606040" y="1645920"/>
            <a:ext cx="2514600" cy="941832"/>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Meaning</a:t>
            </a:r>
            <a:endParaRPr lang="en-US" sz="1150" dirty="0"/>
          </a:p>
        </p:txBody>
      </p:sp>
      <p:sp>
        <p:nvSpPr>
          <p:cNvPr id="8" name="Shape 6"/>
          <p:cNvSpPr/>
          <p:nvPr/>
        </p:nvSpPr>
        <p:spPr>
          <a:xfrm>
            <a:off x="5166360" y="1645920"/>
            <a:ext cx="3200400" cy="941832"/>
          </a:xfrm>
          <a:prstGeom prst="rect">
            <a:avLst/>
          </a:prstGeom>
          <a:solidFill>
            <a:srgbClr val="5E71B8"/>
          </a:solidFill>
          <a:ln/>
        </p:spPr>
      </p:sp>
      <p:sp>
        <p:nvSpPr>
          <p:cNvPr id="9" name="Text 7"/>
          <p:cNvSpPr/>
          <p:nvPr/>
        </p:nvSpPr>
        <p:spPr>
          <a:xfrm>
            <a:off x="5212080" y="1645920"/>
            <a:ext cx="3108960" cy="941832"/>
          </a:xfrm>
          <a:prstGeom prst="rect">
            <a:avLst/>
          </a:prstGeom>
          <a:noFill/>
          <a:ln/>
        </p:spPr>
        <p:txBody>
          <a:bodyPr wrap="square"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Key Merit(s)</a:t>
            </a:r>
            <a:endParaRPr lang="en-US" sz="1150" dirty="0"/>
          </a:p>
        </p:txBody>
      </p:sp>
      <p:sp>
        <p:nvSpPr>
          <p:cNvPr id="10" name="Shape 8"/>
          <p:cNvSpPr/>
          <p:nvPr/>
        </p:nvSpPr>
        <p:spPr>
          <a:xfrm>
            <a:off x="8366760" y="1645920"/>
            <a:ext cx="3246120" cy="941832"/>
          </a:xfrm>
          <a:prstGeom prst="rect">
            <a:avLst/>
          </a:prstGeom>
          <a:solidFill>
            <a:srgbClr val="C9A24B"/>
          </a:solidFill>
          <a:ln/>
        </p:spPr>
      </p:sp>
      <p:sp>
        <p:nvSpPr>
          <p:cNvPr id="11" name="Text 9"/>
          <p:cNvSpPr/>
          <p:nvPr/>
        </p:nvSpPr>
        <p:spPr>
          <a:xfrm>
            <a:off x="8412480" y="1645920"/>
            <a:ext cx="3154680" cy="941832"/>
          </a:xfrm>
          <a:prstGeom prst="rect">
            <a:avLst/>
          </a:prstGeom>
          <a:noFill/>
          <a:ln/>
        </p:spPr>
        <p:txBody>
          <a:bodyPr wrap="square" rtlCol="0" anchor="ctr"/>
          <a:lstStyle/>
          <a:p>
            <a:pPr algn="ctr" indent="0" marL="0">
              <a:buNone/>
            </a:pPr>
            <a:r>
              <a:rPr lang="en-US" sz="1150" b="1" dirty="0">
                <a:solidFill>
                  <a:srgbClr val="141B48"/>
                </a:solidFill>
                <a:latin typeface="Cambria" pitchFamily="34" charset="0"/>
                <a:ea typeface="Cambria" pitchFamily="34" charset="-122"/>
                <a:cs typeface="Cambria" pitchFamily="34" charset="-120"/>
              </a:rPr>
              <a:t>Key Demerit(s)</a:t>
            </a:r>
            <a:endParaRPr lang="en-US" sz="1150" dirty="0"/>
          </a:p>
        </p:txBody>
      </p:sp>
      <p:sp>
        <p:nvSpPr>
          <p:cNvPr id="12" name="Shape 10"/>
          <p:cNvSpPr/>
          <p:nvPr/>
        </p:nvSpPr>
        <p:spPr>
          <a:xfrm>
            <a:off x="548640" y="2587752"/>
            <a:ext cx="2011680" cy="941832"/>
          </a:xfrm>
          <a:prstGeom prst="rect">
            <a:avLst/>
          </a:prstGeom>
          <a:solidFill>
            <a:srgbClr val="EEF3FC"/>
          </a:solidFill>
          <a:ln/>
        </p:spPr>
      </p:sp>
      <p:sp>
        <p:nvSpPr>
          <p:cNvPr id="13" name="Text 11"/>
          <p:cNvSpPr/>
          <p:nvPr/>
        </p:nvSpPr>
        <p:spPr>
          <a:xfrm>
            <a:off x="621792" y="2587752"/>
            <a:ext cx="1865376" cy="941832"/>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14.19</a:t>
            </a:r>
            <a:endParaRPr lang="en-US" sz="1100" dirty="0"/>
          </a:p>
          <a:p>
            <a:pPr indent="0" marL="0">
              <a:buNone/>
            </a:pPr>
            <a:r>
              <a:rPr lang="en-US" sz="1100" b="1" dirty="0">
                <a:solidFill>
                  <a:srgbClr val="1E2761"/>
                </a:solidFill>
                <a:latin typeface="Calibri" pitchFamily="34" charset="0"/>
                <a:ea typeface="Calibri" pitchFamily="34" charset="-122"/>
                <a:cs typeface="Calibri" pitchFamily="34" charset="-120"/>
              </a:rPr>
              <a:t>Geographical</a:t>
            </a:r>
            <a:endParaRPr lang="en-US" sz="1100" dirty="0"/>
          </a:p>
        </p:txBody>
      </p:sp>
      <p:sp>
        <p:nvSpPr>
          <p:cNvPr id="14" name="Shape 12"/>
          <p:cNvSpPr/>
          <p:nvPr/>
        </p:nvSpPr>
        <p:spPr>
          <a:xfrm>
            <a:off x="2560320" y="2587752"/>
            <a:ext cx="2606040" cy="941832"/>
          </a:xfrm>
          <a:prstGeom prst="rect">
            <a:avLst/>
          </a:prstGeom>
          <a:solidFill>
            <a:srgbClr val="EEF3FC"/>
          </a:solidFill>
          <a:ln/>
        </p:spPr>
      </p:sp>
      <p:sp>
        <p:nvSpPr>
          <p:cNvPr id="15" name="Text 13"/>
          <p:cNvSpPr/>
          <p:nvPr/>
        </p:nvSpPr>
        <p:spPr>
          <a:xfrm>
            <a:off x="2633472" y="2587752"/>
            <a:ext cx="245973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Separate department for each geographical area — suits organizations with a wide network of activities dispersed over a large area.</a:t>
            </a:r>
            <a:endParaRPr lang="en-US" sz="930" dirty="0"/>
          </a:p>
        </p:txBody>
      </p:sp>
      <p:sp>
        <p:nvSpPr>
          <p:cNvPr id="16" name="Shape 14"/>
          <p:cNvSpPr/>
          <p:nvPr/>
        </p:nvSpPr>
        <p:spPr>
          <a:xfrm>
            <a:off x="5166360" y="2587752"/>
            <a:ext cx="3200400" cy="941832"/>
          </a:xfrm>
          <a:prstGeom prst="rect">
            <a:avLst/>
          </a:prstGeom>
          <a:solidFill>
            <a:srgbClr val="EEF3FC"/>
          </a:solidFill>
          <a:ln/>
        </p:spPr>
      </p:sp>
      <p:sp>
        <p:nvSpPr>
          <p:cNvPr id="17" name="Text 15"/>
          <p:cNvSpPr/>
          <p:nvPr/>
        </p:nvSpPr>
        <p:spPr>
          <a:xfrm>
            <a:off x="5239512" y="2587752"/>
            <a:ext cx="305409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Economy in time/money &amp; lower freight/labor costs; better knowledge of local tastes; effective control &amp; coordination.</a:t>
            </a:r>
            <a:endParaRPr lang="en-US" sz="930" dirty="0"/>
          </a:p>
        </p:txBody>
      </p:sp>
      <p:sp>
        <p:nvSpPr>
          <p:cNvPr id="18" name="Shape 16"/>
          <p:cNvSpPr/>
          <p:nvPr/>
        </p:nvSpPr>
        <p:spPr>
          <a:xfrm>
            <a:off x="8366760" y="2587752"/>
            <a:ext cx="3246120" cy="941832"/>
          </a:xfrm>
          <a:prstGeom prst="rect">
            <a:avLst/>
          </a:prstGeom>
          <a:solidFill>
            <a:srgbClr val="EEF3FC"/>
          </a:solidFill>
          <a:ln/>
        </p:spPr>
      </p:sp>
      <p:sp>
        <p:nvSpPr>
          <p:cNvPr id="19" name="Text 17"/>
          <p:cNvSpPr/>
          <p:nvPr/>
        </p:nvSpPr>
        <p:spPr>
          <a:xfrm>
            <a:off x="8439912" y="2587752"/>
            <a:ext cx="309981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Requires more managerial personnel; dilutes headquarters control; may duplicate activities.</a:t>
            </a:r>
            <a:endParaRPr lang="en-US" sz="930" dirty="0"/>
          </a:p>
        </p:txBody>
      </p:sp>
      <p:sp>
        <p:nvSpPr>
          <p:cNvPr id="20" name="Shape 18"/>
          <p:cNvSpPr/>
          <p:nvPr/>
        </p:nvSpPr>
        <p:spPr>
          <a:xfrm>
            <a:off x="548640" y="3529584"/>
            <a:ext cx="2011680" cy="941832"/>
          </a:xfrm>
          <a:prstGeom prst="rect">
            <a:avLst/>
          </a:prstGeom>
          <a:solidFill>
            <a:srgbClr val="FFFFFF"/>
          </a:solidFill>
          <a:ln/>
        </p:spPr>
      </p:sp>
      <p:sp>
        <p:nvSpPr>
          <p:cNvPr id="21" name="Text 19"/>
          <p:cNvSpPr/>
          <p:nvPr/>
        </p:nvSpPr>
        <p:spPr>
          <a:xfrm>
            <a:off x="621792" y="3529584"/>
            <a:ext cx="1865376" cy="941832"/>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14.20</a:t>
            </a:r>
            <a:endParaRPr lang="en-US" sz="1100" dirty="0"/>
          </a:p>
          <a:p>
            <a:pPr indent="0" marL="0">
              <a:buNone/>
            </a:pPr>
            <a:r>
              <a:rPr lang="en-US" sz="1100" b="1" dirty="0">
                <a:solidFill>
                  <a:srgbClr val="1E2761"/>
                </a:solidFill>
                <a:latin typeface="Calibri" pitchFamily="34" charset="0"/>
                <a:ea typeface="Calibri" pitchFamily="34" charset="-122"/>
                <a:cs typeface="Calibri" pitchFamily="34" charset="-120"/>
              </a:rPr>
              <a:t>Product-wise</a:t>
            </a:r>
            <a:endParaRPr lang="en-US" sz="1100" dirty="0"/>
          </a:p>
        </p:txBody>
      </p:sp>
      <p:sp>
        <p:nvSpPr>
          <p:cNvPr id="22" name="Shape 20"/>
          <p:cNvSpPr/>
          <p:nvPr/>
        </p:nvSpPr>
        <p:spPr>
          <a:xfrm>
            <a:off x="2560320" y="3529584"/>
            <a:ext cx="2606040" cy="941832"/>
          </a:xfrm>
          <a:prstGeom prst="rect">
            <a:avLst/>
          </a:prstGeom>
          <a:solidFill>
            <a:srgbClr val="FFFFFF"/>
          </a:solidFill>
          <a:ln/>
        </p:spPr>
      </p:sp>
      <p:sp>
        <p:nvSpPr>
          <p:cNvPr id="23" name="Text 21"/>
          <p:cNvSpPr/>
          <p:nvPr/>
        </p:nvSpPr>
        <p:spPr>
          <a:xfrm>
            <a:off x="2633472" y="3529584"/>
            <a:ext cx="245973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Separate department for each major product an organization produces.</a:t>
            </a:r>
            <a:endParaRPr lang="en-US" sz="930" dirty="0"/>
          </a:p>
        </p:txBody>
      </p:sp>
      <p:sp>
        <p:nvSpPr>
          <p:cNvPr id="24" name="Shape 22"/>
          <p:cNvSpPr/>
          <p:nvPr/>
        </p:nvSpPr>
        <p:spPr>
          <a:xfrm>
            <a:off x="5166360" y="3529584"/>
            <a:ext cx="3200400" cy="941832"/>
          </a:xfrm>
          <a:prstGeom prst="rect">
            <a:avLst/>
          </a:prstGeom>
          <a:solidFill>
            <a:srgbClr val="FFFFFF"/>
          </a:solidFill>
          <a:ln/>
        </p:spPr>
      </p:sp>
      <p:sp>
        <p:nvSpPr>
          <p:cNvPr id="25" name="Text 23"/>
          <p:cNvSpPr/>
          <p:nvPr/>
        </p:nvSpPr>
        <p:spPr>
          <a:xfrm>
            <a:off x="5239512" y="3529584"/>
            <a:ext cx="305409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Focuses attention on manufacture/QC/sales per product; clear accountability; enables watching competitors and adapting.</a:t>
            </a:r>
            <a:endParaRPr lang="en-US" sz="930" dirty="0"/>
          </a:p>
        </p:txBody>
      </p:sp>
      <p:sp>
        <p:nvSpPr>
          <p:cNvPr id="26" name="Shape 24"/>
          <p:cNvSpPr/>
          <p:nvPr/>
        </p:nvSpPr>
        <p:spPr>
          <a:xfrm>
            <a:off x="8366760" y="3529584"/>
            <a:ext cx="3246120" cy="941832"/>
          </a:xfrm>
          <a:prstGeom prst="rect">
            <a:avLst/>
          </a:prstGeom>
          <a:solidFill>
            <a:srgbClr val="FFFFFF"/>
          </a:solidFill>
          <a:ln/>
        </p:spPr>
      </p:sp>
      <p:sp>
        <p:nvSpPr>
          <p:cNvPr id="27" name="Text 25"/>
          <p:cNvSpPr/>
          <p:nvPr/>
        </p:nvSpPr>
        <p:spPr>
          <a:xfrm>
            <a:off x="8439912" y="3529584"/>
            <a:ext cx="309981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Needs more managerial personnel, raising admin costs; harder control/coordination; duplication of activities.</a:t>
            </a:r>
            <a:endParaRPr lang="en-US" sz="930" dirty="0"/>
          </a:p>
        </p:txBody>
      </p:sp>
      <p:sp>
        <p:nvSpPr>
          <p:cNvPr id="28" name="Shape 26"/>
          <p:cNvSpPr/>
          <p:nvPr/>
        </p:nvSpPr>
        <p:spPr>
          <a:xfrm>
            <a:off x="548640" y="4471416"/>
            <a:ext cx="2011680" cy="941832"/>
          </a:xfrm>
          <a:prstGeom prst="rect">
            <a:avLst/>
          </a:prstGeom>
          <a:solidFill>
            <a:srgbClr val="EEF3FC"/>
          </a:solidFill>
          <a:ln/>
        </p:spPr>
      </p:sp>
      <p:sp>
        <p:nvSpPr>
          <p:cNvPr id="29" name="Text 27"/>
          <p:cNvSpPr/>
          <p:nvPr/>
        </p:nvSpPr>
        <p:spPr>
          <a:xfrm>
            <a:off x="621792" y="4471416"/>
            <a:ext cx="1865376" cy="941832"/>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14.21</a:t>
            </a:r>
            <a:endParaRPr lang="en-US" sz="1100" dirty="0"/>
          </a:p>
          <a:p>
            <a:pPr indent="0" marL="0">
              <a:buNone/>
            </a:pPr>
            <a:r>
              <a:rPr lang="en-US" sz="1100" b="1" dirty="0">
                <a:solidFill>
                  <a:srgbClr val="1E2761"/>
                </a:solidFill>
                <a:latin typeface="Calibri" pitchFamily="34" charset="0"/>
                <a:ea typeface="Calibri" pitchFamily="34" charset="-122"/>
                <a:cs typeface="Calibri" pitchFamily="34" charset="-120"/>
              </a:rPr>
              <a:t>Customer-wise</a:t>
            </a:r>
            <a:endParaRPr lang="en-US" sz="1100" dirty="0"/>
          </a:p>
        </p:txBody>
      </p:sp>
      <p:sp>
        <p:nvSpPr>
          <p:cNvPr id="30" name="Shape 28"/>
          <p:cNvSpPr/>
          <p:nvPr/>
        </p:nvSpPr>
        <p:spPr>
          <a:xfrm>
            <a:off x="2560320" y="4471416"/>
            <a:ext cx="2606040" cy="941832"/>
          </a:xfrm>
          <a:prstGeom prst="rect">
            <a:avLst/>
          </a:prstGeom>
          <a:solidFill>
            <a:srgbClr val="EEF3FC"/>
          </a:solidFill>
          <a:ln/>
        </p:spPr>
      </p:sp>
      <p:sp>
        <p:nvSpPr>
          <p:cNvPr id="31" name="Text 29"/>
          <p:cNvSpPr/>
          <p:nvPr/>
        </p:nvSpPr>
        <p:spPr>
          <a:xfrm>
            <a:off x="2633472" y="4471416"/>
            <a:ext cx="245973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Separate departments for different needs of customers — e.g., a bank's loan section split by farmers, traders, industrialists.</a:t>
            </a:r>
            <a:endParaRPr lang="en-US" sz="930" dirty="0"/>
          </a:p>
        </p:txBody>
      </p:sp>
      <p:sp>
        <p:nvSpPr>
          <p:cNvPr id="32" name="Shape 30"/>
          <p:cNvSpPr/>
          <p:nvPr/>
        </p:nvSpPr>
        <p:spPr>
          <a:xfrm>
            <a:off x="5166360" y="4471416"/>
            <a:ext cx="3200400" cy="941832"/>
          </a:xfrm>
          <a:prstGeom prst="rect">
            <a:avLst/>
          </a:prstGeom>
          <a:solidFill>
            <a:srgbClr val="EEF3FC"/>
          </a:solidFill>
          <a:ln/>
        </p:spPr>
      </p:sp>
      <p:sp>
        <p:nvSpPr>
          <p:cNvPr id="33" name="Text 31"/>
          <p:cNvSpPr/>
          <p:nvPr/>
        </p:nvSpPr>
        <p:spPr>
          <a:xfrm>
            <a:off x="5239512" y="4471416"/>
            <a:ext cx="305409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Responds to different customer needs; promotes specialization; benefits from knowledge of customer tastes.</a:t>
            </a:r>
            <a:endParaRPr lang="en-US" sz="930" dirty="0"/>
          </a:p>
        </p:txBody>
      </p:sp>
      <p:sp>
        <p:nvSpPr>
          <p:cNvPr id="34" name="Shape 32"/>
          <p:cNvSpPr/>
          <p:nvPr/>
        </p:nvSpPr>
        <p:spPr>
          <a:xfrm>
            <a:off x="8366760" y="4471416"/>
            <a:ext cx="3246120" cy="941832"/>
          </a:xfrm>
          <a:prstGeom prst="rect">
            <a:avLst/>
          </a:prstGeom>
          <a:solidFill>
            <a:srgbClr val="EEF3FC"/>
          </a:solidFill>
          <a:ln/>
        </p:spPr>
      </p:sp>
      <p:sp>
        <p:nvSpPr>
          <p:cNvPr id="35" name="Text 33"/>
          <p:cNvSpPr/>
          <p:nvPr/>
        </p:nvSpPr>
        <p:spPr>
          <a:xfrm>
            <a:off x="8439912" y="4471416"/>
            <a:ext cx="309981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Creates coordination difficulties; may under-utilize resources in some departments; duplication of activities.</a:t>
            </a:r>
            <a:endParaRPr lang="en-US" sz="930" dirty="0"/>
          </a:p>
        </p:txBody>
      </p:sp>
      <p:sp>
        <p:nvSpPr>
          <p:cNvPr id="36" name="Shape 34"/>
          <p:cNvSpPr/>
          <p:nvPr/>
        </p:nvSpPr>
        <p:spPr>
          <a:xfrm>
            <a:off x="548640" y="5413248"/>
            <a:ext cx="2011680" cy="941832"/>
          </a:xfrm>
          <a:prstGeom prst="rect">
            <a:avLst/>
          </a:prstGeom>
          <a:solidFill>
            <a:srgbClr val="FFFFFF"/>
          </a:solidFill>
          <a:ln/>
        </p:spPr>
      </p:sp>
      <p:sp>
        <p:nvSpPr>
          <p:cNvPr id="37" name="Text 35"/>
          <p:cNvSpPr/>
          <p:nvPr/>
        </p:nvSpPr>
        <p:spPr>
          <a:xfrm>
            <a:off x="621792" y="5413248"/>
            <a:ext cx="1865376" cy="941832"/>
          </a:xfrm>
          <a:prstGeom prst="rect">
            <a:avLst/>
          </a:prstGeom>
          <a:noFill/>
          <a:ln/>
        </p:spPr>
        <p:txBody>
          <a:bodyPr wrap="square"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14.22</a:t>
            </a:r>
            <a:endParaRPr lang="en-US" sz="1100" dirty="0"/>
          </a:p>
          <a:p>
            <a:pPr indent="0" marL="0">
              <a:buNone/>
            </a:pPr>
            <a:r>
              <a:rPr lang="en-US" sz="1100" b="1" dirty="0">
                <a:solidFill>
                  <a:srgbClr val="1E2761"/>
                </a:solidFill>
                <a:latin typeface="Calibri" pitchFamily="34" charset="0"/>
                <a:ea typeface="Calibri" pitchFamily="34" charset="-122"/>
                <a:cs typeface="Calibri" pitchFamily="34" charset="-120"/>
              </a:rPr>
              <a:t>Numbers/Time-Centric</a:t>
            </a:r>
            <a:endParaRPr lang="en-US" sz="1100" dirty="0"/>
          </a:p>
        </p:txBody>
      </p:sp>
      <p:sp>
        <p:nvSpPr>
          <p:cNvPr id="38" name="Shape 36"/>
          <p:cNvSpPr/>
          <p:nvPr/>
        </p:nvSpPr>
        <p:spPr>
          <a:xfrm>
            <a:off x="2560320" y="5413248"/>
            <a:ext cx="2606040" cy="941832"/>
          </a:xfrm>
          <a:prstGeom prst="rect">
            <a:avLst/>
          </a:prstGeom>
          <a:solidFill>
            <a:srgbClr val="FFFFFF"/>
          </a:solidFill>
          <a:ln/>
        </p:spPr>
      </p:sp>
      <p:sp>
        <p:nvSpPr>
          <p:cNvPr id="39" name="Text 37"/>
          <p:cNvSpPr/>
          <p:nvPr/>
        </p:nvSpPr>
        <p:spPr>
          <a:xfrm>
            <a:off x="2633472" y="5413248"/>
            <a:ext cx="245973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Not common; found e.g. in the armed forces (battalions, companies) or shift-based departments.</a:t>
            </a:r>
            <a:endParaRPr lang="en-US" sz="930" dirty="0"/>
          </a:p>
        </p:txBody>
      </p:sp>
      <p:sp>
        <p:nvSpPr>
          <p:cNvPr id="40" name="Shape 38"/>
          <p:cNvSpPr/>
          <p:nvPr/>
        </p:nvSpPr>
        <p:spPr>
          <a:xfrm>
            <a:off x="5166360" y="5413248"/>
            <a:ext cx="3200400" cy="941832"/>
          </a:xfrm>
          <a:prstGeom prst="rect">
            <a:avLst/>
          </a:prstGeom>
          <a:solidFill>
            <a:srgbClr val="FFFFFF"/>
          </a:solidFill>
          <a:ln/>
        </p:spPr>
      </p:sp>
      <p:sp>
        <p:nvSpPr>
          <p:cNvPr id="41" name="Text 39"/>
          <p:cNvSpPr/>
          <p:nvPr/>
        </p:nvSpPr>
        <p:spPr>
          <a:xfrm>
            <a:off x="5239512" y="5413248"/>
            <a:ext cx="305409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Each unit stays a manageable size; easy to manage under an ideal span; nurtures unit pride and culture.</a:t>
            </a:r>
            <a:endParaRPr lang="en-US" sz="930" dirty="0"/>
          </a:p>
        </p:txBody>
      </p:sp>
      <p:sp>
        <p:nvSpPr>
          <p:cNvPr id="42" name="Shape 40"/>
          <p:cNvSpPr/>
          <p:nvPr/>
        </p:nvSpPr>
        <p:spPr>
          <a:xfrm>
            <a:off x="8366760" y="5413248"/>
            <a:ext cx="3246120" cy="941832"/>
          </a:xfrm>
          <a:prstGeom prst="rect">
            <a:avLst/>
          </a:prstGeom>
          <a:solidFill>
            <a:srgbClr val="FFFFFF"/>
          </a:solidFill>
          <a:ln/>
        </p:spPr>
      </p:sp>
      <p:sp>
        <p:nvSpPr>
          <p:cNvPr id="43" name="Text 41"/>
          <p:cNvSpPr/>
          <p:nvPr/>
        </p:nvSpPr>
        <p:spPr>
          <a:xfrm>
            <a:off x="8439912" y="5413248"/>
            <a:ext cx="3099816" cy="941832"/>
          </a:xfrm>
          <a:prstGeom prst="rect">
            <a:avLst/>
          </a:prstGeom>
          <a:noFill/>
          <a:ln/>
        </p:spPr>
        <p:txBody>
          <a:bodyPr wrap="square" rtlCol="0" anchor="ctr"/>
          <a:lstStyle/>
          <a:p>
            <a:pPr indent="0" marL="0">
              <a:buNone/>
            </a:pPr>
            <a:r>
              <a:rPr lang="en-US" sz="930" dirty="0">
                <a:solidFill>
                  <a:srgbClr val="2B2B33"/>
                </a:solidFill>
                <a:latin typeface="Calibri" pitchFamily="34" charset="0"/>
                <a:ea typeface="Calibri" pitchFamily="34" charset="-122"/>
                <a:cs typeface="Calibri" pitchFamily="34" charset="-120"/>
              </a:rPr>
              <a:t>A member of a small unit may feel lost among a huge workforce; may be overlooked for reward; poor performance reflects on the whole department.</a:t>
            </a:r>
            <a:endParaRPr lang="en-US" sz="930" dirty="0"/>
          </a:p>
        </p:txBody>
      </p:sp>
      <p:sp>
        <p:nvSpPr>
          <p:cNvPr id="44" name="Text 4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14.19–14.22. OTHER BASES OF DEPARTMENTATION</a:t>
            </a:r>
            <a:endParaRPr lang="en-US" sz="1100" dirty="0"/>
          </a:p>
        </p:txBody>
      </p:sp>
      <p:sp>
        <p:nvSpPr>
          <p:cNvPr id="45" name="Text 4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56</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1E2761"/>
          </a:solidFill>
          <a:ln/>
        </p:spPr>
      </p:sp>
      <p:sp>
        <p:nvSpPr>
          <p:cNvPr id="3" name="Shape 1"/>
          <p:cNvSpPr/>
          <p:nvPr/>
        </p:nvSpPr>
        <p:spPr>
          <a:xfrm>
            <a:off x="-1645920" y="4846320"/>
            <a:ext cx="3657600" cy="3657600"/>
          </a:xfrm>
          <a:prstGeom prst="ellipse">
            <a:avLst/>
          </a:prstGeom>
          <a:solidFill>
            <a:srgbClr val="1E2761"/>
          </a:solidFill>
          <a:ln/>
        </p:spPr>
      </p:sp>
      <p:sp>
        <p:nvSpPr>
          <p:cNvPr id="4" name="Shape 2"/>
          <p:cNvSpPr/>
          <p:nvPr/>
        </p:nvSpPr>
        <p:spPr>
          <a:xfrm>
            <a:off x="822960" y="960120"/>
            <a:ext cx="960120" cy="96012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072591" y="1209751"/>
            <a:ext cx="460858" cy="460858"/>
          </a:xfrm>
          <a:prstGeom prst="rect">
            <a:avLst/>
          </a:prstGeom>
        </p:spPr>
      </p:pic>
      <p:sp>
        <p:nvSpPr>
          <p:cNvPr id="6" name="Text 3"/>
          <p:cNvSpPr/>
          <p:nvPr/>
        </p:nvSpPr>
        <p:spPr>
          <a:xfrm>
            <a:off x="822960" y="2057400"/>
            <a:ext cx="8229600" cy="365760"/>
          </a:xfrm>
          <a:prstGeom prst="rect">
            <a:avLst/>
          </a:prstGeom>
          <a:noFill/>
          <a:ln/>
        </p:spPr>
        <p:txBody>
          <a:bodyPr wrap="square" rtlCol="0" anchor="ctr"/>
          <a:lstStyle/>
          <a:p>
            <a:pPr indent="0" marL="0">
              <a:buNone/>
            </a:pPr>
            <a:r>
              <a:rPr lang="en-US" sz="1600" b="1" spc="300" kern="0" dirty="0">
                <a:solidFill>
                  <a:srgbClr val="C9A24B"/>
                </a:solidFill>
                <a:latin typeface="Calibri" pitchFamily="34" charset="0"/>
                <a:ea typeface="Calibri" pitchFamily="34" charset="-122"/>
                <a:cs typeface="Calibri" pitchFamily="34" charset="-120"/>
              </a:rPr>
              <a:t>SECTION G</a:t>
            </a:r>
            <a:endParaRPr lang="en-US" sz="1600" dirty="0"/>
          </a:p>
        </p:txBody>
      </p:sp>
      <p:sp>
        <p:nvSpPr>
          <p:cNvPr id="7" name="Text 4"/>
          <p:cNvSpPr/>
          <p:nvPr/>
        </p:nvSpPr>
        <p:spPr>
          <a:xfrm>
            <a:off x="822960" y="2423160"/>
            <a:ext cx="10058400"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14.23 – 14.27</a:t>
            </a:r>
            <a:endParaRPr lang="en-US" sz="2800" dirty="0"/>
          </a:p>
        </p:txBody>
      </p:sp>
      <p:sp>
        <p:nvSpPr>
          <p:cNvPr id="8" name="Text 5"/>
          <p:cNvSpPr/>
          <p:nvPr/>
        </p:nvSpPr>
        <p:spPr>
          <a:xfrm>
            <a:off x="822960" y="3200400"/>
            <a:ext cx="1005840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Decentralization</a:t>
            </a:r>
            <a:endParaRPr lang="en-US" sz="1800" dirty="0"/>
          </a:p>
        </p:txBody>
      </p:sp>
      <p:sp>
        <p:nvSpPr>
          <p:cNvPr id="9" name="Shape 6"/>
          <p:cNvSpPr/>
          <p:nvPr/>
        </p:nvSpPr>
        <p:spPr>
          <a:xfrm>
            <a:off x="868680" y="4114800"/>
            <a:ext cx="2011680" cy="0"/>
          </a:xfrm>
          <a:prstGeom prst="line">
            <a:avLst/>
          </a:prstGeom>
          <a:noFill/>
          <a:ln w="25400">
            <a:solidFill>
              <a:srgbClr val="C9A24B"/>
            </a:solidFill>
            <a:prstDash val="solid"/>
          </a:ln>
        </p:spPr>
      </p:sp>
      <p:sp>
        <p:nvSpPr>
          <p:cNvPr id="10" name="Text 7"/>
          <p:cNvSpPr/>
          <p:nvPr/>
        </p:nvSpPr>
        <p:spPr>
          <a:xfrm>
            <a:off x="822960" y="4343400"/>
            <a:ext cx="9326880" cy="1097280"/>
          </a:xfrm>
          <a:prstGeom prst="rect">
            <a:avLst/>
          </a:prstGeom>
          <a:noFill/>
          <a:ln/>
        </p:spPr>
        <p:txBody>
          <a:bodyPr wrap="square" rtlCol="0" anchor="t"/>
          <a:lstStyle/>
          <a:p>
            <a:pPr indent="0" marL="0">
              <a:buNone/>
            </a:pPr>
            <a:r>
              <a:rPr lang="en-US" sz="1450" i="1" dirty="0">
                <a:solidFill>
                  <a:srgbClr val="CADCFC"/>
                </a:solidFill>
                <a:latin typeface="Calibri" pitchFamily="34" charset="0"/>
                <a:ea typeface="Calibri" pitchFamily="34" charset="-122"/>
                <a:cs typeface="Calibri" pitchFamily="34" charset="-120"/>
              </a:rPr>
              <a:t>Extending delegation across the organization — what drives it, and its benefits and costs.</a:t>
            </a:r>
            <a:endParaRPr lang="en-US" sz="14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57</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14.23.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Meaning, Definitions &amp; Summing Up</a:t>
            </a:r>
            <a:endParaRPr lang="en-US" sz="2700" dirty="0"/>
          </a:p>
        </p:txBody>
      </p:sp>
      <p:sp>
        <p:nvSpPr>
          <p:cNvPr id="4" name="Text 2"/>
          <p:cNvSpPr/>
          <p:nvPr/>
        </p:nvSpPr>
        <p:spPr>
          <a:xfrm>
            <a:off x="548640" y="1645920"/>
            <a:ext cx="6858000" cy="4251960"/>
          </a:xfrm>
          <a:prstGeom prst="rect">
            <a:avLst/>
          </a:prstGeom>
          <a:noFill/>
          <a:ln/>
        </p:spPr>
        <p:txBody>
          <a:bodyPr wrap="square" rtlCol="0" anchor="t"/>
          <a:lstStyle/>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Decentralization marks an extension of the process of delegation. Under it, the central unit of an organization distributes functions, responsibility, accountability, and matching authority to regional and local units situated away from it.</a:t>
            </a:r>
            <a:endParaRPr lang="en-US" sz="1500" dirty="0"/>
          </a:p>
          <a:p>
            <a:pPr indent="0" marL="0">
              <a:lnSpc>
                <a:spcPct val="110000"/>
              </a:lnSpc>
              <a:spcAft>
                <a:spcPts val="800"/>
              </a:spcAft>
              <a:buNone/>
            </a:pPr>
            <a:r>
              <a:rPr lang="en-US" sz="1500" dirty="0">
                <a:solidFill>
                  <a:srgbClr val="2B2B33"/>
                </a:solidFill>
                <a:latin typeface="Calibri" pitchFamily="34" charset="0"/>
                <a:ea typeface="Calibri" pitchFamily="34" charset="-122"/>
                <a:cs typeface="Calibri" pitchFamily="34" charset="-120"/>
              </a:rPr>
              <a:t>E.F.L. Brech: Decentralization is the pattern of responsibility arising from delegation. Allen: it is the systematic effort to delegate to the lowest levels all authority except that which can only be exercised at central points. Koontz and O'Donnel: Decentralization of authority is a fundamental phase of delegation.</a:t>
            </a:r>
            <a:endParaRPr lang="en-US" sz="1500" dirty="0"/>
          </a:p>
          <a:p>
            <a:pPr indent="0" marL="0">
              <a:lnSpc>
                <a:spcPct val="110000"/>
              </a:lnSpc>
              <a:buNone/>
            </a:pPr>
            <a:r>
              <a:rPr lang="en-US" sz="1500" dirty="0">
                <a:solidFill>
                  <a:srgbClr val="2B2B33"/>
                </a:solidFill>
                <a:latin typeface="Calibri" pitchFamily="34" charset="0"/>
                <a:ea typeface="Calibri" pitchFamily="34" charset="-122"/>
                <a:cs typeface="Calibri" pitchFamily="34" charset="-120"/>
              </a:rPr>
              <a:t>Decentralization is the opposite of centralization. In a centralized organization, decision-making authority is vested in a few hands at the top; in a decentralized one, there is dispersal of that authority to persons and places away from the centre.</a:t>
            </a:r>
            <a:endParaRPr lang="en-US" sz="1500" dirty="0"/>
          </a:p>
        </p:txBody>
      </p:sp>
      <p:sp>
        <p:nvSpPr>
          <p:cNvPr id="5" name="Shape 3"/>
          <p:cNvSpPr/>
          <p:nvPr/>
        </p:nvSpPr>
        <p:spPr>
          <a:xfrm>
            <a:off x="7680960" y="1645920"/>
            <a:ext cx="3977640" cy="4297680"/>
          </a:xfrm>
          <a:prstGeom prst="roundRect">
            <a:avLst>
              <a:gd name="adj" fmla="val 2299"/>
            </a:avLst>
          </a:prstGeom>
          <a:solidFill>
            <a:srgbClr val="1E2761"/>
          </a:solidFill>
          <a:ln/>
        </p:spPr>
      </p:sp>
      <p:sp>
        <p:nvSpPr>
          <p:cNvPr id="6" name="Shape 4"/>
          <p:cNvSpPr/>
          <p:nvPr/>
        </p:nvSpPr>
        <p:spPr>
          <a:xfrm>
            <a:off x="8001000" y="1920240"/>
            <a:ext cx="621792" cy="621792"/>
          </a:xfrm>
          <a:prstGeom prst="ellipse">
            <a:avLst/>
          </a:prstGeom>
          <a:solidFill>
            <a:srgbClr val="C9A24B"/>
          </a:solidFill>
          <a:ln/>
        </p:spPr>
      </p:sp>
      <p:pic>
        <p:nvPicPr>
          <p:cNvPr id="7" name="Image 0" descr="preencoded.png">    </p:cNvPr>
          <p:cNvPicPr>
            <a:picLocks noChangeAspect="1"/>
          </p:cNvPicPr>
          <p:nvPr/>
        </p:nvPicPr>
        <p:blipFill>
          <a:blip r:embed="rId1"/>
          <a:stretch>
            <a:fillRect/>
          </a:stretch>
        </p:blipFill>
        <p:spPr>
          <a:xfrm>
            <a:off x="8162666" y="2081906"/>
            <a:ext cx="298460" cy="298460"/>
          </a:xfrm>
          <a:prstGeom prst="rect">
            <a:avLst/>
          </a:prstGeom>
        </p:spPr>
      </p:pic>
      <p:sp>
        <p:nvSpPr>
          <p:cNvPr id="8" name="Text 5"/>
          <p:cNvSpPr/>
          <p:nvPr/>
        </p:nvSpPr>
        <p:spPr>
          <a:xfrm>
            <a:off x="8001000" y="2624328"/>
            <a:ext cx="3383280" cy="320040"/>
          </a:xfrm>
          <a:prstGeom prst="rect">
            <a:avLst/>
          </a:prstGeom>
          <a:noFill/>
          <a:ln/>
        </p:spPr>
        <p:txBody>
          <a:bodyPr wrap="square" rtlCol="0" anchor="ctr"/>
          <a:lstStyle/>
          <a:p>
            <a:pPr indent="0" marL="0">
              <a:buNone/>
            </a:pPr>
            <a:r>
              <a:rPr lang="en-US" sz="1150" b="1" spc="200" kern="0" dirty="0">
                <a:solidFill>
                  <a:srgbClr val="C9A24B"/>
                </a:solidFill>
                <a:latin typeface="Calibri" pitchFamily="34" charset="0"/>
                <a:ea typeface="Calibri" pitchFamily="34" charset="-122"/>
                <a:cs typeface="Calibri" pitchFamily="34" charset="-120"/>
              </a:rPr>
              <a:t>EXAMPLE</a:t>
            </a:r>
            <a:endParaRPr lang="en-US" sz="1150" dirty="0"/>
          </a:p>
        </p:txBody>
      </p:sp>
      <p:sp>
        <p:nvSpPr>
          <p:cNvPr id="9" name="Text 6"/>
          <p:cNvSpPr/>
          <p:nvPr/>
        </p:nvSpPr>
        <p:spPr>
          <a:xfrm>
            <a:off x="8001000" y="2944368"/>
            <a:ext cx="33832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Delegation, Scaled Up</a:t>
            </a:r>
            <a:endParaRPr lang="en-US" sz="1500" dirty="0"/>
          </a:p>
        </p:txBody>
      </p:sp>
      <p:sp>
        <p:nvSpPr>
          <p:cNvPr id="10" name="Text 7"/>
          <p:cNvSpPr/>
          <p:nvPr/>
        </p:nvSpPr>
        <p:spPr>
          <a:xfrm>
            <a:off x="8001000" y="3493008"/>
            <a:ext cx="3383280" cy="2331720"/>
          </a:xfrm>
          <a:prstGeom prst="rect">
            <a:avLst/>
          </a:prstGeom>
          <a:noFill/>
          <a:ln/>
        </p:spPr>
        <p:txBody>
          <a:bodyPr wrap="square" rtlCol="0" anchor="t"/>
          <a:lstStyle/>
          <a:p>
            <a:pPr indent="0" marL="0">
              <a:buNone/>
            </a:pPr>
            <a:r>
              <a:rPr lang="en-US" sz="1250" dirty="0">
                <a:solidFill>
                  <a:srgbClr val="CADCFC"/>
                </a:solidFill>
                <a:latin typeface="Calibri" pitchFamily="34" charset="0"/>
                <a:ea typeface="Calibri" pitchFamily="34" charset="-122"/>
                <a:cs typeface="Calibri" pitchFamily="34" charset="-120"/>
              </a:rPr>
              <a:t>One CEO letting the production head hire freely is delegation. The CEO granting that same freedom to every departmental head is decentralization.</a:t>
            </a:r>
            <a:endParaRPr lang="en-US" sz="1250" dirty="0"/>
          </a:p>
        </p:txBody>
      </p:sp>
      <p:sp>
        <p:nvSpPr>
          <p:cNvPr id="11" name="Text 8"/>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14.23. DECENTRALIZATION</a:t>
            </a:r>
            <a:endParaRPr lang="en-US" sz="1100" dirty="0"/>
          </a:p>
        </p:txBody>
      </p:sp>
      <p:sp>
        <p:nvSpPr>
          <p:cNvPr id="12" name="Text 9"/>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58</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14.24. DELEGATION AND DECENTRALIZATION COMPARED</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Four Key Differences</a:t>
            </a:r>
            <a:endParaRPr lang="en-US" sz="2700" dirty="0"/>
          </a:p>
        </p:txBody>
      </p:sp>
      <p:sp>
        <p:nvSpPr>
          <p:cNvPr id="4" name="Shape 2"/>
          <p:cNvSpPr/>
          <p:nvPr/>
        </p:nvSpPr>
        <p:spPr>
          <a:xfrm>
            <a:off x="548640" y="1645920"/>
            <a:ext cx="2651760" cy="941832"/>
          </a:xfrm>
          <a:prstGeom prst="rect">
            <a:avLst/>
          </a:prstGeom>
          <a:solidFill>
            <a:srgbClr val="1E2761"/>
          </a:solidFill>
          <a:ln/>
        </p:spPr>
      </p:sp>
      <p:sp>
        <p:nvSpPr>
          <p:cNvPr id="5" name="Shape 3"/>
          <p:cNvSpPr/>
          <p:nvPr/>
        </p:nvSpPr>
        <p:spPr>
          <a:xfrm>
            <a:off x="3200400" y="1645920"/>
            <a:ext cx="4206240" cy="941832"/>
          </a:xfrm>
          <a:prstGeom prst="rect">
            <a:avLst/>
          </a:prstGeom>
          <a:solidFill>
            <a:srgbClr val="3A4A8C"/>
          </a:solidFill>
          <a:ln/>
        </p:spPr>
      </p:sp>
      <p:sp>
        <p:nvSpPr>
          <p:cNvPr id="6" name="Shape 4"/>
          <p:cNvSpPr/>
          <p:nvPr/>
        </p:nvSpPr>
        <p:spPr>
          <a:xfrm>
            <a:off x="7406640" y="1645920"/>
            <a:ext cx="4206240" cy="941832"/>
          </a:xfrm>
          <a:prstGeom prst="rect">
            <a:avLst/>
          </a:prstGeom>
          <a:solidFill>
            <a:srgbClr val="C9A24B"/>
          </a:solidFill>
          <a:ln/>
        </p:spPr>
      </p:sp>
      <p:sp>
        <p:nvSpPr>
          <p:cNvPr id="7" name="Text 5"/>
          <p:cNvSpPr/>
          <p:nvPr/>
        </p:nvSpPr>
        <p:spPr>
          <a:xfrm>
            <a:off x="548640" y="1645920"/>
            <a:ext cx="265176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BASIS</a:t>
            </a:r>
            <a:endParaRPr lang="en-US" sz="1250" dirty="0"/>
          </a:p>
        </p:txBody>
      </p:sp>
      <p:sp>
        <p:nvSpPr>
          <p:cNvPr id="8" name="Text 6"/>
          <p:cNvSpPr/>
          <p:nvPr/>
        </p:nvSpPr>
        <p:spPr>
          <a:xfrm>
            <a:off x="3200400" y="1645920"/>
            <a:ext cx="4206240" cy="941832"/>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Delegation</a:t>
            </a:r>
            <a:endParaRPr lang="en-US" sz="1250" dirty="0"/>
          </a:p>
        </p:txBody>
      </p:sp>
      <p:sp>
        <p:nvSpPr>
          <p:cNvPr id="9" name="Text 7"/>
          <p:cNvSpPr/>
          <p:nvPr/>
        </p:nvSpPr>
        <p:spPr>
          <a:xfrm>
            <a:off x="7406640" y="1645920"/>
            <a:ext cx="4206240" cy="941832"/>
          </a:xfrm>
          <a:prstGeom prst="rect">
            <a:avLst/>
          </a:prstGeom>
          <a:noFill/>
          <a:ln/>
        </p:spPr>
        <p:txBody>
          <a:bodyPr wrap="square" rtlCol="0" anchor="ctr"/>
          <a:lstStyle/>
          <a:p>
            <a:pPr algn="ctr" indent="0" marL="0">
              <a:buNone/>
            </a:pPr>
            <a:r>
              <a:rPr lang="en-US" sz="1250" b="1" dirty="0">
                <a:solidFill>
                  <a:srgbClr val="141B48"/>
                </a:solidFill>
                <a:latin typeface="Cambria" pitchFamily="34" charset="0"/>
                <a:ea typeface="Cambria" pitchFamily="34" charset="-122"/>
                <a:cs typeface="Cambria" pitchFamily="34" charset="-120"/>
              </a:rPr>
              <a:t>Decentralization</a:t>
            </a:r>
            <a:endParaRPr lang="en-US" sz="1250" dirty="0"/>
          </a:p>
        </p:txBody>
      </p:sp>
      <p:sp>
        <p:nvSpPr>
          <p:cNvPr id="10" name="Shape 8"/>
          <p:cNvSpPr/>
          <p:nvPr/>
        </p:nvSpPr>
        <p:spPr>
          <a:xfrm>
            <a:off x="548640" y="2587752"/>
            <a:ext cx="2651760" cy="941832"/>
          </a:xfrm>
          <a:prstGeom prst="rect">
            <a:avLst/>
          </a:prstGeom>
          <a:solidFill>
            <a:srgbClr val="EEF3FC"/>
          </a:solidFill>
          <a:ln/>
        </p:spPr>
      </p:sp>
      <p:sp>
        <p:nvSpPr>
          <p:cNvPr id="11" name="Shape 9"/>
          <p:cNvSpPr/>
          <p:nvPr/>
        </p:nvSpPr>
        <p:spPr>
          <a:xfrm>
            <a:off x="3200400" y="2587752"/>
            <a:ext cx="4206240" cy="941832"/>
          </a:xfrm>
          <a:prstGeom prst="rect">
            <a:avLst/>
          </a:prstGeom>
          <a:solidFill>
            <a:srgbClr val="EEF3FC"/>
          </a:solidFill>
          <a:ln/>
        </p:spPr>
      </p:sp>
      <p:sp>
        <p:nvSpPr>
          <p:cNvPr id="12" name="Shape 10"/>
          <p:cNvSpPr/>
          <p:nvPr/>
        </p:nvSpPr>
        <p:spPr>
          <a:xfrm>
            <a:off x="7406640" y="2587752"/>
            <a:ext cx="4206240" cy="941832"/>
          </a:xfrm>
          <a:prstGeom prst="rect">
            <a:avLst/>
          </a:prstGeom>
          <a:solidFill>
            <a:srgbClr val="EEF3FC"/>
          </a:solidFill>
          <a:ln/>
        </p:spPr>
      </p:sp>
      <p:sp>
        <p:nvSpPr>
          <p:cNvPr id="13" name="Text 11"/>
          <p:cNvSpPr/>
          <p:nvPr/>
        </p:nvSpPr>
        <p:spPr>
          <a:xfrm>
            <a:off x="685800" y="2587752"/>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It is an act, or a process</a:t>
            </a:r>
            <a:endParaRPr lang="en-US" sz="1150" dirty="0"/>
          </a:p>
        </p:txBody>
      </p:sp>
      <p:sp>
        <p:nvSpPr>
          <p:cNvPr id="14" name="Text 12"/>
          <p:cNvSpPr/>
          <p:nvPr/>
        </p:nvSpPr>
        <p:spPr>
          <a:xfrm>
            <a:off x="3337560" y="2587752"/>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It is the end-result of delegation and distribution of authority to various levels</a:t>
            </a:r>
            <a:endParaRPr lang="en-US" sz="1080" dirty="0"/>
          </a:p>
        </p:txBody>
      </p:sp>
      <p:sp>
        <p:nvSpPr>
          <p:cNvPr id="15" name="Text 13"/>
          <p:cNvSpPr/>
          <p:nvPr/>
        </p:nvSpPr>
        <p:spPr>
          <a:xfrm>
            <a:off x="7543800" y="2587752"/>
            <a:ext cx="3931920" cy="941832"/>
          </a:xfrm>
          <a:prstGeom prst="rect">
            <a:avLst/>
          </a:prstGeom>
          <a:noFill/>
          <a:ln/>
        </p:spPr>
        <p:txBody>
          <a:bodyPr wrap="square" rtlCol="0" anchor="ctr"/>
          <a:lstStyle/>
          <a:p>
            <a:pPr indent="0" marL="0">
              <a:buNone/>
            </a:pPr>
            <a:endParaRPr lang="en-US" sz="1080" dirty="0"/>
          </a:p>
        </p:txBody>
      </p:sp>
      <p:sp>
        <p:nvSpPr>
          <p:cNvPr id="16" name="Shape 14"/>
          <p:cNvSpPr/>
          <p:nvPr/>
        </p:nvSpPr>
        <p:spPr>
          <a:xfrm>
            <a:off x="548640" y="3529584"/>
            <a:ext cx="2651760" cy="941832"/>
          </a:xfrm>
          <a:prstGeom prst="rect">
            <a:avLst/>
          </a:prstGeom>
          <a:solidFill>
            <a:srgbClr val="FFFFFF"/>
          </a:solidFill>
          <a:ln/>
        </p:spPr>
      </p:sp>
      <p:sp>
        <p:nvSpPr>
          <p:cNvPr id="17" name="Shape 15"/>
          <p:cNvSpPr/>
          <p:nvPr/>
        </p:nvSpPr>
        <p:spPr>
          <a:xfrm>
            <a:off x="3200400" y="3529584"/>
            <a:ext cx="4206240" cy="941832"/>
          </a:xfrm>
          <a:prstGeom prst="rect">
            <a:avLst/>
          </a:prstGeom>
          <a:solidFill>
            <a:srgbClr val="FFFFFF"/>
          </a:solidFill>
          <a:ln/>
        </p:spPr>
      </p:sp>
      <p:sp>
        <p:nvSpPr>
          <p:cNvPr id="18" name="Shape 16"/>
          <p:cNvSpPr/>
          <p:nvPr/>
        </p:nvSpPr>
        <p:spPr>
          <a:xfrm>
            <a:off x="7406640" y="3529584"/>
            <a:ext cx="4206240" cy="941832"/>
          </a:xfrm>
          <a:prstGeom prst="rect">
            <a:avLst/>
          </a:prstGeom>
          <a:solidFill>
            <a:srgbClr val="FFFFFF"/>
          </a:solidFill>
          <a:ln/>
        </p:spPr>
      </p:sp>
      <p:sp>
        <p:nvSpPr>
          <p:cNvPr id="19" name="Text 17"/>
          <p:cNvSpPr/>
          <p:nvPr/>
        </p:nvSpPr>
        <p:spPr>
          <a:xfrm>
            <a:off x="685800" y="3529584"/>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Refers to a relationship between two individuals — one who delegates, one who receives</a:t>
            </a:r>
            <a:endParaRPr lang="en-US" sz="1150" dirty="0"/>
          </a:p>
        </p:txBody>
      </p:sp>
      <p:sp>
        <p:nvSpPr>
          <p:cNvPr id="20" name="Text 18"/>
          <p:cNvSpPr/>
          <p:nvPr/>
        </p:nvSpPr>
        <p:spPr>
          <a:xfrm>
            <a:off x="3337560" y="3529584"/>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Refers to a relationship between top management and various departments/divisions</a:t>
            </a:r>
            <a:endParaRPr lang="en-US" sz="1080" dirty="0"/>
          </a:p>
        </p:txBody>
      </p:sp>
      <p:sp>
        <p:nvSpPr>
          <p:cNvPr id="21" name="Text 19"/>
          <p:cNvSpPr/>
          <p:nvPr/>
        </p:nvSpPr>
        <p:spPr>
          <a:xfrm>
            <a:off x="7543800" y="3529584"/>
            <a:ext cx="3931920" cy="941832"/>
          </a:xfrm>
          <a:prstGeom prst="rect">
            <a:avLst/>
          </a:prstGeom>
          <a:noFill/>
          <a:ln/>
        </p:spPr>
        <p:txBody>
          <a:bodyPr wrap="square" rtlCol="0" anchor="ctr"/>
          <a:lstStyle/>
          <a:p>
            <a:pPr indent="0" marL="0">
              <a:buNone/>
            </a:pPr>
            <a:endParaRPr lang="en-US" sz="1080" dirty="0"/>
          </a:p>
        </p:txBody>
      </p:sp>
      <p:sp>
        <p:nvSpPr>
          <p:cNvPr id="22" name="Shape 20"/>
          <p:cNvSpPr/>
          <p:nvPr/>
        </p:nvSpPr>
        <p:spPr>
          <a:xfrm>
            <a:off x="548640" y="4471416"/>
            <a:ext cx="2651760" cy="941832"/>
          </a:xfrm>
          <a:prstGeom prst="rect">
            <a:avLst/>
          </a:prstGeom>
          <a:solidFill>
            <a:srgbClr val="EEF3FC"/>
          </a:solidFill>
          <a:ln/>
        </p:spPr>
      </p:sp>
      <p:sp>
        <p:nvSpPr>
          <p:cNvPr id="23" name="Shape 21"/>
          <p:cNvSpPr/>
          <p:nvPr/>
        </p:nvSpPr>
        <p:spPr>
          <a:xfrm>
            <a:off x="3200400" y="4471416"/>
            <a:ext cx="4206240" cy="941832"/>
          </a:xfrm>
          <a:prstGeom prst="rect">
            <a:avLst/>
          </a:prstGeom>
          <a:solidFill>
            <a:srgbClr val="EEF3FC"/>
          </a:solidFill>
          <a:ln/>
        </p:spPr>
      </p:sp>
      <p:sp>
        <p:nvSpPr>
          <p:cNvPr id="24" name="Shape 22"/>
          <p:cNvSpPr/>
          <p:nvPr/>
        </p:nvSpPr>
        <p:spPr>
          <a:xfrm>
            <a:off x="7406640" y="4471416"/>
            <a:ext cx="4206240" cy="941832"/>
          </a:xfrm>
          <a:prstGeom prst="rect">
            <a:avLst/>
          </a:prstGeom>
          <a:solidFill>
            <a:srgbClr val="EEF3FC"/>
          </a:solidFill>
          <a:ln/>
        </p:spPr>
      </p:sp>
      <p:sp>
        <p:nvSpPr>
          <p:cNvPr id="25" name="Text 23"/>
          <p:cNvSpPr/>
          <p:nvPr/>
        </p:nvSpPr>
        <p:spPr>
          <a:xfrm>
            <a:off x="685800" y="4471416"/>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Vital to the management process; involves subordinates in decision-making and encourages them</a:t>
            </a:r>
            <a:endParaRPr lang="en-US" sz="1150" dirty="0"/>
          </a:p>
        </p:txBody>
      </p:sp>
      <p:sp>
        <p:nvSpPr>
          <p:cNvPr id="26" name="Text 24"/>
          <p:cNvSpPr/>
          <p:nvPr/>
        </p:nvSpPr>
        <p:spPr>
          <a:xfrm>
            <a:off x="3337560" y="4471416"/>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At the option of top management, which may or may not distribute authority to subordinates at various locations</a:t>
            </a:r>
            <a:endParaRPr lang="en-US" sz="1080" dirty="0"/>
          </a:p>
        </p:txBody>
      </p:sp>
      <p:sp>
        <p:nvSpPr>
          <p:cNvPr id="27" name="Text 25"/>
          <p:cNvSpPr/>
          <p:nvPr/>
        </p:nvSpPr>
        <p:spPr>
          <a:xfrm>
            <a:off x="7543800" y="4471416"/>
            <a:ext cx="3931920" cy="941832"/>
          </a:xfrm>
          <a:prstGeom prst="rect">
            <a:avLst/>
          </a:prstGeom>
          <a:noFill/>
          <a:ln/>
        </p:spPr>
        <p:txBody>
          <a:bodyPr wrap="square" rtlCol="0" anchor="ctr"/>
          <a:lstStyle/>
          <a:p>
            <a:pPr indent="0" marL="0">
              <a:buNone/>
            </a:pPr>
            <a:endParaRPr lang="en-US" sz="1080" dirty="0"/>
          </a:p>
        </p:txBody>
      </p:sp>
      <p:sp>
        <p:nvSpPr>
          <p:cNvPr id="28" name="Shape 26"/>
          <p:cNvSpPr/>
          <p:nvPr/>
        </p:nvSpPr>
        <p:spPr>
          <a:xfrm>
            <a:off x="548640" y="5413248"/>
            <a:ext cx="2651760" cy="941832"/>
          </a:xfrm>
          <a:prstGeom prst="rect">
            <a:avLst/>
          </a:prstGeom>
          <a:solidFill>
            <a:srgbClr val="FFFFFF"/>
          </a:solidFill>
          <a:ln/>
        </p:spPr>
      </p:sp>
      <p:sp>
        <p:nvSpPr>
          <p:cNvPr id="29" name="Shape 27"/>
          <p:cNvSpPr/>
          <p:nvPr/>
        </p:nvSpPr>
        <p:spPr>
          <a:xfrm>
            <a:off x="3200400" y="5413248"/>
            <a:ext cx="4206240" cy="941832"/>
          </a:xfrm>
          <a:prstGeom prst="rect">
            <a:avLst/>
          </a:prstGeom>
          <a:solidFill>
            <a:srgbClr val="FFFFFF"/>
          </a:solidFill>
          <a:ln/>
        </p:spPr>
      </p:sp>
      <p:sp>
        <p:nvSpPr>
          <p:cNvPr id="30" name="Shape 28"/>
          <p:cNvSpPr/>
          <p:nvPr/>
        </p:nvSpPr>
        <p:spPr>
          <a:xfrm>
            <a:off x="7406640" y="5413248"/>
            <a:ext cx="4206240" cy="941832"/>
          </a:xfrm>
          <a:prstGeom prst="rect">
            <a:avLst/>
          </a:prstGeom>
          <a:solidFill>
            <a:srgbClr val="FFFFFF"/>
          </a:solidFill>
          <a:ln/>
        </p:spPr>
      </p:sp>
      <p:sp>
        <p:nvSpPr>
          <p:cNvPr id="31" name="Text 29"/>
          <p:cNvSpPr/>
          <p:nvPr/>
        </p:nvSpPr>
        <p:spPr>
          <a:xfrm>
            <a:off x="685800" y="5413248"/>
            <a:ext cx="2377440" cy="9418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 superior who delegates authority retains authority to control its exercise</a:t>
            </a:r>
            <a:endParaRPr lang="en-US" sz="1150" dirty="0"/>
          </a:p>
        </p:txBody>
      </p:sp>
      <p:sp>
        <p:nvSpPr>
          <p:cNvPr id="32" name="Text 30"/>
          <p:cNvSpPr/>
          <p:nvPr/>
        </p:nvSpPr>
        <p:spPr>
          <a:xfrm>
            <a:off x="3337560" y="5413248"/>
            <a:ext cx="3931920" cy="941832"/>
          </a:xfrm>
          <a:prstGeom prst="rect">
            <a:avLst/>
          </a:prstGeom>
          <a:noFill/>
          <a:ln/>
        </p:spPr>
        <p:txBody>
          <a:bodyPr wrap="square" rtlCol="0" anchor="ctr"/>
          <a:lstStyle/>
          <a:p>
            <a:pPr indent="0" marL="0">
              <a:buNone/>
            </a:pPr>
            <a:r>
              <a:rPr lang="en-US" sz="1080" dirty="0">
                <a:solidFill>
                  <a:srgbClr val="2B2B33"/>
                </a:solidFill>
                <a:latin typeface="Calibri" pitchFamily="34" charset="0"/>
                <a:ea typeface="Calibri" pitchFamily="34" charset="-122"/>
                <a:cs typeface="Calibri" pitchFamily="34" charset="-120"/>
              </a:rPr>
              <a:t>Even the power to control may be delegated to the department concerned</a:t>
            </a:r>
            <a:endParaRPr lang="en-US" sz="1080" dirty="0"/>
          </a:p>
        </p:txBody>
      </p:sp>
      <p:sp>
        <p:nvSpPr>
          <p:cNvPr id="33" name="Text 31"/>
          <p:cNvSpPr/>
          <p:nvPr/>
        </p:nvSpPr>
        <p:spPr>
          <a:xfrm>
            <a:off x="7543800" y="5413248"/>
            <a:ext cx="3931920" cy="941832"/>
          </a:xfrm>
          <a:prstGeom prst="rect">
            <a:avLst/>
          </a:prstGeom>
          <a:noFill/>
          <a:ln/>
        </p:spPr>
        <p:txBody>
          <a:bodyPr wrap="square" rtlCol="0" anchor="ctr"/>
          <a:lstStyle/>
          <a:p>
            <a:pPr indent="0" marL="0">
              <a:buNone/>
            </a:pPr>
            <a:endParaRPr lang="en-US" sz="1080" dirty="0"/>
          </a:p>
        </p:txBody>
      </p:sp>
      <p:sp>
        <p:nvSpPr>
          <p:cNvPr id="34" name="Text 3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14.24. DELEGATION AND DECENTRALIZATION COMPARED</a:t>
            </a:r>
            <a:endParaRPr lang="en-US" sz="1100" dirty="0"/>
          </a:p>
        </p:txBody>
      </p:sp>
      <p:sp>
        <p:nvSpPr>
          <p:cNvPr id="35" name="Text 3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59</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14.25. FACTORS AFFECTING DEGREE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Decentralized Structure in Practice</a:t>
            </a:r>
            <a:endParaRPr lang="en-US" sz="2700" dirty="0"/>
          </a:p>
        </p:txBody>
      </p:sp>
      <p:sp>
        <p:nvSpPr>
          <p:cNvPr id="4" name="Text 2"/>
          <p:cNvSpPr/>
          <p:nvPr/>
        </p:nvSpPr>
        <p:spPr>
          <a:xfrm>
            <a:off x="548640" y="1645920"/>
            <a:ext cx="11064240" cy="548640"/>
          </a:xfrm>
          <a:prstGeom prst="rect">
            <a:avLst/>
          </a:prstGeom>
          <a:noFill/>
          <a:ln/>
        </p:spPr>
        <p:txBody>
          <a:bodyPr wrap="square" rtlCol="0" anchor="t"/>
          <a:lstStyle/>
          <a:p>
            <a:pPr indent="0" marL="0">
              <a:buNone/>
            </a:pPr>
            <a:r>
              <a:rPr lang="en-US" sz="1250" i="1" dirty="0">
                <a:solidFill>
                  <a:srgbClr val="2B2B33"/>
                </a:solidFill>
                <a:latin typeface="Calibri" pitchFamily="34" charset="0"/>
                <a:ea typeface="Calibri" pitchFamily="34" charset="-122"/>
                <a:cs typeface="Calibri" pitchFamily="34" charset="-120"/>
              </a:rPr>
              <a:t>Example: if the CEO grants the production head authority to independently select subordinates on a salary up to ₹1,00,000, that is delegation. If he grants the same authority to all departmental heads, that is decentralization.</a:t>
            </a:r>
            <a:endParaRPr lang="en-US" sz="1250" dirty="0"/>
          </a:p>
        </p:txBody>
      </p:sp>
      <p:sp>
        <p:nvSpPr>
          <p:cNvPr id="5" name="Shape 3"/>
          <p:cNvSpPr/>
          <p:nvPr/>
        </p:nvSpPr>
        <p:spPr>
          <a:xfrm>
            <a:off x="5440680" y="2377440"/>
            <a:ext cx="1280160" cy="365760"/>
          </a:xfrm>
          <a:prstGeom prst="roundRect">
            <a:avLst>
              <a:gd name="adj" fmla="val 12500"/>
            </a:avLst>
          </a:prstGeom>
          <a:solidFill>
            <a:srgbClr val="1E2761"/>
          </a:solidFill>
          <a:ln/>
        </p:spPr>
      </p:sp>
      <p:sp>
        <p:nvSpPr>
          <p:cNvPr id="6" name="Text 4"/>
          <p:cNvSpPr/>
          <p:nvPr/>
        </p:nvSpPr>
        <p:spPr>
          <a:xfrm>
            <a:off x="5440680" y="2377440"/>
            <a:ext cx="1280160" cy="365760"/>
          </a:xfrm>
          <a:prstGeom prst="rect">
            <a:avLst/>
          </a:prstGeom>
          <a:noFill/>
          <a:ln/>
        </p:spPr>
        <p:txBody>
          <a:bodyPr wrap="square"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President</a:t>
            </a:r>
            <a:endParaRPr lang="en-US" sz="1000" dirty="0"/>
          </a:p>
        </p:txBody>
      </p:sp>
      <p:sp>
        <p:nvSpPr>
          <p:cNvPr id="7" name="Shape 5"/>
          <p:cNvSpPr/>
          <p:nvPr/>
        </p:nvSpPr>
        <p:spPr>
          <a:xfrm>
            <a:off x="6080760" y="2743200"/>
            <a:ext cx="0" cy="164592"/>
          </a:xfrm>
          <a:prstGeom prst="line">
            <a:avLst/>
          </a:prstGeom>
          <a:noFill/>
          <a:ln w="15875">
            <a:solidFill>
              <a:srgbClr val="1E2761"/>
            </a:solidFill>
            <a:prstDash val="solid"/>
          </a:ln>
        </p:spPr>
      </p:sp>
      <p:sp>
        <p:nvSpPr>
          <p:cNvPr id="8" name="Shape 6"/>
          <p:cNvSpPr/>
          <p:nvPr/>
        </p:nvSpPr>
        <p:spPr>
          <a:xfrm>
            <a:off x="3703320" y="2907792"/>
            <a:ext cx="4754880" cy="0"/>
          </a:xfrm>
          <a:prstGeom prst="line">
            <a:avLst/>
          </a:prstGeom>
          <a:noFill/>
          <a:ln w="15875">
            <a:solidFill>
              <a:srgbClr val="1E2761"/>
            </a:solidFill>
            <a:prstDash val="solid"/>
          </a:ln>
        </p:spPr>
      </p:sp>
      <p:sp>
        <p:nvSpPr>
          <p:cNvPr id="9" name="Shape 7"/>
          <p:cNvSpPr/>
          <p:nvPr/>
        </p:nvSpPr>
        <p:spPr>
          <a:xfrm>
            <a:off x="3703320" y="2907792"/>
            <a:ext cx="0" cy="137160"/>
          </a:xfrm>
          <a:prstGeom prst="line">
            <a:avLst/>
          </a:prstGeom>
          <a:noFill/>
          <a:ln w="12700">
            <a:solidFill>
              <a:srgbClr val="1E2761"/>
            </a:solidFill>
            <a:prstDash val="solid"/>
          </a:ln>
        </p:spPr>
      </p:sp>
      <p:sp>
        <p:nvSpPr>
          <p:cNvPr id="10" name="Shape 8"/>
          <p:cNvSpPr/>
          <p:nvPr/>
        </p:nvSpPr>
        <p:spPr>
          <a:xfrm>
            <a:off x="3017520" y="3044952"/>
            <a:ext cx="1371600" cy="347472"/>
          </a:xfrm>
          <a:prstGeom prst="roundRect">
            <a:avLst>
              <a:gd name="adj" fmla="val 13158"/>
            </a:avLst>
          </a:prstGeom>
          <a:solidFill>
            <a:srgbClr val="3A4A8C"/>
          </a:solidFill>
          <a:ln/>
        </p:spPr>
      </p:sp>
      <p:sp>
        <p:nvSpPr>
          <p:cNvPr id="11" name="Text 9"/>
          <p:cNvSpPr/>
          <p:nvPr/>
        </p:nvSpPr>
        <p:spPr>
          <a:xfrm>
            <a:off x="3017520" y="3044952"/>
            <a:ext cx="13716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VP Sales</a:t>
            </a:r>
            <a:endParaRPr lang="en-US" sz="900" dirty="0"/>
          </a:p>
        </p:txBody>
      </p:sp>
      <p:sp>
        <p:nvSpPr>
          <p:cNvPr id="12" name="Shape 10"/>
          <p:cNvSpPr/>
          <p:nvPr/>
        </p:nvSpPr>
        <p:spPr>
          <a:xfrm>
            <a:off x="6080760" y="2907792"/>
            <a:ext cx="0" cy="137160"/>
          </a:xfrm>
          <a:prstGeom prst="line">
            <a:avLst/>
          </a:prstGeom>
          <a:noFill/>
          <a:ln w="12700">
            <a:solidFill>
              <a:srgbClr val="1E2761"/>
            </a:solidFill>
            <a:prstDash val="solid"/>
          </a:ln>
        </p:spPr>
      </p:sp>
      <p:sp>
        <p:nvSpPr>
          <p:cNvPr id="13" name="Shape 11"/>
          <p:cNvSpPr/>
          <p:nvPr/>
        </p:nvSpPr>
        <p:spPr>
          <a:xfrm>
            <a:off x="5394960" y="3044952"/>
            <a:ext cx="1371600" cy="347472"/>
          </a:xfrm>
          <a:prstGeom prst="roundRect">
            <a:avLst>
              <a:gd name="adj" fmla="val 13158"/>
            </a:avLst>
          </a:prstGeom>
          <a:solidFill>
            <a:srgbClr val="3A4A8C"/>
          </a:solidFill>
          <a:ln/>
        </p:spPr>
      </p:sp>
      <p:sp>
        <p:nvSpPr>
          <p:cNvPr id="14" name="Text 12"/>
          <p:cNvSpPr/>
          <p:nvPr/>
        </p:nvSpPr>
        <p:spPr>
          <a:xfrm>
            <a:off x="5394960" y="3044952"/>
            <a:ext cx="13716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VP Production</a:t>
            </a:r>
            <a:endParaRPr lang="en-US" sz="900" dirty="0"/>
          </a:p>
        </p:txBody>
      </p:sp>
      <p:sp>
        <p:nvSpPr>
          <p:cNvPr id="15" name="Shape 13"/>
          <p:cNvSpPr/>
          <p:nvPr/>
        </p:nvSpPr>
        <p:spPr>
          <a:xfrm>
            <a:off x="8458200" y="2907792"/>
            <a:ext cx="0" cy="137160"/>
          </a:xfrm>
          <a:prstGeom prst="line">
            <a:avLst/>
          </a:prstGeom>
          <a:noFill/>
          <a:ln w="12700">
            <a:solidFill>
              <a:srgbClr val="1E2761"/>
            </a:solidFill>
            <a:prstDash val="solid"/>
          </a:ln>
        </p:spPr>
      </p:sp>
      <p:sp>
        <p:nvSpPr>
          <p:cNvPr id="16" name="Shape 14"/>
          <p:cNvSpPr/>
          <p:nvPr/>
        </p:nvSpPr>
        <p:spPr>
          <a:xfrm>
            <a:off x="7772400" y="3044952"/>
            <a:ext cx="1371600" cy="347472"/>
          </a:xfrm>
          <a:prstGeom prst="roundRect">
            <a:avLst>
              <a:gd name="adj" fmla="val 13158"/>
            </a:avLst>
          </a:prstGeom>
          <a:solidFill>
            <a:srgbClr val="3A4A8C"/>
          </a:solidFill>
          <a:ln/>
        </p:spPr>
      </p:sp>
      <p:sp>
        <p:nvSpPr>
          <p:cNvPr id="17" name="Text 15"/>
          <p:cNvSpPr/>
          <p:nvPr/>
        </p:nvSpPr>
        <p:spPr>
          <a:xfrm>
            <a:off x="7772400" y="3044952"/>
            <a:ext cx="1371600"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VP Finance</a:t>
            </a:r>
            <a:endParaRPr lang="en-US" sz="900" dirty="0"/>
          </a:p>
        </p:txBody>
      </p:sp>
      <p:sp>
        <p:nvSpPr>
          <p:cNvPr id="18" name="Shape 16"/>
          <p:cNvSpPr/>
          <p:nvPr/>
        </p:nvSpPr>
        <p:spPr>
          <a:xfrm>
            <a:off x="6080760" y="3392424"/>
            <a:ext cx="0" cy="137160"/>
          </a:xfrm>
          <a:prstGeom prst="line">
            <a:avLst/>
          </a:prstGeom>
          <a:noFill/>
          <a:ln w="12700">
            <a:solidFill>
              <a:srgbClr val="1E2761"/>
            </a:solidFill>
            <a:prstDash val="solid"/>
          </a:ln>
        </p:spPr>
      </p:sp>
      <p:sp>
        <p:nvSpPr>
          <p:cNvPr id="19" name="Shape 17"/>
          <p:cNvSpPr/>
          <p:nvPr/>
        </p:nvSpPr>
        <p:spPr>
          <a:xfrm>
            <a:off x="5166360" y="3529584"/>
            <a:ext cx="1828800" cy="0"/>
          </a:xfrm>
          <a:prstGeom prst="line">
            <a:avLst/>
          </a:prstGeom>
          <a:noFill/>
          <a:ln w="12700">
            <a:solidFill>
              <a:srgbClr val="1E2761"/>
            </a:solidFill>
            <a:prstDash val="solid"/>
          </a:ln>
        </p:spPr>
      </p:sp>
      <p:sp>
        <p:nvSpPr>
          <p:cNvPr id="20" name="Shape 18"/>
          <p:cNvSpPr/>
          <p:nvPr/>
        </p:nvSpPr>
        <p:spPr>
          <a:xfrm>
            <a:off x="5166360" y="3529584"/>
            <a:ext cx="0" cy="109728"/>
          </a:xfrm>
          <a:prstGeom prst="line">
            <a:avLst/>
          </a:prstGeom>
          <a:noFill/>
          <a:ln w="9525">
            <a:solidFill>
              <a:srgbClr val="1E2761"/>
            </a:solidFill>
            <a:prstDash val="solid"/>
          </a:ln>
        </p:spPr>
      </p:sp>
      <p:sp>
        <p:nvSpPr>
          <p:cNvPr id="21" name="Shape 19"/>
          <p:cNvSpPr/>
          <p:nvPr/>
        </p:nvSpPr>
        <p:spPr>
          <a:xfrm>
            <a:off x="4572000" y="3639312"/>
            <a:ext cx="1188720" cy="292608"/>
          </a:xfrm>
          <a:prstGeom prst="rect">
            <a:avLst/>
          </a:prstGeom>
          <a:solidFill>
            <a:srgbClr val="EEF3FC"/>
          </a:solidFill>
          <a:ln w="6350">
            <a:solidFill>
              <a:srgbClr val="3A4A8C"/>
            </a:solidFill>
            <a:prstDash val="solid"/>
          </a:ln>
        </p:spPr>
      </p:sp>
      <p:sp>
        <p:nvSpPr>
          <p:cNvPr id="22" name="Text 20"/>
          <p:cNvSpPr/>
          <p:nvPr/>
        </p:nvSpPr>
        <p:spPr>
          <a:xfrm>
            <a:off x="4572000" y="3639312"/>
            <a:ext cx="1188720" cy="292608"/>
          </a:xfrm>
          <a:prstGeom prst="rect">
            <a:avLst/>
          </a:prstGeom>
          <a:noFill/>
          <a:ln/>
        </p:spPr>
        <p:txBody>
          <a:bodyPr wrap="square" rtlCol="0" anchor="ctr"/>
          <a:lstStyle/>
          <a:p>
            <a:pPr algn="ctr" indent="0" marL="0">
              <a:buNone/>
            </a:pPr>
            <a:r>
              <a:rPr lang="en-US" sz="700" dirty="0">
                <a:solidFill>
                  <a:srgbClr val="1E2761"/>
                </a:solidFill>
                <a:latin typeface="Calibri" pitchFamily="34" charset="0"/>
                <a:ea typeface="Calibri" pitchFamily="34" charset="-122"/>
                <a:cs typeface="Calibri" pitchFamily="34" charset="-120"/>
              </a:rPr>
              <a:t>Purchasing/Research/Engg.</a:t>
            </a:r>
            <a:endParaRPr lang="en-US" sz="700" dirty="0"/>
          </a:p>
        </p:txBody>
      </p:sp>
      <p:sp>
        <p:nvSpPr>
          <p:cNvPr id="23" name="Shape 21"/>
          <p:cNvSpPr/>
          <p:nvPr/>
        </p:nvSpPr>
        <p:spPr>
          <a:xfrm>
            <a:off x="6995160" y="3529584"/>
            <a:ext cx="0" cy="109728"/>
          </a:xfrm>
          <a:prstGeom prst="line">
            <a:avLst/>
          </a:prstGeom>
          <a:noFill/>
          <a:ln w="9525">
            <a:solidFill>
              <a:srgbClr val="1E2761"/>
            </a:solidFill>
            <a:prstDash val="solid"/>
          </a:ln>
        </p:spPr>
      </p:sp>
      <p:sp>
        <p:nvSpPr>
          <p:cNvPr id="24" name="Shape 22"/>
          <p:cNvSpPr/>
          <p:nvPr/>
        </p:nvSpPr>
        <p:spPr>
          <a:xfrm>
            <a:off x="6400800" y="3639312"/>
            <a:ext cx="1188720" cy="292608"/>
          </a:xfrm>
          <a:prstGeom prst="rect">
            <a:avLst/>
          </a:prstGeom>
          <a:solidFill>
            <a:srgbClr val="EEF3FC"/>
          </a:solidFill>
          <a:ln w="6350">
            <a:solidFill>
              <a:srgbClr val="3A4A8C"/>
            </a:solidFill>
            <a:prstDash val="solid"/>
          </a:ln>
        </p:spPr>
      </p:sp>
      <p:sp>
        <p:nvSpPr>
          <p:cNvPr id="25" name="Text 23"/>
          <p:cNvSpPr/>
          <p:nvPr/>
        </p:nvSpPr>
        <p:spPr>
          <a:xfrm>
            <a:off x="6400800" y="3639312"/>
            <a:ext cx="1188720" cy="292608"/>
          </a:xfrm>
          <a:prstGeom prst="rect">
            <a:avLst/>
          </a:prstGeom>
          <a:noFill/>
          <a:ln/>
        </p:spPr>
        <p:txBody>
          <a:bodyPr wrap="square" rtlCol="0" anchor="ctr"/>
          <a:lstStyle/>
          <a:p>
            <a:pPr algn="ctr" indent="0" marL="0">
              <a:buNone/>
            </a:pPr>
            <a:r>
              <a:rPr lang="en-US" sz="700" dirty="0">
                <a:solidFill>
                  <a:srgbClr val="1E2761"/>
                </a:solidFill>
                <a:latin typeface="Calibri" pitchFamily="34" charset="0"/>
                <a:ea typeface="Calibri" pitchFamily="34" charset="-122"/>
                <a:cs typeface="Calibri" pitchFamily="34" charset="-120"/>
              </a:rPr>
              <a:t>Cost/Standards/PR</a:t>
            </a:r>
            <a:endParaRPr lang="en-US" sz="700" dirty="0"/>
          </a:p>
        </p:txBody>
      </p:sp>
      <p:sp>
        <p:nvSpPr>
          <p:cNvPr id="26" name="Shape 24"/>
          <p:cNvSpPr/>
          <p:nvPr/>
        </p:nvSpPr>
        <p:spPr>
          <a:xfrm>
            <a:off x="6080760" y="3931920"/>
            <a:ext cx="0" cy="137160"/>
          </a:xfrm>
          <a:prstGeom prst="line">
            <a:avLst/>
          </a:prstGeom>
          <a:noFill/>
          <a:ln w="12700">
            <a:solidFill>
              <a:srgbClr val="1E2761"/>
            </a:solidFill>
            <a:prstDash val="solid"/>
          </a:ln>
        </p:spPr>
      </p:sp>
      <p:sp>
        <p:nvSpPr>
          <p:cNvPr id="27" name="Shape 25"/>
          <p:cNvSpPr/>
          <p:nvPr/>
        </p:nvSpPr>
        <p:spPr>
          <a:xfrm>
            <a:off x="4343400" y="4069080"/>
            <a:ext cx="3474720" cy="0"/>
          </a:xfrm>
          <a:prstGeom prst="line">
            <a:avLst/>
          </a:prstGeom>
          <a:noFill/>
          <a:ln w="12700">
            <a:solidFill>
              <a:srgbClr val="1E2761"/>
            </a:solidFill>
            <a:prstDash val="solid"/>
          </a:ln>
        </p:spPr>
      </p:sp>
      <p:sp>
        <p:nvSpPr>
          <p:cNvPr id="28" name="Shape 26"/>
          <p:cNvSpPr/>
          <p:nvPr/>
        </p:nvSpPr>
        <p:spPr>
          <a:xfrm>
            <a:off x="4343400" y="4069080"/>
            <a:ext cx="0" cy="109728"/>
          </a:xfrm>
          <a:prstGeom prst="line">
            <a:avLst/>
          </a:prstGeom>
          <a:noFill/>
          <a:ln w="9525">
            <a:solidFill>
              <a:srgbClr val="1E2761"/>
            </a:solidFill>
            <a:prstDash val="solid"/>
          </a:ln>
        </p:spPr>
      </p:sp>
      <p:sp>
        <p:nvSpPr>
          <p:cNvPr id="29" name="Shape 27"/>
          <p:cNvSpPr/>
          <p:nvPr/>
        </p:nvSpPr>
        <p:spPr>
          <a:xfrm>
            <a:off x="3840480" y="4178808"/>
            <a:ext cx="1005840" cy="274320"/>
          </a:xfrm>
          <a:prstGeom prst="rect">
            <a:avLst/>
          </a:prstGeom>
          <a:solidFill>
            <a:srgbClr val="5E71B8"/>
          </a:solidFill>
          <a:ln/>
        </p:spPr>
      </p:sp>
      <p:sp>
        <p:nvSpPr>
          <p:cNvPr id="30" name="Text 28"/>
          <p:cNvSpPr/>
          <p:nvPr/>
        </p:nvSpPr>
        <p:spPr>
          <a:xfrm>
            <a:off x="3840480" y="4178808"/>
            <a:ext cx="10058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Plant 1</a:t>
            </a:r>
            <a:endParaRPr lang="en-US" sz="800" dirty="0"/>
          </a:p>
        </p:txBody>
      </p:sp>
      <p:sp>
        <p:nvSpPr>
          <p:cNvPr id="31" name="Shape 29"/>
          <p:cNvSpPr/>
          <p:nvPr/>
        </p:nvSpPr>
        <p:spPr>
          <a:xfrm>
            <a:off x="4343400" y="4453128"/>
            <a:ext cx="0" cy="91440"/>
          </a:xfrm>
          <a:prstGeom prst="line">
            <a:avLst/>
          </a:prstGeom>
          <a:noFill/>
          <a:ln w="6350">
            <a:solidFill>
              <a:srgbClr val="1E2761"/>
            </a:solidFill>
            <a:prstDash val="solid"/>
          </a:ln>
        </p:spPr>
      </p:sp>
      <p:sp>
        <p:nvSpPr>
          <p:cNvPr id="32" name="Shape 30"/>
          <p:cNvSpPr/>
          <p:nvPr/>
        </p:nvSpPr>
        <p:spPr>
          <a:xfrm>
            <a:off x="3886200" y="4544568"/>
            <a:ext cx="914400" cy="228600"/>
          </a:xfrm>
          <a:prstGeom prst="rect">
            <a:avLst/>
          </a:prstGeom>
          <a:solidFill>
            <a:srgbClr val="EEF3FC"/>
          </a:solidFill>
          <a:ln w="5080">
            <a:solidFill>
              <a:srgbClr val="3A4A8C"/>
            </a:solidFill>
            <a:prstDash val="solid"/>
          </a:ln>
        </p:spPr>
      </p:sp>
      <p:sp>
        <p:nvSpPr>
          <p:cNvPr id="33" name="Text 31"/>
          <p:cNvSpPr/>
          <p:nvPr/>
        </p:nvSpPr>
        <p:spPr>
          <a:xfrm>
            <a:off x="3886200" y="4544568"/>
            <a:ext cx="914400" cy="228600"/>
          </a:xfrm>
          <a:prstGeom prst="rect">
            <a:avLst/>
          </a:prstGeom>
          <a:noFill/>
          <a:ln/>
        </p:spPr>
        <p:txBody>
          <a:bodyPr wrap="square" rtlCol="0" anchor="ctr"/>
          <a:lstStyle/>
          <a:p>
            <a:pPr algn="ctr" indent="0" marL="0">
              <a:buNone/>
            </a:pPr>
            <a:r>
              <a:rPr lang="en-US" sz="650" dirty="0">
                <a:solidFill>
                  <a:srgbClr val="1E2761"/>
                </a:solidFill>
                <a:latin typeface="Calibri" pitchFamily="34" charset="0"/>
                <a:ea typeface="Calibri" pitchFamily="34" charset="-122"/>
                <a:cs typeface="Calibri" pitchFamily="34" charset="-120"/>
              </a:rPr>
              <a:t>Departments</a:t>
            </a:r>
            <a:endParaRPr lang="en-US" sz="650" dirty="0"/>
          </a:p>
        </p:txBody>
      </p:sp>
      <p:sp>
        <p:nvSpPr>
          <p:cNvPr id="34" name="Shape 32"/>
          <p:cNvSpPr/>
          <p:nvPr/>
        </p:nvSpPr>
        <p:spPr>
          <a:xfrm>
            <a:off x="5504688" y="4069080"/>
            <a:ext cx="0" cy="109728"/>
          </a:xfrm>
          <a:prstGeom prst="line">
            <a:avLst/>
          </a:prstGeom>
          <a:noFill/>
          <a:ln w="9525">
            <a:solidFill>
              <a:srgbClr val="1E2761"/>
            </a:solidFill>
            <a:prstDash val="solid"/>
          </a:ln>
        </p:spPr>
      </p:sp>
      <p:sp>
        <p:nvSpPr>
          <p:cNvPr id="35" name="Shape 33"/>
          <p:cNvSpPr/>
          <p:nvPr/>
        </p:nvSpPr>
        <p:spPr>
          <a:xfrm>
            <a:off x="5001768" y="4178808"/>
            <a:ext cx="1005840" cy="274320"/>
          </a:xfrm>
          <a:prstGeom prst="rect">
            <a:avLst/>
          </a:prstGeom>
          <a:solidFill>
            <a:srgbClr val="5E71B8"/>
          </a:solidFill>
          <a:ln/>
        </p:spPr>
      </p:sp>
      <p:sp>
        <p:nvSpPr>
          <p:cNvPr id="36" name="Text 34"/>
          <p:cNvSpPr/>
          <p:nvPr/>
        </p:nvSpPr>
        <p:spPr>
          <a:xfrm>
            <a:off x="5001768" y="4178808"/>
            <a:ext cx="10058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Plant 2</a:t>
            </a:r>
            <a:endParaRPr lang="en-US" sz="800" dirty="0"/>
          </a:p>
        </p:txBody>
      </p:sp>
      <p:sp>
        <p:nvSpPr>
          <p:cNvPr id="37" name="Shape 35"/>
          <p:cNvSpPr/>
          <p:nvPr/>
        </p:nvSpPr>
        <p:spPr>
          <a:xfrm>
            <a:off x="5504688" y="4453128"/>
            <a:ext cx="0" cy="91440"/>
          </a:xfrm>
          <a:prstGeom prst="line">
            <a:avLst/>
          </a:prstGeom>
          <a:noFill/>
          <a:ln w="6350">
            <a:solidFill>
              <a:srgbClr val="1E2761"/>
            </a:solidFill>
            <a:prstDash val="solid"/>
          </a:ln>
        </p:spPr>
      </p:sp>
      <p:sp>
        <p:nvSpPr>
          <p:cNvPr id="38" name="Shape 36"/>
          <p:cNvSpPr/>
          <p:nvPr/>
        </p:nvSpPr>
        <p:spPr>
          <a:xfrm>
            <a:off x="5047488" y="4544568"/>
            <a:ext cx="914400" cy="228600"/>
          </a:xfrm>
          <a:prstGeom prst="rect">
            <a:avLst/>
          </a:prstGeom>
          <a:solidFill>
            <a:srgbClr val="EEF3FC"/>
          </a:solidFill>
          <a:ln w="5080">
            <a:solidFill>
              <a:srgbClr val="3A4A8C"/>
            </a:solidFill>
            <a:prstDash val="solid"/>
          </a:ln>
        </p:spPr>
      </p:sp>
      <p:sp>
        <p:nvSpPr>
          <p:cNvPr id="39" name="Text 37"/>
          <p:cNvSpPr/>
          <p:nvPr/>
        </p:nvSpPr>
        <p:spPr>
          <a:xfrm>
            <a:off x="5047488" y="4544568"/>
            <a:ext cx="914400" cy="228600"/>
          </a:xfrm>
          <a:prstGeom prst="rect">
            <a:avLst/>
          </a:prstGeom>
          <a:noFill/>
          <a:ln/>
        </p:spPr>
        <p:txBody>
          <a:bodyPr wrap="square" rtlCol="0" anchor="ctr"/>
          <a:lstStyle/>
          <a:p>
            <a:pPr algn="ctr" indent="0" marL="0">
              <a:buNone/>
            </a:pPr>
            <a:r>
              <a:rPr lang="en-US" sz="650" dirty="0">
                <a:solidFill>
                  <a:srgbClr val="1E2761"/>
                </a:solidFill>
                <a:latin typeface="Calibri" pitchFamily="34" charset="0"/>
                <a:ea typeface="Calibri" pitchFamily="34" charset="-122"/>
                <a:cs typeface="Calibri" pitchFamily="34" charset="-120"/>
              </a:rPr>
              <a:t>Departments</a:t>
            </a:r>
            <a:endParaRPr lang="en-US" sz="650" dirty="0"/>
          </a:p>
        </p:txBody>
      </p:sp>
      <p:sp>
        <p:nvSpPr>
          <p:cNvPr id="40" name="Shape 38"/>
          <p:cNvSpPr/>
          <p:nvPr/>
        </p:nvSpPr>
        <p:spPr>
          <a:xfrm>
            <a:off x="6665976" y="4069080"/>
            <a:ext cx="0" cy="109728"/>
          </a:xfrm>
          <a:prstGeom prst="line">
            <a:avLst/>
          </a:prstGeom>
          <a:noFill/>
          <a:ln w="9525">
            <a:solidFill>
              <a:srgbClr val="1E2761"/>
            </a:solidFill>
            <a:prstDash val="solid"/>
          </a:ln>
        </p:spPr>
      </p:sp>
      <p:sp>
        <p:nvSpPr>
          <p:cNvPr id="41" name="Shape 39"/>
          <p:cNvSpPr/>
          <p:nvPr/>
        </p:nvSpPr>
        <p:spPr>
          <a:xfrm>
            <a:off x="6163056" y="4178808"/>
            <a:ext cx="1005840" cy="274320"/>
          </a:xfrm>
          <a:prstGeom prst="rect">
            <a:avLst/>
          </a:prstGeom>
          <a:solidFill>
            <a:srgbClr val="5E71B8"/>
          </a:solidFill>
          <a:ln/>
        </p:spPr>
      </p:sp>
      <p:sp>
        <p:nvSpPr>
          <p:cNvPr id="42" name="Text 40"/>
          <p:cNvSpPr/>
          <p:nvPr/>
        </p:nvSpPr>
        <p:spPr>
          <a:xfrm>
            <a:off x="6163056" y="4178808"/>
            <a:ext cx="10058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Plant 3</a:t>
            </a:r>
            <a:endParaRPr lang="en-US" sz="800" dirty="0"/>
          </a:p>
        </p:txBody>
      </p:sp>
      <p:sp>
        <p:nvSpPr>
          <p:cNvPr id="43" name="Shape 41"/>
          <p:cNvSpPr/>
          <p:nvPr/>
        </p:nvSpPr>
        <p:spPr>
          <a:xfrm>
            <a:off x="6665976" y="4453128"/>
            <a:ext cx="0" cy="91440"/>
          </a:xfrm>
          <a:prstGeom prst="line">
            <a:avLst/>
          </a:prstGeom>
          <a:noFill/>
          <a:ln w="6350">
            <a:solidFill>
              <a:srgbClr val="1E2761"/>
            </a:solidFill>
            <a:prstDash val="solid"/>
          </a:ln>
        </p:spPr>
      </p:sp>
      <p:sp>
        <p:nvSpPr>
          <p:cNvPr id="44" name="Shape 42"/>
          <p:cNvSpPr/>
          <p:nvPr/>
        </p:nvSpPr>
        <p:spPr>
          <a:xfrm>
            <a:off x="6208776" y="4544568"/>
            <a:ext cx="914400" cy="228600"/>
          </a:xfrm>
          <a:prstGeom prst="rect">
            <a:avLst/>
          </a:prstGeom>
          <a:solidFill>
            <a:srgbClr val="EEF3FC"/>
          </a:solidFill>
          <a:ln w="5080">
            <a:solidFill>
              <a:srgbClr val="3A4A8C"/>
            </a:solidFill>
            <a:prstDash val="solid"/>
          </a:ln>
        </p:spPr>
      </p:sp>
      <p:sp>
        <p:nvSpPr>
          <p:cNvPr id="45" name="Text 43"/>
          <p:cNvSpPr/>
          <p:nvPr/>
        </p:nvSpPr>
        <p:spPr>
          <a:xfrm>
            <a:off x="6208776" y="4544568"/>
            <a:ext cx="914400" cy="228600"/>
          </a:xfrm>
          <a:prstGeom prst="rect">
            <a:avLst/>
          </a:prstGeom>
          <a:noFill/>
          <a:ln/>
        </p:spPr>
        <p:txBody>
          <a:bodyPr wrap="square" rtlCol="0" anchor="ctr"/>
          <a:lstStyle/>
          <a:p>
            <a:pPr algn="ctr" indent="0" marL="0">
              <a:buNone/>
            </a:pPr>
            <a:r>
              <a:rPr lang="en-US" sz="650" dirty="0">
                <a:solidFill>
                  <a:srgbClr val="1E2761"/>
                </a:solidFill>
                <a:latin typeface="Calibri" pitchFamily="34" charset="0"/>
                <a:ea typeface="Calibri" pitchFamily="34" charset="-122"/>
                <a:cs typeface="Calibri" pitchFamily="34" charset="-120"/>
              </a:rPr>
              <a:t>Departments</a:t>
            </a:r>
            <a:endParaRPr lang="en-US" sz="650" dirty="0"/>
          </a:p>
        </p:txBody>
      </p:sp>
      <p:sp>
        <p:nvSpPr>
          <p:cNvPr id="46" name="Shape 44"/>
          <p:cNvSpPr/>
          <p:nvPr/>
        </p:nvSpPr>
        <p:spPr>
          <a:xfrm>
            <a:off x="7827264" y="4069080"/>
            <a:ext cx="0" cy="109728"/>
          </a:xfrm>
          <a:prstGeom prst="line">
            <a:avLst/>
          </a:prstGeom>
          <a:noFill/>
          <a:ln w="9525">
            <a:solidFill>
              <a:srgbClr val="1E2761"/>
            </a:solidFill>
            <a:prstDash val="solid"/>
          </a:ln>
        </p:spPr>
      </p:sp>
      <p:sp>
        <p:nvSpPr>
          <p:cNvPr id="47" name="Shape 45"/>
          <p:cNvSpPr/>
          <p:nvPr/>
        </p:nvSpPr>
        <p:spPr>
          <a:xfrm>
            <a:off x="7324344" y="4178808"/>
            <a:ext cx="1005840" cy="274320"/>
          </a:xfrm>
          <a:prstGeom prst="rect">
            <a:avLst/>
          </a:prstGeom>
          <a:solidFill>
            <a:srgbClr val="5E71B8"/>
          </a:solidFill>
          <a:ln/>
        </p:spPr>
      </p:sp>
      <p:sp>
        <p:nvSpPr>
          <p:cNvPr id="48" name="Text 46"/>
          <p:cNvSpPr/>
          <p:nvPr/>
        </p:nvSpPr>
        <p:spPr>
          <a:xfrm>
            <a:off x="7324344" y="4178808"/>
            <a:ext cx="100584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Plant 4</a:t>
            </a:r>
            <a:endParaRPr lang="en-US" sz="800" dirty="0"/>
          </a:p>
        </p:txBody>
      </p:sp>
      <p:sp>
        <p:nvSpPr>
          <p:cNvPr id="49" name="Shape 47"/>
          <p:cNvSpPr/>
          <p:nvPr/>
        </p:nvSpPr>
        <p:spPr>
          <a:xfrm>
            <a:off x="7827264" y="4453128"/>
            <a:ext cx="0" cy="91440"/>
          </a:xfrm>
          <a:prstGeom prst="line">
            <a:avLst/>
          </a:prstGeom>
          <a:noFill/>
          <a:ln w="6350">
            <a:solidFill>
              <a:srgbClr val="1E2761"/>
            </a:solidFill>
            <a:prstDash val="solid"/>
          </a:ln>
        </p:spPr>
      </p:sp>
      <p:sp>
        <p:nvSpPr>
          <p:cNvPr id="50" name="Shape 48"/>
          <p:cNvSpPr/>
          <p:nvPr/>
        </p:nvSpPr>
        <p:spPr>
          <a:xfrm>
            <a:off x="7370064" y="4544568"/>
            <a:ext cx="914400" cy="228600"/>
          </a:xfrm>
          <a:prstGeom prst="rect">
            <a:avLst/>
          </a:prstGeom>
          <a:solidFill>
            <a:srgbClr val="EEF3FC"/>
          </a:solidFill>
          <a:ln w="5080">
            <a:solidFill>
              <a:srgbClr val="3A4A8C"/>
            </a:solidFill>
            <a:prstDash val="solid"/>
          </a:ln>
        </p:spPr>
      </p:sp>
      <p:sp>
        <p:nvSpPr>
          <p:cNvPr id="51" name="Text 49"/>
          <p:cNvSpPr/>
          <p:nvPr/>
        </p:nvSpPr>
        <p:spPr>
          <a:xfrm>
            <a:off x="7370064" y="4544568"/>
            <a:ext cx="914400" cy="228600"/>
          </a:xfrm>
          <a:prstGeom prst="rect">
            <a:avLst/>
          </a:prstGeom>
          <a:noFill/>
          <a:ln/>
        </p:spPr>
        <p:txBody>
          <a:bodyPr wrap="square" rtlCol="0" anchor="ctr"/>
          <a:lstStyle/>
          <a:p>
            <a:pPr algn="ctr" indent="0" marL="0">
              <a:buNone/>
            </a:pPr>
            <a:r>
              <a:rPr lang="en-US" sz="650" dirty="0">
                <a:solidFill>
                  <a:srgbClr val="1E2761"/>
                </a:solidFill>
                <a:latin typeface="Calibri" pitchFamily="34" charset="0"/>
                <a:ea typeface="Calibri" pitchFamily="34" charset="-122"/>
                <a:cs typeface="Calibri" pitchFamily="34" charset="-120"/>
              </a:rPr>
              <a:t>Departments</a:t>
            </a:r>
            <a:endParaRPr lang="en-US" sz="650" dirty="0"/>
          </a:p>
        </p:txBody>
      </p:sp>
      <p:sp>
        <p:nvSpPr>
          <p:cNvPr id="52" name="Text 50"/>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14.25 DECENTRALIZED STRUCTURE</a:t>
            </a:r>
            <a:endParaRPr lang="en-US" sz="1100" dirty="0"/>
          </a:p>
        </p:txBody>
      </p:sp>
      <p:sp>
        <p:nvSpPr>
          <p:cNvPr id="53" name="Text 51"/>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60</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14.25. FACTORS AFFECTING DEGREE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Growth, Philosophy &amp; Size</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Nature of Growth of Organization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Growth through internal expansion may retain the original structure longer. Growth via acquisition favors creating independent departments/divisions to benefit from acquired expertise, while retaining overall control.</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Philosophy of Promoters or Top Management</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If top management believes in uniformity and unified control, it opts for centralization. If it believes in granting freedom in decision-making to departments, it settles for decentralization.</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Effect of Size of Business Organization</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Decentralization may not be advisable for a small organization — a functional structure with centrally-controlled departments works better. Large organizations with many work-units benefit from separate divisions.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14.25. FACTORS AFFECTING DEGREE OF DECENTRALIZATION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61</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14.25. FACTORS AFFECTING DEGREE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(4)–(6) Diversification, Functions &amp; Competent Managers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Extent of Diversification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An organization producing a number of diverse products — like Tata's 'salt to software' range — cannot serve all of them well through functional departments alone; a separate department or division per product/service works better.</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Nature of Functions</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Greater decentralization suits basic functions like production, marketing and finance, encouraging efficiency. For staff functions like personnel recruitment or R&amp;D, centralization may produce better results.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Availability of Competent Managers</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Decentralization is only possible when middle-level managers are capable and experienced enough to make important decisions. Where such managers are scarce, centralization is more beneficial.</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14.25. FACTORS AFFECTING DEGREE OF DECENTRALIZATION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62</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14.26. EVALUATION — MERITS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(1)–(3) Relief, Motivation &amp; Relationships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Relief to Top Executives</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Enables top executives at the central unit to devote greater attention and effort to important issues, rather than keeping their hands full with routine problems.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Motivation of Subordinates</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Decentralization motivates initiative, a sense of responsibility, and acts as a morale booster — subordinates given matching authority feel morally bound to perform their tasks.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Growth of Intimate Inter-Personal Relationships</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Employees get the opportunity to develop close contacts with one another, improving communication and letting them benefit from each other's expertise and experience.</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14.26. EVALUATION — MERITS OF DECENTRALIZATION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63</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14.26. EVALUATION — MERITS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(4)–(5) Competition &amp; Effective Control</a:t>
            </a:r>
            <a:endParaRPr lang="en-US" sz="2700" dirty="0"/>
          </a:p>
        </p:txBody>
      </p:sp>
      <p:sp>
        <p:nvSpPr>
          <p:cNvPr id="4" name="Shape 2"/>
          <p:cNvSpPr/>
          <p:nvPr/>
        </p:nvSpPr>
        <p:spPr>
          <a:xfrm>
            <a:off x="548640" y="1645920"/>
            <a:ext cx="5468112" cy="4434840"/>
          </a:xfrm>
          <a:prstGeom prst="roundRect">
            <a:avLst>
              <a:gd name="adj" fmla="val 1856"/>
            </a:avLst>
          </a:prstGeom>
          <a:solidFill>
            <a:srgbClr val="EEF3FC"/>
          </a:solidFill>
          <a:ln/>
        </p:spPr>
      </p:sp>
      <p:sp>
        <p:nvSpPr>
          <p:cNvPr id="5" name="Shape 3"/>
          <p:cNvSpPr/>
          <p:nvPr/>
        </p:nvSpPr>
        <p:spPr>
          <a:xfrm>
            <a:off x="3017520"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3155412" y="1984980"/>
            <a:ext cx="254569" cy="254569"/>
          </a:xfrm>
          <a:prstGeom prst="rect">
            <a:avLst/>
          </a:prstGeom>
        </p:spPr>
      </p:pic>
      <p:sp>
        <p:nvSpPr>
          <p:cNvPr id="7" name="Text 4"/>
          <p:cNvSpPr/>
          <p:nvPr/>
        </p:nvSpPr>
        <p:spPr>
          <a:xfrm>
            <a:off x="548640"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8" name="Text 5"/>
          <p:cNvSpPr/>
          <p:nvPr/>
        </p:nvSpPr>
        <p:spPr>
          <a:xfrm>
            <a:off x="667512"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Spirit of Competition</a:t>
            </a:r>
            <a:endParaRPr lang="en-US" sz="1320" dirty="0"/>
          </a:p>
        </p:txBody>
      </p:sp>
      <p:sp>
        <p:nvSpPr>
          <p:cNvPr id="9" name="Text 6"/>
          <p:cNvSpPr/>
          <p:nvPr/>
        </p:nvSpPr>
        <p:spPr>
          <a:xfrm>
            <a:off x="694944"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Each department/division in a decentralized organization operates independently, measured by how efficiently it performs its assigned tasks — free to experiment with new ideas without fear of affecting other units.</a:t>
            </a:r>
            <a:endParaRPr lang="en-US" sz="1060" dirty="0"/>
          </a:p>
        </p:txBody>
      </p:sp>
      <p:sp>
        <p:nvSpPr>
          <p:cNvPr id="10" name="Shape 7"/>
          <p:cNvSpPr/>
          <p:nvPr/>
        </p:nvSpPr>
        <p:spPr>
          <a:xfrm>
            <a:off x="6144768" y="1645920"/>
            <a:ext cx="5468112" cy="4434840"/>
          </a:xfrm>
          <a:prstGeom prst="roundRect">
            <a:avLst>
              <a:gd name="adj" fmla="val 1856"/>
            </a:avLst>
          </a:prstGeom>
          <a:solidFill>
            <a:srgbClr val="EEF3FC"/>
          </a:solidFill>
          <a:ln/>
        </p:spPr>
      </p:sp>
      <p:sp>
        <p:nvSpPr>
          <p:cNvPr id="11" name="Shape 8"/>
          <p:cNvSpPr/>
          <p:nvPr/>
        </p:nvSpPr>
        <p:spPr>
          <a:xfrm>
            <a:off x="8613648"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8751540" y="1984980"/>
            <a:ext cx="254569" cy="254569"/>
          </a:xfrm>
          <a:prstGeom prst="rect">
            <a:avLst/>
          </a:prstGeom>
        </p:spPr>
      </p:pic>
      <p:sp>
        <p:nvSpPr>
          <p:cNvPr id="13" name="Text 9"/>
          <p:cNvSpPr/>
          <p:nvPr/>
        </p:nvSpPr>
        <p:spPr>
          <a:xfrm>
            <a:off x="6144768" y="2468880"/>
            <a:ext cx="5468112"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4" name="Text 10"/>
          <p:cNvSpPr/>
          <p:nvPr/>
        </p:nvSpPr>
        <p:spPr>
          <a:xfrm>
            <a:off x="6263640" y="2724912"/>
            <a:ext cx="5230368"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Effective Control</a:t>
            </a:r>
            <a:endParaRPr lang="en-US" sz="1320" dirty="0"/>
          </a:p>
        </p:txBody>
      </p:sp>
      <p:sp>
        <p:nvSpPr>
          <p:cNvPr id="15" name="Text 11"/>
          <p:cNvSpPr/>
          <p:nvPr/>
        </p:nvSpPr>
        <p:spPr>
          <a:xfrm>
            <a:off x="6291072" y="3291840"/>
            <a:ext cx="5175504"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Though each unit runs its own affairs, coordination is not adversely affected, because the yardstick for judging each unit's performance is simply its profitability and return on investment.</a:t>
            </a:r>
            <a:endParaRPr lang="en-US" sz="1060" dirty="0"/>
          </a:p>
        </p:txBody>
      </p:sp>
      <p:sp>
        <p:nvSpPr>
          <p:cNvPr id="16" name="Text 12"/>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14.26. EVALUATION — MERITS OF DECENTRALIZATION</a:t>
            </a:r>
            <a:endParaRPr lang="en-US" sz="1100" dirty="0"/>
          </a:p>
        </p:txBody>
      </p:sp>
      <p:sp>
        <p:nvSpPr>
          <p:cNvPr id="17" name="Text 13"/>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64</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14.27. EVALUATION — DEMERITS OF DECENTRALIZATION</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Key Drawbacks</a:t>
            </a:r>
            <a:endParaRPr lang="en-US" sz="2700" dirty="0"/>
          </a:p>
        </p:txBody>
      </p:sp>
      <p:sp>
        <p:nvSpPr>
          <p:cNvPr id="4" name="Shape 2"/>
          <p:cNvSpPr/>
          <p:nvPr/>
        </p:nvSpPr>
        <p:spPr>
          <a:xfrm>
            <a:off x="548640" y="1645920"/>
            <a:ext cx="3602736" cy="4434840"/>
          </a:xfrm>
          <a:prstGeom prst="roundRect">
            <a:avLst>
              <a:gd name="adj" fmla="val 2284"/>
            </a:avLst>
          </a:prstGeom>
          <a:solidFill>
            <a:srgbClr val="EEF3FC"/>
          </a:solidFill>
          <a:ln/>
        </p:spPr>
      </p:sp>
      <p:sp>
        <p:nvSpPr>
          <p:cNvPr id="5" name="Shape 3"/>
          <p:cNvSpPr/>
          <p:nvPr/>
        </p:nvSpPr>
        <p:spPr>
          <a:xfrm>
            <a:off x="2084832" y="1847088"/>
            <a:ext cx="530352" cy="530352"/>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2222724" y="1984980"/>
            <a:ext cx="254569" cy="254569"/>
          </a:xfrm>
          <a:prstGeom prst="rect">
            <a:avLst/>
          </a:prstGeom>
        </p:spPr>
      </p:pic>
      <p:sp>
        <p:nvSpPr>
          <p:cNvPr id="7" name="Text 4"/>
          <p:cNvSpPr/>
          <p:nvPr/>
        </p:nvSpPr>
        <p:spPr>
          <a:xfrm>
            <a:off x="548640"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67512"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Difficulty in Control &amp; Coordination</a:t>
            </a:r>
            <a:endParaRPr lang="en-US" sz="1320" dirty="0"/>
          </a:p>
        </p:txBody>
      </p:sp>
      <p:sp>
        <p:nvSpPr>
          <p:cNvPr id="9" name="Text 6"/>
          <p:cNvSpPr/>
          <p:nvPr/>
        </p:nvSpPr>
        <p:spPr>
          <a:xfrm>
            <a:off x="694944"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Each division or department has authority to formulate its own action plans within organizational policy — but the central unit still faces the problem of controlling and coordinating decentralized units.</a:t>
            </a:r>
            <a:endParaRPr lang="en-US" sz="1060" dirty="0"/>
          </a:p>
        </p:txBody>
      </p:sp>
      <p:sp>
        <p:nvSpPr>
          <p:cNvPr id="10" name="Shape 7"/>
          <p:cNvSpPr/>
          <p:nvPr/>
        </p:nvSpPr>
        <p:spPr>
          <a:xfrm>
            <a:off x="4279392" y="1645920"/>
            <a:ext cx="3602736" cy="4434840"/>
          </a:xfrm>
          <a:prstGeom prst="roundRect">
            <a:avLst>
              <a:gd name="adj" fmla="val 2284"/>
            </a:avLst>
          </a:prstGeom>
          <a:solidFill>
            <a:srgbClr val="EEF3FC"/>
          </a:solidFill>
          <a:ln/>
        </p:spPr>
      </p:sp>
      <p:sp>
        <p:nvSpPr>
          <p:cNvPr id="11" name="Shape 8"/>
          <p:cNvSpPr/>
          <p:nvPr/>
        </p:nvSpPr>
        <p:spPr>
          <a:xfrm>
            <a:off x="5815584" y="1847088"/>
            <a:ext cx="530352" cy="530352"/>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5953476" y="1984980"/>
            <a:ext cx="254569" cy="254569"/>
          </a:xfrm>
          <a:prstGeom prst="rect">
            <a:avLst/>
          </a:prstGeom>
        </p:spPr>
      </p:pic>
      <p:sp>
        <p:nvSpPr>
          <p:cNvPr id="13" name="Text 9"/>
          <p:cNvSpPr/>
          <p:nvPr/>
        </p:nvSpPr>
        <p:spPr>
          <a:xfrm>
            <a:off x="4279392"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4" name="Text 10"/>
          <p:cNvSpPr/>
          <p:nvPr/>
        </p:nvSpPr>
        <p:spPr>
          <a:xfrm>
            <a:off x="4398264"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Costly</a:t>
            </a:r>
            <a:endParaRPr lang="en-US" sz="1320" dirty="0"/>
          </a:p>
        </p:txBody>
      </p:sp>
      <p:sp>
        <p:nvSpPr>
          <p:cNvPr id="15" name="Text 11"/>
          <p:cNvSpPr/>
          <p:nvPr/>
        </p:nvSpPr>
        <p:spPr>
          <a:xfrm>
            <a:off x="4425696"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Only a large organization can bear the operating costs of a decentralized set-up, since each division needs to be self-sufficient — leading to duplication of functions and under-utilization of facilities at some units.</a:t>
            </a:r>
            <a:endParaRPr lang="en-US" sz="1060" dirty="0"/>
          </a:p>
        </p:txBody>
      </p:sp>
      <p:sp>
        <p:nvSpPr>
          <p:cNvPr id="16" name="Shape 12"/>
          <p:cNvSpPr/>
          <p:nvPr/>
        </p:nvSpPr>
        <p:spPr>
          <a:xfrm>
            <a:off x="8010144" y="1645920"/>
            <a:ext cx="3602736" cy="4434840"/>
          </a:xfrm>
          <a:prstGeom prst="roundRect">
            <a:avLst>
              <a:gd name="adj" fmla="val 2284"/>
            </a:avLst>
          </a:prstGeom>
          <a:solidFill>
            <a:srgbClr val="EEF3FC"/>
          </a:solidFill>
          <a:ln/>
        </p:spPr>
      </p:sp>
      <p:sp>
        <p:nvSpPr>
          <p:cNvPr id="17" name="Shape 13"/>
          <p:cNvSpPr/>
          <p:nvPr/>
        </p:nvSpPr>
        <p:spPr>
          <a:xfrm>
            <a:off x="9546336" y="1847088"/>
            <a:ext cx="530352" cy="530352"/>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684228" y="1984980"/>
            <a:ext cx="254569" cy="254569"/>
          </a:xfrm>
          <a:prstGeom prst="rect">
            <a:avLst/>
          </a:prstGeom>
        </p:spPr>
      </p:pic>
      <p:sp>
        <p:nvSpPr>
          <p:cNvPr id="19" name="Text 14"/>
          <p:cNvSpPr/>
          <p:nvPr/>
        </p:nvSpPr>
        <p:spPr>
          <a:xfrm>
            <a:off x="8010144" y="2468880"/>
            <a:ext cx="3602736" cy="256032"/>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20" name="Text 15"/>
          <p:cNvSpPr/>
          <p:nvPr/>
        </p:nvSpPr>
        <p:spPr>
          <a:xfrm>
            <a:off x="8129016" y="2724912"/>
            <a:ext cx="3364992" cy="457200"/>
          </a:xfrm>
          <a:prstGeom prst="rect">
            <a:avLst/>
          </a:prstGeom>
          <a:noFill/>
          <a:ln/>
        </p:spPr>
        <p:txBody>
          <a:bodyPr wrap="square" rtlCol="0" anchor="t"/>
          <a:lstStyle/>
          <a:p>
            <a:pPr algn="ctr" indent="0" marL="0">
              <a:buNone/>
            </a:pPr>
            <a:r>
              <a:rPr lang="en-US" sz="1320" b="1" dirty="0">
                <a:solidFill>
                  <a:srgbClr val="1E2761"/>
                </a:solidFill>
                <a:latin typeface="Cambria" pitchFamily="34" charset="0"/>
                <a:ea typeface="Cambria" pitchFamily="34" charset="-122"/>
                <a:cs typeface="Cambria" pitchFamily="34" charset="-120"/>
              </a:rPr>
              <a:t>Lack of Able Managers</a:t>
            </a:r>
            <a:endParaRPr lang="en-US" sz="1320" dirty="0"/>
          </a:p>
        </p:txBody>
      </p:sp>
      <p:sp>
        <p:nvSpPr>
          <p:cNvPr id="21" name="Text 16"/>
          <p:cNvSpPr/>
          <p:nvPr/>
        </p:nvSpPr>
        <p:spPr>
          <a:xfrm>
            <a:off x="8156448" y="3291840"/>
            <a:ext cx="3310128" cy="2697480"/>
          </a:xfrm>
          <a:prstGeom prst="rect">
            <a:avLst/>
          </a:prstGeom>
          <a:noFill/>
          <a:ln/>
        </p:spPr>
        <p:txBody>
          <a:bodyPr wrap="square" rtlCol="0" anchor="t"/>
          <a:lstStyle/>
          <a:p>
            <a:pPr algn="ctr" indent="0" marL="0">
              <a:buNone/>
            </a:pPr>
            <a:r>
              <a:rPr lang="en-US" sz="1060" dirty="0">
                <a:solidFill>
                  <a:srgbClr val="6B7280"/>
                </a:solidFill>
                <a:latin typeface="Calibri" pitchFamily="34" charset="0"/>
                <a:ea typeface="Calibri" pitchFamily="34" charset="-122"/>
                <a:cs typeface="Calibri" pitchFamily="34" charset="-120"/>
              </a:rPr>
              <a:t>Success of a decentralized organization depends on the leadership of individual units — but it may be difficult to find competent managers for all decentralized units.</a:t>
            </a:r>
            <a:endParaRPr lang="en-US" sz="1060" dirty="0"/>
          </a:p>
        </p:txBody>
      </p:sp>
      <p:sp>
        <p:nvSpPr>
          <p:cNvPr id="22" name="Text 1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14.27. EVALUATION — DEMERITS OF DECENTRALIZATION</a:t>
            </a:r>
            <a:endParaRPr lang="en-US" sz="1100" dirty="0"/>
          </a:p>
        </p:txBody>
      </p:sp>
      <p:sp>
        <p:nvSpPr>
          <p:cNvPr id="23" name="Text 1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65</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1</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1</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60082"/>
            <a:ext cx="384048" cy="384048"/>
          </a:xfrm>
          <a:prstGeom prst="ellipse">
            <a:avLst/>
          </a:prstGeom>
          <a:solidFill>
            <a:srgbClr val="1E2761"/>
          </a:solidFill>
          <a:ln/>
        </p:spPr>
      </p:sp>
      <p:sp>
        <p:nvSpPr>
          <p:cNvPr id="6" name="Text 4"/>
          <p:cNvSpPr/>
          <p:nvPr/>
        </p:nvSpPr>
        <p:spPr>
          <a:xfrm>
            <a:off x="548640" y="1960082"/>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097280" y="1828800"/>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two important elements or ingredients of organization.</a:t>
            </a:r>
            <a:endParaRPr lang="en-US" sz="1220" dirty="0"/>
          </a:p>
        </p:txBody>
      </p:sp>
      <p:sp>
        <p:nvSpPr>
          <p:cNvPr id="8" name="Shape 6"/>
          <p:cNvSpPr/>
          <p:nvPr/>
        </p:nvSpPr>
        <p:spPr>
          <a:xfrm>
            <a:off x="548640" y="2606693"/>
            <a:ext cx="384048" cy="384048"/>
          </a:xfrm>
          <a:prstGeom prst="ellipse">
            <a:avLst/>
          </a:prstGeom>
          <a:solidFill>
            <a:srgbClr val="1E2761"/>
          </a:solidFill>
          <a:ln/>
        </p:spPr>
      </p:sp>
      <p:sp>
        <p:nvSpPr>
          <p:cNvPr id="9" name="Text 7"/>
          <p:cNvSpPr/>
          <p:nvPr/>
        </p:nvSpPr>
        <p:spPr>
          <a:xfrm>
            <a:off x="548640" y="2606693"/>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1097280" y="2475411"/>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List any four of the five types of relationships between the 'parts' of an organization.</a:t>
            </a:r>
            <a:endParaRPr lang="en-US" sz="1220" dirty="0"/>
          </a:p>
        </p:txBody>
      </p:sp>
      <p:sp>
        <p:nvSpPr>
          <p:cNvPr id="11" name="Shape 9"/>
          <p:cNvSpPr/>
          <p:nvPr/>
        </p:nvSpPr>
        <p:spPr>
          <a:xfrm>
            <a:off x="548640" y="3253305"/>
            <a:ext cx="384048" cy="384048"/>
          </a:xfrm>
          <a:prstGeom prst="ellipse">
            <a:avLst/>
          </a:prstGeom>
          <a:solidFill>
            <a:srgbClr val="1E2761"/>
          </a:solidFill>
          <a:ln/>
        </p:spPr>
      </p:sp>
      <p:sp>
        <p:nvSpPr>
          <p:cNvPr id="12" name="Text 10"/>
          <p:cNvSpPr/>
          <p:nvPr/>
        </p:nvSpPr>
        <p:spPr>
          <a:xfrm>
            <a:off x="548640" y="3253305"/>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13" name="Text 11"/>
          <p:cNvSpPr/>
          <p:nvPr/>
        </p:nvSpPr>
        <p:spPr>
          <a:xfrm>
            <a:off x="1097280" y="3122023"/>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six characteristics of organization discussed under 11.7.</a:t>
            </a:r>
            <a:endParaRPr lang="en-US" sz="1220" dirty="0"/>
          </a:p>
        </p:txBody>
      </p:sp>
      <p:sp>
        <p:nvSpPr>
          <p:cNvPr id="14" name="Shape 12"/>
          <p:cNvSpPr/>
          <p:nvPr/>
        </p:nvSpPr>
        <p:spPr>
          <a:xfrm>
            <a:off x="548640" y="3899916"/>
            <a:ext cx="384048" cy="384048"/>
          </a:xfrm>
          <a:prstGeom prst="ellipse">
            <a:avLst/>
          </a:prstGeom>
          <a:solidFill>
            <a:srgbClr val="1E2761"/>
          </a:solidFill>
          <a:ln/>
        </p:spPr>
      </p:sp>
      <p:sp>
        <p:nvSpPr>
          <p:cNvPr id="15" name="Text 13"/>
          <p:cNvSpPr/>
          <p:nvPr/>
        </p:nvSpPr>
        <p:spPr>
          <a:xfrm>
            <a:off x="548640" y="3899916"/>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16" name="Text 14"/>
          <p:cNvSpPr/>
          <p:nvPr/>
        </p:nvSpPr>
        <p:spPr>
          <a:xfrm>
            <a:off x="1097280" y="3768634"/>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three elements did Peter Drucker identify in the organization process?</a:t>
            </a:r>
            <a:endParaRPr lang="en-US" sz="1220" dirty="0"/>
          </a:p>
        </p:txBody>
      </p:sp>
      <p:sp>
        <p:nvSpPr>
          <p:cNvPr id="17" name="Shape 15"/>
          <p:cNvSpPr/>
          <p:nvPr/>
        </p:nvSpPr>
        <p:spPr>
          <a:xfrm>
            <a:off x="548640" y="4546527"/>
            <a:ext cx="384048" cy="384048"/>
          </a:xfrm>
          <a:prstGeom prst="ellipse">
            <a:avLst/>
          </a:prstGeom>
          <a:solidFill>
            <a:srgbClr val="1E2761"/>
          </a:solidFill>
          <a:ln/>
        </p:spPr>
      </p:sp>
      <p:sp>
        <p:nvSpPr>
          <p:cNvPr id="18" name="Text 16"/>
          <p:cNvSpPr/>
          <p:nvPr/>
        </p:nvSpPr>
        <p:spPr>
          <a:xfrm>
            <a:off x="548640" y="4546527"/>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9" name="Text 17"/>
          <p:cNvSpPr/>
          <p:nvPr/>
        </p:nvSpPr>
        <p:spPr>
          <a:xfrm>
            <a:off x="1097280" y="4415246"/>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three important theories of organization discussed under 12.1.</a:t>
            </a:r>
            <a:endParaRPr lang="en-US" sz="1220" dirty="0"/>
          </a:p>
        </p:txBody>
      </p:sp>
      <p:sp>
        <p:nvSpPr>
          <p:cNvPr id="20" name="Shape 18"/>
          <p:cNvSpPr/>
          <p:nvPr/>
        </p:nvSpPr>
        <p:spPr>
          <a:xfrm>
            <a:off x="548640" y="5193139"/>
            <a:ext cx="384048" cy="384048"/>
          </a:xfrm>
          <a:prstGeom prst="ellipse">
            <a:avLst/>
          </a:prstGeom>
          <a:solidFill>
            <a:srgbClr val="1E2761"/>
          </a:solidFill>
          <a:ln/>
        </p:spPr>
      </p:sp>
      <p:sp>
        <p:nvSpPr>
          <p:cNvPr id="21" name="Text 19"/>
          <p:cNvSpPr/>
          <p:nvPr/>
        </p:nvSpPr>
        <p:spPr>
          <a:xfrm>
            <a:off x="548640" y="519313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2" name="Text 20"/>
          <p:cNvSpPr/>
          <p:nvPr/>
        </p:nvSpPr>
        <p:spPr>
          <a:xfrm>
            <a:off x="1097280" y="5061857"/>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four principles is the Classical Theory built around?</a:t>
            </a:r>
            <a:endParaRPr lang="en-US" sz="1220" dirty="0"/>
          </a:p>
        </p:txBody>
      </p:sp>
      <p:sp>
        <p:nvSpPr>
          <p:cNvPr id="23" name="Shape 21"/>
          <p:cNvSpPr/>
          <p:nvPr/>
        </p:nvSpPr>
        <p:spPr>
          <a:xfrm>
            <a:off x="548640" y="5839750"/>
            <a:ext cx="384048" cy="384048"/>
          </a:xfrm>
          <a:prstGeom prst="ellipse">
            <a:avLst/>
          </a:prstGeom>
          <a:solidFill>
            <a:srgbClr val="1E2761"/>
          </a:solidFill>
          <a:ln/>
        </p:spPr>
      </p:sp>
      <p:sp>
        <p:nvSpPr>
          <p:cNvPr id="24" name="Text 22"/>
          <p:cNvSpPr/>
          <p:nvPr/>
        </p:nvSpPr>
        <p:spPr>
          <a:xfrm>
            <a:off x="548640" y="5839750"/>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7</a:t>
            </a:r>
            <a:endParaRPr lang="en-US" sz="1200" dirty="0"/>
          </a:p>
        </p:txBody>
      </p:sp>
      <p:sp>
        <p:nvSpPr>
          <p:cNvPr id="25" name="Text 23"/>
          <p:cNvSpPr/>
          <p:nvPr/>
        </p:nvSpPr>
        <p:spPr>
          <a:xfrm>
            <a:off x="1097280" y="5708469"/>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did V.A. Graicunas demonstrate mathematically about span of control?</a:t>
            </a:r>
            <a:endParaRPr lang="en-US" sz="122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66</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2</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2</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60082"/>
            <a:ext cx="384048" cy="384048"/>
          </a:xfrm>
          <a:prstGeom prst="ellipse">
            <a:avLst/>
          </a:prstGeom>
          <a:solidFill>
            <a:srgbClr val="1E2761"/>
          </a:solidFill>
          <a:ln/>
        </p:spPr>
      </p:sp>
      <p:sp>
        <p:nvSpPr>
          <p:cNvPr id="6" name="Text 4"/>
          <p:cNvSpPr/>
          <p:nvPr/>
        </p:nvSpPr>
        <p:spPr>
          <a:xfrm>
            <a:off x="548640" y="1960082"/>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097280" y="1828800"/>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any three factors that bring an informal organization into existence.</a:t>
            </a:r>
            <a:endParaRPr lang="en-US" sz="1220" dirty="0"/>
          </a:p>
        </p:txBody>
      </p:sp>
      <p:sp>
        <p:nvSpPr>
          <p:cNvPr id="8" name="Shape 6"/>
          <p:cNvSpPr/>
          <p:nvPr/>
        </p:nvSpPr>
        <p:spPr>
          <a:xfrm>
            <a:off x="548640" y="2606693"/>
            <a:ext cx="384048" cy="384048"/>
          </a:xfrm>
          <a:prstGeom prst="ellipse">
            <a:avLst/>
          </a:prstGeom>
          <a:solidFill>
            <a:srgbClr val="1E2761"/>
          </a:solidFill>
          <a:ln/>
        </p:spPr>
      </p:sp>
      <p:sp>
        <p:nvSpPr>
          <p:cNvPr id="9" name="Text 7"/>
          <p:cNvSpPr/>
          <p:nvPr/>
        </p:nvSpPr>
        <p:spPr>
          <a:xfrm>
            <a:off x="548640" y="2606693"/>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1097280" y="2475411"/>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is the key feature of Max Weber's 'Bureaucracy Model'?</a:t>
            </a:r>
            <a:endParaRPr lang="en-US" sz="1220" dirty="0"/>
          </a:p>
        </p:txBody>
      </p:sp>
      <p:sp>
        <p:nvSpPr>
          <p:cNvPr id="11" name="Shape 9"/>
          <p:cNvSpPr/>
          <p:nvPr/>
        </p:nvSpPr>
        <p:spPr>
          <a:xfrm>
            <a:off x="548640" y="3253305"/>
            <a:ext cx="384048" cy="384048"/>
          </a:xfrm>
          <a:prstGeom prst="ellipse">
            <a:avLst/>
          </a:prstGeom>
          <a:solidFill>
            <a:srgbClr val="1E2761"/>
          </a:solidFill>
          <a:ln/>
        </p:spPr>
      </p:sp>
      <p:sp>
        <p:nvSpPr>
          <p:cNvPr id="12" name="Text 10"/>
          <p:cNvSpPr/>
          <p:nvPr/>
        </p:nvSpPr>
        <p:spPr>
          <a:xfrm>
            <a:off x="548640" y="3253305"/>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13" name="Text 11"/>
          <p:cNvSpPr/>
          <p:nvPr/>
        </p:nvSpPr>
        <p:spPr>
          <a:xfrm>
            <a:off x="1097280" y="3122023"/>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Which Human Relations experiment gave rise to the Neo-Classical Theory?</a:t>
            </a:r>
            <a:endParaRPr lang="en-US" sz="1220" dirty="0"/>
          </a:p>
        </p:txBody>
      </p:sp>
      <p:sp>
        <p:nvSpPr>
          <p:cNvPr id="14" name="Shape 12"/>
          <p:cNvSpPr/>
          <p:nvPr/>
        </p:nvSpPr>
        <p:spPr>
          <a:xfrm>
            <a:off x="548640" y="3899916"/>
            <a:ext cx="384048" cy="384048"/>
          </a:xfrm>
          <a:prstGeom prst="ellipse">
            <a:avLst/>
          </a:prstGeom>
          <a:solidFill>
            <a:srgbClr val="1E2761"/>
          </a:solidFill>
          <a:ln/>
        </p:spPr>
      </p:sp>
      <p:sp>
        <p:nvSpPr>
          <p:cNvPr id="15" name="Text 13"/>
          <p:cNvSpPr/>
          <p:nvPr/>
        </p:nvSpPr>
        <p:spPr>
          <a:xfrm>
            <a:off x="548640" y="3899916"/>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16" name="Text 14"/>
          <p:cNvSpPr/>
          <p:nvPr/>
        </p:nvSpPr>
        <p:spPr>
          <a:xfrm>
            <a:off x="1097280" y="3768634"/>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List the seven types of organization named under 13.1.</a:t>
            </a:r>
            <a:endParaRPr lang="en-US" sz="1220" dirty="0"/>
          </a:p>
        </p:txBody>
      </p:sp>
      <p:sp>
        <p:nvSpPr>
          <p:cNvPr id="17" name="Shape 15"/>
          <p:cNvSpPr/>
          <p:nvPr/>
        </p:nvSpPr>
        <p:spPr>
          <a:xfrm>
            <a:off x="548640" y="4546527"/>
            <a:ext cx="384048" cy="384048"/>
          </a:xfrm>
          <a:prstGeom prst="ellipse">
            <a:avLst/>
          </a:prstGeom>
          <a:solidFill>
            <a:srgbClr val="1E2761"/>
          </a:solidFill>
          <a:ln/>
        </p:spPr>
      </p:sp>
      <p:sp>
        <p:nvSpPr>
          <p:cNvPr id="18" name="Text 16"/>
          <p:cNvSpPr/>
          <p:nvPr/>
        </p:nvSpPr>
        <p:spPr>
          <a:xfrm>
            <a:off x="548640" y="4546527"/>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9" name="Text 17"/>
          <p:cNvSpPr/>
          <p:nvPr/>
        </p:nvSpPr>
        <p:spPr>
          <a:xfrm>
            <a:off x="1097280" y="4415246"/>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Why is a Line Organization also called a 'Military Organization'?</a:t>
            </a:r>
            <a:endParaRPr lang="en-US" sz="1220" dirty="0"/>
          </a:p>
        </p:txBody>
      </p:sp>
      <p:sp>
        <p:nvSpPr>
          <p:cNvPr id="20" name="Shape 18"/>
          <p:cNvSpPr/>
          <p:nvPr/>
        </p:nvSpPr>
        <p:spPr>
          <a:xfrm>
            <a:off x="548640" y="5193139"/>
            <a:ext cx="384048" cy="384048"/>
          </a:xfrm>
          <a:prstGeom prst="ellipse">
            <a:avLst/>
          </a:prstGeom>
          <a:solidFill>
            <a:srgbClr val="1E2761"/>
          </a:solidFill>
          <a:ln/>
        </p:spPr>
      </p:sp>
      <p:sp>
        <p:nvSpPr>
          <p:cNvPr id="21" name="Text 19"/>
          <p:cNvSpPr/>
          <p:nvPr/>
        </p:nvSpPr>
        <p:spPr>
          <a:xfrm>
            <a:off x="548640" y="519313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2" name="Text 20"/>
          <p:cNvSpPr/>
          <p:nvPr/>
        </p:nvSpPr>
        <p:spPr>
          <a:xfrm>
            <a:off x="1097280" y="5061857"/>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According to Barnard, what is a subordinate's 'zone of acceptance'?</a:t>
            </a:r>
            <a:endParaRPr lang="en-US" sz="1220" dirty="0"/>
          </a:p>
        </p:txBody>
      </p:sp>
      <p:sp>
        <p:nvSpPr>
          <p:cNvPr id="23" name="Shape 21"/>
          <p:cNvSpPr/>
          <p:nvPr/>
        </p:nvSpPr>
        <p:spPr>
          <a:xfrm>
            <a:off x="548640" y="5839750"/>
            <a:ext cx="384048" cy="384048"/>
          </a:xfrm>
          <a:prstGeom prst="ellipse">
            <a:avLst/>
          </a:prstGeom>
          <a:solidFill>
            <a:srgbClr val="1E2761"/>
          </a:solidFill>
          <a:ln/>
        </p:spPr>
      </p:sp>
      <p:sp>
        <p:nvSpPr>
          <p:cNvPr id="24" name="Text 22"/>
          <p:cNvSpPr/>
          <p:nvPr/>
        </p:nvSpPr>
        <p:spPr>
          <a:xfrm>
            <a:off x="548640" y="5839750"/>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7</a:t>
            </a:r>
            <a:endParaRPr lang="en-US" sz="1200" dirty="0"/>
          </a:p>
        </p:txBody>
      </p:sp>
      <p:sp>
        <p:nvSpPr>
          <p:cNvPr id="25" name="Text 23"/>
          <p:cNvSpPr/>
          <p:nvPr/>
        </p:nvSpPr>
        <p:spPr>
          <a:xfrm>
            <a:off x="1097280" y="5708469"/>
            <a:ext cx="10561320" cy="646611"/>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three theories of the 'sources of authority'.</a:t>
            </a:r>
            <a:endParaRPr lang="en-US" sz="1220" dirty="0"/>
          </a:p>
        </p:txBody>
      </p:sp>
      <p:sp>
        <p:nvSpPr>
          <p:cNvPr id="26" name="Text 24"/>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27" name="Text 25"/>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67</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320040"/>
          </a:xfrm>
          <a:prstGeom prst="rect">
            <a:avLst/>
          </a:prstGeom>
          <a:noFill/>
          <a:ln/>
        </p:spPr>
        <p:txBody>
          <a:bodyPr wrap="square" rtlCol="0" anchor="ctr"/>
          <a:lstStyle/>
          <a:p>
            <a:pPr indent="0" marL="0">
              <a:buNone/>
            </a:pPr>
            <a:r>
              <a:rPr lang="en-US" sz="1350" b="1" spc="200" kern="0" dirty="0">
                <a:solidFill>
                  <a:srgbClr val="C9A24B"/>
                </a:solidFill>
                <a:latin typeface="Calibri" pitchFamily="34" charset="0"/>
                <a:ea typeface="Calibri" pitchFamily="34" charset="-122"/>
                <a:cs typeface="Calibri" pitchFamily="34" charset="-120"/>
              </a:rPr>
              <a:t>RECALL — PART 3</a:t>
            </a:r>
            <a:endParaRPr lang="en-US" sz="1350" dirty="0"/>
          </a:p>
        </p:txBody>
      </p:sp>
      <p:sp>
        <p:nvSpPr>
          <p:cNvPr id="3" name="Text 1"/>
          <p:cNvSpPr/>
          <p:nvPr/>
        </p:nvSpPr>
        <p:spPr>
          <a:xfrm>
            <a:off x="548640" y="566928"/>
            <a:ext cx="11091672" cy="82296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Recall Questions — Part 3</a:t>
            </a:r>
            <a:endParaRPr lang="en-US" sz="2700" dirty="0"/>
          </a:p>
        </p:txBody>
      </p:sp>
      <p:sp>
        <p:nvSpPr>
          <p:cNvPr id="4" name="Text 2"/>
          <p:cNvSpPr/>
          <p:nvPr/>
        </p:nvSpPr>
        <p:spPr>
          <a:xfrm>
            <a:off x="548640" y="1371600"/>
            <a:ext cx="10972800" cy="365760"/>
          </a:xfrm>
          <a:prstGeom prst="rect">
            <a:avLst/>
          </a:prstGeom>
          <a:noFill/>
          <a:ln/>
        </p:spPr>
        <p:txBody>
          <a:bodyPr wrap="square"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Test yourself before checking the notes.</a:t>
            </a:r>
            <a:endParaRPr lang="en-US" sz="1350" dirty="0"/>
          </a:p>
        </p:txBody>
      </p:sp>
      <p:sp>
        <p:nvSpPr>
          <p:cNvPr id="5" name="Shape 3"/>
          <p:cNvSpPr/>
          <p:nvPr/>
        </p:nvSpPr>
        <p:spPr>
          <a:xfrm>
            <a:off x="548640" y="1919669"/>
            <a:ext cx="384048" cy="384048"/>
          </a:xfrm>
          <a:prstGeom prst="ellipse">
            <a:avLst/>
          </a:prstGeom>
          <a:solidFill>
            <a:srgbClr val="1E2761"/>
          </a:solidFill>
          <a:ln/>
        </p:spPr>
      </p:sp>
      <p:sp>
        <p:nvSpPr>
          <p:cNvPr id="6" name="Text 4"/>
          <p:cNvSpPr/>
          <p:nvPr/>
        </p:nvSpPr>
        <p:spPr>
          <a:xfrm>
            <a:off x="548640" y="191966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1097280" y="1828800"/>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How is 'responsibility' different from 'accountability'?</a:t>
            </a:r>
            <a:endParaRPr lang="en-US" sz="1220" dirty="0"/>
          </a:p>
        </p:txBody>
      </p:sp>
      <p:sp>
        <p:nvSpPr>
          <p:cNvPr id="8" name="Shape 6"/>
          <p:cNvSpPr/>
          <p:nvPr/>
        </p:nvSpPr>
        <p:spPr>
          <a:xfrm>
            <a:off x="548640" y="2485454"/>
            <a:ext cx="384048" cy="384048"/>
          </a:xfrm>
          <a:prstGeom prst="ellipse">
            <a:avLst/>
          </a:prstGeom>
          <a:solidFill>
            <a:srgbClr val="1E2761"/>
          </a:solidFill>
          <a:ln/>
        </p:spPr>
      </p:sp>
      <p:sp>
        <p:nvSpPr>
          <p:cNvPr id="9" name="Text 7"/>
          <p:cNvSpPr/>
          <p:nvPr/>
        </p:nvSpPr>
        <p:spPr>
          <a:xfrm>
            <a:off x="548640" y="2485454"/>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2</a:t>
            </a:r>
            <a:endParaRPr lang="en-US" sz="1200" dirty="0"/>
          </a:p>
        </p:txBody>
      </p:sp>
      <p:sp>
        <p:nvSpPr>
          <p:cNvPr id="10" name="Text 8"/>
          <p:cNvSpPr/>
          <p:nvPr/>
        </p:nvSpPr>
        <p:spPr>
          <a:xfrm>
            <a:off x="1097280" y="2394585"/>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three elements of delegation.</a:t>
            </a:r>
            <a:endParaRPr lang="en-US" sz="1220" dirty="0"/>
          </a:p>
        </p:txBody>
      </p:sp>
      <p:sp>
        <p:nvSpPr>
          <p:cNvPr id="11" name="Shape 9"/>
          <p:cNvSpPr/>
          <p:nvPr/>
        </p:nvSpPr>
        <p:spPr>
          <a:xfrm>
            <a:off x="548640" y="3051239"/>
            <a:ext cx="384048" cy="384048"/>
          </a:xfrm>
          <a:prstGeom prst="ellipse">
            <a:avLst/>
          </a:prstGeom>
          <a:solidFill>
            <a:srgbClr val="1E2761"/>
          </a:solidFill>
          <a:ln/>
        </p:spPr>
      </p:sp>
      <p:sp>
        <p:nvSpPr>
          <p:cNvPr id="12" name="Text 10"/>
          <p:cNvSpPr/>
          <p:nvPr/>
        </p:nvSpPr>
        <p:spPr>
          <a:xfrm>
            <a:off x="548640" y="305123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3</a:t>
            </a:r>
            <a:endParaRPr lang="en-US" sz="1200" dirty="0"/>
          </a:p>
        </p:txBody>
      </p:sp>
      <p:sp>
        <p:nvSpPr>
          <p:cNvPr id="13" name="Text 11"/>
          <p:cNvSpPr/>
          <p:nvPr/>
        </p:nvSpPr>
        <p:spPr>
          <a:xfrm>
            <a:off x="1097280" y="2960370"/>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List any three of the five principles of delegation.</a:t>
            </a:r>
            <a:endParaRPr lang="en-US" sz="1220" dirty="0"/>
          </a:p>
        </p:txBody>
      </p:sp>
      <p:sp>
        <p:nvSpPr>
          <p:cNvPr id="14" name="Shape 12"/>
          <p:cNvSpPr/>
          <p:nvPr/>
        </p:nvSpPr>
        <p:spPr>
          <a:xfrm>
            <a:off x="548640" y="3617024"/>
            <a:ext cx="384048" cy="384048"/>
          </a:xfrm>
          <a:prstGeom prst="ellipse">
            <a:avLst/>
          </a:prstGeom>
          <a:solidFill>
            <a:srgbClr val="1E2761"/>
          </a:solidFill>
          <a:ln/>
        </p:spPr>
      </p:sp>
      <p:sp>
        <p:nvSpPr>
          <p:cNvPr id="15" name="Text 13"/>
          <p:cNvSpPr/>
          <p:nvPr/>
        </p:nvSpPr>
        <p:spPr>
          <a:xfrm>
            <a:off x="548640" y="3617024"/>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4</a:t>
            </a:r>
            <a:endParaRPr lang="en-US" sz="1200" dirty="0"/>
          </a:p>
        </p:txBody>
      </p:sp>
      <p:sp>
        <p:nvSpPr>
          <p:cNvPr id="16" name="Text 14"/>
          <p:cNvSpPr/>
          <p:nvPr/>
        </p:nvSpPr>
        <p:spPr>
          <a:xfrm>
            <a:off x="1097280" y="3526155"/>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are the four types of delegation discussed under 14.10?</a:t>
            </a:r>
            <a:endParaRPr lang="en-US" sz="1220" dirty="0"/>
          </a:p>
        </p:txBody>
      </p:sp>
      <p:sp>
        <p:nvSpPr>
          <p:cNvPr id="17" name="Shape 15"/>
          <p:cNvSpPr/>
          <p:nvPr/>
        </p:nvSpPr>
        <p:spPr>
          <a:xfrm>
            <a:off x="548640" y="4182809"/>
            <a:ext cx="384048" cy="384048"/>
          </a:xfrm>
          <a:prstGeom prst="ellipse">
            <a:avLst/>
          </a:prstGeom>
          <a:solidFill>
            <a:srgbClr val="1E2761"/>
          </a:solidFill>
          <a:ln/>
        </p:spPr>
      </p:sp>
      <p:sp>
        <p:nvSpPr>
          <p:cNvPr id="18" name="Text 16"/>
          <p:cNvSpPr/>
          <p:nvPr/>
        </p:nvSpPr>
        <p:spPr>
          <a:xfrm>
            <a:off x="548640" y="418280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5</a:t>
            </a:r>
            <a:endParaRPr lang="en-US" sz="1200" dirty="0"/>
          </a:p>
        </p:txBody>
      </p:sp>
      <p:sp>
        <p:nvSpPr>
          <p:cNvPr id="19" name="Text 17"/>
          <p:cNvSpPr/>
          <p:nvPr/>
        </p:nvSpPr>
        <p:spPr>
          <a:xfrm>
            <a:off x="1097280" y="4091940"/>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the five common bases of departmentation.</a:t>
            </a:r>
            <a:endParaRPr lang="en-US" sz="1220" dirty="0"/>
          </a:p>
        </p:txBody>
      </p:sp>
      <p:sp>
        <p:nvSpPr>
          <p:cNvPr id="20" name="Shape 18"/>
          <p:cNvSpPr/>
          <p:nvPr/>
        </p:nvSpPr>
        <p:spPr>
          <a:xfrm>
            <a:off x="548640" y="4748594"/>
            <a:ext cx="384048" cy="384048"/>
          </a:xfrm>
          <a:prstGeom prst="ellipse">
            <a:avLst/>
          </a:prstGeom>
          <a:solidFill>
            <a:srgbClr val="1E2761"/>
          </a:solidFill>
          <a:ln/>
        </p:spPr>
      </p:sp>
      <p:sp>
        <p:nvSpPr>
          <p:cNvPr id="21" name="Text 19"/>
          <p:cNvSpPr/>
          <p:nvPr/>
        </p:nvSpPr>
        <p:spPr>
          <a:xfrm>
            <a:off x="548640" y="4748594"/>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6</a:t>
            </a:r>
            <a:endParaRPr lang="en-US" sz="1200" dirty="0"/>
          </a:p>
        </p:txBody>
      </p:sp>
      <p:sp>
        <p:nvSpPr>
          <p:cNvPr id="22" name="Text 20"/>
          <p:cNvSpPr/>
          <p:nvPr/>
        </p:nvSpPr>
        <p:spPr>
          <a:xfrm>
            <a:off x="1097280" y="4657725"/>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Give one merit and one demerit of Functional Departmentation.</a:t>
            </a:r>
            <a:endParaRPr lang="en-US" sz="1220" dirty="0"/>
          </a:p>
        </p:txBody>
      </p:sp>
      <p:sp>
        <p:nvSpPr>
          <p:cNvPr id="23" name="Shape 21"/>
          <p:cNvSpPr/>
          <p:nvPr/>
        </p:nvSpPr>
        <p:spPr>
          <a:xfrm>
            <a:off x="548640" y="5314379"/>
            <a:ext cx="384048" cy="384048"/>
          </a:xfrm>
          <a:prstGeom prst="ellipse">
            <a:avLst/>
          </a:prstGeom>
          <a:solidFill>
            <a:srgbClr val="1E2761"/>
          </a:solidFill>
          <a:ln/>
        </p:spPr>
      </p:sp>
      <p:sp>
        <p:nvSpPr>
          <p:cNvPr id="24" name="Text 22"/>
          <p:cNvSpPr/>
          <p:nvPr/>
        </p:nvSpPr>
        <p:spPr>
          <a:xfrm>
            <a:off x="548640" y="5314379"/>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7</a:t>
            </a:r>
            <a:endParaRPr lang="en-US" sz="1200" dirty="0"/>
          </a:p>
        </p:txBody>
      </p:sp>
      <p:sp>
        <p:nvSpPr>
          <p:cNvPr id="25" name="Text 23"/>
          <p:cNvSpPr/>
          <p:nvPr/>
        </p:nvSpPr>
        <p:spPr>
          <a:xfrm>
            <a:off x="1097280" y="5223510"/>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What is the key difference between delegation and decentralization?</a:t>
            </a:r>
            <a:endParaRPr lang="en-US" sz="1220" dirty="0"/>
          </a:p>
        </p:txBody>
      </p:sp>
      <p:sp>
        <p:nvSpPr>
          <p:cNvPr id="26" name="Shape 24"/>
          <p:cNvSpPr/>
          <p:nvPr/>
        </p:nvSpPr>
        <p:spPr>
          <a:xfrm>
            <a:off x="548640" y="5880164"/>
            <a:ext cx="384048" cy="384048"/>
          </a:xfrm>
          <a:prstGeom prst="ellipse">
            <a:avLst/>
          </a:prstGeom>
          <a:solidFill>
            <a:srgbClr val="1E2761"/>
          </a:solidFill>
          <a:ln/>
        </p:spPr>
      </p:sp>
      <p:sp>
        <p:nvSpPr>
          <p:cNvPr id="27" name="Text 25"/>
          <p:cNvSpPr/>
          <p:nvPr/>
        </p:nvSpPr>
        <p:spPr>
          <a:xfrm>
            <a:off x="548640" y="5880164"/>
            <a:ext cx="384048" cy="384048"/>
          </a:xfrm>
          <a:prstGeom prst="rect">
            <a:avLst/>
          </a:prstGeom>
          <a:noFill/>
          <a:ln/>
        </p:spPr>
        <p:txBody>
          <a:bodyPr wrap="square" lIns="0" tIns="0" rIns="0" bIns="0" rtlCol="0" anchor="ctr"/>
          <a:lstStyle/>
          <a:p>
            <a:pPr algn="ctr" indent="0" marL="0">
              <a:buNone/>
            </a:pPr>
            <a:r>
              <a:rPr lang="en-US" sz="1200" b="1" dirty="0">
                <a:solidFill>
                  <a:srgbClr val="C9A24B"/>
                </a:solidFill>
                <a:latin typeface="Cambria" pitchFamily="34" charset="0"/>
                <a:ea typeface="Cambria" pitchFamily="34" charset="-122"/>
                <a:cs typeface="Cambria" pitchFamily="34" charset="-120"/>
              </a:rPr>
              <a:t>8</a:t>
            </a:r>
            <a:endParaRPr lang="en-US" sz="1200" dirty="0"/>
          </a:p>
        </p:txBody>
      </p:sp>
      <p:sp>
        <p:nvSpPr>
          <p:cNvPr id="28" name="Text 26"/>
          <p:cNvSpPr/>
          <p:nvPr/>
        </p:nvSpPr>
        <p:spPr>
          <a:xfrm>
            <a:off x="1097280" y="5789295"/>
            <a:ext cx="10561320" cy="565785"/>
          </a:xfrm>
          <a:prstGeom prst="rect">
            <a:avLst/>
          </a:prstGeom>
          <a:noFill/>
          <a:ln/>
        </p:spPr>
        <p:txBody>
          <a:bodyPr wrap="square" rtlCol="0" anchor="ctr"/>
          <a:lstStyle/>
          <a:p>
            <a:pPr indent="0" marL="0">
              <a:buNone/>
            </a:pPr>
            <a:r>
              <a:rPr lang="en-US" sz="1220" dirty="0">
                <a:solidFill>
                  <a:srgbClr val="2B2B33"/>
                </a:solidFill>
                <a:latin typeface="Calibri" pitchFamily="34" charset="0"/>
                <a:ea typeface="Calibri" pitchFamily="34" charset="-122"/>
                <a:cs typeface="Calibri" pitchFamily="34" charset="-120"/>
              </a:rPr>
              <a:t>Name any three factors affecting the degree of decentralization.</a:t>
            </a:r>
            <a:endParaRPr lang="en-US" sz="1220" dirty="0"/>
          </a:p>
        </p:txBody>
      </p:sp>
      <p:sp>
        <p:nvSpPr>
          <p:cNvPr id="29" name="Text 2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RECALL &amp; REVISION</a:t>
            </a:r>
            <a:endParaRPr lang="en-US" sz="1100" dirty="0"/>
          </a:p>
        </p:txBody>
      </p:sp>
      <p:sp>
        <p:nvSpPr>
          <p:cNvPr id="30" name="Text 2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68</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591556" y="1828800"/>
            <a:ext cx="1005840" cy="100584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5853074" y="2090318"/>
            <a:ext cx="482803" cy="482803"/>
          </a:xfrm>
          <a:prstGeom prst="rect">
            <a:avLst/>
          </a:prstGeom>
        </p:spPr>
      </p:pic>
      <p:sp>
        <p:nvSpPr>
          <p:cNvPr id="4" name="Text 1"/>
          <p:cNvSpPr/>
          <p:nvPr/>
        </p:nvSpPr>
        <p:spPr>
          <a:xfrm>
            <a:off x="548640" y="3108960"/>
            <a:ext cx="11064240" cy="5486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MULTIPLE CHOICE QUIZ</a:t>
            </a:r>
            <a:endParaRPr lang="en-US" sz="2600" dirty="0"/>
          </a:p>
        </p:txBody>
      </p:sp>
      <p:sp>
        <p:nvSpPr>
          <p:cNvPr id="5" name="Text 2"/>
          <p:cNvSpPr/>
          <p:nvPr/>
        </p:nvSpPr>
        <p:spPr>
          <a:xfrm>
            <a:off x="548640" y="3703320"/>
            <a:ext cx="11064240" cy="457200"/>
          </a:xfrm>
          <a:prstGeom prst="rect">
            <a:avLst/>
          </a:prstGeom>
          <a:noFill/>
          <a:ln/>
        </p:spPr>
        <p:txBody>
          <a:bodyPr wrap="square"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12 quick questions — click / press a key on each slide to reveal the correct answer.</a:t>
            </a:r>
            <a:endParaRPr lang="en-US" sz="1500" dirty="0"/>
          </a:p>
        </p:txBody>
      </p:sp>
      <p:sp>
        <p:nvSpPr>
          <p:cNvPr id="6" name="Text 3"/>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MULTIPLE CHOICE QUIZ</a:t>
            </a:r>
            <a:endParaRPr lang="en-US" sz="1100" dirty="0"/>
          </a:p>
        </p:txBody>
      </p:sp>
      <p:sp>
        <p:nvSpPr>
          <p:cNvPr id="7" name="Text 4"/>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69</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word 'organization' originates from which word?</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Order</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Organism</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Organ</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Origin</a:t>
            </a:r>
            <a:endParaRPr lang="en-US" sz="1450" dirty="0"/>
          </a:p>
        </p:txBody>
      </p:sp>
      <p:sp>
        <p:nvSpPr>
          <p:cNvPr id="22" name="ans_1"/>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Organism</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2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Who defined organization as 'the complex pattern of communications and other relations in a group of human beings'?</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Koontz and O'Donnel</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Dimmock and Koeing</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Herbert Simon</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Max Weber</a:t>
            </a:r>
            <a:endParaRPr lang="en-US" sz="1450" dirty="0"/>
          </a:p>
        </p:txBody>
      </p:sp>
      <p:sp>
        <p:nvSpPr>
          <p:cNvPr id="22" name="ans_2"/>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2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Herbert Simon</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3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Peter Drucker divided the organization process into activity analysis, decision analysis, and:</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Relation analysis</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Cost analysis</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Risk analysis</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Market analysis</a:t>
            </a:r>
            <a:endParaRPr lang="en-US" sz="1450" dirty="0"/>
          </a:p>
        </p:txBody>
      </p:sp>
      <p:sp>
        <p:nvSpPr>
          <p:cNvPr id="22" name="ans_3"/>
          <p:cNvSpPr/>
          <p:nvPr/>
        </p:nvSpPr>
        <p:spPr>
          <a:xfrm>
            <a:off x="548640" y="233172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3_b"/>
          <p:cNvSpPr/>
          <p:nvPr/>
        </p:nvSpPr>
        <p:spPr>
          <a:xfrm>
            <a:off x="777240" y="253746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2583180"/>
            <a:ext cx="411480" cy="411480"/>
          </a:xfrm>
          <a:prstGeom prst="rect">
            <a:avLst/>
          </a:prstGeom>
        </p:spPr>
      </p:pic>
      <p:sp>
        <p:nvSpPr>
          <p:cNvPr id="25" name="Text 21"/>
          <p:cNvSpPr/>
          <p:nvPr/>
        </p:nvSpPr>
        <p:spPr>
          <a:xfrm>
            <a:off x="1508760" y="233172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Relation analysis</a:t>
            </a:r>
            <a:endParaRPr lang="en-US" sz="1450" dirty="0"/>
          </a:p>
        </p:txBody>
      </p:sp>
      <p:sp>
        <p:nvSpPr>
          <p:cNvPr id="26" name="Text 22"/>
          <p:cNvSpPr/>
          <p:nvPr/>
        </p:nvSpPr>
        <p:spPr>
          <a:xfrm>
            <a:off x="10332720" y="233172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4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Classical Theory of organization is built around division of labor, scalar and functional processes, organization structure, and:</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Span of control</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Employee motivation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Corporate social responsibility</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Digital transformation</a:t>
            </a:r>
            <a:endParaRPr lang="en-US" sz="1450" dirty="0"/>
          </a:p>
        </p:txBody>
      </p:sp>
      <p:sp>
        <p:nvSpPr>
          <p:cNvPr id="22" name="ans_4"/>
          <p:cNvSpPr/>
          <p:nvPr/>
        </p:nvSpPr>
        <p:spPr>
          <a:xfrm>
            <a:off x="548640" y="233172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4_b"/>
          <p:cNvSpPr/>
          <p:nvPr/>
        </p:nvSpPr>
        <p:spPr>
          <a:xfrm>
            <a:off x="777240" y="253746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2583180"/>
            <a:ext cx="411480" cy="411480"/>
          </a:xfrm>
          <a:prstGeom prst="rect">
            <a:avLst/>
          </a:prstGeom>
        </p:spPr>
      </p:pic>
      <p:sp>
        <p:nvSpPr>
          <p:cNvPr id="25" name="Text 21"/>
          <p:cNvSpPr/>
          <p:nvPr/>
        </p:nvSpPr>
        <p:spPr>
          <a:xfrm>
            <a:off x="1508760" y="233172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Span of control</a:t>
            </a:r>
            <a:endParaRPr lang="en-US" sz="1450" dirty="0"/>
          </a:p>
        </p:txBody>
      </p:sp>
      <p:sp>
        <p:nvSpPr>
          <p:cNvPr id="26" name="Text 22"/>
          <p:cNvSpPr/>
          <p:nvPr/>
        </p:nvSpPr>
        <p:spPr>
          <a:xfrm>
            <a:off x="10332720" y="233172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5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In 1933, which management expert developed a mathematical model showing how subordinate relationships multiply with span of control?</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Henri Fayol</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Max Weber</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V.A. Graicunas</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Lyndall Urwick</a:t>
            </a:r>
            <a:endParaRPr lang="en-US" sz="1450" dirty="0"/>
          </a:p>
        </p:txBody>
      </p:sp>
      <p:sp>
        <p:nvSpPr>
          <p:cNvPr id="22" name="ans_5"/>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5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V.A. Graicunas</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6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Neo-Classical Theory of organization traces its origin to experiments conducted at which plant?</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Bethlehem Steel</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Hawthorne plant of Western Electric</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Midvale Steel</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Ford River Rouge</a:t>
            </a:r>
            <a:endParaRPr lang="en-US" sz="1450" dirty="0"/>
          </a:p>
        </p:txBody>
      </p:sp>
      <p:sp>
        <p:nvSpPr>
          <p:cNvPr id="22" name="ans_6"/>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6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Hawthorne plant of Western Electric</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7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A Line or 'Military' Organization is also known by that name because:</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was invented by the army</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army is organized on the same vertical-authority pattern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only exists in defense organizations</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has no hierarchy</a:t>
            </a:r>
            <a:endParaRPr lang="en-US" sz="1450" dirty="0"/>
          </a:p>
        </p:txBody>
      </p:sp>
      <p:sp>
        <p:nvSpPr>
          <p:cNvPr id="22" name="ans_7"/>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7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army is organized on the same vertical-authority pattern</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8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According to Chester Barnard's Acceptance Theory, authority is ultimately determined by:</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Legal documentation alone</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willingness of subordinates to accept it</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size of the organization</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Government regulation</a:t>
            </a:r>
            <a:endParaRPr lang="en-US" sz="1450" dirty="0"/>
          </a:p>
        </p:txBody>
      </p:sp>
      <p:sp>
        <p:nvSpPr>
          <p:cNvPr id="22" name="ans_8"/>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8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willingness of subordinates to accept it</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9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is NOT one of the three elements of delegation?</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Assignment of duty/task</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Delegation of authority</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Accountability for performance</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Elimination of all responsibility</a:t>
            </a:r>
            <a:endParaRPr lang="en-US" sz="1450" dirty="0"/>
          </a:p>
        </p:txBody>
      </p:sp>
      <p:sp>
        <p:nvSpPr>
          <p:cNvPr id="22" name="ans_9"/>
          <p:cNvSpPr/>
          <p:nvPr/>
        </p:nvSpPr>
        <p:spPr>
          <a:xfrm>
            <a:off x="548640" y="548640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9_b"/>
          <p:cNvSpPr/>
          <p:nvPr/>
        </p:nvSpPr>
        <p:spPr>
          <a:xfrm>
            <a:off x="777240" y="569214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5737860"/>
            <a:ext cx="411480" cy="411480"/>
          </a:xfrm>
          <a:prstGeom prst="rect">
            <a:avLst/>
          </a:prstGeom>
        </p:spPr>
      </p:pic>
      <p:sp>
        <p:nvSpPr>
          <p:cNvPr id="25" name="Text 21"/>
          <p:cNvSpPr/>
          <p:nvPr/>
        </p:nvSpPr>
        <p:spPr>
          <a:xfrm>
            <a:off x="1508760" y="548640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Elimination of all responsibility</a:t>
            </a:r>
            <a:endParaRPr lang="en-US" sz="1450" dirty="0"/>
          </a:p>
        </p:txBody>
      </p:sp>
      <p:sp>
        <p:nvSpPr>
          <p:cNvPr id="26" name="Text 22"/>
          <p:cNvSpPr/>
          <p:nvPr/>
        </p:nvSpPr>
        <p:spPr>
          <a:xfrm>
            <a:off x="10332720" y="548640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10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When a subordinate assigns some of his own tasks to a fellow-subordinate, this is an example of:</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Downward delegation</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Upward delegation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Sideward delegation</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General delegation</a:t>
            </a:r>
            <a:endParaRPr lang="en-US" sz="1450" dirty="0"/>
          </a:p>
        </p:txBody>
      </p:sp>
      <p:sp>
        <p:nvSpPr>
          <p:cNvPr id="22" name="ans_10"/>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0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Sideward delegation</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11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A commercial bank splitting its loan section into farmer loans, trader loans, and industrialist loans is an example of:</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Functional departmentation</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Geographical departmentation</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Customer-wise departmentation</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Numerical departmentation</a:t>
            </a:r>
            <a:endParaRPr lang="en-US" sz="1450" dirty="0"/>
          </a:p>
        </p:txBody>
      </p:sp>
      <p:sp>
        <p:nvSpPr>
          <p:cNvPr id="22" name="ans_11"/>
          <p:cNvSpPr/>
          <p:nvPr/>
        </p:nvSpPr>
        <p:spPr>
          <a:xfrm>
            <a:off x="548640" y="443484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1_b"/>
          <p:cNvSpPr/>
          <p:nvPr/>
        </p:nvSpPr>
        <p:spPr>
          <a:xfrm>
            <a:off x="777240" y="464058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4686300"/>
            <a:ext cx="411480" cy="411480"/>
          </a:xfrm>
          <a:prstGeom prst="rect">
            <a:avLst/>
          </a:prstGeom>
        </p:spPr>
      </p:pic>
      <p:sp>
        <p:nvSpPr>
          <p:cNvPr id="25" name="Text 21"/>
          <p:cNvSpPr/>
          <p:nvPr/>
        </p:nvSpPr>
        <p:spPr>
          <a:xfrm>
            <a:off x="1508760" y="443484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Customer-wise departmentation</a:t>
            </a:r>
            <a:endParaRPr lang="en-US" sz="1450" dirty="0"/>
          </a:p>
        </p:txBody>
      </p:sp>
      <p:sp>
        <p:nvSpPr>
          <p:cNvPr id="26" name="Text 22"/>
          <p:cNvSpPr/>
          <p:nvPr/>
        </p:nvSpPr>
        <p:spPr>
          <a:xfrm>
            <a:off x="10332720" y="443484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548640" y="411480"/>
            <a:ext cx="594360" cy="594360"/>
          </a:xfrm>
          <a:prstGeom prst="ellipse">
            <a:avLst/>
          </a:prstGeom>
          <a:solidFill>
            <a:srgbClr val="C9A24B"/>
          </a:solidFill>
          <a:ln/>
        </p:spPr>
      </p:sp>
      <p:pic>
        <p:nvPicPr>
          <p:cNvPr id="3" name="Image 0" descr="preencoded.png">    </p:cNvPr>
          <p:cNvPicPr>
            <a:picLocks noChangeAspect="1"/>
          </p:cNvPicPr>
          <p:nvPr/>
        </p:nvPicPr>
        <p:blipFill>
          <a:blip r:embed="rId1"/>
          <a:stretch>
            <a:fillRect/>
          </a:stretch>
        </p:blipFill>
        <p:spPr>
          <a:xfrm>
            <a:off x="703174" y="566014"/>
            <a:ext cx="285293" cy="285293"/>
          </a:xfrm>
          <a:prstGeom prst="rect">
            <a:avLst/>
          </a:prstGeom>
        </p:spPr>
      </p:pic>
      <p:sp>
        <p:nvSpPr>
          <p:cNvPr id="4" name="Text 1"/>
          <p:cNvSpPr/>
          <p:nvPr/>
        </p:nvSpPr>
        <p:spPr>
          <a:xfrm>
            <a:off x="1280160" y="457200"/>
            <a:ext cx="8229600" cy="365760"/>
          </a:xfrm>
          <a:prstGeom prst="rect">
            <a:avLst/>
          </a:prstGeom>
          <a:noFill/>
          <a:ln/>
        </p:spPr>
        <p:txBody>
          <a:bodyPr wrap="square" rtlCol="0" anchor="ctr"/>
          <a:lstStyle/>
          <a:p>
            <a:pPr indent="0" marL="0">
              <a:buNone/>
            </a:pPr>
            <a:r>
              <a:rPr lang="en-US" sz="1300" b="1" spc="200" kern="0" dirty="0">
                <a:solidFill>
                  <a:srgbClr val="C9A24B"/>
                </a:solidFill>
                <a:latin typeface="Calibri" pitchFamily="34" charset="0"/>
                <a:ea typeface="Calibri" pitchFamily="34" charset="-122"/>
                <a:cs typeface="Calibri" pitchFamily="34" charset="-120"/>
              </a:rPr>
              <a:t>QUICK CHECK  •  QUESTION 12 OF 12</a:t>
            </a:r>
            <a:endParaRPr lang="en-US" sz="1300" dirty="0"/>
          </a:p>
        </p:txBody>
      </p:sp>
      <p:sp>
        <p:nvSpPr>
          <p:cNvPr id="5" name="Text 2"/>
          <p:cNvSpPr/>
          <p:nvPr/>
        </p:nvSpPr>
        <p:spPr>
          <a:xfrm>
            <a:off x="548640" y="1097280"/>
            <a:ext cx="11064240" cy="1051560"/>
          </a:xfrm>
          <a:prstGeom prst="rect">
            <a:avLst/>
          </a:prstGeom>
          <a:noFill/>
          <a:ln/>
        </p:spPr>
        <p:txBody>
          <a:bodyPr wrap="square"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Which of the following is a demerit of Decentralization, according to the text?</a:t>
            </a:r>
            <a:endParaRPr lang="en-US" sz="2000" dirty="0"/>
          </a:p>
        </p:txBody>
      </p:sp>
      <p:sp>
        <p:nvSpPr>
          <p:cNvPr id="6" name="Shape 3"/>
          <p:cNvSpPr/>
          <p:nvPr/>
        </p:nvSpPr>
        <p:spPr>
          <a:xfrm>
            <a:off x="548640" y="2331720"/>
            <a:ext cx="11064240" cy="914400"/>
          </a:xfrm>
          <a:prstGeom prst="roundRect">
            <a:avLst>
              <a:gd name="adj" fmla="val 8000"/>
            </a:avLst>
          </a:prstGeom>
          <a:solidFill>
            <a:srgbClr val="1E2761"/>
          </a:solidFill>
          <a:ln/>
        </p:spPr>
      </p:sp>
      <p:sp>
        <p:nvSpPr>
          <p:cNvPr id="7" name="Shape 4"/>
          <p:cNvSpPr/>
          <p:nvPr/>
        </p:nvSpPr>
        <p:spPr>
          <a:xfrm>
            <a:off x="777240" y="2537460"/>
            <a:ext cx="502920" cy="502920"/>
          </a:xfrm>
          <a:prstGeom prst="ellipse">
            <a:avLst/>
          </a:prstGeom>
          <a:solidFill>
            <a:srgbClr val="C9A24B"/>
          </a:solidFill>
          <a:ln/>
        </p:spPr>
      </p:sp>
      <p:sp>
        <p:nvSpPr>
          <p:cNvPr id="8" name="Text 5"/>
          <p:cNvSpPr/>
          <p:nvPr/>
        </p:nvSpPr>
        <p:spPr>
          <a:xfrm>
            <a:off x="777240" y="253746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A</a:t>
            </a:r>
            <a:endParaRPr lang="en-US" sz="1600" dirty="0"/>
          </a:p>
        </p:txBody>
      </p:sp>
      <p:sp>
        <p:nvSpPr>
          <p:cNvPr id="9" name="Text 6"/>
          <p:cNvSpPr/>
          <p:nvPr/>
        </p:nvSpPr>
        <p:spPr>
          <a:xfrm>
            <a:off x="1508760" y="233172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is inexpensive for any size of organization</a:t>
            </a:r>
            <a:endParaRPr lang="en-US" sz="1450" dirty="0"/>
          </a:p>
        </p:txBody>
      </p:sp>
      <p:sp>
        <p:nvSpPr>
          <p:cNvPr id="10" name="Shape 7"/>
          <p:cNvSpPr/>
          <p:nvPr/>
        </p:nvSpPr>
        <p:spPr>
          <a:xfrm>
            <a:off x="548640" y="3383280"/>
            <a:ext cx="11064240" cy="914400"/>
          </a:xfrm>
          <a:prstGeom prst="roundRect">
            <a:avLst>
              <a:gd name="adj" fmla="val 8000"/>
            </a:avLst>
          </a:prstGeom>
          <a:solidFill>
            <a:srgbClr val="1E2761"/>
          </a:solidFill>
          <a:ln/>
        </p:spPr>
      </p:sp>
      <p:sp>
        <p:nvSpPr>
          <p:cNvPr id="11" name="Shape 8"/>
          <p:cNvSpPr/>
          <p:nvPr/>
        </p:nvSpPr>
        <p:spPr>
          <a:xfrm>
            <a:off x="777240" y="3589020"/>
            <a:ext cx="502920" cy="502920"/>
          </a:xfrm>
          <a:prstGeom prst="ellipse">
            <a:avLst/>
          </a:prstGeom>
          <a:solidFill>
            <a:srgbClr val="C9A24B"/>
          </a:solidFill>
          <a:ln/>
        </p:spPr>
      </p:sp>
      <p:sp>
        <p:nvSpPr>
          <p:cNvPr id="12" name="Text 9"/>
          <p:cNvSpPr/>
          <p:nvPr/>
        </p:nvSpPr>
        <p:spPr>
          <a:xfrm>
            <a:off x="777240" y="358902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B</a:t>
            </a:r>
            <a:endParaRPr lang="en-US" sz="1600" dirty="0"/>
          </a:p>
        </p:txBody>
      </p:sp>
      <p:sp>
        <p:nvSpPr>
          <p:cNvPr id="13" name="Text 10"/>
          <p:cNvSpPr/>
          <p:nvPr/>
        </p:nvSpPr>
        <p:spPr>
          <a:xfrm>
            <a:off x="1508760" y="338328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is costly and may require duplication of functions</a:t>
            </a:r>
            <a:endParaRPr lang="en-US" sz="1450" dirty="0"/>
          </a:p>
        </p:txBody>
      </p:sp>
      <p:sp>
        <p:nvSpPr>
          <p:cNvPr id="14" name="Shape 11"/>
          <p:cNvSpPr/>
          <p:nvPr/>
        </p:nvSpPr>
        <p:spPr>
          <a:xfrm>
            <a:off x="548640" y="4434840"/>
            <a:ext cx="11064240" cy="914400"/>
          </a:xfrm>
          <a:prstGeom prst="roundRect">
            <a:avLst>
              <a:gd name="adj" fmla="val 8000"/>
            </a:avLst>
          </a:prstGeom>
          <a:solidFill>
            <a:srgbClr val="1E2761"/>
          </a:solidFill>
          <a:ln/>
        </p:spPr>
      </p:sp>
      <p:sp>
        <p:nvSpPr>
          <p:cNvPr id="15" name="Shape 12"/>
          <p:cNvSpPr/>
          <p:nvPr/>
        </p:nvSpPr>
        <p:spPr>
          <a:xfrm>
            <a:off x="777240" y="4640580"/>
            <a:ext cx="502920" cy="502920"/>
          </a:xfrm>
          <a:prstGeom prst="ellipse">
            <a:avLst/>
          </a:prstGeom>
          <a:solidFill>
            <a:srgbClr val="C9A24B"/>
          </a:solidFill>
          <a:ln/>
        </p:spPr>
      </p:sp>
      <p:sp>
        <p:nvSpPr>
          <p:cNvPr id="16" name="Text 13"/>
          <p:cNvSpPr/>
          <p:nvPr/>
        </p:nvSpPr>
        <p:spPr>
          <a:xfrm>
            <a:off x="777240" y="464058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C</a:t>
            </a:r>
            <a:endParaRPr lang="en-US" sz="1600" dirty="0"/>
          </a:p>
        </p:txBody>
      </p:sp>
      <p:sp>
        <p:nvSpPr>
          <p:cNvPr id="17" name="Text 14"/>
          <p:cNvSpPr/>
          <p:nvPr/>
        </p:nvSpPr>
        <p:spPr>
          <a:xfrm>
            <a:off x="1508760" y="443484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eliminates the need for competent managers</a:t>
            </a:r>
            <a:endParaRPr lang="en-US" sz="1450" dirty="0"/>
          </a:p>
        </p:txBody>
      </p:sp>
      <p:sp>
        <p:nvSpPr>
          <p:cNvPr id="18" name="Shape 15"/>
          <p:cNvSpPr/>
          <p:nvPr/>
        </p:nvSpPr>
        <p:spPr>
          <a:xfrm>
            <a:off x="548640" y="5486400"/>
            <a:ext cx="11064240" cy="914400"/>
          </a:xfrm>
          <a:prstGeom prst="roundRect">
            <a:avLst>
              <a:gd name="adj" fmla="val 8000"/>
            </a:avLst>
          </a:prstGeom>
          <a:solidFill>
            <a:srgbClr val="1E2761"/>
          </a:solidFill>
          <a:ln/>
        </p:spPr>
      </p:sp>
      <p:sp>
        <p:nvSpPr>
          <p:cNvPr id="19" name="Shape 16"/>
          <p:cNvSpPr/>
          <p:nvPr/>
        </p:nvSpPr>
        <p:spPr>
          <a:xfrm>
            <a:off x="777240" y="5692140"/>
            <a:ext cx="502920" cy="502920"/>
          </a:xfrm>
          <a:prstGeom prst="ellipse">
            <a:avLst/>
          </a:prstGeom>
          <a:solidFill>
            <a:srgbClr val="C9A24B"/>
          </a:solidFill>
          <a:ln/>
        </p:spPr>
      </p:sp>
      <p:sp>
        <p:nvSpPr>
          <p:cNvPr id="20" name="Text 17"/>
          <p:cNvSpPr/>
          <p:nvPr/>
        </p:nvSpPr>
        <p:spPr>
          <a:xfrm>
            <a:off x="777240" y="5692140"/>
            <a:ext cx="502920" cy="502920"/>
          </a:xfrm>
          <a:prstGeom prst="rect">
            <a:avLst/>
          </a:prstGeom>
          <a:noFill/>
          <a:ln/>
        </p:spPr>
        <p:txBody>
          <a:bodyPr wrap="square" lIns="0" tIns="0" rIns="0" bIns="0" rtlCol="0" anchor="ctr"/>
          <a:lstStyle/>
          <a:p>
            <a:pPr algn="ctr" indent="0" marL="0">
              <a:buNone/>
            </a:pPr>
            <a:r>
              <a:rPr lang="en-US" sz="1600" b="1" dirty="0">
                <a:solidFill>
                  <a:srgbClr val="141B48"/>
                </a:solidFill>
                <a:latin typeface="Cambria" pitchFamily="34" charset="0"/>
                <a:ea typeface="Cambria" pitchFamily="34" charset="-122"/>
                <a:cs typeface="Cambria" pitchFamily="34" charset="-120"/>
              </a:rPr>
              <a:t>D</a:t>
            </a:r>
            <a:endParaRPr lang="en-US" sz="1600" dirty="0"/>
          </a:p>
        </p:txBody>
      </p:sp>
      <p:sp>
        <p:nvSpPr>
          <p:cNvPr id="21" name="Text 18"/>
          <p:cNvSpPr/>
          <p:nvPr/>
        </p:nvSpPr>
        <p:spPr>
          <a:xfrm>
            <a:off x="1508760" y="5486400"/>
            <a:ext cx="9875520" cy="914400"/>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It always improves coordination automatically</a:t>
            </a:r>
            <a:endParaRPr lang="en-US" sz="1450" dirty="0"/>
          </a:p>
        </p:txBody>
      </p:sp>
      <p:sp>
        <p:nvSpPr>
          <p:cNvPr id="22" name="ans_12"/>
          <p:cNvSpPr/>
          <p:nvPr/>
        </p:nvSpPr>
        <p:spPr>
          <a:xfrm>
            <a:off x="548640" y="3383280"/>
            <a:ext cx="11064240" cy="914400"/>
          </a:xfrm>
          <a:prstGeom prst="roundRect">
            <a:avLst>
              <a:gd name="adj" fmla="val 8000"/>
            </a:avLst>
          </a:prstGeom>
          <a:solidFill>
            <a:srgbClr val="2E7D46">
              <a:alpha val="92000"/>
            </a:srgbClr>
          </a:solidFill>
          <a:ln w="25400">
            <a:solidFill>
              <a:srgbClr val="FFFFFF"/>
            </a:solidFill>
            <a:prstDash val="solid"/>
          </a:ln>
        </p:spPr>
      </p:sp>
      <p:sp>
        <p:nvSpPr>
          <p:cNvPr id="23" name="ans_12_b"/>
          <p:cNvSpPr/>
          <p:nvPr/>
        </p:nvSpPr>
        <p:spPr>
          <a:xfrm>
            <a:off x="777240" y="3589020"/>
            <a:ext cx="502920" cy="502920"/>
          </a:xfrm>
          <a:prstGeom prst="ellipse">
            <a:avLst/>
          </a:prstGeom>
          <a:solidFill>
            <a:srgbClr val="FFFFFF"/>
          </a:solidFill>
          <a:ln/>
        </p:spPr>
      </p:sp>
      <p:pic>
        <p:nvPicPr>
          <p:cNvPr id="24" name="Image 1" descr="correct">    </p:cNvPr>
          <p:cNvPicPr>
            <a:picLocks noChangeAspect="1"/>
          </p:cNvPicPr>
          <p:nvPr/>
        </p:nvPicPr>
        <p:blipFill>
          <a:blip r:embed="rId2"/>
          <a:stretch>
            <a:fillRect/>
          </a:stretch>
        </p:blipFill>
        <p:spPr>
          <a:xfrm>
            <a:off x="822960" y="3634740"/>
            <a:ext cx="411480" cy="411480"/>
          </a:xfrm>
          <a:prstGeom prst="rect">
            <a:avLst/>
          </a:prstGeom>
        </p:spPr>
      </p:pic>
      <p:sp>
        <p:nvSpPr>
          <p:cNvPr id="25" name="Text 21"/>
          <p:cNvSpPr/>
          <p:nvPr/>
        </p:nvSpPr>
        <p:spPr>
          <a:xfrm>
            <a:off x="1508760" y="3383280"/>
            <a:ext cx="8778240" cy="91440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It is costly and may require duplication of functions</a:t>
            </a:r>
            <a:endParaRPr lang="en-US" sz="1450" dirty="0"/>
          </a:p>
        </p:txBody>
      </p:sp>
      <p:sp>
        <p:nvSpPr>
          <p:cNvPr id="26" name="Text 22"/>
          <p:cNvSpPr/>
          <p:nvPr/>
        </p:nvSpPr>
        <p:spPr>
          <a:xfrm>
            <a:off x="10332720" y="3383280"/>
            <a:ext cx="128016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a:t>
            </a:r>
            <a:endParaRPr lang="en-US" sz="1200" dirty="0"/>
          </a:p>
        </p:txBody>
      </p:sp>
      <p:sp>
        <p:nvSpPr>
          <p:cNvPr id="27" name="Text 23"/>
          <p:cNvSpPr/>
          <p:nvPr/>
        </p:nvSpPr>
        <p:spPr>
          <a:xfrm>
            <a:off x="548640" y="6473952"/>
            <a:ext cx="7315200" cy="27432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Click / press a key to reveal the correct answer</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41B48"/>
        </a:solidFill>
      </p:bgPr>
    </p:bg>
    <p:spTree>
      <p:nvGrpSpPr>
        <p:cNvPr id="1" name=""/>
        <p:cNvGrpSpPr/>
        <p:nvPr/>
      </p:nvGrpSpPr>
      <p:grpSpPr>
        <a:xfrm>
          <a:off x="0" y="0"/>
          <a:ext cx="0" cy="0"/>
          <a:chOff x="0" y="0"/>
          <a:chExt cx="0" cy="0"/>
        </a:xfrm>
      </p:grpSpPr>
      <p:sp>
        <p:nvSpPr>
          <p:cNvPr id="2" name="Shape 0"/>
          <p:cNvSpPr/>
          <p:nvPr/>
        </p:nvSpPr>
        <p:spPr>
          <a:xfrm>
            <a:off x="-1463040" y="4114800"/>
            <a:ext cx="4572000" cy="4572000"/>
          </a:xfrm>
          <a:prstGeom prst="ellipse">
            <a:avLst/>
          </a:prstGeom>
          <a:solidFill>
            <a:srgbClr val="1E2761"/>
          </a:solidFill>
          <a:ln/>
        </p:spPr>
      </p:sp>
      <p:sp>
        <p:nvSpPr>
          <p:cNvPr id="3" name="Text 1"/>
          <p:cNvSpPr/>
          <p:nvPr/>
        </p:nvSpPr>
        <p:spPr>
          <a:xfrm>
            <a:off x="822960" y="502920"/>
            <a:ext cx="7315200" cy="365760"/>
          </a:xfrm>
          <a:prstGeom prst="rect">
            <a:avLst/>
          </a:prstGeom>
          <a:noFill/>
          <a:ln/>
        </p:spPr>
        <p:txBody>
          <a:bodyPr wrap="square" rtlCol="0" anchor="ctr"/>
          <a:lstStyle/>
          <a:p>
            <a:pPr indent="0" marL="0">
              <a:buNone/>
            </a:pPr>
            <a:r>
              <a:rPr lang="en-US" sz="1500" b="1" spc="300" kern="0" dirty="0">
                <a:solidFill>
                  <a:srgbClr val="C9A24B"/>
                </a:solidFill>
                <a:latin typeface="Calibri" pitchFamily="34" charset="0"/>
                <a:ea typeface="Calibri" pitchFamily="34" charset="-122"/>
                <a:cs typeface="Calibri" pitchFamily="34" charset="-120"/>
              </a:rPr>
              <a:t>KEY TAKEAWAYS</a:t>
            </a:r>
            <a:endParaRPr lang="en-US" sz="1500" dirty="0"/>
          </a:p>
        </p:txBody>
      </p:sp>
      <p:sp>
        <p:nvSpPr>
          <p:cNvPr id="4" name="Text 2"/>
          <p:cNvSpPr/>
          <p:nvPr/>
        </p:nvSpPr>
        <p:spPr>
          <a:xfrm>
            <a:off x="822960" y="868680"/>
            <a:ext cx="91440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Recap of Today's Lecture</a:t>
            </a:r>
            <a:endParaRPr lang="en-US" sz="2800" dirty="0"/>
          </a:p>
        </p:txBody>
      </p:sp>
      <p:sp>
        <p:nvSpPr>
          <p:cNvPr id="5" name="Text 3"/>
          <p:cNvSpPr/>
          <p:nvPr/>
        </p:nvSpPr>
        <p:spPr>
          <a:xfrm>
            <a:off x="822960" y="1691640"/>
            <a:ext cx="10515600" cy="1051560"/>
          </a:xfrm>
          <a:prstGeom prst="rect">
            <a:avLst/>
          </a:prstGeom>
          <a:noFill/>
          <a:ln/>
        </p:spPr>
        <p:txBody>
          <a:bodyPr wrap="square" rtlCol="0" anchor="t"/>
          <a:lstStyle/>
          <a:p>
            <a:pPr indent="0" marL="0">
              <a:lnSpc>
                <a:spcPct val="110000"/>
              </a:lnSpc>
              <a:buNone/>
            </a:pPr>
            <a:r>
              <a:rPr lang="en-US" sz="1400" b="1" dirty="0">
                <a:solidFill>
                  <a:srgbClr val="C9A24B"/>
                </a:solidFill>
                <a:latin typeface="Calibri" pitchFamily="34" charset="0"/>
                <a:ea typeface="Calibri" pitchFamily="34" charset="-122"/>
                <a:cs typeface="Calibri" pitchFamily="34" charset="-120"/>
              </a:rPr>
              <a:t>Nature &amp; Process:  </a:t>
            </a:r>
            <a:pPr indent="0" marL="0">
              <a:lnSpc>
                <a:spcPct val="110000"/>
              </a:lnSpc>
              <a:buNone/>
            </a:pPr>
            <a:r>
              <a:rPr lang="en-US" sz="1400" dirty="0">
                <a:solidFill>
                  <a:srgbClr val="CADCFC"/>
                </a:solidFill>
                <a:latin typeface="Calibri" pitchFamily="34" charset="0"/>
                <a:ea typeface="Calibri" pitchFamily="34" charset="-122"/>
                <a:cs typeface="Calibri" pitchFamily="34" charset="-120"/>
              </a:rPr>
              <a:t>Organization is a structure of inter-dependent parts, built through dividing effort, assigning tasks, delegating authority, and staffing it with the right people.</a:t>
            </a:r>
            <a:endParaRPr lang="en-US" sz="1400" dirty="0"/>
          </a:p>
        </p:txBody>
      </p:sp>
      <p:sp>
        <p:nvSpPr>
          <p:cNvPr id="6" name="Text 4"/>
          <p:cNvSpPr/>
          <p:nvPr/>
        </p:nvSpPr>
        <p:spPr>
          <a:xfrm>
            <a:off x="822960" y="2880360"/>
            <a:ext cx="10515600" cy="1051560"/>
          </a:xfrm>
          <a:prstGeom prst="rect">
            <a:avLst/>
          </a:prstGeom>
          <a:noFill/>
          <a:ln/>
        </p:spPr>
        <p:txBody>
          <a:bodyPr wrap="square" rtlCol="0" anchor="t"/>
          <a:lstStyle/>
          <a:p>
            <a:pPr indent="0" marL="0">
              <a:lnSpc>
                <a:spcPct val="110000"/>
              </a:lnSpc>
              <a:buNone/>
            </a:pPr>
            <a:r>
              <a:rPr lang="en-US" sz="1400" b="1" dirty="0">
                <a:solidFill>
                  <a:srgbClr val="C9A24B"/>
                </a:solidFill>
                <a:latin typeface="Calibri" pitchFamily="34" charset="0"/>
                <a:ea typeface="Calibri" pitchFamily="34" charset="-122"/>
                <a:cs typeface="Calibri" pitchFamily="34" charset="-120"/>
              </a:rPr>
              <a:t>Theory:  </a:t>
            </a:r>
            <a:pPr indent="0" marL="0">
              <a:lnSpc>
                <a:spcPct val="110000"/>
              </a:lnSpc>
              <a:buNone/>
            </a:pPr>
            <a:r>
              <a:rPr lang="en-US" sz="1400" dirty="0">
                <a:solidFill>
                  <a:srgbClr val="CADCFC"/>
                </a:solidFill>
                <a:latin typeface="Calibri" pitchFamily="34" charset="0"/>
                <a:ea typeface="Calibri" pitchFamily="34" charset="-122"/>
                <a:cs typeface="Calibri" pitchFamily="34" charset="-120"/>
              </a:rPr>
              <a:t>Classical theory built rigid, rule-bound structures; Neo-Classical Theory added the human dimension; Modern Theory views the organization as an integrated system.</a:t>
            </a:r>
            <a:endParaRPr lang="en-US" sz="1400" dirty="0"/>
          </a:p>
        </p:txBody>
      </p:sp>
      <p:sp>
        <p:nvSpPr>
          <p:cNvPr id="7" name="Text 5"/>
          <p:cNvSpPr/>
          <p:nvPr/>
        </p:nvSpPr>
        <p:spPr>
          <a:xfrm>
            <a:off x="822960" y="4069080"/>
            <a:ext cx="10515600" cy="1051560"/>
          </a:xfrm>
          <a:prstGeom prst="rect">
            <a:avLst/>
          </a:prstGeom>
          <a:noFill/>
          <a:ln/>
        </p:spPr>
        <p:txBody>
          <a:bodyPr wrap="square" rtlCol="0" anchor="t"/>
          <a:lstStyle/>
          <a:p>
            <a:pPr indent="0" marL="0">
              <a:lnSpc>
                <a:spcPct val="110000"/>
              </a:lnSpc>
              <a:buNone/>
            </a:pPr>
            <a:r>
              <a:rPr lang="en-US" sz="1400" b="1" dirty="0">
                <a:solidFill>
                  <a:srgbClr val="C9A24B"/>
                </a:solidFill>
                <a:latin typeface="Calibri" pitchFamily="34" charset="0"/>
                <a:ea typeface="Calibri" pitchFamily="34" charset="-122"/>
                <a:cs typeface="Calibri" pitchFamily="34" charset="-120"/>
              </a:rPr>
              <a:t>Authority &amp; Delegation:  </a:t>
            </a:r>
            <a:pPr indent="0" marL="0">
              <a:lnSpc>
                <a:spcPct val="110000"/>
              </a:lnSpc>
              <a:buNone/>
            </a:pPr>
            <a:r>
              <a:rPr lang="en-US" sz="1400" dirty="0">
                <a:solidFill>
                  <a:srgbClr val="CADCFC"/>
                </a:solidFill>
                <a:latin typeface="Calibri" pitchFamily="34" charset="0"/>
                <a:ea typeface="Calibri" pitchFamily="34" charset="-122"/>
                <a:cs typeface="Calibri" pitchFamily="34" charset="-120"/>
              </a:rPr>
              <a:t>Authority is a legal right, distinct from power; it flows top-down, but ultimately depends on subordinates' acceptance. Delegation multiplies a manager through others.</a:t>
            </a:r>
            <a:endParaRPr lang="en-US" sz="1400" dirty="0"/>
          </a:p>
        </p:txBody>
      </p:sp>
      <p:sp>
        <p:nvSpPr>
          <p:cNvPr id="8" name="Text 6"/>
          <p:cNvSpPr/>
          <p:nvPr/>
        </p:nvSpPr>
        <p:spPr>
          <a:xfrm>
            <a:off x="822960" y="5257800"/>
            <a:ext cx="10515600" cy="1051560"/>
          </a:xfrm>
          <a:prstGeom prst="rect">
            <a:avLst/>
          </a:prstGeom>
          <a:noFill/>
          <a:ln/>
        </p:spPr>
        <p:txBody>
          <a:bodyPr wrap="square" rtlCol="0" anchor="t"/>
          <a:lstStyle/>
          <a:p>
            <a:pPr indent="0" marL="0">
              <a:lnSpc>
                <a:spcPct val="110000"/>
              </a:lnSpc>
              <a:buNone/>
            </a:pPr>
            <a:r>
              <a:rPr lang="en-US" sz="1400" b="1" dirty="0">
                <a:solidFill>
                  <a:srgbClr val="C9A24B"/>
                </a:solidFill>
                <a:latin typeface="Calibri" pitchFamily="34" charset="0"/>
                <a:ea typeface="Calibri" pitchFamily="34" charset="-122"/>
                <a:cs typeface="Calibri" pitchFamily="34" charset="-120"/>
              </a:rPr>
              <a:t>Departmentation &amp; Decentralization:  </a:t>
            </a:r>
            <a:pPr indent="0" marL="0">
              <a:lnSpc>
                <a:spcPct val="110000"/>
              </a:lnSpc>
              <a:buNone/>
            </a:pPr>
            <a:r>
              <a:rPr lang="en-US" sz="1400" dirty="0">
                <a:solidFill>
                  <a:srgbClr val="CADCFC"/>
                </a:solidFill>
                <a:latin typeface="Calibri" pitchFamily="34" charset="0"/>
                <a:ea typeface="Calibri" pitchFamily="34" charset="-122"/>
                <a:cs typeface="Calibri" pitchFamily="34" charset="-120"/>
              </a:rPr>
              <a:t>Departments can be grouped by function, geography, product, customer or numbers; decentralization extends delegation across the whole organization, trading central control for local speed.</a:t>
            </a:r>
            <a:endParaRPr lang="en-US" sz="140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PRINCIPLES OF MANAGEMENT</a:t>
            </a:r>
            <a:endParaRPr lang="en-US" sz="11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1100" dirty="0">
                <a:solidFill>
                  <a:srgbClr val="6B7280"/>
                </a:solidFill>
                <a:latin typeface="Calibri" pitchFamily="34" charset="0"/>
                <a:ea typeface="Calibri" pitchFamily="34" charset="-122"/>
                <a:cs typeface="Calibri" pitchFamily="34" charset="-120"/>
              </a:rPr>
              <a:t>70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Management - Part V</dc:title>
  <dc:subject>PptxGenJS Presentation</dc:subject>
  <dc:creator>Dr. Rajakrishnan Manivel</dc:creator>
  <cp:lastModifiedBy>Dr. Rajakrishnan Manivel</cp:lastModifiedBy>
  <cp:revision>1</cp:revision>
  <dcterms:created xsi:type="dcterms:W3CDTF">2026-08-28T02:32:49Z</dcterms:created>
  <dcterms:modified xsi:type="dcterms:W3CDTF">2026-08-28T02:32:49Z</dcterms:modified>
</cp:coreProperties>
</file>