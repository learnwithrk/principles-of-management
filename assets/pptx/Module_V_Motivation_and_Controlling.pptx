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MODULE V</a:t>
            </a:r>
            <a:endParaRPr lang="en-US" sz="1500" dirty="0"/>
          </a:p>
        </p:txBody>
      </p:sp>
      <p:sp>
        <p:nvSpPr>
          <p:cNvPr id="5" name="Text 3"/>
          <p:cNvSpPr/>
          <p:nvPr/>
        </p:nvSpPr>
        <p:spPr>
          <a:xfrm>
            <a:off x="822960" y="1737360"/>
            <a:ext cx="987552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Motivation and Controlling</a:t>
            </a:r>
            <a:endParaRPr lang="en-US" sz="4200" dirty="0"/>
          </a:p>
        </p:txBody>
      </p:sp>
      <p:sp>
        <p:nvSpPr>
          <p:cNvPr id="6" name="Text 4"/>
          <p:cNvSpPr/>
          <p:nvPr/>
        </p:nvSpPr>
        <p:spPr>
          <a:xfrm>
            <a:off x="822960" y="2788920"/>
            <a:ext cx="9784080" cy="777240"/>
          </a:xfrm>
          <a:prstGeom prst="rect">
            <a:avLst/>
          </a:prstGeom>
          <a:noFill/>
          <a:ln/>
        </p:spPr>
        <p:txBody>
          <a:bodyPr wrap="square" rtlCol="0" anchor="t"/>
          <a:lstStyle/>
          <a:p>
            <a:pPr indent="0" marL="0">
              <a:buNone/>
            </a:pPr>
            <a:r>
              <a:rPr lang="en-US" sz="1600" dirty="0">
                <a:solidFill>
                  <a:srgbClr val="CADCFC"/>
                </a:solidFill>
                <a:latin typeface="Calibri" pitchFamily="34" charset="0"/>
                <a:ea typeface="Calibri" pitchFamily="34" charset="-122"/>
                <a:cs typeface="Calibri" pitchFamily="34" charset="-120"/>
              </a:rPr>
              <a:t>Motivation &amp; Its Theories • Co-ordination • The Control Process • Sustainable Wisdom from Ancient India • AI in Management</a:t>
            </a:r>
            <a:endParaRPr lang="en-US" sz="1600" dirty="0"/>
          </a:p>
        </p:txBody>
      </p:sp>
      <p:sp>
        <p:nvSpPr>
          <p:cNvPr id="7" name="Shape 5"/>
          <p:cNvSpPr/>
          <p:nvPr/>
        </p:nvSpPr>
        <p:spPr>
          <a:xfrm>
            <a:off x="868680" y="3749040"/>
            <a:ext cx="2011680" cy="0"/>
          </a:xfrm>
          <a:prstGeom prst="line">
            <a:avLst/>
          </a:prstGeom>
          <a:noFill/>
          <a:ln w="25400">
            <a:solidFill>
              <a:srgbClr val="C9A24B"/>
            </a:solidFill>
            <a:prstDash val="solid"/>
          </a:ln>
        </p:spPr>
      </p:sp>
      <p:sp>
        <p:nvSpPr>
          <p:cNvPr id="8" name="Text 6"/>
          <p:cNvSpPr/>
          <p:nvPr/>
        </p:nvSpPr>
        <p:spPr>
          <a:xfrm>
            <a:off x="822960" y="576072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LECTURE ROADMAP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We Will Cover Today</a:t>
            </a:r>
            <a:endParaRPr lang="en-US" sz="2700" dirty="0"/>
          </a:p>
        </p:txBody>
      </p:sp>
      <p:sp>
        <p:nvSpPr>
          <p:cNvPr id="4" name="Shape 2"/>
          <p:cNvSpPr/>
          <p:nvPr/>
        </p:nvSpPr>
        <p:spPr>
          <a:xfrm>
            <a:off x="548640" y="1691640"/>
            <a:ext cx="11064240" cy="841248"/>
          </a:xfrm>
          <a:prstGeom prst="roundRect">
            <a:avLst>
              <a:gd name="adj" fmla="val 8696"/>
            </a:avLst>
          </a:prstGeom>
          <a:solidFill>
            <a:srgbClr val="EEF3FC"/>
          </a:solidFill>
          <a:ln/>
        </p:spPr>
      </p:sp>
      <p:sp>
        <p:nvSpPr>
          <p:cNvPr id="5" name="Shape 3"/>
          <p:cNvSpPr/>
          <p:nvPr/>
        </p:nvSpPr>
        <p:spPr>
          <a:xfrm>
            <a:off x="777240" y="1837944"/>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19886" y="1980590"/>
            <a:ext cx="263347" cy="263347"/>
          </a:xfrm>
          <a:prstGeom prst="rect">
            <a:avLst/>
          </a:prstGeom>
        </p:spPr>
      </p:pic>
      <p:sp>
        <p:nvSpPr>
          <p:cNvPr id="7" name="Text 4"/>
          <p:cNvSpPr/>
          <p:nvPr/>
        </p:nvSpPr>
        <p:spPr>
          <a:xfrm>
            <a:off x="1508760" y="1801368"/>
            <a:ext cx="45720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A</a:t>
            </a:r>
            <a:endParaRPr lang="en-US" sz="1800" dirty="0"/>
          </a:p>
        </p:txBody>
      </p:sp>
      <p:sp>
        <p:nvSpPr>
          <p:cNvPr id="8" name="Text 5"/>
          <p:cNvSpPr/>
          <p:nvPr/>
        </p:nvSpPr>
        <p:spPr>
          <a:xfrm>
            <a:off x="2103120" y="1764792"/>
            <a:ext cx="9052560" cy="38404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Motivation — Meaning, Process &amp; Nature</a:t>
            </a:r>
            <a:endParaRPr lang="en-US" sz="1550" dirty="0"/>
          </a:p>
        </p:txBody>
      </p:sp>
      <p:sp>
        <p:nvSpPr>
          <p:cNvPr id="9" name="Text 6"/>
          <p:cNvSpPr/>
          <p:nvPr/>
        </p:nvSpPr>
        <p:spPr>
          <a:xfrm>
            <a:off x="2103120" y="2148840"/>
            <a:ext cx="9052560" cy="32918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What drives people to act, and how</a:t>
            </a:r>
            <a:endParaRPr lang="en-US" sz="1200" dirty="0"/>
          </a:p>
        </p:txBody>
      </p:sp>
      <p:sp>
        <p:nvSpPr>
          <p:cNvPr id="10" name="Shape 7"/>
          <p:cNvSpPr/>
          <p:nvPr/>
        </p:nvSpPr>
        <p:spPr>
          <a:xfrm>
            <a:off x="548640" y="2624328"/>
            <a:ext cx="11064240" cy="841248"/>
          </a:xfrm>
          <a:prstGeom prst="roundRect">
            <a:avLst>
              <a:gd name="adj" fmla="val 8696"/>
            </a:avLst>
          </a:prstGeom>
          <a:solidFill>
            <a:srgbClr val="EEF3FC"/>
          </a:solidFill>
          <a:ln/>
        </p:spPr>
      </p:sp>
      <p:sp>
        <p:nvSpPr>
          <p:cNvPr id="11" name="Shape 8"/>
          <p:cNvSpPr/>
          <p:nvPr/>
        </p:nvSpPr>
        <p:spPr>
          <a:xfrm>
            <a:off x="777240" y="2770632"/>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919886" y="2913278"/>
            <a:ext cx="263347" cy="263347"/>
          </a:xfrm>
          <a:prstGeom prst="rect">
            <a:avLst/>
          </a:prstGeom>
        </p:spPr>
      </p:pic>
      <p:sp>
        <p:nvSpPr>
          <p:cNvPr id="13" name="Text 9"/>
          <p:cNvSpPr/>
          <p:nvPr/>
        </p:nvSpPr>
        <p:spPr>
          <a:xfrm>
            <a:off x="1508760" y="2734056"/>
            <a:ext cx="45720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B</a:t>
            </a:r>
            <a:endParaRPr lang="en-US" sz="1800" dirty="0"/>
          </a:p>
        </p:txBody>
      </p:sp>
      <p:sp>
        <p:nvSpPr>
          <p:cNvPr id="14" name="Text 10"/>
          <p:cNvSpPr/>
          <p:nvPr/>
        </p:nvSpPr>
        <p:spPr>
          <a:xfrm>
            <a:off x="2103120" y="2697480"/>
            <a:ext cx="9052560" cy="38404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Theories of Motivation</a:t>
            </a:r>
            <a:endParaRPr lang="en-US" sz="1550" dirty="0"/>
          </a:p>
        </p:txBody>
      </p:sp>
      <p:sp>
        <p:nvSpPr>
          <p:cNvPr id="15" name="Text 11"/>
          <p:cNvSpPr/>
          <p:nvPr/>
        </p:nvSpPr>
        <p:spPr>
          <a:xfrm>
            <a:off x="2103120" y="3081528"/>
            <a:ext cx="9052560" cy="32918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Maslow's Hierarchy, Herzberg's Two Factors &amp; Types of Motivation</a:t>
            </a:r>
            <a:endParaRPr lang="en-US" sz="1200" dirty="0"/>
          </a:p>
        </p:txBody>
      </p:sp>
      <p:sp>
        <p:nvSpPr>
          <p:cNvPr id="16" name="Shape 12"/>
          <p:cNvSpPr/>
          <p:nvPr/>
        </p:nvSpPr>
        <p:spPr>
          <a:xfrm>
            <a:off x="548640" y="3557016"/>
            <a:ext cx="11064240" cy="841248"/>
          </a:xfrm>
          <a:prstGeom prst="roundRect">
            <a:avLst>
              <a:gd name="adj" fmla="val 8696"/>
            </a:avLst>
          </a:prstGeom>
          <a:solidFill>
            <a:srgbClr val="EEF3FC"/>
          </a:solidFill>
          <a:ln/>
        </p:spPr>
      </p:sp>
      <p:sp>
        <p:nvSpPr>
          <p:cNvPr id="17" name="Shape 13"/>
          <p:cNvSpPr/>
          <p:nvPr/>
        </p:nvSpPr>
        <p:spPr>
          <a:xfrm>
            <a:off x="777240" y="3703320"/>
            <a:ext cx="548640" cy="54864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19886" y="3845966"/>
            <a:ext cx="263347" cy="263347"/>
          </a:xfrm>
          <a:prstGeom prst="rect">
            <a:avLst/>
          </a:prstGeom>
        </p:spPr>
      </p:pic>
      <p:sp>
        <p:nvSpPr>
          <p:cNvPr id="19" name="Text 14"/>
          <p:cNvSpPr/>
          <p:nvPr/>
        </p:nvSpPr>
        <p:spPr>
          <a:xfrm>
            <a:off x="1508760" y="3666744"/>
            <a:ext cx="45720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C</a:t>
            </a:r>
            <a:endParaRPr lang="en-US" sz="1800" dirty="0"/>
          </a:p>
        </p:txBody>
      </p:sp>
      <p:sp>
        <p:nvSpPr>
          <p:cNvPr id="20" name="Text 15"/>
          <p:cNvSpPr/>
          <p:nvPr/>
        </p:nvSpPr>
        <p:spPr>
          <a:xfrm>
            <a:off x="2103120" y="3630168"/>
            <a:ext cx="9052560" cy="38404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Co-ordination</a:t>
            </a:r>
            <a:endParaRPr lang="en-US" sz="1550" dirty="0"/>
          </a:p>
        </p:txBody>
      </p:sp>
      <p:sp>
        <p:nvSpPr>
          <p:cNvPr id="21" name="Text 16"/>
          <p:cNvSpPr/>
          <p:nvPr/>
        </p:nvSpPr>
        <p:spPr>
          <a:xfrm>
            <a:off x="2103120" y="4014216"/>
            <a:ext cx="9052560" cy="32918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'essence of management' — with Indian corporate case studies</a:t>
            </a:r>
            <a:endParaRPr lang="en-US" sz="1200" dirty="0"/>
          </a:p>
        </p:txBody>
      </p:sp>
      <p:sp>
        <p:nvSpPr>
          <p:cNvPr id="22" name="Shape 17"/>
          <p:cNvSpPr/>
          <p:nvPr/>
        </p:nvSpPr>
        <p:spPr>
          <a:xfrm>
            <a:off x="548640" y="4489704"/>
            <a:ext cx="11064240" cy="841248"/>
          </a:xfrm>
          <a:prstGeom prst="roundRect">
            <a:avLst>
              <a:gd name="adj" fmla="val 8696"/>
            </a:avLst>
          </a:prstGeom>
          <a:solidFill>
            <a:srgbClr val="EEF3FC"/>
          </a:solidFill>
          <a:ln/>
        </p:spPr>
      </p:sp>
      <p:sp>
        <p:nvSpPr>
          <p:cNvPr id="23" name="Shape 18"/>
          <p:cNvSpPr/>
          <p:nvPr/>
        </p:nvSpPr>
        <p:spPr>
          <a:xfrm>
            <a:off x="777240" y="4636008"/>
            <a:ext cx="548640" cy="548640"/>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919886" y="4778654"/>
            <a:ext cx="263347" cy="263347"/>
          </a:xfrm>
          <a:prstGeom prst="rect">
            <a:avLst/>
          </a:prstGeom>
        </p:spPr>
      </p:pic>
      <p:sp>
        <p:nvSpPr>
          <p:cNvPr id="25" name="Text 19"/>
          <p:cNvSpPr/>
          <p:nvPr/>
        </p:nvSpPr>
        <p:spPr>
          <a:xfrm>
            <a:off x="1508760" y="4599432"/>
            <a:ext cx="45720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D</a:t>
            </a:r>
            <a:endParaRPr lang="en-US" sz="1800" dirty="0"/>
          </a:p>
        </p:txBody>
      </p:sp>
      <p:sp>
        <p:nvSpPr>
          <p:cNvPr id="26" name="Text 20"/>
          <p:cNvSpPr/>
          <p:nvPr/>
        </p:nvSpPr>
        <p:spPr>
          <a:xfrm>
            <a:off x="2103120" y="4562856"/>
            <a:ext cx="9052560" cy="38404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Control</a:t>
            </a:r>
            <a:endParaRPr lang="en-US" sz="1550" dirty="0"/>
          </a:p>
        </p:txBody>
      </p:sp>
      <p:sp>
        <p:nvSpPr>
          <p:cNvPr id="27" name="Text 21"/>
          <p:cNvSpPr/>
          <p:nvPr/>
        </p:nvSpPr>
        <p:spPr>
          <a:xfrm>
            <a:off x="2103120" y="4946904"/>
            <a:ext cx="9052560" cy="32918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Process, characteristics of an ideal system &amp; control techniques</a:t>
            </a:r>
            <a:endParaRPr lang="en-US" sz="1200" dirty="0"/>
          </a:p>
        </p:txBody>
      </p:sp>
      <p:sp>
        <p:nvSpPr>
          <p:cNvPr id="28" name="Shape 22"/>
          <p:cNvSpPr/>
          <p:nvPr/>
        </p:nvSpPr>
        <p:spPr>
          <a:xfrm>
            <a:off x="548640" y="5422392"/>
            <a:ext cx="11064240" cy="841248"/>
          </a:xfrm>
          <a:prstGeom prst="roundRect">
            <a:avLst>
              <a:gd name="adj" fmla="val 8696"/>
            </a:avLst>
          </a:prstGeom>
          <a:solidFill>
            <a:srgbClr val="EEF3FC"/>
          </a:solidFill>
          <a:ln/>
        </p:spPr>
      </p:sp>
      <p:sp>
        <p:nvSpPr>
          <p:cNvPr id="29" name="Shape 23"/>
          <p:cNvSpPr/>
          <p:nvPr/>
        </p:nvSpPr>
        <p:spPr>
          <a:xfrm>
            <a:off x="777240" y="5568696"/>
            <a:ext cx="548640" cy="548640"/>
          </a:xfrm>
          <a:prstGeom prst="ellipse">
            <a:avLst/>
          </a:prstGeom>
          <a:solidFill>
            <a:srgbClr val="1E2761"/>
          </a:solidFill>
          <a:ln/>
        </p:spPr>
      </p:sp>
      <p:pic>
        <p:nvPicPr>
          <p:cNvPr id="30" name="Image 4" descr="preencoded.png">    </p:cNvPr>
          <p:cNvPicPr>
            <a:picLocks noChangeAspect="1"/>
          </p:cNvPicPr>
          <p:nvPr/>
        </p:nvPicPr>
        <p:blipFill>
          <a:blip r:embed="rId5"/>
          <a:stretch>
            <a:fillRect/>
          </a:stretch>
        </p:blipFill>
        <p:spPr>
          <a:xfrm>
            <a:off x="919886" y="5711342"/>
            <a:ext cx="263347" cy="263347"/>
          </a:xfrm>
          <a:prstGeom prst="rect">
            <a:avLst/>
          </a:prstGeom>
        </p:spPr>
      </p:pic>
      <p:sp>
        <p:nvSpPr>
          <p:cNvPr id="31" name="Text 24"/>
          <p:cNvSpPr/>
          <p:nvPr/>
        </p:nvSpPr>
        <p:spPr>
          <a:xfrm>
            <a:off x="1508760" y="5532120"/>
            <a:ext cx="457200" cy="365760"/>
          </a:xfrm>
          <a:prstGeom prst="rect">
            <a:avLst/>
          </a:prstGeom>
          <a:noFill/>
          <a:ln/>
        </p:spPr>
        <p:txBody>
          <a:bodyPr wrap="square" lIns="0" tIns="0" rIns="0" bIns="0" rtlCol="0" anchor="ctr"/>
          <a:lstStyle/>
          <a:p>
            <a:pPr indent="0" marL="0">
              <a:buNone/>
            </a:pPr>
            <a:r>
              <a:rPr lang="en-US" sz="1800" b="1" dirty="0">
                <a:solidFill>
                  <a:srgbClr val="C9A24B"/>
                </a:solidFill>
                <a:latin typeface="Cambria" pitchFamily="34" charset="0"/>
                <a:ea typeface="Cambria" pitchFamily="34" charset="-122"/>
                <a:cs typeface="Cambria" pitchFamily="34" charset="-120"/>
              </a:rPr>
              <a:t>E</a:t>
            </a:r>
            <a:endParaRPr lang="en-US" sz="1800" dirty="0"/>
          </a:p>
        </p:txBody>
      </p:sp>
      <p:sp>
        <p:nvSpPr>
          <p:cNvPr id="32" name="Text 25"/>
          <p:cNvSpPr/>
          <p:nvPr/>
        </p:nvSpPr>
        <p:spPr>
          <a:xfrm>
            <a:off x="2103120" y="5495544"/>
            <a:ext cx="9052560" cy="384048"/>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Ancient India &amp; AI in Management</a:t>
            </a:r>
            <a:endParaRPr lang="en-US" sz="1550" dirty="0"/>
          </a:p>
        </p:txBody>
      </p:sp>
      <p:sp>
        <p:nvSpPr>
          <p:cNvPr id="33" name="Text 26"/>
          <p:cNvSpPr/>
          <p:nvPr/>
        </p:nvSpPr>
        <p:spPr>
          <a:xfrm>
            <a:off x="2103120" y="5879592"/>
            <a:ext cx="9052560" cy="329184"/>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Sustainable wisdom from the past, and intelligence from the present</a:t>
            </a:r>
            <a:endParaRPr lang="en-US" sz="1200" dirty="0"/>
          </a:p>
        </p:txBody>
      </p:sp>
      <p:sp>
        <p:nvSpPr>
          <p:cNvPr id="34" name="Text 27"/>
          <p:cNvSpPr/>
          <p:nvPr/>
        </p:nvSpPr>
        <p:spPr>
          <a:xfrm>
            <a:off x="548640" y="6400800"/>
            <a:ext cx="10972800" cy="36576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Wraps up with Recall Questions for revision.</a:t>
            </a:r>
            <a:endParaRPr lang="en-US" sz="1250" dirty="0"/>
          </a:p>
        </p:txBody>
      </p:sp>
      <p:sp>
        <p:nvSpPr>
          <p:cNvPr id="35" name="Text 2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36" name="Text 2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A</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Motivation</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Meaning, Process and Nature of Motivation</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Understanding what makes people willing to put in effort is the starting point for getting the best out of any team.</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MOTIVATION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of Motivation</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Motivation is the internal psychological process that energizes, directs, and sustains behavior toward achieving a goal.</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In a management context, motivation refers to the set of forces that cause people to choose certain behaviors from among available alternatives, put in effort, and persist in that effort until organizational and personal goals are achieved.</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A manager cannot directly 'give' someone motivation — but can create the conditions (incentives, recognition, meaningful work) under which people motivate themselves.</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Same Job, Different Drive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Two salespeople with identical targets: one is driven by the commission cheque, the other by the thrill of closing a hard deal — both effort, different fuel.</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MOTIVATION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MOTIVATION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Process of Motivation — a Continuous Cycle</a:t>
            </a:r>
            <a:endParaRPr lang="en-US" sz="2700" dirty="0"/>
          </a:p>
        </p:txBody>
      </p:sp>
      <p:sp>
        <p:nvSpPr>
          <p:cNvPr id="4" name="Text 2"/>
          <p:cNvSpPr/>
          <p:nvPr/>
        </p:nvSpPr>
        <p:spPr>
          <a:xfrm>
            <a:off x="548640" y="1600200"/>
            <a:ext cx="11064240" cy="777240"/>
          </a:xfrm>
          <a:prstGeom prst="rect">
            <a:avLst/>
          </a:prstGeom>
          <a:noFill/>
          <a:ln/>
        </p:spPr>
        <p:txBody>
          <a:bodyPr wrap="square" rtlCol="0" anchor="t"/>
          <a:lstStyle/>
          <a:p>
            <a:pPr indent="0" marL="0">
              <a:buNone/>
            </a:pPr>
            <a:r>
              <a:rPr lang="en-US" sz="1400" dirty="0">
                <a:solidFill>
                  <a:srgbClr val="2B2B33"/>
                </a:solidFill>
                <a:latin typeface="Calibri" pitchFamily="34" charset="0"/>
                <a:ea typeface="Calibri" pitchFamily="34" charset="-122"/>
                <a:cs typeface="Calibri" pitchFamily="34" charset="-120"/>
              </a:rPr>
              <a:t>Motivation is best understood as a cycle: an unmet need creates tension, which drives goal-directed behavior, leading to need satisfaction — until a new need emerges and the cycle begins again.</a:t>
            </a:r>
            <a:endParaRPr lang="en-US" sz="1400" dirty="0"/>
          </a:p>
        </p:txBody>
      </p:sp>
      <p:sp>
        <p:nvSpPr>
          <p:cNvPr id="5" name="Shape 3"/>
          <p:cNvSpPr/>
          <p:nvPr/>
        </p:nvSpPr>
        <p:spPr>
          <a:xfrm>
            <a:off x="868680" y="3017520"/>
            <a:ext cx="1828800" cy="1005840"/>
          </a:xfrm>
          <a:prstGeom prst="roundRect">
            <a:avLst>
              <a:gd name="adj" fmla="val 7273"/>
            </a:avLst>
          </a:prstGeom>
          <a:solidFill>
            <a:srgbClr val="1E2761"/>
          </a:solidFill>
          <a:ln/>
        </p:spPr>
      </p:sp>
      <p:sp>
        <p:nvSpPr>
          <p:cNvPr id="6" name="Text 4"/>
          <p:cNvSpPr/>
          <p:nvPr/>
        </p:nvSpPr>
        <p:spPr>
          <a:xfrm>
            <a:off x="941832" y="3017520"/>
            <a:ext cx="1682496"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Unsatisfied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Need</a:t>
            </a:r>
            <a:endParaRPr lang="en-US" sz="1250" dirty="0"/>
          </a:p>
        </p:txBody>
      </p:sp>
      <p:sp>
        <p:nvSpPr>
          <p:cNvPr id="7" name="Shape 5"/>
          <p:cNvSpPr/>
          <p:nvPr/>
        </p:nvSpPr>
        <p:spPr>
          <a:xfrm>
            <a:off x="2724912" y="3429000"/>
            <a:ext cx="265176" cy="182880"/>
          </a:xfrm>
          <a:prstGeom prst="rightArrow">
            <a:avLst/>
          </a:prstGeom>
          <a:solidFill>
            <a:srgbClr val="C9A24B"/>
          </a:solidFill>
          <a:ln/>
        </p:spPr>
      </p:sp>
      <p:sp>
        <p:nvSpPr>
          <p:cNvPr id="8" name="Shape 6"/>
          <p:cNvSpPr/>
          <p:nvPr/>
        </p:nvSpPr>
        <p:spPr>
          <a:xfrm>
            <a:off x="3017520" y="3017520"/>
            <a:ext cx="1828800" cy="1005840"/>
          </a:xfrm>
          <a:prstGeom prst="roundRect">
            <a:avLst>
              <a:gd name="adj" fmla="val 7273"/>
            </a:avLst>
          </a:prstGeom>
          <a:solidFill>
            <a:srgbClr val="1E2761"/>
          </a:solidFill>
          <a:ln/>
        </p:spPr>
      </p:sp>
      <p:sp>
        <p:nvSpPr>
          <p:cNvPr id="9" name="Text 7"/>
          <p:cNvSpPr/>
          <p:nvPr/>
        </p:nvSpPr>
        <p:spPr>
          <a:xfrm>
            <a:off x="3090672" y="3017520"/>
            <a:ext cx="1682496"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Tension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Drive</a:t>
            </a:r>
            <a:endParaRPr lang="en-US" sz="1250" dirty="0"/>
          </a:p>
        </p:txBody>
      </p:sp>
      <p:sp>
        <p:nvSpPr>
          <p:cNvPr id="10" name="Shape 8"/>
          <p:cNvSpPr/>
          <p:nvPr/>
        </p:nvSpPr>
        <p:spPr>
          <a:xfrm>
            <a:off x="4873752" y="3429000"/>
            <a:ext cx="265176" cy="182880"/>
          </a:xfrm>
          <a:prstGeom prst="rightArrow">
            <a:avLst/>
          </a:prstGeom>
          <a:solidFill>
            <a:srgbClr val="C9A24B"/>
          </a:solidFill>
          <a:ln/>
        </p:spPr>
      </p:sp>
      <p:sp>
        <p:nvSpPr>
          <p:cNvPr id="11" name="Shape 9"/>
          <p:cNvSpPr/>
          <p:nvPr/>
        </p:nvSpPr>
        <p:spPr>
          <a:xfrm>
            <a:off x="5166360" y="3017520"/>
            <a:ext cx="1828800" cy="1005840"/>
          </a:xfrm>
          <a:prstGeom prst="roundRect">
            <a:avLst>
              <a:gd name="adj" fmla="val 7273"/>
            </a:avLst>
          </a:prstGeom>
          <a:solidFill>
            <a:srgbClr val="1E2761"/>
          </a:solidFill>
          <a:ln/>
        </p:spPr>
      </p:sp>
      <p:sp>
        <p:nvSpPr>
          <p:cNvPr id="12" name="Text 10"/>
          <p:cNvSpPr/>
          <p:nvPr/>
        </p:nvSpPr>
        <p:spPr>
          <a:xfrm>
            <a:off x="5239512" y="3017520"/>
            <a:ext cx="1682496"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Goal-Directed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Behavior</a:t>
            </a:r>
            <a:endParaRPr lang="en-US" sz="1250" dirty="0"/>
          </a:p>
        </p:txBody>
      </p:sp>
      <p:sp>
        <p:nvSpPr>
          <p:cNvPr id="13" name="Shape 11"/>
          <p:cNvSpPr/>
          <p:nvPr/>
        </p:nvSpPr>
        <p:spPr>
          <a:xfrm>
            <a:off x="7022592" y="3429000"/>
            <a:ext cx="265176" cy="182880"/>
          </a:xfrm>
          <a:prstGeom prst="rightArrow">
            <a:avLst/>
          </a:prstGeom>
          <a:solidFill>
            <a:srgbClr val="C9A24B"/>
          </a:solidFill>
          <a:ln/>
        </p:spPr>
      </p:sp>
      <p:sp>
        <p:nvSpPr>
          <p:cNvPr id="14" name="Shape 12"/>
          <p:cNvSpPr/>
          <p:nvPr/>
        </p:nvSpPr>
        <p:spPr>
          <a:xfrm>
            <a:off x="7315200" y="3017520"/>
            <a:ext cx="1828800" cy="1005840"/>
          </a:xfrm>
          <a:prstGeom prst="roundRect">
            <a:avLst>
              <a:gd name="adj" fmla="val 7273"/>
            </a:avLst>
          </a:prstGeom>
          <a:solidFill>
            <a:srgbClr val="1E2761"/>
          </a:solidFill>
          <a:ln/>
        </p:spPr>
      </p:sp>
      <p:sp>
        <p:nvSpPr>
          <p:cNvPr id="15" name="Text 13"/>
          <p:cNvSpPr/>
          <p:nvPr/>
        </p:nvSpPr>
        <p:spPr>
          <a:xfrm>
            <a:off x="7388352" y="3017520"/>
            <a:ext cx="1682496"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Goal</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Achievement</a:t>
            </a:r>
            <a:endParaRPr lang="en-US" sz="1250" dirty="0"/>
          </a:p>
        </p:txBody>
      </p:sp>
      <p:sp>
        <p:nvSpPr>
          <p:cNvPr id="16" name="Shape 14"/>
          <p:cNvSpPr/>
          <p:nvPr/>
        </p:nvSpPr>
        <p:spPr>
          <a:xfrm>
            <a:off x="9171432" y="3429000"/>
            <a:ext cx="265176" cy="182880"/>
          </a:xfrm>
          <a:prstGeom prst="rightArrow">
            <a:avLst/>
          </a:prstGeom>
          <a:solidFill>
            <a:srgbClr val="C9A24B"/>
          </a:solidFill>
          <a:ln/>
        </p:spPr>
      </p:sp>
      <p:sp>
        <p:nvSpPr>
          <p:cNvPr id="17" name="Shape 15"/>
          <p:cNvSpPr/>
          <p:nvPr/>
        </p:nvSpPr>
        <p:spPr>
          <a:xfrm>
            <a:off x="9464040" y="3017520"/>
            <a:ext cx="1828800" cy="1005840"/>
          </a:xfrm>
          <a:prstGeom prst="roundRect">
            <a:avLst>
              <a:gd name="adj" fmla="val 7273"/>
            </a:avLst>
          </a:prstGeom>
          <a:solidFill>
            <a:srgbClr val="1E2761"/>
          </a:solidFill>
          <a:ln/>
        </p:spPr>
      </p:sp>
      <p:sp>
        <p:nvSpPr>
          <p:cNvPr id="18" name="Text 16"/>
          <p:cNvSpPr/>
          <p:nvPr/>
        </p:nvSpPr>
        <p:spPr>
          <a:xfrm>
            <a:off x="9537192" y="3017520"/>
            <a:ext cx="1682496"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Need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Satisfaction</a:t>
            </a:r>
            <a:endParaRPr lang="en-US" sz="1250" dirty="0"/>
          </a:p>
        </p:txBody>
      </p:sp>
      <p:sp>
        <p:nvSpPr>
          <p:cNvPr id="19" name="Shape 17"/>
          <p:cNvSpPr/>
          <p:nvPr/>
        </p:nvSpPr>
        <p:spPr>
          <a:xfrm>
            <a:off x="10378440" y="4023360"/>
            <a:ext cx="0" cy="502920"/>
          </a:xfrm>
          <a:prstGeom prst="line">
            <a:avLst/>
          </a:prstGeom>
          <a:noFill/>
          <a:ln w="19050">
            <a:solidFill>
              <a:srgbClr val="C9A24B"/>
            </a:solidFill>
            <a:prstDash val="dash"/>
          </a:ln>
        </p:spPr>
      </p:sp>
      <p:sp>
        <p:nvSpPr>
          <p:cNvPr id="20" name="Shape 18"/>
          <p:cNvSpPr/>
          <p:nvPr/>
        </p:nvSpPr>
        <p:spPr>
          <a:xfrm>
            <a:off x="1783080" y="4526280"/>
            <a:ext cx="8595360" cy="0"/>
          </a:xfrm>
          <a:prstGeom prst="line">
            <a:avLst/>
          </a:prstGeom>
          <a:noFill/>
          <a:ln w="19050">
            <a:solidFill>
              <a:srgbClr val="C9A24B"/>
            </a:solidFill>
            <a:prstDash val="dash"/>
          </a:ln>
        </p:spPr>
      </p:sp>
      <p:sp>
        <p:nvSpPr>
          <p:cNvPr id="21" name="Shape 19"/>
          <p:cNvSpPr/>
          <p:nvPr/>
        </p:nvSpPr>
        <p:spPr>
          <a:xfrm>
            <a:off x="1783080" y="4023360"/>
            <a:ext cx="0" cy="502920"/>
          </a:xfrm>
          <a:prstGeom prst="line">
            <a:avLst/>
          </a:prstGeom>
          <a:noFill/>
          <a:ln w="19050">
            <a:solidFill>
              <a:srgbClr val="C9A24B"/>
            </a:solidFill>
            <a:prstDash val="dash"/>
          </a:ln>
        </p:spPr>
      </p:sp>
      <p:sp>
        <p:nvSpPr>
          <p:cNvPr id="22" name="Shape 20"/>
          <p:cNvSpPr/>
          <p:nvPr/>
        </p:nvSpPr>
        <p:spPr>
          <a:xfrm>
            <a:off x="1691640" y="4041648"/>
            <a:ext cx="182880" cy="137160"/>
          </a:xfrm>
          <a:prstGeom prst="upArrow">
            <a:avLst/>
          </a:prstGeom>
          <a:solidFill>
            <a:srgbClr val="C9A24B"/>
          </a:solidFill>
          <a:ln/>
        </p:spPr>
      </p:sp>
      <p:sp>
        <p:nvSpPr>
          <p:cNvPr id="23" name="Text 21"/>
          <p:cNvSpPr/>
          <p:nvPr/>
        </p:nvSpPr>
        <p:spPr>
          <a:xfrm>
            <a:off x="-45720" y="4636008"/>
            <a:ext cx="12252960" cy="320040"/>
          </a:xfrm>
          <a:prstGeom prst="rect">
            <a:avLst/>
          </a:prstGeom>
          <a:noFill/>
          <a:ln/>
        </p:spPr>
        <p:txBody>
          <a:bodyPr wrap="square" rtlCol="0" anchor="ctr"/>
          <a:lstStyle/>
          <a:p>
            <a:pPr algn="ctr" indent="0" marL="0">
              <a:buNone/>
            </a:pPr>
            <a:r>
              <a:rPr lang="en-US" sz="1100" i="1" dirty="0">
                <a:solidFill>
                  <a:srgbClr val="8A6D1D"/>
                </a:solidFill>
                <a:latin typeface="Calibri" pitchFamily="34" charset="0"/>
                <a:ea typeface="Calibri" pitchFamily="34" charset="-122"/>
                <a:cs typeface="Calibri" pitchFamily="34" charset="-120"/>
              </a:rPr>
              <a:t>a new need emerges, and the cycle repeats</a:t>
            </a:r>
            <a:endParaRPr lang="en-US" sz="1100" dirty="0"/>
          </a:p>
        </p:txBody>
      </p:sp>
      <p:sp>
        <p:nvSpPr>
          <p:cNvPr id="24" name="Text 2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THE MOTIVATION CYCLE</a:t>
            </a:r>
            <a:endParaRPr lang="en-US" sz="1100" dirty="0"/>
          </a:p>
        </p:txBody>
      </p:sp>
      <p:sp>
        <p:nvSpPr>
          <p:cNvPr id="25" name="Text 2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NATURE OF MOTIVATION</a:t>
            </a:r>
            <a:endParaRPr lang="en-US" sz="2000" dirty="0"/>
          </a:p>
        </p:txBody>
      </p:sp>
      <p:sp>
        <p:nvSpPr>
          <p:cNvPr id="3" name="Shape 1"/>
          <p:cNvSpPr/>
          <p:nvPr/>
        </p:nvSpPr>
        <p:spPr>
          <a:xfrm>
            <a:off x="548640" y="1508760"/>
            <a:ext cx="3590544"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359054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An internal, psychological feeling</a:t>
            </a:r>
            <a:endParaRPr lang="en-US" sz="1200" dirty="0"/>
          </a:p>
        </p:txBody>
      </p:sp>
      <p:sp>
        <p:nvSpPr>
          <p:cNvPr id="8" name="Shape 5"/>
          <p:cNvSpPr/>
          <p:nvPr/>
        </p:nvSpPr>
        <p:spPr>
          <a:xfrm>
            <a:off x="4285488" y="1508760"/>
            <a:ext cx="3590544" cy="1965960"/>
          </a:xfrm>
          <a:prstGeom prst="roundRect">
            <a:avLst>
              <a:gd name="adj" fmla="val 4186"/>
            </a:avLst>
          </a:prstGeom>
          <a:solidFill>
            <a:srgbClr val="1E2761"/>
          </a:solidFill>
          <a:ln/>
        </p:spPr>
      </p:sp>
      <p:sp>
        <p:nvSpPr>
          <p:cNvPr id="9" name="Shape 6"/>
          <p:cNvSpPr/>
          <p:nvPr/>
        </p:nvSpPr>
        <p:spPr>
          <a:xfrm>
            <a:off x="4450080"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4568952" y="1792224"/>
            <a:ext cx="219456" cy="219456"/>
          </a:xfrm>
          <a:prstGeom prst="rect">
            <a:avLst/>
          </a:prstGeom>
        </p:spPr>
      </p:pic>
      <p:sp>
        <p:nvSpPr>
          <p:cNvPr id="11" name="Text 7"/>
          <p:cNvSpPr/>
          <p:nvPr/>
        </p:nvSpPr>
        <p:spPr>
          <a:xfrm>
            <a:off x="732739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4450080"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 continuous process</a:t>
            </a:r>
            <a:endParaRPr lang="en-US" sz="1200" dirty="0"/>
          </a:p>
        </p:txBody>
      </p:sp>
      <p:sp>
        <p:nvSpPr>
          <p:cNvPr id="13" name="Shape 9"/>
          <p:cNvSpPr/>
          <p:nvPr/>
        </p:nvSpPr>
        <p:spPr>
          <a:xfrm>
            <a:off x="8022336" y="1508760"/>
            <a:ext cx="3590544" cy="1965960"/>
          </a:xfrm>
          <a:prstGeom prst="roundRect">
            <a:avLst>
              <a:gd name="adj" fmla="val 4186"/>
            </a:avLst>
          </a:prstGeom>
          <a:solidFill>
            <a:srgbClr val="1E2761"/>
          </a:solidFill>
          <a:ln/>
        </p:spPr>
      </p:sp>
      <p:sp>
        <p:nvSpPr>
          <p:cNvPr id="14" name="Shape 10"/>
          <p:cNvSpPr/>
          <p:nvPr/>
        </p:nvSpPr>
        <p:spPr>
          <a:xfrm>
            <a:off x="8186928"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8305800" y="1792224"/>
            <a:ext cx="219456" cy="219456"/>
          </a:xfrm>
          <a:prstGeom prst="rect">
            <a:avLst/>
          </a:prstGeom>
        </p:spPr>
      </p:pic>
      <p:sp>
        <p:nvSpPr>
          <p:cNvPr id="16" name="Text 11"/>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8186928"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Produces goal-directed behavior</a:t>
            </a:r>
            <a:endParaRPr lang="en-US" sz="1200" dirty="0"/>
          </a:p>
        </p:txBody>
      </p:sp>
      <p:sp>
        <p:nvSpPr>
          <p:cNvPr id="18" name="Shape 13"/>
          <p:cNvSpPr/>
          <p:nvPr/>
        </p:nvSpPr>
        <p:spPr>
          <a:xfrm>
            <a:off x="548640" y="3675888"/>
            <a:ext cx="3590544" cy="1965960"/>
          </a:xfrm>
          <a:prstGeom prst="roundRect">
            <a:avLst>
              <a:gd name="adj" fmla="val 4186"/>
            </a:avLst>
          </a:prstGeom>
          <a:solidFill>
            <a:srgbClr val="1E2761"/>
          </a:solidFill>
          <a:ln/>
        </p:spPr>
      </p:sp>
      <p:sp>
        <p:nvSpPr>
          <p:cNvPr id="19" name="Shape 14"/>
          <p:cNvSpPr/>
          <p:nvPr/>
        </p:nvSpPr>
        <p:spPr>
          <a:xfrm>
            <a:off x="713232" y="3840480"/>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832104" y="3959352"/>
            <a:ext cx="219456" cy="219456"/>
          </a:xfrm>
          <a:prstGeom prst="rect">
            <a:avLst/>
          </a:prstGeom>
        </p:spPr>
      </p:pic>
      <p:sp>
        <p:nvSpPr>
          <p:cNvPr id="21" name="Text 15"/>
          <p:cNvSpPr/>
          <p:nvPr/>
        </p:nvSpPr>
        <p:spPr>
          <a:xfrm>
            <a:off x="359054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713232"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Can be positive or negative</a:t>
            </a:r>
            <a:endParaRPr lang="en-US" sz="1200" dirty="0"/>
          </a:p>
        </p:txBody>
      </p:sp>
      <p:sp>
        <p:nvSpPr>
          <p:cNvPr id="23" name="Shape 17"/>
          <p:cNvSpPr/>
          <p:nvPr/>
        </p:nvSpPr>
        <p:spPr>
          <a:xfrm>
            <a:off x="4285488" y="3675888"/>
            <a:ext cx="3590544" cy="1965960"/>
          </a:xfrm>
          <a:prstGeom prst="roundRect">
            <a:avLst>
              <a:gd name="adj" fmla="val 4186"/>
            </a:avLst>
          </a:prstGeom>
          <a:solidFill>
            <a:srgbClr val="1E2761"/>
          </a:solidFill>
          <a:ln/>
        </p:spPr>
      </p:sp>
      <p:sp>
        <p:nvSpPr>
          <p:cNvPr id="24" name="Shape 18"/>
          <p:cNvSpPr/>
          <p:nvPr/>
        </p:nvSpPr>
        <p:spPr>
          <a:xfrm>
            <a:off x="4450080"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4568952" y="3959352"/>
            <a:ext cx="219456" cy="219456"/>
          </a:xfrm>
          <a:prstGeom prst="rect">
            <a:avLst/>
          </a:prstGeom>
        </p:spPr>
      </p:pic>
      <p:sp>
        <p:nvSpPr>
          <p:cNvPr id="26" name="Text 19"/>
          <p:cNvSpPr/>
          <p:nvPr/>
        </p:nvSpPr>
        <p:spPr>
          <a:xfrm>
            <a:off x="732739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4450080"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Varies from person to person</a:t>
            </a:r>
            <a:endParaRPr lang="en-US" sz="1200" dirty="0"/>
          </a:p>
        </p:txBody>
      </p:sp>
      <p:sp>
        <p:nvSpPr>
          <p:cNvPr id="28" name="Shape 21"/>
          <p:cNvSpPr/>
          <p:nvPr/>
        </p:nvSpPr>
        <p:spPr>
          <a:xfrm>
            <a:off x="8022336" y="3675888"/>
            <a:ext cx="3590544" cy="1965960"/>
          </a:xfrm>
          <a:prstGeom prst="roundRect">
            <a:avLst>
              <a:gd name="adj" fmla="val 4186"/>
            </a:avLst>
          </a:prstGeom>
          <a:solidFill>
            <a:srgbClr val="1E2761"/>
          </a:solidFill>
          <a:ln/>
        </p:spPr>
      </p:sp>
      <p:sp>
        <p:nvSpPr>
          <p:cNvPr id="29" name="Shape 22"/>
          <p:cNvSpPr/>
          <p:nvPr/>
        </p:nvSpPr>
        <p:spPr>
          <a:xfrm>
            <a:off x="818692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305800" y="3959352"/>
            <a:ext cx="219456" cy="219456"/>
          </a:xfrm>
          <a:prstGeom prst="rect">
            <a:avLst/>
          </a:prstGeom>
        </p:spPr>
      </p:pic>
      <p:sp>
        <p:nvSpPr>
          <p:cNvPr id="31" name="Text 23"/>
          <p:cNvSpPr/>
          <p:nvPr/>
        </p:nvSpPr>
        <p:spPr>
          <a:xfrm>
            <a:off x="11064240"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8186928"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Complex — shaped by many factors at once</a:t>
            </a:r>
            <a:endParaRPr lang="en-US" sz="1200" dirty="0"/>
          </a:p>
        </p:txBody>
      </p:sp>
      <p:sp>
        <p:nvSpPr>
          <p:cNvPr id="33" name="Text 25"/>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NATURE OF MOTIVATION</a:t>
            </a:r>
            <a:endParaRPr lang="en-US" sz="1100" dirty="0"/>
          </a:p>
        </p:txBody>
      </p:sp>
      <p:sp>
        <p:nvSpPr>
          <p:cNvPr id="34" name="Text 2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NATURE OF MOTIVATION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Internal, Continuous &amp; Goal-Directed</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An Internal, Psychological Feeling</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Motivation cannot be seen directly — only inferred from behavior. Two equally capable employees can look identical on paper while being driven by very different internal states.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 Continuous Process</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As soon as one need is satisfied, another tends to emerge. Motivation is never a one-time achievement — it must be renewed as circumstances and aspirations change.</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Produces Goal-Directed Behavior</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Motivated behavior is always aimed at satisfying some need or achieving some objective — it is not random activity, but effort with a purpose.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NATURE OF MOTIVATION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NATURE OF MOTIVATION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Positive/Negative, Individual &amp; Complex</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Can Be Positive or Negative</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Positive motivation uses incentives and rewards to encourage desired behavior; negative motivation relies on the fear of penalty or loss to discourage undesired behavior.</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Varies From Person to Person</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What motivates one employee — public recognition, say — may embarrass or mean nothing to another who values quiet autonomy instead.</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Complex and Multi-Causal</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Motivation is shaped simultaneously by psychological, social, economic and situational factors — rarely traceable to any single cause.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NATURE OF MOTIVATION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B</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Theories of Motivation</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Maslow's Hierarchy, Herzberg's Two Factors &amp; Types of Motivation</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Two of the most influential models for understanding what actually drives people at work.</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MASLOW'S HIERARCHY OF NEEDS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Five Levels, From Survival to Self-Actualization</a:t>
            </a:r>
            <a:endParaRPr lang="en-US" sz="2700" dirty="0"/>
          </a:p>
        </p:txBody>
      </p:sp>
      <p:sp>
        <p:nvSpPr>
          <p:cNvPr id="4" name="Text 2"/>
          <p:cNvSpPr/>
          <p:nvPr/>
        </p:nvSpPr>
        <p:spPr>
          <a:xfrm>
            <a:off x="548640" y="1645920"/>
            <a:ext cx="11064240" cy="502920"/>
          </a:xfrm>
          <a:prstGeom prst="rect">
            <a:avLst/>
          </a:prstGeom>
          <a:noFill/>
          <a:ln/>
        </p:spPr>
        <p:txBody>
          <a:bodyPr wrap="square" rtlCol="0" anchor="ctr"/>
          <a:lstStyle/>
          <a:p>
            <a:pPr indent="0" marL="0">
              <a:buNone/>
            </a:pPr>
            <a:r>
              <a:rPr lang="en-US" sz="1350" i="1" dirty="0">
                <a:solidFill>
                  <a:srgbClr val="2B2B33"/>
                </a:solidFill>
                <a:latin typeface="Calibri" pitchFamily="34" charset="0"/>
                <a:ea typeface="Calibri" pitchFamily="34" charset="-122"/>
                <a:cs typeface="Calibri" pitchFamily="34" charset="-120"/>
              </a:rPr>
              <a:t>Abraham Maslow proposed that human needs form a hierarchy — lower needs must be reasonably satisfied before higher needs become strongly motivating.</a:t>
            </a:r>
            <a:endParaRPr lang="en-US" sz="1350" dirty="0"/>
          </a:p>
        </p:txBody>
      </p:sp>
      <p:sp>
        <p:nvSpPr>
          <p:cNvPr id="5" name="Shape 3"/>
          <p:cNvSpPr/>
          <p:nvPr/>
        </p:nvSpPr>
        <p:spPr>
          <a:xfrm>
            <a:off x="4617720" y="2331720"/>
            <a:ext cx="2926080" cy="704088"/>
          </a:xfrm>
          <a:prstGeom prst="rect">
            <a:avLst/>
          </a:prstGeom>
          <a:solidFill>
            <a:srgbClr val="141B48"/>
          </a:solidFill>
          <a:ln/>
        </p:spPr>
      </p:sp>
      <p:sp>
        <p:nvSpPr>
          <p:cNvPr id="6" name="Text 4"/>
          <p:cNvSpPr/>
          <p:nvPr/>
        </p:nvSpPr>
        <p:spPr>
          <a:xfrm>
            <a:off x="4754880" y="2331720"/>
            <a:ext cx="1280160" cy="70408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Self-Actualization</a:t>
            </a:r>
            <a:endParaRPr lang="en-US" sz="1250" dirty="0"/>
          </a:p>
        </p:txBody>
      </p:sp>
      <p:sp>
        <p:nvSpPr>
          <p:cNvPr id="7" name="Text 5"/>
          <p:cNvSpPr/>
          <p:nvPr/>
        </p:nvSpPr>
        <p:spPr>
          <a:xfrm>
            <a:off x="6080760" y="2331720"/>
            <a:ext cx="1325880" cy="704088"/>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Realizing full potential; creative, challenging work</a:t>
            </a:r>
            <a:endParaRPr lang="en-US" sz="1000" dirty="0"/>
          </a:p>
        </p:txBody>
      </p:sp>
      <p:sp>
        <p:nvSpPr>
          <p:cNvPr id="8" name="Shape 6"/>
          <p:cNvSpPr/>
          <p:nvPr/>
        </p:nvSpPr>
        <p:spPr>
          <a:xfrm>
            <a:off x="3977640" y="3108960"/>
            <a:ext cx="4206240" cy="704088"/>
          </a:xfrm>
          <a:prstGeom prst="rect">
            <a:avLst/>
          </a:prstGeom>
          <a:solidFill>
            <a:srgbClr val="1E2761"/>
          </a:solidFill>
          <a:ln/>
        </p:spPr>
      </p:sp>
      <p:sp>
        <p:nvSpPr>
          <p:cNvPr id="9" name="Text 7"/>
          <p:cNvSpPr/>
          <p:nvPr/>
        </p:nvSpPr>
        <p:spPr>
          <a:xfrm>
            <a:off x="4114800" y="3108960"/>
            <a:ext cx="1920240" cy="70408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Esteem</a:t>
            </a:r>
            <a:endParaRPr lang="en-US" sz="1250" dirty="0"/>
          </a:p>
        </p:txBody>
      </p:sp>
      <p:sp>
        <p:nvSpPr>
          <p:cNvPr id="10" name="Text 8"/>
          <p:cNvSpPr/>
          <p:nvPr/>
        </p:nvSpPr>
        <p:spPr>
          <a:xfrm>
            <a:off x="6080760" y="3108960"/>
            <a:ext cx="1965960" cy="704088"/>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Recognition, status, respect, achievement</a:t>
            </a:r>
            <a:endParaRPr lang="en-US" sz="1000" dirty="0"/>
          </a:p>
        </p:txBody>
      </p:sp>
      <p:sp>
        <p:nvSpPr>
          <p:cNvPr id="11" name="Shape 9"/>
          <p:cNvSpPr/>
          <p:nvPr/>
        </p:nvSpPr>
        <p:spPr>
          <a:xfrm>
            <a:off x="3337560" y="3886200"/>
            <a:ext cx="5486400" cy="704088"/>
          </a:xfrm>
          <a:prstGeom prst="rect">
            <a:avLst/>
          </a:prstGeom>
          <a:solidFill>
            <a:srgbClr val="3A4A8C"/>
          </a:solidFill>
          <a:ln/>
        </p:spPr>
      </p:sp>
      <p:sp>
        <p:nvSpPr>
          <p:cNvPr id="12" name="Text 10"/>
          <p:cNvSpPr/>
          <p:nvPr/>
        </p:nvSpPr>
        <p:spPr>
          <a:xfrm>
            <a:off x="3474720" y="3886200"/>
            <a:ext cx="2560320" cy="70408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Social / Belongingness</a:t>
            </a:r>
            <a:endParaRPr lang="en-US" sz="1250" dirty="0"/>
          </a:p>
        </p:txBody>
      </p:sp>
      <p:sp>
        <p:nvSpPr>
          <p:cNvPr id="13" name="Text 11"/>
          <p:cNvSpPr/>
          <p:nvPr/>
        </p:nvSpPr>
        <p:spPr>
          <a:xfrm>
            <a:off x="6080760" y="3886200"/>
            <a:ext cx="2606040" cy="704088"/>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Friendship, teamwork, acceptance by colleagues</a:t>
            </a:r>
            <a:endParaRPr lang="en-US" sz="1000" dirty="0"/>
          </a:p>
        </p:txBody>
      </p:sp>
      <p:sp>
        <p:nvSpPr>
          <p:cNvPr id="14" name="Shape 12"/>
          <p:cNvSpPr/>
          <p:nvPr/>
        </p:nvSpPr>
        <p:spPr>
          <a:xfrm>
            <a:off x="2697480" y="4663440"/>
            <a:ext cx="6766560" cy="704088"/>
          </a:xfrm>
          <a:prstGeom prst="rect">
            <a:avLst/>
          </a:prstGeom>
          <a:solidFill>
            <a:srgbClr val="4E5FA0"/>
          </a:solidFill>
          <a:ln/>
        </p:spPr>
      </p:sp>
      <p:sp>
        <p:nvSpPr>
          <p:cNvPr id="15" name="Text 13"/>
          <p:cNvSpPr/>
          <p:nvPr/>
        </p:nvSpPr>
        <p:spPr>
          <a:xfrm>
            <a:off x="2834640" y="4663440"/>
            <a:ext cx="3200400" cy="70408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Safety</a:t>
            </a:r>
            <a:endParaRPr lang="en-US" sz="1250" dirty="0"/>
          </a:p>
        </p:txBody>
      </p:sp>
      <p:sp>
        <p:nvSpPr>
          <p:cNvPr id="16" name="Text 14"/>
          <p:cNvSpPr/>
          <p:nvPr/>
        </p:nvSpPr>
        <p:spPr>
          <a:xfrm>
            <a:off x="6080760" y="4663440"/>
            <a:ext cx="3246120" cy="704088"/>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Job security, safe conditions, health insurance</a:t>
            </a:r>
            <a:endParaRPr lang="en-US" sz="1000" dirty="0"/>
          </a:p>
        </p:txBody>
      </p:sp>
      <p:sp>
        <p:nvSpPr>
          <p:cNvPr id="17" name="Shape 15"/>
          <p:cNvSpPr/>
          <p:nvPr/>
        </p:nvSpPr>
        <p:spPr>
          <a:xfrm>
            <a:off x="2057400" y="5440680"/>
            <a:ext cx="8046720" cy="704088"/>
          </a:xfrm>
          <a:prstGeom prst="rect">
            <a:avLst/>
          </a:prstGeom>
          <a:solidFill>
            <a:srgbClr val="5E71B8"/>
          </a:solidFill>
          <a:ln/>
        </p:spPr>
      </p:sp>
      <p:sp>
        <p:nvSpPr>
          <p:cNvPr id="18" name="Text 16"/>
          <p:cNvSpPr/>
          <p:nvPr/>
        </p:nvSpPr>
        <p:spPr>
          <a:xfrm>
            <a:off x="2194560" y="5440680"/>
            <a:ext cx="3840480" cy="704088"/>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Physiological</a:t>
            </a:r>
            <a:endParaRPr lang="en-US" sz="1250" dirty="0"/>
          </a:p>
        </p:txBody>
      </p:sp>
      <p:sp>
        <p:nvSpPr>
          <p:cNvPr id="19" name="Text 17"/>
          <p:cNvSpPr/>
          <p:nvPr/>
        </p:nvSpPr>
        <p:spPr>
          <a:xfrm>
            <a:off x="6080760" y="5440680"/>
            <a:ext cx="3886200" cy="704088"/>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Fair wage covering food, shelter, rest</a:t>
            </a:r>
            <a:endParaRPr lang="en-US" sz="1000" dirty="0"/>
          </a:p>
        </p:txBody>
      </p:sp>
      <p:sp>
        <p:nvSpPr>
          <p:cNvPr id="20" name="Text 18"/>
          <p:cNvSpPr/>
          <p:nvPr/>
        </p:nvSpPr>
        <p:spPr>
          <a:xfrm>
            <a:off x="4709160" y="1965960"/>
            <a:ext cx="2743200" cy="27432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 Higher-order needs</a:t>
            </a:r>
            <a:endParaRPr lang="en-US" sz="1000" dirty="0"/>
          </a:p>
        </p:txBody>
      </p:sp>
      <p:sp>
        <p:nvSpPr>
          <p:cNvPr id="21" name="Text 1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MASLOW'S HIERARCHY OF NEEDS</a:t>
            </a:r>
            <a:endParaRPr lang="en-US" sz="1100" dirty="0"/>
          </a:p>
        </p:txBody>
      </p:sp>
      <p:sp>
        <p:nvSpPr>
          <p:cNvPr id="22" name="Text 2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MASLOW'S HIERARCHY OF NEEDS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Foundation — Physiological, Safety &amp; Social</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Physiological Needs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most basic survival needs — food, water, shelter, sleep. In the workplace, met through a living wage sufficient for a decent standard of living.</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Safety Needs</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Job security, safe working conditions, and health/retirement benefits — the need to feel protected from harm or sudden loss.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Social / Belongingness Needs</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Friendship, teamwork, and acceptance by colleagues — the need to feel part of a group rather than isolated.</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MASLOW'S HIERARCHY OF NEEDS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MASLOW'S HIERARCHY OF NEEDS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Higher Levels — Esteem &amp; Self-Actualization</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Esteem Needs</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Recognition, status, respect from others, and a sense of achievement. Met through promotions, awards, titles, and genuine credit for good work.</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Self-Actualization Needs</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need to realize one's full potential — met through creative, challenging, meaningful work that lets a person become the best version of themselves.</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MASLOW'S HIERARCHY OF NEEDS</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HERZBERG'S TWO-FACTOR THEORY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Hygiene Factors vs. Motivators</a:t>
            </a:r>
            <a:endParaRPr lang="en-US" sz="2700" dirty="0"/>
          </a:p>
        </p:txBody>
      </p:sp>
      <p:sp>
        <p:nvSpPr>
          <p:cNvPr id="4" name="Text 2"/>
          <p:cNvSpPr/>
          <p:nvPr/>
        </p:nvSpPr>
        <p:spPr>
          <a:xfrm>
            <a:off x="548640" y="1645920"/>
            <a:ext cx="11064240" cy="594360"/>
          </a:xfrm>
          <a:prstGeom prst="rect">
            <a:avLst/>
          </a:prstGeom>
          <a:noFill/>
          <a:ln/>
        </p:spPr>
        <p:txBody>
          <a:bodyPr wrap="square" rtlCol="0" anchor="ctr"/>
          <a:lstStyle/>
          <a:p>
            <a:pPr indent="0" marL="0">
              <a:buNone/>
            </a:pPr>
            <a:r>
              <a:rPr lang="en-US" sz="1350" i="1" dirty="0">
                <a:solidFill>
                  <a:srgbClr val="2B2B33"/>
                </a:solidFill>
                <a:latin typeface="Calibri" pitchFamily="34" charset="0"/>
                <a:ea typeface="Calibri" pitchFamily="34" charset="-122"/>
                <a:cs typeface="Calibri" pitchFamily="34" charset="-120"/>
              </a:rPr>
              <a:t>Frederick Herzberg found that the factors causing job dissatisfaction are different from those causing job satisfaction — removing a dissatisfier does not, by itself, create satisfaction.</a:t>
            </a:r>
            <a:endParaRPr lang="en-US" sz="1350" dirty="0"/>
          </a:p>
        </p:txBody>
      </p:sp>
      <p:sp>
        <p:nvSpPr>
          <p:cNvPr id="5" name="Shape 3"/>
          <p:cNvSpPr/>
          <p:nvPr/>
        </p:nvSpPr>
        <p:spPr>
          <a:xfrm>
            <a:off x="548640" y="2377440"/>
            <a:ext cx="5394960" cy="457200"/>
          </a:xfrm>
          <a:prstGeom prst="roundRect">
            <a:avLst>
              <a:gd name="adj" fmla="val 12000"/>
            </a:avLst>
          </a:prstGeom>
          <a:solidFill>
            <a:srgbClr val="3A4A8C"/>
          </a:solidFill>
          <a:ln/>
        </p:spPr>
      </p:sp>
      <p:sp>
        <p:nvSpPr>
          <p:cNvPr id="6" name="Text 4"/>
          <p:cNvSpPr/>
          <p:nvPr/>
        </p:nvSpPr>
        <p:spPr>
          <a:xfrm>
            <a:off x="548640" y="2377440"/>
            <a:ext cx="5394960" cy="457200"/>
          </a:xfrm>
          <a:prstGeom prst="rect">
            <a:avLst/>
          </a:prstGeom>
          <a:noFill/>
          <a:ln/>
        </p:spPr>
        <p:txBody>
          <a:bodyPr wrap="square"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Hygiene Factors (Dissatisfiers)</a:t>
            </a:r>
            <a:endParaRPr lang="en-US" sz="1350" dirty="0"/>
          </a:p>
        </p:txBody>
      </p:sp>
      <p:sp>
        <p:nvSpPr>
          <p:cNvPr id="7" name="Shape 5"/>
          <p:cNvSpPr/>
          <p:nvPr/>
        </p:nvSpPr>
        <p:spPr>
          <a:xfrm>
            <a:off x="548640" y="2971800"/>
            <a:ext cx="5394960" cy="384048"/>
          </a:xfrm>
          <a:prstGeom prst="rect">
            <a:avLst/>
          </a:prstGeom>
          <a:solidFill>
            <a:srgbClr val="EEF3FC"/>
          </a:solidFill>
          <a:ln w="7620">
            <a:solidFill>
              <a:srgbClr val="3A4A8C"/>
            </a:solidFill>
            <a:prstDash val="solid"/>
          </a:ln>
        </p:spPr>
      </p:sp>
      <p:sp>
        <p:nvSpPr>
          <p:cNvPr id="8" name="Text 6"/>
          <p:cNvSpPr/>
          <p:nvPr/>
        </p:nvSpPr>
        <p:spPr>
          <a:xfrm>
            <a:off x="731520" y="2971800"/>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Company policy &amp; administration</a:t>
            </a:r>
            <a:endParaRPr lang="en-US" sz="1150" dirty="0"/>
          </a:p>
        </p:txBody>
      </p:sp>
      <p:sp>
        <p:nvSpPr>
          <p:cNvPr id="9" name="Shape 7"/>
          <p:cNvSpPr/>
          <p:nvPr/>
        </p:nvSpPr>
        <p:spPr>
          <a:xfrm>
            <a:off x="548640" y="3447288"/>
            <a:ext cx="5394960" cy="384048"/>
          </a:xfrm>
          <a:prstGeom prst="rect">
            <a:avLst/>
          </a:prstGeom>
          <a:solidFill>
            <a:srgbClr val="EEF3FC"/>
          </a:solidFill>
          <a:ln w="7620">
            <a:solidFill>
              <a:srgbClr val="3A4A8C"/>
            </a:solidFill>
            <a:prstDash val="solid"/>
          </a:ln>
        </p:spPr>
      </p:sp>
      <p:sp>
        <p:nvSpPr>
          <p:cNvPr id="10" name="Text 8"/>
          <p:cNvSpPr/>
          <p:nvPr/>
        </p:nvSpPr>
        <p:spPr>
          <a:xfrm>
            <a:off x="731520" y="3447288"/>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Salary</a:t>
            </a:r>
            <a:endParaRPr lang="en-US" sz="1150" dirty="0"/>
          </a:p>
        </p:txBody>
      </p:sp>
      <p:sp>
        <p:nvSpPr>
          <p:cNvPr id="11" name="Shape 9"/>
          <p:cNvSpPr/>
          <p:nvPr/>
        </p:nvSpPr>
        <p:spPr>
          <a:xfrm>
            <a:off x="548640" y="3922776"/>
            <a:ext cx="5394960" cy="384048"/>
          </a:xfrm>
          <a:prstGeom prst="rect">
            <a:avLst/>
          </a:prstGeom>
          <a:solidFill>
            <a:srgbClr val="EEF3FC"/>
          </a:solidFill>
          <a:ln w="7620">
            <a:solidFill>
              <a:srgbClr val="3A4A8C"/>
            </a:solidFill>
            <a:prstDash val="solid"/>
          </a:ln>
        </p:spPr>
      </p:sp>
      <p:sp>
        <p:nvSpPr>
          <p:cNvPr id="12" name="Text 10"/>
          <p:cNvSpPr/>
          <p:nvPr/>
        </p:nvSpPr>
        <p:spPr>
          <a:xfrm>
            <a:off x="731520" y="3922776"/>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Working conditions</a:t>
            </a:r>
            <a:endParaRPr lang="en-US" sz="1150" dirty="0"/>
          </a:p>
        </p:txBody>
      </p:sp>
      <p:sp>
        <p:nvSpPr>
          <p:cNvPr id="13" name="Shape 11"/>
          <p:cNvSpPr/>
          <p:nvPr/>
        </p:nvSpPr>
        <p:spPr>
          <a:xfrm>
            <a:off x="548640" y="4398264"/>
            <a:ext cx="5394960" cy="384048"/>
          </a:xfrm>
          <a:prstGeom prst="rect">
            <a:avLst/>
          </a:prstGeom>
          <a:solidFill>
            <a:srgbClr val="EEF3FC"/>
          </a:solidFill>
          <a:ln w="7620">
            <a:solidFill>
              <a:srgbClr val="3A4A8C"/>
            </a:solidFill>
            <a:prstDash val="solid"/>
          </a:ln>
        </p:spPr>
      </p:sp>
      <p:sp>
        <p:nvSpPr>
          <p:cNvPr id="14" name="Text 12"/>
          <p:cNvSpPr/>
          <p:nvPr/>
        </p:nvSpPr>
        <p:spPr>
          <a:xfrm>
            <a:off x="731520" y="4398264"/>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Job security</a:t>
            </a:r>
            <a:endParaRPr lang="en-US" sz="1150" dirty="0"/>
          </a:p>
        </p:txBody>
      </p:sp>
      <p:sp>
        <p:nvSpPr>
          <p:cNvPr id="15" name="Shape 13"/>
          <p:cNvSpPr/>
          <p:nvPr/>
        </p:nvSpPr>
        <p:spPr>
          <a:xfrm>
            <a:off x="548640" y="4873752"/>
            <a:ext cx="5394960" cy="384048"/>
          </a:xfrm>
          <a:prstGeom prst="rect">
            <a:avLst/>
          </a:prstGeom>
          <a:solidFill>
            <a:srgbClr val="EEF3FC"/>
          </a:solidFill>
          <a:ln w="7620">
            <a:solidFill>
              <a:srgbClr val="3A4A8C"/>
            </a:solidFill>
            <a:prstDash val="solid"/>
          </a:ln>
        </p:spPr>
      </p:sp>
      <p:sp>
        <p:nvSpPr>
          <p:cNvPr id="16" name="Text 14"/>
          <p:cNvSpPr/>
          <p:nvPr/>
        </p:nvSpPr>
        <p:spPr>
          <a:xfrm>
            <a:off x="731520" y="4873752"/>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Quality of supervision</a:t>
            </a:r>
            <a:endParaRPr lang="en-US" sz="1150" dirty="0"/>
          </a:p>
        </p:txBody>
      </p:sp>
      <p:sp>
        <p:nvSpPr>
          <p:cNvPr id="17" name="Shape 15"/>
          <p:cNvSpPr/>
          <p:nvPr/>
        </p:nvSpPr>
        <p:spPr>
          <a:xfrm>
            <a:off x="548640" y="5349240"/>
            <a:ext cx="5394960" cy="384048"/>
          </a:xfrm>
          <a:prstGeom prst="rect">
            <a:avLst/>
          </a:prstGeom>
          <a:solidFill>
            <a:srgbClr val="EEF3FC"/>
          </a:solidFill>
          <a:ln w="7620">
            <a:solidFill>
              <a:srgbClr val="3A4A8C"/>
            </a:solidFill>
            <a:prstDash val="solid"/>
          </a:ln>
        </p:spPr>
      </p:sp>
      <p:sp>
        <p:nvSpPr>
          <p:cNvPr id="18" name="Text 16"/>
          <p:cNvSpPr/>
          <p:nvPr/>
        </p:nvSpPr>
        <p:spPr>
          <a:xfrm>
            <a:off x="731520" y="5349240"/>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Interpersonal relations</a:t>
            </a:r>
            <a:endParaRPr lang="en-US" sz="1150" dirty="0"/>
          </a:p>
        </p:txBody>
      </p:sp>
      <p:sp>
        <p:nvSpPr>
          <p:cNvPr id="19" name="Text 17"/>
          <p:cNvSpPr/>
          <p:nvPr/>
        </p:nvSpPr>
        <p:spPr>
          <a:xfrm>
            <a:off x="548640" y="5897880"/>
            <a:ext cx="5394960" cy="365760"/>
          </a:xfrm>
          <a:prstGeom prst="rect">
            <a:avLst/>
          </a:prstGeom>
          <a:noFill/>
          <a:ln/>
        </p:spPr>
        <p:txBody>
          <a:bodyPr wrap="square"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Presence prevents dissatisfaction — but does not, by itself, motivate.</a:t>
            </a:r>
            <a:endParaRPr lang="en-US" sz="1050" dirty="0"/>
          </a:p>
        </p:txBody>
      </p:sp>
      <p:sp>
        <p:nvSpPr>
          <p:cNvPr id="20" name="Shape 18"/>
          <p:cNvSpPr/>
          <p:nvPr/>
        </p:nvSpPr>
        <p:spPr>
          <a:xfrm>
            <a:off x="6263640" y="2377440"/>
            <a:ext cx="5394960" cy="457200"/>
          </a:xfrm>
          <a:prstGeom prst="roundRect">
            <a:avLst>
              <a:gd name="adj" fmla="val 12000"/>
            </a:avLst>
          </a:prstGeom>
          <a:solidFill>
            <a:srgbClr val="C9A24B"/>
          </a:solidFill>
          <a:ln/>
        </p:spPr>
      </p:sp>
      <p:sp>
        <p:nvSpPr>
          <p:cNvPr id="21" name="Text 19"/>
          <p:cNvSpPr/>
          <p:nvPr/>
        </p:nvSpPr>
        <p:spPr>
          <a:xfrm>
            <a:off x="6263640" y="2377440"/>
            <a:ext cx="5394960" cy="457200"/>
          </a:xfrm>
          <a:prstGeom prst="rect">
            <a:avLst/>
          </a:prstGeom>
          <a:noFill/>
          <a:ln/>
        </p:spPr>
        <p:txBody>
          <a:bodyPr wrap="square" rtlCol="0" anchor="ctr"/>
          <a:lstStyle/>
          <a:p>
            <a:pPr algn="ctr" indent="0" marL="0">
              <a:buNone/>
            </a:pPr>
            <a:r>
              <a:rPr lang="en-US" sz="1350" b="1" dirty="0">
                <a:solidFill>
                  <a:srgbClr val="141B48"/>
                </a:solidFill>
                <a:latin typeface="Cambria" pitchFamily="34" charset="0"/>
                <a:ea typeface="Cambria" pitchFamily="34" charset="-122"/>
                <a:cs typeface="Cambria" pitchFamily="34" charset="-120"/>
              </a:rPr>
              <a:t>Motivators (Satisfiers)</a:t>
            </a:r>
            <a:endParaRPr lang="en-US" sz="1350" dirty="0"/>
          </a:p>
        </p:txBody>
      </p:sp>
      <p:sp>
        <p:nvSpPr>
          <p:cNvPr id="22" name="Shape 20"/>
          <p:cNvSpPr/>
          <p:nvPr/>
        </p:nvSpPr>
        <p:spPr>
          <a:xfrm>
            <a:off x="6263640" y="2971800"/>
            <a:ext cx="5394960" cy="384048"/>
          </a:xfrm>
          <a:prstGeom prst="rect">
            <a:avLst/>
          </a:prstGeom>
          <a:solidFill>
            <a:srgbClr val="FBF3E0"/>
          </a:solidFill>
          <a:ln w="7620">
            <a:solidFill>
              <a:srgbClr val="C9A24B"/>
            </a:solidFill>
            <a:prstDash val="solid"/>
          </a:ln>
        </p:spPr>
      </p:sp>
      <p:sp>
        <p:nvSpPr>
          <p:cNvPr id="23" name="Text 21"/>
          <p:cNvSpPr/>
          <p:nvPr/>
        </p:nvSpPr>
        <p:spPr>
          <a:xfrm>
            <a:off x="6446520" y="2971800"/>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Sense of achievement</a:t>
            </a:r>
            <a:endParaRPr lang="en-US" sz="1150" dirty="0"/>
          </a:p>
        </p:txBody>
      </p:sp>
      <p:sp>
        <p:nvSpPr>
          <p:cNvPr id="24" name="Shape 22"/>
          <p:cNvSpPr/>
          <p:nvPr/>
        </p:nvSpPr>
        <p:spPr>
          <a:xfrm>
            <a:off x="6263640" y="3447288"/>
            <a:ext cx="5394960" cy="384048"/>
          </a:xfrm>
          <a:prstGeom prst="rect">
            <a:avLst/>
          </a:prstGeom>
          <a:solidFill>
            <a:srgbClr val="FBF3E0"/>
          </a:solidFill>
          <a:ln w="7620">
            <a:solidFill>
              <a:srgbClr val="C9A24B"/>
            </a:solidFill>
            <a:prstDash val="solid"/>
          </a:ln>
        </p:spPr>
      </p:sp>
      <p:sp>
        <p:nvSpPr>
          <p:cNvPr id="25" name="Text 23"/>
          <p:cNvSpPr/>
          <p:nvPr/>
        </p:nvSpPr>
        <p:spPr>
          <a:xfrm>
            <a:off x="6446520" y="3447288"/>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Recognition for good work</a:t>
            </a:r>
            <a:endParaRPr lang="en-US" sz="1150" dirty="0"/>
          </a:p>
        </p:txBody>
      </p:sp>
      <p:sp>
        <p:nvSpPr>
          <p:cNvPr id="26" name="Shape 24"/>
          <p:cNvSpPr/>
          <p:nvPr/>
        </p:nvSpPr>
        <p:spPr>
          <a:xfrm>
            <a:off x="6263640" y="3922776"/>
            <a:ext cx="5394960" cy="384048"/>
          </a:xfrm>
          <a:prstGeom prst="rect">
            <a:avLst/>
          </a:prstGeom>
          <a:solidFill>
            <a:srgbClr val="FBF3E0"/>
          </a:solidFill>
          <a:ln w="7620">
            <a:solidFill>
              <a:srgbClr val="C9A24B"/>
            </a:solidFill>
            <a:prstDash val="solid"/>
          </a:ln>
        </p:spPr>
      </p:sp>
      <p:sp>
        <p:nvSpPr>
          <p:cNvPr id="27" name="Text 25"/>
          <p:cNvSpPr/>
          <p:nvPr/>
        </p:nvSpPr>
        <p:spPr>
          <a:xfrm>
            <a:off x="6446520" y="3922776"/>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The work itself</a:t>
            </a:r>
            <a:endParaRPr lang="en-US" sz="1150" dirty="0"/>
          </a:p>
        </p:txBody>
      </p:sp>
      <p:sp>
        <p:nvSpPr>
          <p:cNvPr id="28" name="Shape 26"/>
          <p:cNvSpPr/>
          <p:nvPr/>
        </p:nvSpPr>
        <p:spPr>
          <a:xfrm>
            <a:off x="6263640" y="4398264"/>
            <a:ext cx="5394960" cy="384048"/>
          </a:xfrm>
          <a:prstGeom prst="rect">
            <a:avLst/>
          </a:prstGeom>
          <a:solidFill>
            <a:srgbClr val="FBF3E0"/>
          </a:solidFill>
          <a:ln w="7620">
            <a:solidFill>
              <a:srgbClr val="C9A24B"/>
            </a:solidFill>
            <a:prstDash val="solid"/>
          </a:ln>
        </p:spPr>
      </p:sp>
      <p:sp>
        <p:nvSpPr>
          <p:cNvPr id="29" name="Text 27"/>
          <p:cNvSpPr/>
          <p:nvPr/>
        </p:nvSpPr>
        <p:spPr>
          <a:xfrm>
            <a:off x="6446520" y="4398264"/>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Responsibility</a:t>
            </a:r>
            <a:endParaRPr lang="en-US" sz="1150" dirty="0"/>
          </a:p>
        </p:txBody>
      </p:sp>
      <p:sp>
        <p:nvSpPr>
          <p:cNvPr id="30" name="Shape 28"/>
          <p:cNvSpPr/>
          <p:nvPr/>
        </p:nvSpPr>
        <p:spPr>
          <a:xfrm>
            <a:off x="6263640" y="4873752"/>
            <a:ext cx="5394960" cy="384048"/>
          </a:xfrm>
          <a:prstGeom prst="rect">
            <a:avLst/>
          </a:prstGeom>
          <a:solidFill>
            <a:srgbClr val="FBF3E0"/>
          </a:solidFill>
          <a:ln w="7620">
            <a:solidFill>
              <a:srgbClr val="C9A24B"/>
            </a:solidFill>
            <a:prstDash val="solid"/>
          </a:ln>
        </p:spPr>
      </p:sp>
      <p:sp>
        <p:nvSpPr>
          <p:cNvPr id="31" name="Text 29"/>
          <p:cNvSpPr/>
          <p:nvPr/>
        </p:nvSpPr>
        <p:spPr>
          <a:xfrm>
            <a:off x="6446520" y="4873752"/>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Advancement</a:t>
            </a:r>
            <a:endParaRPr lang="en-US" sz="1150" dirty="0"/>
          </a:p>
        </p:txBody>
      </p:sp>
      <p:sp>
        <p:nvSpPr>
          <p:cNvPr id="32" name="Shape 30"/>
          <p:cNvSpPr/>
          <p:nvPr/>
        </p:nvSpPr>
        <p:spPr>
          <a:xfrm>
            <a:off x="6263640" y="5349240"/>
            <a:ext cx="5394960" cy="384048"/>
          </a:xfrm>
          <a:prstGeom prst="rect">
            <a:avLst/>
          </a:prstGeom>
          <a:solidFill>
            <a:srgbClr val="FBF3E0"/>
          </a:solidFill>
          <a:ln w="7620">
            <a:solidFill>
              <a:srgbClr val="C9A24B"/>
            </a:solidFill>
            <a:prstDash val="solid"/>
          </a:ln>
        </p:spPr>
      </p:sp>
      <p:sp>
        <p:nvSpPr>
          <p:cNvPr id="33" name="Text 31"/>
          <p:cNvSpPr/>
          <p:nvPr/>
        </p:nvSpPr>
        <p:spPr>
          <a:xfrm>
            <a:off x="6446520" y="5349240"/>
            <a:ext cx="5029200" cy="384048"/>
          </a:xfrm>
          <a:prstGeom prst="rect">
            <a:avLst/>
          </a:prstGeom>
          <a:noFill/>
          <a:ln/>
        </p:spPr>
        <p:txBody>
          <a:bodyPr wrap="square" rtlCol="0" anchor="ctr"/>
          <a:lstStyle/>
          <a:p>
            <a:pPr indent="0" marL="0">
              <a:buNone/>
            </a:pPr>
            <a:r>
              <a:rPr lang="en-US" sz="1150" dirty="0">
                <a:solidFill>
                  <a:srgbClr val="2B2B33"/>
                </a:solidFill>
                <a:latin typeface="Calibri" pitchFamily="34" charset="0"/>
                <a:ea typeface="Calibri" pitchFamily="34" charset="-122"/>
                <a:cs typeface="Calibri" pitchFamily="34" charset="-120"/>
              </a:rPr>
              <a:t>Growth &amp; learning</a:t>
            </a:r>
            <a:endParaRPr lang="en-US" sz="1150" dirty="0"/>
          </a:p>
        </p:txBody>
      </p:sp>
      <p:sp>
        <p:nvSpPr>
          <p:cNvPr id="34" name="Text 32"/>
          <p:cNvSpPr/>
          <p:nvPr/>
        </p:nvSpPr>
        <p:spPr>
          <a:xfrm>
            <a:off x="6263640" y="5897880"/>
            <a:ext cx="5394960" cy="365760"/>
          </a:xfrm>
          <a:prstGeom prst="rect">
            <a:avLst/>
          </a:prstGeom>
          <a:noFill/>
          <a:ln/>
        </p:spPr>
        <p:txBody>
          <a:bodyPr wrap="square"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Their presence actively drives people to perform better.</a:t>
            </a:r>
            <a:endParaRPr lang="en-US" sz="1050" dirty="0"/>
          </a:p>
        </p:txBody>
      </p:sp>
      <p:sp>
        <p:nvSpPr>
          <p:cNvPr id="35" name="Text 3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HERZBERG'S TWO-FACTOR THEORY</a:t>
            </a:r>
            <a:endParaRPr lang="en-US" sz="1100" dirty="0"/>
          </a:p>
        </p:txBody>
      </p:sp>
      <p:sp>
        <p:nvSpPr>
          <p:cNvPr id="36" name="Text 3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TYPES OF MOTIVATION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Ways to Classify Motivation</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SOURCE</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Intrinsic vs. Extrinsic</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Intrinsic: internal satisfaction from the work itself (enjoyment, curiosity, mastery). Extrinsic: external rewards — pay, bonus, promotion, praise.</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DIRECTION</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Positive vs. Negative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Positive motivation uses rewards, incentives, and praise to encourage desired behavior. Negative motivation relies on the fear of penalty, demotion, or job loss.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FORM</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Financial vs. Non-Financial</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Financial: monetary rewards — salary, bonus, profit-sharing. Non-financial: recognition, status, participation in decisions, and career growth opportunities.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TYPES OF MOTIVATION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C</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Co-ordination</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The 'Essence of Management'</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Even the best-motivated individuals achieve little if their efforts are not synchronized toward a common purpose.</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CO-ORDINATION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Importance of Co-ordination</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Co-ordination is the process of synchronizing and integrating the activities, efforts and resources of different individuals and departments, so that they work together harmoniously toward common organizational objectives.</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Unlike the other management functions, co-ordination is not a separate, sequential step — it runs through planning, organizing, staffing, directing and controlling all at once. This is why it is often called the 'essence of management.'</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Without co-ordination, departments can each perform their own function well, yet still work at cross purposes — producing more than sales can move, or promising customers what production cannot deliver.</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Cross-Purposes Without It</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marketing team launching a big festive sale campaign that the warehouse team knew nothing about — excellent individual effort, but no coordination, no stock.</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CO-ORDINATION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CO-ORDINATION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Techniques for Achieving Co-ordination</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667512"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Clear, Shared Objectives</a:t>
            </a:r>
            <a:endParaRPr lang="en-US" sz="1320" dirty="0"/>
          </a:p>
        </p:txBody>
      </p:sp>
      <p:sp>
        <p:nvSpPr>
          <p:cNvPr id="8" name="Text 5"/>
          <p:cNvSpPr/>
          <p:nvPr/>
        </p:nvSpPr>
        <p:spPr>
          <a:xfrm>
            <a:off x="694944"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When every department understands and accepts the same overall goal, their individual plans naturally pull in the same direction.</a:t>
            </a:r>
            <a:endParaRPr lang="en-US" sz="1060" dirty="0"/>
          </a:p>
        </p:txBody>
      </p:sp>
      <p:sp>
        <p:nvSpPr>
          <p:cNvPr id="9" name="Shape 6"/>
          <p:cNvSpPr/>
          <p:nvPr/>
        </p:nvSpPr>
        <p:spPr>
          <a:xfrm>
            <a:off x="3346704" y="1645920"/>
            <a:ext cx="2670048" cy="4434840"/>
          </a:xfrm>
          <a:prstGeom prst="roundRect">
            <a:avLst>
              <a:gd name="adj" fmla="val 3082"/>
            </a:avLst>
          </a:prstGeom>
          <a:solidFill>
            <a:srgbClr val="EEF3FC"/>
          </a:solidFill>
          <a:ln/>
        </p:spPr>
      </p:sp>
      <p:sp>
        <p:nvSpPr>
          <p:cNvPr id="10" name="Shape 7"/>
          <p:cNvSpPr/>
          <p:nvPr/>
        </p:nvSpPr>
        <p:spPr>
          <a:xfrm>
            <a:off x="4416552"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2" name="Text 8"/>
          <p:cNvSpPr/>
          <p:nvPr/>
        </p:nvSpPr>
        <p:spPr>
          <a:xfrm>
            <a:off x="3465576"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Effective Communication</a:t>
            </a:r>
            <a:endParaRPr lang="en-US" sz="1320" dirty="0"/>
          </a:p>
        </p:txBody>
      </p:sp>
      <p:sp>
        <p:nvSpPr>
          <p:cNvPr id="13" name="Text 9"/>
          <p:cNvSpPr/>
          <p:nvPr/>
        </p:nvSpPr>
        <p:spPr>
          <a:xfrm>
            <a:off x="3493008"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Free-flowing information across levels and departments prevents duplicated effort and closes gaps before they cause problems.</a:t>
            </a:r>
            <a:endParaRPr lang="en-US" sz="1060" dirty="0"/>
          </a:p>
        </p:txBody>
      </p:sp>
      <p:sp>
        <p:nvSpPr>
          <p:cNvPr id="14" name="Shape 10"/>
          <p:cNvSpPr/>
          <p:nvPr/>
        </p:nvSpPr>
        <p:spPr>
          <a:xfrm>
            <a:off x="6144768" y="1645920"/>
            <a:ext cx="2670048" cy="4434840"/>
          </a:xfrm>
          <a:prstGeom prst="roundRect">
            <a:avLst>
              <a:gd name="adj" fmla="val 3082"/>
            </a:avLst>
          </a:prstGeom>
          <a:solidFill>
            <a:srgbClr val="EEF3FC"/>
          </a:solidFill>
          <a:ln/>
        </p:spPr>
      </p:sp>
      <p:sp>
        <p:nvSpPr>
          <p:cNvPr id="15" name="Shape 11"/>
          <p:cNvSpPr/>
          <p:nvPr/>
        </p:nvSpPr>
        <p:spPr>
          <a:xfrm>
            <a:off x="721461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7" name="Text 12"/>
          <p:cNvSpPr/>
          <p:nvPr/>
        </p:nvSpPr>
        <p:spPr>
          <a:xfrm>
            <a:off x="6263640"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Sound Organization Structure</a:t>
            </a:r>
            <a:endParaRPr lang="en-US" sz="1320" dirty="0"/>
          </a:p>
        </p:txBody>
      </p:sp>
      <p:sp>
        <p:nvSpPr>
          <p:cNvPr id="18" name="Text 13"/>
          <p:cNvSpPr/>
          <p:nvPr/>
        </p:nvSpPr>
        <p:spPr>
          <a:xfrm>
            <a:off x="6291072"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Clear authority-responsibility relationships reduce overlap and ambiguity about who is accountable for what.</a:t>
            </a:r>
            <a:endParaRPr lang="en-US" sz="1060" dirty="0"/>
          </a:p>
        </p:txBody>
      </p:sp>
      <p:sp>
        <p:nvSpPr>
          <p:cNvPr id="19" name="Shape 14"/>
          <p:cNvSpPr/>
          <p:nvPr/>
        </p:nvSpPr>
        <p:spPr>
          <a:xfrm>
            <a:off x="8942832" y="1645920"/>
            <a:ext cx="2670048" cy="4434840"/>
          </a:xfrm>
          <a:prstGeom prst="roundRect">
            <a:avLst>
              <a:gd name="adj" fmla="val 3082"/>
            </a:avLst>
          </a:prstGeom>
          <a:solidFill>
            <a:srgbClr val="EEF3FC"/>
          </a:solidFill>
          <a:ln/>
        </p:spPr>
      </p:sp>
      <p:sp>
        <p:nvSpPr>
          <p:cNvPr id="20" name="Shape 15"/>
          <p:cNvSpPr/>
          <p:nvPr/>
        </p:nvSpPr>
        <p:spPr>
          <a:xfrm>
            <a:off x="10012680" y="1847088"/>
            <a:ext cx="530352" cy="530352"/>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2" name="Text 16"/>
          <p:cNvSpPr/>
          <p:nvPr/>
        </p:nvSpPr>
        <p:spPr>
          <a:xfrm>
            <a:off x="9061704"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Effective Leadership</a:t>
            </a:r>
            <a:endParaRPr lang="en-US" sz="1320" dirty="0"/>
          </a:p>
        </p:txBody>
      </p:sp>
      <p:sp>
        <p:nvSpPr>
          <p:cNvPr id="23" name="Text 17"/>
          <p:cNvSpPr/>
          <p:nvPr/>
        </p:nvSpPr>
        <p:spPr>
          <a:xfrm>
            <a:off x="9089136"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Leaders actively align the efforts of diverse individuals and teams, resolving conflicting priorities as they arise.</a:t>
            </a:r>
            <a:endParaRPr lang="en-US" sz="1060" dirty="0"/>
          </a:p>
        </p:txBody>
      </p:sp>
      <p:sp>
        <p:nvSpPr>
          <p:cNvPr id="24" name="Text 1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CO-ORDINATION</a:t>
            </a:r>
            <a:endParaRPr lang="en-US" sz="1100" dirty="0"/>
          </a:p>
        </p:txBody>
      </p:sp>
      <p:sp>
        <p:nvSpPr>
          <p:cNvPr id="25" name="Text 1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CASE STUDIES — INDIAN CORPORATES: VALUES &amp; ETHICS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How Coordination and Ethics Reinforce Each Other in Practice</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TATA GROUP</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Trusteeship as a Guiding Value</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Guided by the idea that wealth is held in trust for society, reinforced by the Tata Code of Conduct. During the 2008 Mumbai attacks, the Taj Hotel continued supporting affected staff and their families — values driving coordinated, humane crisis response.</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INFOSYS</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Governance-First Culture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Built its early reputation on transparent corporate governance, publishing detailed disclosures well ahead of regulatory requirements — a founder-driven emphasis on ethics enabling investor trust and coordinated global operations.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AMUL (GCMMF)</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Ethics at Cooperative Scale</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dairy cooperative coordinating millions of small farmers nationwide, built on the value of ensuring fair returns to producers — showing coordination and ethics can scale far beyond a single corporate office.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CASE STUDIES — INDIAN CORPORATES: VALUES &amp; ETHICS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D</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Control</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Process, Ideal Characteristics &amp; Techniques</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Planning sets the direction; control makes sure the organization actually gets there — and corrects course when it doesn't.</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CONTROL</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of Control</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Control is the management function of monitoring organizational performance, comparing it against established standards, and taking corrective action when necessary — to ensure objectives are achieved efficiently and effectively.</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Control is future-oriented, not just a record of the past: its real purpose is to catch deviations early enough that corrective action still matters.</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Control closes the loop with planning — it is planning's natural partner, checking whether what was intended is actually what happened.</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Catching It Early</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restaurant manager who checks food costs weekly (not just at year-end) can fix a supplier price hike before it erodes an entire quarter's margin.</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CONTROL</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CONTROL</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Process of Control — a Five-Step Loop</a:t>
            </a:r>
            <a:endParaRPr lang="en-US" sz="2700" dirty="0"/>
          </a:p>
        </p:txBody>
      </p:sp>
      <p:sp>
        <p:nvSpPr>
          <p:cNvPr id="4" name="Shape 2"/>
          <p:cNvSpPr/>
          <p:nvPr/>
        </p:nvSpPr>
        <p:spPr>
          <a:xfrm>
            <a:off x="2651760" y="1737360"/>
            <a:ext cx="6858000" cy="658368"/>
          </a:xfrm>
          <a:prstGeom prst="roundRect">
            <a:avLst>
              <a:gd name="adj" fmla="val 9722"/>
            </a:avLst>
          </a:prstGeom>
          <a:solidFill>
            <a:srgbClr val="1E2761"/>
          </a:solidFill>
          <a:ln/>
        </p:spPr>
      </p:sp>
      <p:sp>
        <p:nvSpPr>
          <p:cNvPr id="5" name="Shape 3"/>
          <p:cNvSpPr/>
          <p:nvPr/>
        </p:nvSpPr>
        <p:spPr>
          <a:xfrm>
            <a:off x="2788920" y="1837944"/>
            <a:ext cx="457200" cy="457200"/>
          </a:xfrm>
          <a:prstGeom prst="ellipse">
            <a:avLst/>
          </a:prstGeom>
          <a:solidFill>
            <a:srgbClr val="C9A24B"/>
          </a:solidFill>
          <a:ln/>
        </p:spPr>
      </p:sp>
      <p:pic>
        <p:nvPicPr>
          <p:cNvPr id="6" name="Image 0" descr="preencoded.png">    </p:cNvPr>
          <p:cNvPicPr>
            <a:picLocks noChangeAspect="1"/>
          </p:cNvPicPr>
          <p:nvPr/>
        </p:nvPicPr>
        <p:blipFill>
          <a:blip r:embed="rId1"/>
          <a:stretch>
            <a:fillRect/>
          </a:stretch>
        </p:blipFill>
        <p:spPr>
          <a:xfrm>
            <a:off x="2907792" y="1956816"/>
            <a:ext cx="219456" cy="219456"/>
          </a:xfrm>
          <a:prstGeom prst="rect">
            <a:avLst/>
          </a:prstGeom>
        </p:spPr>
      </p:pic>
      <p:sp>
        <p:nvSpPr>
          <p:cNvPr id="7" name="Text 4"/>
          <p:cNvSpPr/>
          <p:nvPr/>
        </p:nvSpPr>
        <p:spPr>
          <a:xfrm>
            <a:off x="3383280" y="1810512"/>
            <a:ext cx="5943600" cy="292608"/>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1. Setting Performance Standards</a:t>
            </a:r>
            <a:endParaRPr lang="en-US" sz="1300" dirty="0"/>
          </a:p>
        </p:txBody>
      </p:sp>
      <p:sp>
        <p:nvSpPr>
          <p:cNvPr id="8" name="Text 5"/>
          <p:cNvSpPr/>
          <p:nvPr/>
        </p:nvSpPr>
        <p:spPr>
          <a:xfrm>
            <a:off x="3383280" y="2084832"/>
            <a:ext cx="594360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Defining what 'good performance' looks like, in clear, measurable terms.</a:t>
            </a:r>
            <a:endParaRPr lang="en-US" sz="1050" dirty="0"/>
          </a:p>
        </p:txBody>
      </p:sp>
      <p:sp>
        <p:nvSpPr>
          <p:cNvPr id="9" name="Shape 6"/>
          <p:cNvSpPr/>
          <p:nvPr/>
        </p:nvSpPr>
        <p:spPr>
          <a:xfrm>
            <a:off x="6080760" y="2395728"/>
            <a:ext cx="0" cy="146304"/>
          </a:xfrm>
          <a:prstGeom prst="line">
            <a:avLst/>
          </a:prstGeom>
          <a:noFill/>
          <a:ln w="19050">
            <a:solidFill>
              <a:srgbClr val="1E2761"/>
            </a:solidFill>
            <a:prstDash val="solid"/>
          </a:ln>
        </p:spPr>
      </p:sp>
      <p:sp>
        <p:nvSpPr>
          <p:cNvPr id="10" name="Shape 7"/>
          <p:cNvSpPr/>
          <p:nvPr/>
        </p:nvSpPr>
        <p:spPr>
          <a:xfrm>
            <a:off x="2651760" y="2542032"/>
            <a:ext cx="6858000" cy="658368"/>
          </a:xfrm>
          <a:prstGeom prst="roundRect">
            <a:avLst>
              <a:gd name="adj" fmla="val 9722"/>
            </a:avLst>
          </a:prstGeom>
          <a:solidFill>
            <a:srgbClr val="1E2761"/>
          </a:solidFill>
          <a:ln/>
        </p:spPr>
      </p:sp>
      <p:sp>
        <p:nvSpPr>
          <p:cNvPr id="11" name="Shape 8"/>
          <p:cNvSpPr/>
          <p:nvPr/>
        </p:nvSpPr>
        <p:spPr>
          <a:xfrm>
            <a:off x="2788920" y="2642616"/>
            <a:ext cx="457200" cy="457200"/>
          </a:xfrm>
          <a:prstGeom prst="ellipse">
            <a:avLst/>
          </a:prstGeom>
          <a:solidFill>
            <a:srgbClr val="C9A24B"/>
          </a:solidFill>
          <a:ln/>
        </p:spPr>
      </p:sp>
      <p:pic>
        <p:nvPicPr>
          <p:cNvPr id="12" name="Image 1" descr="preencoded.png">    </p:cNvPr>
          <p:cNvPicPr>
            <a:picLocks noChangeAspect="1"/>
          </p:cNvPicPr>
          <p:nvPr/>
        </p:nvPicPr>
        <p:blipFill>
          <a:blip r:embed="rId2"/>
          <a:stretch>
            <a:fillRect/>
          </a:stretch>
        </p:blipFill>
        <p:spPr>
          <a:xfrm>
            <a:off x="2907792" y="2761488"/>
            <a:ext cx="219456" cy="219456"/>
          </a:xfrm>
          <a:prstGeom prst="rect">
            <a:avLst/>
          </a:prstGeom>
        </p:spPr>
      </p:pic>
      <p:sp>
        <p:nvSpPr>
          <p:cNvPr id="13" name="Text 9"/>
          <p:cNvSpPr/>
          <p:nvPr/>
        </p:nvSpPr>
        <p:spPr>
          <a:xfrm>
            <a:off x="3383280" y="2615184"/>
            <a:ext cx="5943600" cy="292608"/>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2. Measuring Actual Performance</a:t>
            </a:r>
            <a:endParaRPr lang="en-US" sz="1300" dirty="0"/>
          </a:p>
        </p:txBody>
      </p:sp>
      <p:sp>
        <p:nvSpPr>
          <p:cNvPr id="14" name="Text 10"/>
          <p:cNvSpPr/>
          <p:nvPr/>
        </p:nvSpPr>
        <p:spPr>
          <a:xfrm>
            <a:off x="3383280" y="2889504"/>
            <a:ext cx="594360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Gathering reliable data on what has actually happened.</a:t>
            </a:r>
            <a:endParaRPr lang="en-US" sz="1050" dirty="0"/>
          </a:p>
        </p:txBody>
      </p:sp>
      <p:sp>
        <p:nvSpPr>
          <p:cNvPr id="15" name="Shape 11"/>
          <p:cNvSpPr/>
          <p:nvPr/>
        </p:nvSpPr>
        <p:spPr>
          <a:xfrm>
            <a:off x="6080760" y="3200400"/>
            <a:ext cx="0" cy="146304"/>
          </a:xfrm>
          <a:prstGeom prst="line">
            <a:avLst/>
          </a:prstGeom>
          <a:noFill/>
          <a:ln w="19050">
            <a:solidFill>
              <a:srgbClr val="1E2761"/>
            </a:solidFill>
            <a:prstDash val="solid"/>
          </a:ln>
        </p:spPr>
      </p:sp>
      <p:sp>
        <p:nvSpPr>
          <p:cNvPr id="16" name="Shape 12"/>
          <p:cNvSpPr/>
          <p:nvPr/>
        </p:nvSpPr>
        <p:spPr>
          <a:xfrm>
            <a:off x="2651760" y="3346704"/>
            <a:ext cx="6858000" cy="658368"/>
          </a:xfrm>
          <a:prstGeom prst="roundRect">
            <a:avLst>
              <a:gd name="adj" fmla="val 9722"/>
            </a:avLst>
          </a:prstGeom>
          <a:solidFill>
            <a:srgbClr val="1E2761"/>
          </a:solidFill>
          <a:ln/>
        </p:spPr>
      </p:sp>
      <p:sp>
        <p:nvSpPr>
          <p:cNvPr id="17" name="Shape 13"/>
          <p:cNvSpPr/>
          <p:nvPr/>
        </p:nvSpPr>
        <p:spPr>
          <a:xfrm>
            <a:off x="2788920" y="3447288"/>
            <a:ext cx="457200" cy="457200"/>
          </a:xfrm>
          <a:prstGeom prst="ellipse">
            <a:avLst/>
          </a:prstGeom>
          <a:solidFill>
            <a:srgbClr val="C9A24B"/>
          </a:solidFill>
          <a:ln/>
        </p:spPr>
      </p:sp>
      <p:pic>
        <p:nvPicPr>
          <p:cNvPr id="18" name="Image 2" descr="preencoded.png">    </p:cNvPr>
          <p:cNvPicPr>
            <a:picLocks noChangeAspect="1"/>
          </p:cNvPicPr>
          <p:nvPr/>
        </p:nvPicPr>
        <p:blipFill>
          <a:blip r:embed="rId3"/>
          <a:stretch>
            <a:fillRect/>
          </a:stretch>
        </p:blipFill>
        <p:spPr>
          <a:xfrm>
            <a:off x="2907792" y="3566160"/>
            <a:ext cx="219456" cy="219456"/>
          </a:xfrm>
          <a:prstGeom prst="rect">
            <a:avLst/>
          </a:prstGeom>
        </p:spPr>
      </p:pic>
      <p:sp>
        <p:nvSpPr>
          <p:cNvPr id="19" name="Text 14"/>
          <p:cNvSpPr/>
          <p:nvPr/>
        </p:nvSpPr>
        <p:spPr>
          <a:xfrm>
            <a:off x="3383280" y="3419856"/>
            <a:ext cx="5943600" cy="292608"/>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3. Comparing Performance with Standards</a:t>
            </a:r>
            <a:endParaRPr lang="en-US" sz="1300" dirty="0"/>
          </a:p>
        </p:txBody>
      </p:sp>
      <p:sp>
        <p:nvSpPr>
          <p:cNvPr id="20" name="Text 15"/>
          <p:cNvSpPr/>
          <p:nvPr/>
        </p:nvSpPr>
        <p:spPr>
          <a:xfrm>
            <a:off x="3383280" y="3694176"/>
            <a:ext cx="594360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Identifying the size and direction of any gap.</a:t>
            </a:r>
            <a:endParaRPr lang="en-US" sz="1050" dirty="0"/>
          </a:p>
        </p:txBody>
      </p:sp>
      <p:sp>
        <p:nvSpPr>
          <p:cNvPr id="21" name="Shape 16"/>
          <p:cNvSpPr/>
          <p:nvPr/>
        </p:nvSpPr>
        <p:spPr>
          <a:xfrm>
            <a:off x="6080760" y="4005072"/>
            <a:ext cx="0" cy="146304"/>
          </a:xfrm>
          <a:prstGeom prst="line">
            <a:avLst/>
          </a:prstGeom>
          <a:noFill/>
          <a:ln w="19050">
            <a:solidFill>
              <a:srgbClr val="1E2761"/>
            </a:solidFill>
            <a:prstDash val="solid"/>
          </a:ln>
        </p:spPr>
      </p:sp>
      <p:sp>
        <p:nvSpPr>
          <p:cNvPr id="22" name="Shape 17"/>
          <p:cNvSpPr/>
          <p:nvPr/>
        </p:nvSpPr>
        <p:spPr>
          <a:xfrm>
            <a:off x="2651760" y="4151376"/>
            <a:ext cx="6858000" cy="658368"/>
          </a:xfrm>
          <a:prstGeom prst="roundRect">
            <a:avLst>
              <a:gd name="adj" fmla="val 9722"/>
            </a:avLst>
          </a:prstGeom>
          <a:solidFill>
            <a:srgbClr val="1E2761"/>
          </a:solidFill>
          <a:ln/>
        </p:spPr>
      </p:sp>
      <p:sp>
        <p:nvSpPr>
          <p:cNvPr id="23" name="Shape 18"/>
          <p:cNvSpPr/>
          <p:nvPr/>
        </p:nvSpPr>
        <p:spPr>
          <a:xfrm>
            <a:off x="2788920" y="4251960"/>
            <a:ext cx="457200" cy="457200"/>
          </a:xfrm>
          <a:prstGeom prst="ellipse">
            <a:avLst/>
          </a:prstGeom>
          <a:solidFill>
            <a:srgbClr val="C9A24B"/>
          </a:solidFill>
          <a:ln/>
        </p:spPr>
      </p:sp>
      <p:pic>
        <p:nvPicPr>
          <p:cNvPr id="24" name="Image 3" descr="preencoded.png">    </p:cNvPr>
          <p:cNvPicPr>
            <a:picLocks noChangeAspect="1"/>
          </p:cNvPicPr>
          <p:nvPr/>
        </p:nvPicPr>
        <p:blipFill>
          <a:blip r:embed="rId4"/>
          <a:stretch>
            <a:fillRect/>
          </a:stretch>
        </p:blipFill>
        <p:spPr>
          <a:xfrm>
            <a:off x="2907792" y="4370832"/>
            <a:ext cx="219456" cy="219456"/>
          </a:xfrm>
          <a:prstGeom prst="rect">
            <a:avLst/>
          </a:prstGeom>
        </p:spPr>
      </p:pic>
      <p:sp>
        <p:nvSpPr>
          <p:cNvPr id="25" name="Text 19"/>
          <p:cNvSpPr/>
          <p:nvPr/>
        </p:nvSpPr>
        <p:spPr>
          <a:xfrm>
            <a:off x="3383280" y="4224528"/>
            <a:ext cx="5943600" cy="292608"/>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4. Analyzing Deviations</a:t>
            </a:r>
            <a:endParaRPr lang="en-US" sz="1300" dirty="0"/>
          </a:p>
        </p:txBody>
      </p:sp>
      <p:sp>
        <p:nvSpPr>
          <p:cNvPr id="26" name="Text 20"/>
          <p:cNvSpPr/>
          <p:nvPr/>
        </p:nvSpPr>
        <p:spPr>
          <a:xfrm>
            <a:off x="3383280" y="4498848"/>
            <a:ext cx="594360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Understanding why a gap occurred — cause, not just symptom.</a:t>
            </a:r>
            <a:endParaRPr lang="en-US" sz="1050" dirty="0"/>
          </a:p>
        </p:txBody>
      </p:sp>
      <p:sp>
        <p:nvSpPr>
          <p:cNvPr id="27" name="Shape 21"/>
          <p:cNvSpPr/>
          <p:nvPr/>
        </p:nvSpPr>
        <p:spPr>
          <a:xfrm>
            <a:off x="6080760" y="4809744"/>
            <a:ext cx="0" cy="146304"/>
          </a:xfrm>
          <a:prstGeom prst="line">
            <a:avLst/>
          </a:prstGeom>
          <a:noFill/>
          <a:ln w="19050">
            <a:solidFill>
              <a:srgbClr val="1E2761"/>
            </a:solidFill>
            <a:prstDash val="solid"/>
          </a:ln>
        </p:spPr>
      </p:sp>
      <p:sp>
        <p:nvSpPr>
          <p:cNvPr id="28" name="Shape 22"/>
          <p:cNvSpPr/>
          <p:nvPr/>
        </p:nvSpPr>
        <p:spPr>
          <a:xfrm>
            <a:off x="2651760" y="4956048"/>
            <a:ext cx="6858000" cy="658368"/>
          </a:xfrm>
          <a:prstGeom prst="roundRect">
            <a:avLst>
              <a:gd name="adj" fmla="val 9722"/>
            </a:avLst>
          </a:prstGeom>
          <a:solidFill>
            <a:srgbClr val="1E2761"/>
          </a:solidFill>
          <a:ln/>
        </p:spPr>
      </p:sp>
      <p:sp>
        <p:nvSpPr>
          <p:cNvPr id="29" name="Shape 23"/>
          <p:cNvSpPr/>
          <p:nvPr/>
        </p:nvSpPr>
        <p:spPr>
          <a:xfrm>
            <a:off x="2788920" y="5056632"/>
            <a:ext cx="457200" cy="457200"/>
          </a:xfrm>
          <a:prstGeom prst="ellipse">
            <a:avLst/>
          </a:prstGeom>
          <a:solidFill>
            <a:srgbClr val="C9A24B"/>
          </a:solidFill>
          <a:ln/>
        </p:spPr>
      </p:sp>
      <p:pic>
        <p:nvPicPr>
          <p:cNvPr id="30" name="Image 4" descr="preencoded.png">    </p:cNvPr>
          <p:cNvPicPr>
            <a:picLocks noChangeAspect="1"/>
          </p:cNvPicPr>
          <p:nvPr/>
        </p:nvPicPr>
        <p:blipFill>
          <a:blip r:embed="rId5"/>
          <a:stretch>
            <a:fillRect/>
          </a:stretch>
        </p:blipFill>
        <p:spPr>
          <a:xfrm>
            <a:off x="2907792" y="5175504"/>
            <a:ext cx="219456" cy="219456"/>
          </a:xfrm>
          <a:prstGeom prst="rect">
            <a:avLst/>
          </a:prstGeom>
        </p:spPr>
      </p:pic>
      <p:sp>
        <p:nvSpPr>
          <p:cNvPr id="31" name="Text 24"/>
          <p:cNvSpPr/>
          <p:nvPr/>
        </p:nvSpPr>
        <p:spPr>
          <a:xfrm>
            <a:off x="3383280" y="5029200"/>
            <a:ext cx="5943600" cy="292608"/>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5. Taking Corrective Action</a:t>
            </a:r>
            <a:endParaRPr lang="en-US" sz="1300" dirty="0"/>
          </a:p>
        </p:txBody>
      </p:sp>
      <p:sp>
        <p:nvSpPr>
          <p:cNvPr id="32" name="Text 25"/>
          <p:cNvSpPr/>
          <p:nvPr/>
        </p:nvSpPr>
        <p:spPr>
          <a:xfrm>
            <a:off x="3383280" y="5303520"/>
            <a:ext cx="5943600" cy="274320"/>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Adjusting operations, resources, or even the standard itself.</a:t>
            </a:r>
            <a:endParaRPr lang="en-US" sz="1050" dirty="0"/>
          </a:p>
        </p:txBody>
      </p:sp>
      <p:sp>
        <p:nvSpPr>
          <p:cNvPr id="33" name="Shape 26"/>
          <p:cNvSpPr/>
          <p:nvPr/>
        </p:nvSpPr>
        <p:spPr>
          <a:xfrm>
            <a:off x="2377440" y="2066544"/>
            <a:ext cx="0" cy="3547872"/>
          </a:xfrm>
          <a:prstGeom prst="line">
            <a:avLst/>
          </a:prstGeom>
          <a:noFill/>
          <a:ln w="15875">
            <a:solidFill>
              <a:srgbClr val="C9A24B"/>
            </a:solidFill>
            <a:prstDash val="dash"/>
          </a:ln>
        </p:spPr>
      </p:sp>
      <p:sp>
        <p:nvSpPr>
          <p:cNvPr id="34" name="Shape 27"/>
          <p:cNvSpPr/>
          <p:nvPr/>
        </p:nvSpPr>
        <p:spPr>
          <a:xfrm>
            <a:off x="2377440" y="2066544"/>
            <a:ext cx="274320" cy="0"/>
          </a:xfrm>
          <a:prstGeom prst="line">
            <a:avLst/>
          </a:prstGeom>
          <a:noFill/>
          <a:ln w="15875">
            <a:solidFill>
              <a:srgbClr val="C9A24B"/>
            </a:solidFill>
            <a:prstDash val="dash"/>
          </a:ln>
        </p:spPr>
      </p:sp>
      <p:sp>
        <p:nvSpPr>
          <p:cNvPr id="35" name="Shape 28"/>
          <p:cNvSpPr/>
          <p:nvPr/>
        </p:nvSpPr>
        <p:spPr>
          <a:xfrm>
            <a:off x="2377440" y="5614416"/>
            <a:ext cx="274320" cy="0"/>
          </a:xfrm>
          <a:prstGeom prst="line">
            <a:avLst/>
          </a:prstGeom>
          <a:noFill/>
          <a:ln w="15875">
            <a:solidFill>
              <a:srgbClr val="C9A24B"/>
            </a:solidFill>
            <a:prstDash val="dash"/>
          </a:ln>
        </p:spPr>
      </p:sp>
      <p:sp>
        <p:nvSpPr>
          <p:cNvPr id="36" name="Text 29"/>
          <p:cNvSpPr/>
          <p:nvPr/>
        </p:nvSpPr>
        <p:spPr>
          <a:xfrm>
            <a:off x="1097280" y="3703320"/>
            <a:ext cx="1188720" cy="274320"/>
          </a:xfrm>
          <a:prstGeom prst="rect">
            <a:avLst/>
          </a:prstGeom>
          <a:noFill/>
          <a:ln/>
        </p:spPr>
        <p:txBody>
          <a:bodyPr wrap="square" rtlCol="0" anchor="ctr"/>
          <a:lstStyle/>
          <a:p>
            <a:pPr algn="ctr" indent="0" marL="0">
              <a:buNone/>
            </a:pPr>
            <a:r>
              <a:rPr lang="en-US" sz="950" i="1" dirty="0">
                <a:solidFill>
                  <a:srgbClr val="8A6D1D"/>
                </a:solidFill>
                <a:latin typeface="Calibri" pitchFamily="34" charset="0"/>
                <a:ea typeface="Calibri" pitchFamily="34" charset="-122"/>
                <a:cs typeface="Calibri" pitchFamily="34" charset="-120"/>
              </a:rPr>
              <a:t>feedback loop</a:t>
            </a:r>
            <a:endParaRPr lang="en-US" sz="950" dirty="0"/>
          </a:p>
        </p:txBody>
      </p:sp>
      <p:sp>
        <p:nvSpPr>
          <p:cNvPr id="37" name="Text 30"/>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PROCESS OF CONTROL</a:t>
            </a:r>
            <a:endParaRPr lang="en-US" sz="1100" dirty="0"/>
          </a:p>
        </p:txBody>
      </p:sp>
      <p:sp>
        <p:nvSpPr>
          <p:cNvPr id="38" name="Text 31"/>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CHARACTERISTICS OF AN IDEAL CONTROL SYSTEM</a:t>
            </a:r>
            <a:endParaRPr lang="en-US" sz="2000" dirty="0"/>
          </a:p>
        </p:txBody>
      </p:sp>
      <p:sp>
        <p:nvSpPr>
          <p:cNvPr id="3" name="Shape 1"/>
          <p:cNvSpPr/>
          <p:nvPr/>
        </p:nvSpPr>
        <p:spPr>
          <a:xfrm>
            <a:off x="548640" y="1508760"/>
            <a:ext cx="2656332"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65633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Simple and easy to understand</a:t>
            </a:r>
            <a:endParaRPr lang="en-US" sz="1200" dirty="0"/>
          </a:p>
        </p:txBody>
      </p:sp>
      <p:sp>
        <p:nvSpPr>
          <p:cNvPr id="8" name="Shape 5"/>
          <p:cNvSpPr/>
          <p:nvPr/>
        </p:nvSpPr>
        <p:spPr>
          <a:xfrm>
            <a:off x="3351276" y="1508760"/>
            <a:ext cx="2656332" cy="1965960"/>
          </a:xfrm>
          <a:prstGeom prst="roundRect">
            <a:avLst>
              <a:gd name="adj" fmla="val 4186"/>
            </a:avLst>
          </a:prstGeom>
          <a:solidFill>
            <a:srgbClr val="1E2761"/>
          </a:solidFill>
          <a:ln/>
        </p:spPr>
      </p:sp>
      <p:sp>
        <p:nvSpPr>
          <p:cNvPr id="9" name="Shape 6"/>
          <p:cNvSpPr/>
          <p:nvPr/>
        </p:nvSpPr>
        <p:spPr>
          <a:xfrm>
            <a:off x="3515868"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34740" y="1792224"/>
            <a:ext cx="219456" cy="219456"/>
          </a:xfrm>
          <a:prstGeom prst="rect">
            <a:avLst/>
          </a:prstGeom>
        </p:spPr>
      </p:pic>
      <p:sp>
        <p:nvSpPr>
          <p:cNvPr id="11" name="Text 7"/>
          <p:cNvSpPr/>
          <p:nvPr/>
        </p:nvSpPr>
        <p:spPr>
          <a:xfrm>
            <a:off x="5458968"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3515868"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Economical — benefits exceed cost</a:t>
            </a:r>
            <a:endParaRPr lang="en-US" sz="1200" dirty="0"/>
          </a:p>
        </p:txBody>
      </p:sp>
      <p:sp>
        <p:nvSpPr>
          <p:cNvPr id="13" name="Shape 9"/>
          <p:cNvSpPr/>
          <p:nvPr/>
        </p:nvSpPr>
        <p:spPr>
          <a:xfrm>
            <a:off x="6153912" y="1508760"/>
            <a:ext cx="2656332" cy="1965960"/>
          </a:xfrm>
          <a:prstGeom prst="roundRect">
            <a:avLst>
              <a:gd name="adj" fmla="val 4186"/>
            </a:avLst>
          </a:prstGeom>
          <a:solidFill>
            <a:srgbClr val="1E2761"/>
          </a:solidFill>
          <a:ln/>
        </p:spPr>
      </p:sp>
      <p:sp>
        <p:nvSpPr>
          <p:cNvPr id="14" name="Shape 10"/>
          <p:cNvSpPr/>
          <p:nvPr/>
        </p:nvSpPr>
        <p:spPr>
          <a:xfrm>
            <a:off x="6318504"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37376" y="1792224"/>
            <a:ext cx="219456" cy="219456"/>
          </a:xfrm>
          <a:prstGeom prst="rect">
            <a:avLst/>
          </a:prstGeom>
        </p:spPr>
      </p:pic>
      <p:sp>
        <p:nvSpPr>
          <p:cNvPr id="16" name="Text 11"/>
          <p:cNvSpPr/>
          <p:nvPr/>
        </p:nvSpPr>
        <p:spPr>
          <a:xfrm>
            <a:off x="826160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6318504"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Flexible to changing circumstances</a:t>
            </a:r>
            <a:endParaRPr lang="en-US" sz="1200" dirty="0"/>
          </a:p>
        </p:txBody>
      </p:sp>
      <p:sp>
        <p:nvSpPr>
          <p:cNvPr id="18" name="Shape 13"/>
          <p:cNvSpPr/>
          <p:nvPr/>
        </p:nvSpPr>
        <p:spPr>
          <a:xfrm>
            <a:off x="8956548" y="1508760"/>
            <a:ext cx="2656332" cy="1965960"/>
          </a:xfrm>
          <a:prstGeom prst="roundRect">
            <a:avLst>
              <a:gd name="adj" fmla="val 4186"/>
            </a:avLst>
          </a:prstGeom>
          <a:solidFill>
            <a:srgbClr val="1E2761"/>
          </a:solidFill>
          <a:ln/>
        </p:spPr>
      </p:sp>
      <p:sp>
        <p:nvSpPr>
          <p:cNvPr id="19" name="Shape 14"/>
          <p:cNvSpPr/>
          <p:nvPr/>
        </p:nvSpPr>
        <p:spPr>
          <a:xfrm>
            <a:off x="9121140"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40012" y="1792224"/>
            <a:ext cx="219456" cy="219456"/>
          </a:xfrm>
          <a:prstGeom prst="rect">
            <a:avLst/>
          </a:prstGeom>
        </p:spPr>
      </p:pic>
      <p:sp>
        <p:nvSpPr>
          <p:cNvPr id="21" name="Text 15"/>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9121140"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Forward-looking, not just historical</a:t>
            </a:r>
            <a:endParaRPr lang="en-US" sz="1200" dirty="0"/>
          </a:p>
        </p:txBody>
      </p:sp>
      <p:sp>
        <p:nvSpPr>
          <p:cNvPr id="23" name="Shape 17"/>
          <p:cNvSpPr/>
          <p:nvPr/>
        </p:nvSpPr>
        <p:spPr>
          <a:xfrm>
            <a:off x="548640" y="3675888"/>
            <a:ext cx="2656332" cy="1965960"/>
          </a:xfrm>
          <a:prstGeom prst="roundRect">
            <a:avLst>
              <a:gd name="adj" fmla="val 4186"/>
            </a:avLst>
          </a:prstGeom>
          <a:solidFill>
            <a:srgbClr val="1E2761"/>
          </a:solidFill>
          <a:ln/>
        </p:spPr>
      </p:sp>
      <p:sp>
        <p:nvSpPr>
          <p:cNvPr id="24" name="Shape 18"/>
          <p:cNvSpPr/>
          <p:nvPr/>
        </p:nvSpPr>
        <p:spPr>
          <a:xfrm>
            <a:off x="713232"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832104" y="3959352"/>
            <a:ext cx="219456" cy="219456"/>
          </a:xfrm>
          <a:prstGeom prst="rect">
            <a:avLst/>
          </a:prstGeom>
        </p:spPr>
      </p:pic>
      <p:sp>
        <p:nvSpPr>
          <p:cNvPr id="26" name="Text 19"/>
          <p:cNvSpPr/>
          <p:nvPr/>
        </p:nvSpPr>
        <p:spPr>
          <a:xfrm>
            <a:off x="265633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713232"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Objective, measurable standards</a:t>
            </a:r>
            <a:endParaRPr lang="en-US" sz="1200" dirty="0"/>
          </a:p>
        </p:txBody>
      </p:sp>
      <p:sp>
        <p:nvSpPr>
          <p:cNvPr id="28" name="Shape 21"/>
          <p:cNvSpPr/>
          <p:nvPr/>
        </p:nvSpPr>
        <p:spPr>
          <a:xfrm>
            <a:off x="3351276" y="3675888"/>
            <a:ext cx="2656332" cy="1965960"/>
          </a:xfrm>
          <a:prstGeom prst="roundRect">
            <a:avLst>
              <a:gd name="adj" fmla="val 4186"/>
            </a:avLst>
          </a:prstGeom>
          <a:solidFill>
            <a:srgbClr val="1E2761"/>
          </a:solidFill>
          <a:ln/>
        </p:spPr>
      </p:sp>
      <p:sp>
        <p:nvSpPr>
          <p:cNvPr id="29" name="Shape 22"/>
          <p:cNvSpPr/>
          <p:nvPr/>
        </p:nvSpPr>
        <p:spPr>
          <a:xfrm>
            <a:off x="351586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3634740" y="3959352"/>
            <a:ext cx="219456" cy="219456"/>
          </a:xfrm>
          <a:prstGeom prst="rect">
            <a:avLst/>
          </a:prstGeom>
        </p:spPr>
      </p:pic>
      <p:sp>
        <p:nvSpPr>
          <p:cNvPr id="31" name="Text 23"/>
          <p:cNvSpPr/>
          <p:nvPr/>
        </p:nvSpPr>
        <p:spPr>
          <a:xfrm>
            <a:off x="5458968"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3515868"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Timely detection of deviations</a:t>
            </a:r>
            <a:endParaRPr lang="en-US" sz="1200" dirty="0"/>
          </a:p>
        </p:txBody>
      </p:sp>
      <p:sp>
        <p:nvSpPr>
          <p:cNvPr id="33" name="Shape 25"/>
          <p:cNvSpPr/>
          <p:nvPr/>
        </p:nvSpPr>
        <p:spPr>
          <a:xfrm>
            <a:off x="6153912" y="3675888"/>
            <a:ext cx="2656332" cy="1965960"/>
          </a:xfrm>
          <a:prstGeom prst="roundRect">
            <a:avLst>
              <a:gd name="adj" fmla="val 4186"/>
            </a:avLst>
          </a:prstGeom>
          <a:solidFill>
            <a:srgbClr val="1E2761"/>
          </a:solidFill>
          <a:ln/>
        </p:spPr>
      </p:sp>
      <p:sp>
        <p:nvSpPr>
          <p:cNvPr id="34" name="Shape 26"/>
          <p:cNvSpPr/>
          <p:nvPr/>
        </p:nvSpPr>
        <p:spPr>
          <a:xfrm>
            <a:off x="6318504"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6437376" y="3959352"/>
            <a:ext cx="219456" cy="219456"/>
          </a:xfrm>
          <a:prstGeom prst="rect">
            <a:avLst/>
          </a:prstGeom>
        </p:spPr>
      </p:pic>
      <p:sp>
        <p:nvSpPr>
          <p:cNvPr id="36" name="Text 27"/>
          <p:cNvSpPr/>
          <p:nvPr/>
        </p:nvSpPr>
        <p:spPr>
          <a:xfrm>
            <a:off x="826160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6318504"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Suited to the organization's structure</a:t>
            </a:r>
            <a:endParaRPr lang="en-US" sz="1200" dirty="0"/>
          </a:p>
        </p:txBody>
      </p:sp>
      <p:sp>
        <p:nvSpPr>
          <p:cNvPr id="38" name="Shape 29"/>
          <p:cNvSpPr/>
          <p:nvPr/>
        </p:nvSpPr>
        <p:spPr>
          <a:xfrm>
            <a:off x="8956548" y="3675888"/>
            <a:ext cx="2656332" cy="1965960"/>
          </a:xfrm>
          <a:prstGeom prst="roundRect">
            <a:avLst>
              <a:gd name="adj" fmla="val 4186"/>
            </a:avLst>
          </a:prstGeom>
          <a:solidFill>
            <a:srgbClr val="1E2761"/>
          </a:solidFill>
          <a:ln/>
        </p:spPr>
      </p:sp>
      <p:sp>
        <p:nvSpPr>
          <p:cNvPr id="39" name="Shape 30"/>
          <p:cNvSpPr/>
          <p:nvPr/>
        </p:nvSpPr>
        <p:spPr>
          <a:xfrm>
            <a:off x="9121140" y="3840480"/>
            <a:ext cx="457200" cy="457200"/>
          </a:xfrm>
          <a:prstGeom prst="ellipse">
            <a:avLst/>
          </a:prstGeom>
          <a:solidFill>
            <a:srgbClr val="C9A24B"/>
          </a:solidFill>
          <a:ln/>
        </p:spPr>
      </p:sp>
      <p:pic>
        <p:nvPicPr>
          <p:cNvPr id="40" name="Image 7" descr="preencoded.png">    </p:cNvPr>
          <p:cNvPicPr>
            <a:picLocks noChangeAspect="1"/>
          </p:cNvPicPr>
          <p:nvPr/>
        </p:nvPicPr>
        <p:blipFill>
          <a:blip r:embed="rId8"/>
          <a:stretch>
            <a:fillRect/>
          </a:stretch>
        </p:blipFill>
        <p:spPr>
          <a:xfrm>
            <a:off x="9240012" y="3959352"/>
            <a:ext cx="219456" cy="219456"/>
          </a:xfrm>
          <a:prstGeom prst="rect">
            <a:avLst/>
          </a:prstGeom>
        </p:spPr>
      </p:pic>
      <p:sp>
        <p:nvSpPr>
          <p:cNvPr id="41" name="Text 31"/>
          <p:cNvSpPr/>
          <p:nvPr/>
        </p:nvSpPr>
        <p:spPr>
          <a:xfrm>
            <a:off x="11064240"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8</a:t>
            </a:r>
            <a:endParaRPr lang="en-US" sz="1600" dirty="0"/>
          </a:p>
        </p:txBody>
      </p:sp>
      <p:sp>
        <p:nvSpPr>
          <p:cNvPr id="42" name="Text 32"/>
          <p:cNvSpPr/>
          <p:nvPr/>
        </p:nvSpPr>
        <p:spPr>
          <a:xfrm>
            <a:off x="9121140"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Highlights exceptions at critical points</a:t>
            </a:r>
            <a:endParaRPr lang="en-US" sz="1200" dirty="0"/>
          </a:p>
        </p:txBody>
      </p:sp>
      <p:sp>
        <p:nvSpPr>
          <p:cNvPr id="43" name="Text 3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CHARACTERISTICS OF AN IDEAL CONTROL SYSTEM</a:t>
            </a:r>
            <a:endParaRPr lang="en-US" sz="1100" dirty="0"/>
          </a:p>
        </p:txBody>
      </p:sp>
      <p:sp>
        <p:nvSpPr>
          <p:cNvPr id="44" name="Text 3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CONTROL TECHNIQUES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Group A — Financial &amp; Analytical Tools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Budgetary Control</a:t>
            </a:r>
            <a:endParaRPr lang="en-US" sz="1320" dirty="0"/>
          </a:p>
        </p:txBody>
      </p:sp>
      <p:sp>
        <p:nvSpPr>
          <p:cNvPr id="8" name="Text 5"/>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Using budgets to compare planned versus actual financial performance across departments and periods.</a:t>
            </a:r>
            <a:endParaRPr lang="en-US" sz="1060" dirty="0"/>
          </a:p>
        </p:txBody>
      </p:sp>
      <p:sp>
        <p:nvSpPr>
          <p:cNvPr id="9" name="Shape 6"/>
          <p:cNvSpPr/>
          <p:nvPr/>
        </p:nvSpPr>
        <p:spPr>
          <a:xfrm>
            <a:off x="4279392" y="1645920"/>
            <a:ext cx="3602736" cy="4434840"/>
          </a:xfrm>
          <a:prstGeom prst="roundRect">
            <a:avLst>
              <a:gd name="adj" fmla="val 2284"/>
            </a:avLst>
          </a:prstGeom>
          <a:solidFill>
            <a:srgbClr val="EEF3FC"/>
          </a:solidFill>
          <a:ln/>
        </p:spPr>
      </p:sp>
      <p:sp>
        <p:nvSpPr>
          <p:cNvPr id="10" name="Shape 7"/>
          <p:cNvSpPr/>
          <p:nvPr/>
        </p:nvSpPr>
        <p:spPr>
          <a:xfrm>
            <a:off x="5815584"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2" name="Text 8"/>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Break-Even Analysis</a:t>
            </a:r>
            <a:endParaRPr lang="en-US" sz="1320" dirty="0"/>
          </a:p>
        </p:txBody>
      </p:sp>
      <p:sp>
        <p:nvSpPr>
          <p:cNvPr id="13" name="Text 9"/>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Determining the sales volume at which total costs equal total revenue — the point where operations turn profitable.</a:t>
            </a:r>
            <a:endParaRPr lang="en-US" sz="1060" dirty="0"/>
          </a:p>
        </p:txBody>
      </p:sp>
      <p:sp>
        <p:nvSpPr>
          <p:cNvPr id="14" name="Shape 10"/>
          <p:cNvSpPr/>
          <p:nvPr/>
        </p:nvSpPr>
        <p:spPr>
          <a:xfrm>
            <a:off x="8010144" y="1645920"/>
            <a:ext cx="3602736" cy="4434840"/>
          </a:xfrm>
          <a:prstGeom prst="roundRect">
            <a:avLst>
              <a:gd name="adj" fmla="val 2284"/>
            </a:avLst>
          </a:prstGeom>
          <a:solidFill>
            <a:srgbClr val="EEF3FC"/>
          </a:solidFill>
          <a:ln/>
        </p:spPr>
      </p:sp>
      <p:sp>
        <p:nvSpPr>
          <p:cNvPr id="15" name="Shape 11"/>
          <p:cNvSpPr/>
          <p:nvPr/>
        </p:nvSpPr>
        <p:spPr>
          <a:xfrm>
            <a:off x="954633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7" name="Text 12"/>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Ratio Analysis</a:t>
            </a:r>
            <a:endParaRPr lang="en-US" sz="1320" dirty="0"/>
          </a:p>
        </p:txBody>
      </p:sp>
      <p:sp>
        <p:nvSpPr>
          <p:cNvPr id="18" name="Text 13"/>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Using financial ratios — liquidity, profitability, efficiency — to assess and compare performance over time.</a:t>
            </a:r>
            <a:endParaRPr lang="en-US" sz="1060" dirty="0"/>
          </a:p>
        </p:txBody>
      </p:sp>
      <p:sp>
        <p:nvSpPr>
          <p:cNvPr id="19" name="Text 1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CONTROL TECHNIQUES</a:t>
            </a:r>
            <a:endParaRPr lang="en-US" sz="11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CONTROL TECHNIQUES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Group B — Project, Information &amp; Quality Tools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PERT / CPM</a:t>
            </a:r>
            <a:endParaRPr lang="en-US" sz="1320" dirty="0"/>
          </a:p>
        </p:txBody>
      </p:sp>
      <p:sp>
        <p:nvSpPr>
          <p:cNvPr id="8" name="Text 5"/>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Network techniques that map project tasks and timelines, helping control schedules and identify the critical path.</a:t>
            </a:r>
            <a:endParaRPr lang="en-US" sz="1060" dirty="0"/>
          </a:p>
        </p:txBody>
      </p:sp>
      <p:sp>
        <p:nvSpPr>
          <p:cNvPr id="9" name="Shape 6"/>
          <p:cNvSpPr/>
          <p:nvPr/>
        </p:nvSpPr>
        <p:spPr>
          <a:xfrm>
            <a:off x="4279392" y="1645920"/>
            <a:ext cx="3602736" cy="4434840"/>
          </a:xfrm>
          <a:prstGeom prst="roundRect">
            <a:avLst>
              <a:gd name="adj" fmla="val 2284"/>
            </a:avLst>
          </a:prstGeom>
          <a:solidFill>
            <a:srgbClr val="EEF3FC"/>
          </a:solidFill>
          <a:ln/>
        </p:spPr>
      </p:sp>
      <p:sp>
        <p:nvSpPr>
          <p:cNvPr id="10" name="Shape 7"/>
          <p:cNvSpPr/>
          <p:nvPr/>
        </p:nvSpPr>
        <p:spPr>
          <a:xfrm>
            <a:off x="5815584"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2" name="Text 8"/>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Management Information System (MIS)</a:t>
            </a:r>
            <a:endParaRPr lang="en-US" sz="1320" dirty="0"/>
          </a:p>
        </p:txBody>
      </p:sp>
      <p:sp>
        <p:nvSpPr>
          <p:cNvPr id="13" name="Text 9"/>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Real-time data systems that give managers the timely, relevant information needed for control decisions.</a:t>
            </a:r>
            <a:endParaRPr lang="en-US" sz="1060" dirty="0"/>
          </a:p>
        </p:txBody>
      </p:sp>
      <p:sp>
        <p:nvSpPr>
          <p:cNvPr id="14" name="Shape 10"/>
          <p:cNvSpPr/>
          <p:nvPr/>
        </p:nvSpPr>
        <p:spPr>
          <a:xfrm>
            <a:off x="8010144" y="1645920"/>
            <a:ext cx="3602736" cy="4434840"/>
          </a:xfrm>
          <a:prstGeom prst="roundRect">
            <a:avLst>
              <a:gd name="adj" fmla="val 2284"/>
            </a:avLst>
          </a:prstGeom>
          <a:solidFill>
            <a:srgbClr val="EEF3FC"/>
          </a:solidFill>
          <a:ln/>
        </p:spPr>
      </p:sp>
      <p:sp>
        <p:nvSpPr>
          <p:cNvPr id="15" name="Shape 11"/>
          <p:cNvSpPr/>
          <p:nvPr/>
        </p:nvSpPr>
        <p:spPr>
          <a:xfrm>
            <a:off x="954633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7" name="Text 12"/>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Statistical Quality Control</a:t>
            </a:r>
            <a:endParaRPr lang="en-US" sz="1320" dirty="0"/>
          </a:p>
        </p:txBody>
      </p:sp>
      <p:sp>
        <p:nvSpPr>
          <p:cNvPr id="18" name="Text 13"/>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Using statistical sampling and control charts to monitor and maintain consistent product or service quality.</a:t>
            </a:r>
            <a:endParaRPr lang="en-US" sz="1060" dirty="0"/>
          </a:p>
        </p:txBody>
      </p:sp>
      <p:sp>
        <p:nvSpPr>
          <p:cNvPr id="19" name="Text 1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CONTROL TECHNIQUES</a:t>
            </a:r>
            <a:endParaRPr lang="en-US" sz="11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E</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Ancient Wisdom, Modern Intelligence</a:t>
            </a:r>
            <a:endParaRPr lang="en-US" sz="3000" dirty="0"/>
          </a:p>
        </p:txBody>
      </p:sp>
      <p:sp>
        <p:nvSpPr>
          <p:cNvPr id="8" name="Text 5"/>
          <p:cNvSpPr/>
          <p:nvPr/>
        </p:nvSpPr>
        <p:spPr>
          <a:xfrm>
            <a:off x="822960" y="3246120"/>
            <a:ext cx="10058400" cy="82296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Sustainable Business Practices from Ancient India &amp; the Role of AI Today</a:t>
            </a:r>
            <a:endParaRPr lang="en-US" sz="1900" dirty="0"/>
          </a:p>
        </p:txBody>
      </p:sp>
      <p:sp>
        <p:nvSpPr>
          <p:cNvPr id="9" name="Shape 6"/>
          <p:cNvSpPr/>
          <p:nvPr/>
        </p:nvSpPr>
        <p:spPr>
          <a:xfrm>
            <a:off x="868680" y="4160520"/>
            <a:ext cx="2011680" cy="0"/>
          </a:xfrm>
          <a:prstGeom prst="line">
            <a:avLst/>
          </a:prstGeom>
          <a:noFill/>
          <a:ln w="25400">
            <a:solidFill>
              <a:srgbClr val="C9A24B"/>
            </a:solidFill>
            <a:prstDash val="solid"/>
          </a:ln>
        </p:spPr>
      </p:sp>
      <p:sp>
        <p:nvSpPr>
          <p:cNvPr id="10" name="Text 7"/>
          <p:cNvSpPr/>
          <p:nvPr/>
        </p:nvSpPr>
        <p:spPr>
          <a:xfrm>
            <a:off x="822960" y="438912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Some of the oldest ideas about responsible business, and the newest technology reshaping how it is managed, bookend this module.</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KEY SUSTAINABLE BUSINESS PRACTICES FROM ANCIENT INDIA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Trusteeship, Statecraft &amp; Water Management</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The Trusteeship Concept</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Wealth is seen as held in trust for society's benefit, not owned outright — a philosophy later popularized by Gandhi, positioning businesses as custodians rather than pure profit-maximizers.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Kautilya's Arthashastra</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Prescribed ethical trade practices, fair pricing, and state action against hoarding and black-marketeering, alongside rules for the sustainable use of forests and water resources.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Traditional Water &amp; Forest Management</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Community-managed systems — step-wells (baolis), tanks (talabs), and sacred groves (devrai) — sustained shared natural resources across generations without a central authority.</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KEY SUSTAINABLE BUSINESS PRACTICES FROM ANCIENT INDIA</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KEY SUSTAINABLE BUSINESS PRACTICES FROM ANCIENT INDIA</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(4)–(5) Stakeholder Welfare &amp; Guild Ethics</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“Sarve Bhavantu Sukhinah” — May All Be Happy</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stakeholder-welfare orientation predating modern CSR — business success was understood as tied to the wellbeing of the wider community, not separate from it.</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Guild Self-Regulation (Shrenis)</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Merchant and craft guilds in ancient India self-regulated quality standards, pricing, and fair dealing among members — an early form of industry self-governance and ethical trade.</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KEY SUSTAINABLE BUSINESS PRACTICES FROM ANCIENT INDIA</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ROLE OF AI IN CONTEMPORARY MANAGEMENT</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Group A — Decisions, People &amp; Customers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Decision Support &amp; Predictive Analytics</a:t>
            </a:r>
            <a:endParaRPr lang="en-US" sz="1320" dirty="0"/>
          </a:p>
        </p:txBody>
      </p:sp>
      <p:sp>
        <p:nvSpPr>
          <p:cNvPr id="8" name="Text 5"/>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AI analyzes large datasets to forecast demand, spot trends, and support strategic decisions with speed and scale no human team could match alone.</a:t>
            </a:r>
            <a:endParaRPr lang="en-US" sz="1060" dirty="0"/>
          </a:p>
        </p:txBody>
      </p:sp>
      <p:sp>
        <p:nvSpPr>
          <p:cNvPr id="9" name="Shape 6"/>
          <p:cNvSpPr/>
          <p:nvPr/>
        </p:nvSpPr>
        <p:spPr>
          <a:xfrm>
            <a:off x="4279392" y="1645920"/>
            <a:ext cx="3602736" cy="4434840"/>
          </a:xfrm>
          <a:prstGeom prst="roundRect">
            <a:avLst>
              <a:gd name="adj" fmla="val 2284"/>
            </a:avLst>
          </a:prstGeom>
          <a:solidFill>
            <a:srgbClr val="EEF3FC"/>
          </a:solidFill>
          <a:ln/>
        </p:spPr>
      </p:sp>
      <p:sp>
        <p:nvSpPr>
          <p:cNvPr id="10" name="Shape 7"/>
          <p:cNvSpPr/>
          <p:nvPr/>
        </p:nvSpPr>
        <p:spPr>
          <a:xfrm>
            <a:off x="5815584"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2" name="Text 8"/>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HR &amp; Recruitment</a:t>
            </a:r>
            <a:endParaRPr lang="en-US" sz="1320" dirty="0"/>
          </a:p>
        </p:txBody>
      </p:sp>
      <p:sp>
        <p:nvSpPr>
          <p:cNvPr id="13" name="Text 9"/>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AI-powered resume screening and candidate matching speed up hiring — though it also raises new questions about bias hidden in training data.</a:t>
            </a:r>
            <a:endParaRPr lang="en-US" sz="1060" dirty="0"/>
          </a:p>
        </p:txBody>
      </p:sp>
      <p:sp>
        <p:nvSpPr>
          <p:cNvPr id="14" name="Shape 10"/>
          <p:cNvSpPr/>
          <p:nvPr/>
        </p:nvSpPr>
        <p:spPr>
          <a:xfrm>
            <a:off x="8010144" y="1645920"/>
            <a:ext cx="3602736" cy="4434840"/>
          </a:xfrm>
          <a:prstGeom prst="roundRect">
            <a:avLst>
              <a:gd name="adj" fmla="val 2284"/>
            </a:avLst>
          </a:prstGeom>
          <a:solidFill>
            <a:srgbClr val="EEF3FC"/>
          </a:solidFill>
          <a:ln/>
        </p:spPr>
      </p:sp>
      <p:sp>
        <p:nvSpPr>
          <p:cNvPr id="15" name="Shape 11"/>
          <p:cNvSpPr/>
          <p:nvPr/>
        </p:nvSpPr>
        <p:spPr>
          <a:xfrm>
            <a:off x="954633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7" name="Text 12"/>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Customer Service</a:t>
            </a:r>
            <a:endParaRPr lang="en-US" sz="1320" dirty="0"/>
          </a:p>
        </p:txBody>
      </p:sp>
      <p:sp>
        <p:nvSpPr>
          <p:cNvPr id="18" name="Text 13"/>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AI chatbots and virtual assistants provide round-the-clock customer support at a scale human teams alone could not sustain.</a:t>
            </a:r>
            <a:endParaRPr lang="en-US" sz="1060" dirty="0"/>
          </a:p>
        </p:txBody>
      </p:sp>
      <p:sp>
        <p:nvSpPr>
          <p:cNvPr id="19" name="Text 1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ROLE OF AI IN CONTEMPORARY MANAGEMENT</a:t>
            </a:r>
            <a:endParaRPr lang="en-US" sz="11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ROLE OF AI IN CONTEMPORARY MANAGEMENT</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Group B — Risk, Operations &amp; the Human Oversight Question</a:t>
            </a:r>
            <a:endParaRPr lang="en-US" sz="2700" dirty="0"/>
          </a:p>
        </p:txBody>
      </p:sp>
      <p:sp>
        <p:nvSpPr>
          <p:cNvPr id="4" name="Shape 2"/>
          <p:cNvSpPr/>
          <p:nvPr/>
        </p:nvSpPr>
        <p:spPr>
          <a:xfrm>
            <a:off x="548640" y="1691640"/>
            <a:ext cx="5394960" cy="2103120"/>
          </a:xfrm>
          <a:prstGeom prst="roundRect">
            <a:avLst>
              <a:gd name="adj" fmla="val 3913"/>
            </a:avLst>
          </a:prstGeom>
          <a:solidFill>
            <a:srgbClr val="EEF3FC"/>
          </a:solidFill>
          <a:ln/>
        </p:spPr>
      </p:sp>
      <p:sp>
        <p:nvSpPr>
          <p:cNvPr id="5" name="Shape 3"/>
          <p:cNvSpPr/>
          <p:nvPr/>
        </p:nvSpPr>
        <p:spPr>
          <a:xfrm>
            <a:off x="777240" y="192024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19886" y="2062886"/>
            <a:ext cx="263347" cy="263347"/>
          </a:xfrm>
          <a:prstGeom prst="rect">
            <a:avLst/>
          </a:prstGeom>
        </p:spPr>
      </p:pic>
      <p:sp>
        <p:nvSpPr>
          <p:cNvPr id="7" name="Text 4"/>
          <p:cNvSpPr/>
          <p:nvPr/>
        </p:nvSpPr>
        <p:spPr>
          <a:xfrm>
            <a:off x="1508760" y="1920240"/>
            <a:ext cx="4206240" cy="54864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Risk Management &amp; Fraud Detection</a:t>
            </a:r>
            <a:endParaRPr lang="en-US" sz="1400" dirty="0"/>
          </a:p>
        </p:txBody>
      </p:sp>
      <p:sp>
        <p:nvSpPr>
          <p:cNvPr id="8" name="Text 5"/>
          <p:cNvSpPr/>
          <p:nvPr/>
        </p:nvSpPr>
        <p:spPr>
          <a:xfrm>
            <a:off x="777240" y="2606040"/>
            <a:ext cx="4937760" cy="105156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AI models flag anomalies in financial transactions in real time, catching patterns of fraud far faster than manual review ever could.</a:t>
            </a:r>
            <a:endParaRPr lang="en-US" sz="1150" dirty="0"/>
          </a:p>
        </p:txBody>
      </p:sp>
      <p:sp>
        <p:nvSpPr>
          <p:cNvPr id="9" name="Shape 6"/>
          <p:cNvSpPr/>
          <p:nvPr/>
        </p:nvSpPr>
        <p:spPr>
          <a:xfrm>
            <a:off x="6217920" y="1691640"/>
            <a:ext cx="5394960" cy="2103120"/>
          </a:xfrm>
          <a:prstGeom prst="roundRect">
            <a:avLst>
              <a:gd name="adj" fmla="val 3913"/>
            </a:avLst>
          </a:prstGeom>
          <a:solidFill>
            <a:srgbClr val="EEF3FC"/>
          </a:solidFill>
          <a:ln/>
        </p:spPr>
      </p:sp>
      <p:sp>
        <p:nvSpPr>
          <p:cNvPr id="10" name="Shape 7"/>
          <p:cNvSpPr/>
          <p:nvPr/>
        </p:nvSpPr>
        <p:spPr>
          <a:xfrm>
            <a:off x="6446520" y="1920240"/>
            <a:ext cx="548640" cy="548640"/>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589166" y="2062886"/>
            <a:ext cx="263347" cy="263347"/>
          </a:xfrm>
          <a:prstGeom prst="rect">
            <a:avLst/>
          </a:prstGeom>
        </p:spPr>
      </p:pic>
      <p:sp>
        <p:nvSpPr>
          <p:cNvPr id="12" name="Text 8"/>
          <p:cNvSpPr/>
          <p:nvPr/>
        </p:nvSpPr>
        <p:spPr>
          <a:xfrm>
            <a:off x="7178040" y="1920240"/>
            <a:ext cx="4206240" cy="548640"/>
          </a:xfrm>
          <a:prstGeom prst="rect">
            <a:avLst/>
          </a:prstGeom>
          <a:noFill/>
          <a:ln/>
        </p:spPr>
        <p:txBody>
          <a:bodyPr wrap="square"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Supply Chain &amp; Operations</a:t>
            </a:r>
            <a:endParaRPr lang="en-US" sz="1400" dirty="0"/>
          </a:p>
        </p:txBody>
      </p:sp>
      <p:sp>
        <p:nvSpPr>
          <p:cNvPr id="13" name="Text 9"/>
          <p:cNvSpPr/>
          <p:nvPr/>
        </p:nvSpPr>
        <p:spPr>
          <a:xfrm>
            <a:off x="6446520" y="2606040"/>
            <a:ext cx="4937760" cy="1051560"/>
          </a:xfrm>
          <a:prstGeom prst="rect">
            <a:avLst/>
          </a:prstGeom>
          <a:noFill/>
          <a:ln/>
        </p:spPr>
        <p:txBody>
          <a:bodyPr wrap="square" rtlCol="0" anchor="t"/>
          <a:lstStyle/>
          <a:p>
            <a:pPr indent="0" marL="0">
              <a:buNone/>
            </a:pPr>
            <a:r>
              <a:rPr lang="en-US" sz="1150" dirty="0">
                <a:solidFill>
                  <a:srgbClr val="2B2B33"/>
                </a:solidFill>
                <a:latin typeface="Calibri" pitchFamily="34" charset="0"/>
                <a:ea typeface="Calibri" pitchFamily="34" charset="-122"/>
                <a:cs typeface="Calibri" pitchFamily="34" charset="-120"/>
              </a:rPr>
              <a:t>AI optimizes inventory levels, logistics routing, and production scheduling — reducing waste and improving delivery reliability.</a:t>
            </a:r>
            <a:endParaRPr lang="en-US" sz="1150" dirty="0"/>
          </a:p>
        </p:txBody>
      </p:sp>
      <p:sp>
        <p:nvSpPr>
          <p:cNvPr id="14" name="Shape 10"/>
          <p:cNvSpPr/>
          <p:nvPr/>
        </p:nvSpPr>
        <p:spPr>
          <a:xfrm>
            <a:off x="548640" y="4023360"/>
            <a:ext cx="11064240" cy="1965960"/>
          </a:xfrm>
          <a:prstGeom prst="roundRect">
            <a:avLst>
              <a:gd name="adj" fmla="val 4186"/>
            </a:avLst>
          </a:prstGeom>
          <a:solidFill>
            <a:srgbClr val="141B48"/>
          </a:solidFill>
          <a:ln/>
        </p:spPr>
      </p:sp>
      <p:sp>
        <p:nvSpPr>
          <p:cNvPr id="15" name="Shape 11"/>
          <p:cNvSpPr/>
          <p:nvPr/>
        </p:nvSpPr>
        <p:spPr>
          <a:xfrm>
            <a:off x="822960" y="4251960"/>
            <a:ext cx="548640" cy="548640"/>
          </a:xfrm>
          <a:prstGeom prst="ellipse">
            <a:avLst/>
          </a:prstGeom>
          <a:solidFill>
            <a:srgbClr val="C9A24B"/>
          </a:solidFill>
          <a:ln/>
        </p:spPr>
      </p:sp>
      <p:pic>
        <p:nvPicPr>
          <p:cNvPr id="16" name="Image 2" descr="preencoded.png">    </p:cNvPr>
          <p:cNvPicPr>
            <a:picLocks noChangeAspect="1"/>
          </p:cNvPicPr>
          <p:nvPr/>
        </p:nvPicPr>
        <p:blipFill>
          <a:blip r:embed="rId3"/>
          <a:stretch>
            <a:fillRect/>
          </a:stretch>
        </p:blipFill>
        <p:spPr>
          <a:xfrm>
            <a:off x="965606" y="4394606"/>
            <a:ext cx="263347" cy="263347"/>
          </a:xfrm>
          <a:prstGeom prst="rect">
            <a:avLst/>
          </a:prstGeom>
        </p:spPr>
      </p:pic>
      <p:sp>
        <p:nvSpPr>
          <p:cNvPr id="17" name="Text 12"/>
          <p:cNvSpPr/>
          <p:nvPr/>
        </p:nvSpPr>
        <p:spPr>
          <a:xfrm>
            <a:off x="1508760" y="4251960"/>
            <a:ext cx="9875520" cy="411480"/>
          </a:xfrm>
          <a:prstGeom prst="rect">
            <a:avLst/>
          </a:prstGeom>
          <a:noFill/>
          <a:ln/>
        </p:spPr>
        <p:txBody>
          <a:bodyPr wrap="square"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The Challenges That Come With It</a:t>
            </a:r>
            <a:endParaRPr lang="en-US" sz="1500" dirty="0"/>
          </a:p>
        </p:txBody>
      </p:sp>
      <p:sp>
        <p:nvSpPr>
          <p:cNvPr id="18" name="Text 13"/>
          <p:cNvSpPr/>
          <p:nvPr/>
        </p:nvSpPr>
        <p:spPr>
          <a:xfrm>
            <a:off x="822960" y="4800600"/>
            <a:ext cx="10515600" cy="105156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Algorithmic bias, data privacy risks, over-reliance on automated recommendations, and job displacement all demand active management — AI should support human judgment and ethical oversight in decision-making, not quietly replace it.</a:t>
            </a:r>
            <a:endParaRPr lang="en-US" sz="1250" dirty="0"/>
          </a:p>
        </p:txBody>
      </p:sp>
      <p:sp>
        <p:nvSpPr>
          <p:cNvPr id="19" name="Text 1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AI IN CONTEMPORARY MANAGEMENT</a:t>
            </a:r>
            <a:endParaRPr lang="en-US" sz="11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1</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1</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50938"/>
            <a:ext cx="402336" cy="402336"/>
          </a:xfrm>
          <a:prstGeom prst="ellipse">
            <a:avLst/>
          </a:prstGeom>
          <a:solidFill>
            <a:srgbClr val="1E2761"/>
          </a:solidFill>
          <a:ln/>
        </p:spPr>
      </p:sp>
      <p:sp>
        <p:nvSpPr>
          <p:cNvPr id="6" name="Text 4"/>
          <p:cNvSpPr/>
          <p:nvPr/>
        </p:nvSpPr>
        <p:spPr>
          <a:xfrm>
            <a:off x="548640" y="1950938"/>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143000" y="1828800"/>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Define motivation in your own words.</a:t>
            </a:r>
            <a:endParaRPr lang="en-US" sz="1300" dirty="0"/>
          </a:p>
        </p:txBody>
      </p:sp>
      <p:sp>
        <p:nvSpPr>
          <p:cNvPr id="8" name="Shape 6"/>
          <p:cNvSpPr/>
          <p:nvPr/>
        </p:nvSpPr>
        <p:spPr>
          <a:xfrm>
            <a:off x="548640" y="2597549"/>
            <a:ext cx="402336" cy="402336"/>
          </a:xfrm>
          <a:prstGeom prst="ellipse">
            <a:avLst/>
          </a:prstGeom>
          <a:solidFill>
            <a:srgbClr val="1E2761"/>
          </a:solidFill>
          <a:ln/>
        </p:spPr>
      </p:sp>
      <p:sp>
        <p:nvSpPr>
          <p:cNvPr id="9" name="Text 7"/>
          <p:cNvSpPr/>
          <p:nvPr/>
        </p:nvSpPr>
        <p:spPr>
          <a:xfrm>
            <a:off x="548640" y="2597549"/>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143000" y="2475411"/>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Describe the five stages of the motivation cycle.</a:t>
            </a:r>
            <a:endParaRPr lang="en-US" sz="1300" dirty="0"/>
          </a:p>
        </p:txBody>
      </p:sp>
      <p:sp>
        <p:nvSpPr>
          <p:cNvPr id="11" name="Shape 9"/>
          <p:cNvSpPr/>
          <p:nvPr/>
        </p:nvSpPr>
        <p:spPr>
          <a:xfrm>
            <a:off x="548640" y="3244161"/>
            <a:ext cx="402336" cy="402336"/>
          </a:xfrm>
          <a:prstGeom prst="ellipse">
            <a:avLst/>
          </a:prstGeom>
          <a:solidFill>
            <a:srgbClr val="1E2761"/>
          </a:solidFill>
          <a:ln/>
        </p:spPr>
      </p:sp>
      <p:sp>
        <p:nvSpPr>
          <p:cNvPr id="12" name="Text 10"/>
          <p:cNvSpPr/>
          <p:nvPr/>
        </p:nvSpPr>
        <p:spPr>
          <a:xfrm>
            <a:off x="548640" y="3244161"/>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143000" y="3122023"/>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four of the six characteristics of motivation.</a:t>
            </a:r>
            <a:endParaRPr lang="en-US" sz="1300" dirty="0"/>
          </a:p>
        </p:txBody>
      </p:sp>
      <p:sp>
        <p:nvSpPr>
          <p:cNvPr id="14" name="Shape 12"/>
          <p:cNvSpPr/>
          <p:nvPr/>
        </p:nvSpPr>
        <p:spPr>
          <a:xfrm>
            <a:off x="548640" y="3890772"/>
            <a:ext cx="402336" cy="402336"/>
          </a:xfrm>
          <a:prstGeom prst="ellipse">
            <a:avLst/>
          </a:prstGeom>
          <a:solidFill>
            <a:srgbClr val="1E2761"/>
          </a:solidFill>
          <a:ln/>
        </p:spPr>
      </p:sp>
      <p:sp>
        <p:nvSpPr>
          <p:cNvPr id="15" name="Text 13"/>
          <p:cNvSpPr/>
          <p:nvPr/>
        </p:nvSpPr>
        <p:spPr>
          <a:xfrm>
            <a:off x="548640" y="3890772"/>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143000" y="3768634"/>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List the five levels of Maslow's Hierarchy of Needs, from bottom to top.</a:t>
            </a:r>
            <a:endParaRPr lang="en-US" sz="1300" dirty="0"/>
          </a:p>
        </p:txBody>
      </p:sp>
      <p:sp>
        <p:nvSpPr>
          <p:cNvPr id="17" name="Shape 15"/>
          <p:cNvSpPr/>
          <p:nvPr/>
        </p:nvSpPr>
        <p:spPr>
          <a:xfrm>
            <a:off x="548640" y="4537383"/>
            <a:ext cx="402336" cy="402336"/>
          </a:xfrm>
          <a:prstGeom prst="ellipse">
            <a:avLst/>
          </a:prstGeom>
          <a:solidFill>
            <a:srgbClr val="1E2761"/>
          </a:solidFill>
          <a:ln/>
        </p:spPr>
      </p:sp>
      <p:sp>
        <p:nvSpPr>
          <p:cNvPr id="18" name="Text 16"/>
          <p:cNvSpPr/>
          <p:nvPr/>
        </p:nvSpPr>
        <p:spPr>
          <a:xfrm>
            <a:off x="548640" y="4537383"/>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143000" y="4415246"/>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What is the key difference between Hygiene Factors and Motivators in Herzberg's theory?</a:t>
            </a:r>
            <a:endParaRPr lang="en-US" sz="1300" dirty="0"/>
          </a:p>
        </p:txBody>
      </p:sp>
      <p:sp>
        <p:nvSpPr>
          <p:cNvPr id="20" name="Shape 18"/>
          <p:cNvSpPr/>
          <p:nvPr/>
        </p:nvSpPr>
        <p:spPr>
          <a:xfrm>
            <a:off x="548640" y="5183995"/>
            <a:ext cx="402336" cy="402336"/>
          </a:xfrm>
          <a:prstGeom prst="ellipse">
            <a:avLst/>
          </a:prstGeom>
          <a:solidFill>
            <a:srgbClr val="1E2761"/>
          </a:solidFill>
          <a:ln/>
        </p:spPr>
      </p:sp>
      <p:sp>
        <p:nvSpPr>
          <p:cNvPr id="21" name="Text 19"/>
          <p:cNvSpPr/>
          <p:nvPr/>
        </p:nvSpPr>
        <p:spPr>
          <a:xfrm>
            <a:off x="548640" y="518399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143000" y="5061857"/>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two hygiene factors and any two motivators.</a:t>
            </a:r>
            <a:endParaRPr lang="en-US" sz="1300" dirty="0"/>
          </a:p>
        </p:txBody>
      </p:sp>
      <p:sp>
        <p:nvSpPr>
          <p:cNvPr id="23" name="Shape 21"/>
          <p:cNvSpPr/>
          <p:nvPr/>
        </p:nvSpPr>
        <p:spPr>
          <a:xfrm>
            <a:off x="548640" y="5830606"/>
            <a:ext cx="402336" cy="402336"/>
          </a:xfrm>
          <a:prstGeom prst="ellipse">
            <a:avLst/>
          </a:prstGeom>
          <a:solidFill>
            <a:srgbClr val="1E2761"/>
          </a:solidFill>
          <a:ln/>
        </p:spPr>
      </p:sp>
      <p:sp>
        <p:nvSpPr>
          <p:cNvPr id="24" name="Text 22"/>
          <p:cNvSpPr/>
          <p:nvPr/>
        </p:nvSpPr>
        <p:spPr>
          <a:xfrm>
            <a:off x="548640" y="5830606"/>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143000" y="5708469"/>
            <a:ext cx="10515600" cy="646611"/>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Distinguish between intrinsic and extrinsic motivation.</a:t>
            </a:r>
            <a:endParaRPr lang="en-US" sz="1300" dirty="0"/>
          </a:p>
        </p:txBody>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2</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2</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10525"/>
            <a:ext cx="402336" cy="402336"/>
          </a:xfrm>
          <a:prstGeom prst="ellipse">
            <a:avLst/>
          </a:prstGeom>
          <a:solidFill>
            <a:srgbClr val="1E2761"/>
          </a:solidFill>
          <a:ln/>
        </p:spPr>
      </p:sp>
      <p:sp>
        <p:nvSpPr>
          <p:cNvPr id="6" name="Text 4"/>
          <p:cNvSpPr/>
          <p:nvPr/>
        </p:nvSpPr>
        <p:spPr>
          <a:xfrm>
            <a:off x="548640" y="191052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1</a:t>
            </a:r>
            <a:endParaRPr lang="en-US" sz="1250" dirty="0"/>
          </a:p>
        </p:txBody>
      </p:sp>
      <p:sp>
        <p:nvSpPr>
          <p:cNvPr id="7" name="Text 5"/>
          <p:cNvSpPr/>
          <p:nvPr/>
        </p:nvSpPr>
        <p:spPr>
          <a:xfrm>
            <a:off x="1143000" y="182880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Why is coordination sometimes called the 'essence of management'?</a:t>
            </a:r>
            <a:endParaRPr lang="en-US" sz="1300" dirty="0"/>
          </a:p>
        </p:txBody>
      </p:sp>
      <p:sp>
        <p:nvSpPr>
          <p:cNvPr id="8" name="Shape 6"/>
          <p:cNvSpPr/>
          <p:nvPr/>
        </p:nvSpPr>
        <p:spPr>
          <a:xfrm>
            <a:off x="548640" y="2476310"/>
            <a:ext cx="402336" cy="402336"/>
          </a:xfrm>
          <a:prstGeom prst="ellipse">
            <a:avLst/>
          </a:prstGeom>
          <a:solidFill>
            <a:srgbClr val="1E2761"/>
          </a:solidFill>
          <a:ln/>
        </p:spPr>
      </p:sp>
      <p:sp>
        <p:nvSpPr>
          <p:cNvPr id="9" name="Text 7"/>
          <p:cNvSpPr/>
          <p:nvPr/>
        </p:nvSpPr>
        <p:spPr>
          <a:xfrm>
            <a:off x="548640" y="2476310"/>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2</a:t>
            </a:r>
            <a:endParaRPr lang="en-US" sz="1250" dirty="0"/>
          </a:p>
        </p:txBody>
      </p:sp>
      <p:sp>
        <p:nvSpPr>
          <p:cNvPr id="10" name="Text 8"/>
          <p:cNvSpPr/>
          <p:nvPr/>
        </p:nvSpPr>
        <p:spPr>
          <a:xfrm>
            <a:off x="1143000" y="239458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three techniques for achieving effective coordination.</a:t>
            </a:r>
            <a:endParaRPr lang="en-US" sz="1300" dirty="0"/>
          </a:p>
        </p:txBody>
      </p:sp>
      <p:sp>
        <p:nvSpPr>
          <p:cNvPr id="11" name="Shape 9"/>
          <p:cNvSpPr/>
          <p:nvPr/>
        </p:nvSpPr>
        <p:spPr>
          <a:xfrm>
            <a:off x="548640" y="3042095"/>
            <a:ext cx="402336" cy="402336"/>
          </a:xfrm>
          <a:prstGeom prst="ellipse">
            <a:avLst/>
          </a:prstGeom>
          <a:solidFill>
            <a:srgbClr val="1E2761"/>
          </a:solidFill>
          <a:ln/>
        </p:spPr>
      </p:sp>
      <p:sp>
        <p:nvSpPr>
          <p:cNvPr id="12" name="Text 10"/>
          <p:cNvSpPr/>
          <p:nvPr/>
        </p:nvSpPr>
        <p:spPr>
          <a:xfrm>
            <a:off x="548640" y="304209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3</a:t>
            </a:r>
            <a:endParaRPr lang="en-US" sz="1250" dirty="0"/>
          </a:p>
        </p:txBody>
      </p:sp>
      <p:sp>
        <p:nvSpPr>
          <p:cNvPr id="13" name="Text 11"/>
          <p:cNvSpPr/>
          <p:nvPr/>
        </p:nvSpPr>
        <p:spPr>
          <a:xfrm>
            <a:off x="1143000" y="296037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Give one example of an Indian corporate case study linking ethics to effective coordination.</a:t>
            </a:r>
            <a:endParaRPr lang="en-US" sz="1300" dirty="0"/>
          </a:p>
        </p:txBody>
      </p:sp>
      <p:sp>
        <p:nvSpPr>
          <p:cNvPr id="14" name="Shape 12"/>
          <p:cNvSpPr/>
          <p:nvPr/>
        </p:nvSpPr>
        <p:spPr>
          <a:xfrm>
            <a:off x="548640" y="3607879"/>
            <a:ext cx="402336" cy="402336"/>
          </a:xfrm>
          <a:prstGeom prst="ellipse">
            <a:avLst/>
          </a:prstGeom>
          <a:solidFill>
            <a:srgbClr val="1E2761"/>
          </a:solidFill>
          <a:ln/>
        </p:spPr>
      </p:sp>
      <p:sp>
        <p:nvSpPr>
          <p:cNvPr id="15" name="Text 13"/>
          <p:cNvSpPr/>
          <p:nvPr/>
        </p:nvSpPr>
        <p:spPr>
          <a:xfrm>
            <a:off x="548640" y="3607879"/>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4</a:t>
            </a:r>
            <a:endParaRPr lang="en-US" sz="1250" dirty="0"/>
          </a:p>
        </p:txBody>
      </p:sp>
      <p:sp>
        <p:nvSpPr>
          <p:cNvPr id="16" name="Text 14"/>
          <p:cNvSpPr/>
          <p:nvPr/>
        </p:nvSpPr>
        <p:spPr>
          <a:xfrm>
            <a:off x="1143000" y="352615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Define control, and explain why it is described as 'forward-looking'.</a:t>
            </a:r>
            <a:endParaRPr lang="en-US" sz="1300" dirty="0"/>
          </a:p>
        </p:txBody>
      </p:sp>
      <p:sp>
        <p:nvSpPr>
          <p:cNvPr id="17" name="Shape 15"/>
          <p:cNvSpPr/>
          <p:nvPr/>
        </p:nvSpPr>
        <p:spPr>
          <a:xfrm>
            <a:off x="548640" y="4173665"/>
            <a:ext cx="402336" cy="402336"/>
          </a:xfrm>
          <a:prstGeom prst="ellipse">
            <a:avLst/>
          </a:prstGeom>
          <a:solidFill>
            <a:srgbClr val="1E2761"/>
          </a:solidFill>
          <a:ln/>
        </p:spPr>
      </p:sp>
      <p:sp>
        <p:nvSpPr>
          <p:cNvPr id="18" name="Text 16"/>
          <p:cNvSpPr/>
          <p:nvPr/>
        </p:nvSpPr>
        <p:spPr>
          <a:xfrm>
            <a:off x="548640" y="417366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5</a:t>
            </a:r>
            <a:endParaRPr lang="en-US" sz="1250" dirty="0"/>
          </a:p>
        </p:txBody>
      </p:sp>
      <p:sp>
        <p:nvSpPr>
          <p:cNvPr id="19" name="Text 17"/>
          <p:cNvSpPr/>
          <p:nvPr/>
        </p:nvSpPr>
        <p:spPr>
          <a:xfrm>
            <a:off x="1143000" y="409194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List the five steps in the process of control.</a:t>
            </a:r>
            <a:endParaRPr lang="en-US" sz="1300" dirty="0"/>
          </a:p>
        </p:txBody>
      </p:sp>
      <p:sp>
        <p:nvSpPr>
          <p:cNvPr id="20" name="Shape 18"/>
          <p:cNvSpPr/>
          <p:nvPr/>
        </p:nvSpPr>
        <p:spPr>
          <a:xfrm>
            <a:off x="548640" y="4739450"/>
            <a:ext cx="402336" cy="402336"/>
          </a:xfrm>
          <a:prstGeom prst="ellipse">
            <a:avLst/>
          </a:prstGeom>
          <a:solidFill>
            <a:srgbClr val="1E2761"/>
          </a:solidFill>
          <a:ln/>
        </p:spPr>
      </p:sp>
      <p:sp>
        <p:nvSpPr>
          <p:cNvPr id="21" name="Text 19"/>
          <p:cNvSpPr/>
          <p:nvPr/>
        </p:nvSpPr>
        <p:spPr>
          <a:xfrm>
            <a:off x="548640" y="4739450"/>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6</a:t>
            </a:r>
            <a:endParaRPr lang="en-US" sz="1250" dirty="0"/>
          </a:p>
        </p:txBody>
      </p:sp>
      <p:sp>
        <p:nvSpPr>
          <p:cNvPr id="22" name="Text 20"/>
          <p:cNvSpPr/>
          <p:nvPr/>
        </p:nvSpPr>
        <p:spPr>
          <a:xfrm>
            <a:off x="1143000" y="465772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four characteristics of an ideal control system.</a:t>
            </a:r>
            <a:endParaRPr lang="en-US" sz="1300" dirty="0"/>
          </a:p>
        </p:txBody>
      </p:sp>
      <p:sp>
        <p:nvSpPr>
          <p:cNvPr id="23" name="Shape 21"/>
          <p:cNvSpPr/>
          <p:nvPr/>
        </p:nvSpPr>
        <p:spPr>
          <a:xfrm>
            <a:off x="548640" y="5305235"/>
            <a:ext cx="402336" cy="402336"/>
          </a:xfrm>
          <a:prstGeom prst="ellipse">
            <a:avLst/>
          </a:prstGeom>
          <a:solidFill>
            <a:srgbClr val="1E2761"/>
          </a:solidFill>
          <a:ln/>
        </p:spPr>
      </p:sp>
      <p:sp>
        <p:nvSpPr>
          <p:cNvPr id="24" name="Text 22"/>
          <p:cNvSpPr/>
          <p:nvPr/>
        </p:nvSpPr>
        <p:spPr>
          <a:xfrm>
            <a:off x="548640" y="5305235"/>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7</a:t>
            </a:r>
            <a:endParaRPr lang="en-US" sz="1250" dirty="0"/>
          </a:p>
        </p:txBody>
      </p:sp>
      <p:sp>
        <p:nvSpPr>
          <p:cNvPr id="25" name="Text 23"/>
          <p:cNvSpPr/>
          <p:nvPr/>
        </p:nvSpPr>
        <p:spPr>
          <a:xfrm>
            <a:off x="1143000" y="5223510"/>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Name any three control techniques discussed in this module.</a:t>
            </a:r>
            <a:endParaRPr lang="en-US" sz="1300" dirty="0"/>
          </a:p>
        </p:txBody>
      </p:sp>
      <p:sp>
        <p:nvSpPr>
          <p:cNvPr id="26" name="Shape 24"/>
          <p:cNvSpPr/>
          <p:nvPr/>
        </p:nvSpPr>
        <p:spPr>
          <a:xfrm>
            <a:off x="548640" y="5871020"/>
            <a:ext cx="402336" cy="402336"/>
          </a:xfrm>
          <a:prstGeom prst="ellipse">
            <a:avLst/>
          </a:prstGeom>
          <a:solidFill>
            <a:srgbClr val="1E2761"/>
          </a:solidFill>
          <a:ln/>
        </p:spPr>
      </p:sp>
      <p:sp>
        <p:nvSpPr>
          <p:cNvPr id="27" name="Text 25"/>
          <p:cNvSpPr/>
          <p:nvPr/>
        </p:nvSpPr>
        <p:spPr>
          <a:xfrm>
            <a:off x="548640" y="5871020"/>
            <a:ext cx="402336" cy="402336"/>
          </a:xfrm>
          <a:prstGeom prst="rect">
            <a:avLst/>
          </a:prstGeom>
          <a:noFill/>
          <a:ln/>
        </p:spPr>
        <p:txBody>
          <a:bodyPr wrap="square" lIns="0" tIns="0" rIns="0" bIns="0" rtlCol="0" anchor="ctr"/>
          <a:lstStyle/>
          <a:p>
            <a:pPr algn="ctr" indent="0" marL="0">
              <a:buNone/>
            </a:pPr>
            <a:r>
              <a:rPr lang="en-US" sz="1250" b="1" dirty="0">
                <a:solidFill>
                  <a:srgbClr val="C9A24B"/>
                </a:solidFill>
                <a:latin typeface="Cambria" pitchFamily="34" charset="0"/>
                <a:ea typeface="Cambria" pitchFamily="34" charset="-122"/>
                <a:cs typeface="Cambria" pitchFamily="34" charset="-120"/>
              </a:rPr>
              <a:t>8</a:t>
            </a:r>
            <a:endParaRPr lang="en-US" sz="1250" dirty="0"/>
          </a:p>
        </p:txBody>
      </p:sp>
      <p:sp>
        <p:nvSpPr>
          <p:cNvPr id="28" name="Text 26"/>
          <p:cNvSpPr/>
          <p:nvPr/>
        </p:nvSpPr>
        <p:spPr>
          <a:xfrm>
            <a:off x="1143000" y="5789295"/>
            <a:ext cx="10515600" cy="565785"/>
          </a:xfrm>
          <a:prstGeom prst="rect">
            <a:avLst/>
          </a:prstGeom>
          <a:noFill/>
          <a:ln/>
        </p:spPr>
        <p:txBody>
          <a:bodyPr wrap="square" rtlCol="0" anchor="ctr"/>
          <a:lstStyle/>
          <a:p>
            <a:pPr indent="0" marL="0">
              <a:buNone/>
            </a:pPr>
            <a:r>
              <a:rPr lang="en-US" sz="1300" dirty="0">
                <a:solidFill>
                  <a:srgbClr val="2B2B33"/>
                </a:solidFill>
                <a:latin typeface="Calibri" pitchFamily="34" charset="0"/>
                <a:ea typeface="Calibri" pitchFamily="34" charset="-122"/>
                <a:cs typeface="Calibri" pitchFamily="34" charset="-120"/>
              </a:rPr>
              <a:t>Give one example each of ancient Indian sustainable business wisdom and a modern application of AI in management.</a:t>
            </a:r>
            <a:endParaRPr lang="en-US" sz="1300" dirty="0"/>
          </a:p>
        </p:txBody>
      </p:sp>
      <p:sp>
        <p:nvSpPr>
          <p:cNvPr id="29" name="Text 2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30" name="Text 2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64008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100584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Recap of Today's Lecture</a:t>
            </a:r>
            <a:endParaRPr lang="en-US" sz="3200" dirty="0"/>
          </a:p>
        </p:txBody>
      </p:sp>
      <p:sp>
        <p:nvSpPr>
          <p:cNvPr id="5" name="Text 3"/>
          <p:cNvSpPr/>
          <p:nvPr/>
        </p:nvSpPr>
        <p:spPr>
          <a:xfrm>
            <a:off x="822960" y="196596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Motivation: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An internal, continuous, goal-directed process — best explained through Maslow's Hierarchy and Herzberg's Two-Factor Theory, and expressed through intrinsic/extrinsic, positive/negative, and financial/non-financial forms.</a:t>
            </a:r>
            <a:endParaRPr lang="en-US" sz="1450" dirty="0"/>
          </a:p>
        </p:txBody>
      </p:sp>
      <p:sp>
        <p:nvSpPr>
          <p:cNvPr id="6" name="Text 4"/>
          <p:cNvSpPr/>
          <p:nvPr/>
        </p:nvSpPr>
        <p:spPr>
          <a:xfrm>
            <a:off x="822960" y="306324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Co-ordination: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The thread running through every management function, reinforced (as Tata, Infosys and Amul show) by clear values and ethics, not just structure.</a:t>
            </a:r>
            <a:endParaRPr lang="en-US" sz="1450" dirty="0"/>
          </a:p>
        </p:txBody>
      </p:sp>
      <p:sp>
        <p:nvSpPr>
          <p:cNvPr id="7" name="Text 5"/>
          <p:cNvSpPr/>
          <p:nvPr/>
        </p:nvSpPr>
        <p:spPr>
          <a:xfrm>
            <a:off x="822960" y="416052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Control: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A five-step, forward-looking loop — set standards, measure, compare, analyze, correct — supported by budgetary, statistical and project-control techniques.</a:t>
            </a:r>
            <a:endParaRPr lang="en-US" sz="1450" dirty="0"/>
          </a:p>
        </p:txBody>
      </p:sp>
      <p:sp>
        <p:nvSpPr>
          <p:cNvPr id="8" name="Text 6"/>
          <p:cNvSpPr/>
          <p:nvPr/>
        </p:nvSpPr>
        <p:spPr>
          <a:xfrm>
            <a:off x="822960" y="5257800"/>
            <a:ext cx="10515600" cy="960120"/>
          </a:xfrm>
          <a:prstGeom prst="rect">
            <a:avLst/>
          </a:prstGeom>
          <a:noFill/>
          <a:ln/>
        </p:spPr>
        <p:txBody>
          <a:bodyPr wrap="square" rtlCol="0" anchor="t"/>
          <a:lstStyle/>
          <a:p>
            <a:pPr indent="0" marL="0">
              <a:lnSpc>
                <a:spcPct val="110000"/>
              </a:lnSpc>
              <a:buNone/>
            </a:pPr>
            <a:r>
              <a:rPr lang="en-US" sz="1450" b="1" dirty="0">
                <a:solidFill>
                  <a:srgbClr val="C9A24B"/>
                </a:solidFill>
                <a:latin typeface="Calibri" pitchFamily="34" charset="0"/>
                <a:ea typeface="Calibri" pitchFamily="34" charset="-122"/>
                <a:cs typeface="Calibri" pitchFamily="34" charset="-120"/>
              </a:rPr>
              <a:t>Ancient Wisdom &amp; AI:  </a:t>
            </a:r>
            <a:pPr indent="0" marL="0">
              <a:lnSpc>
                <a:spcPct val="110000"/>
              </a:lnSpc>
              <a:buNone/>
            </a:pPr>
            <a:r>
              <a:rPr lang="en-US" sz="1450" dirty="0">
                <a:solidFill>
                  <a:srgbClr val="CADCFC"/>
                </a:solidFill>
                <a:latin typeface="Calibri" pitchFamily="34" charset="0"/>
                <a:ea typeface="Calibri" pitchFamily="34" charset="-122"/>
                <a:cs typeface="Calibri" pitchFamily="34" charset="-120"/>
              </a:rPr>
              <a:t>Ancient India's trusteeship and resource-management practices, and today's AI tools, both point to the same lesson: sound technique must stay anchored in human judgment and ethics.</a:t>
            </a:r>
            <a:endParaRPr lang="en-US" sz="1450" dirty="0"/>
          </a:p>
        </p:txBody>
      </p:sp>
      <p:sp>
        <p:nvSpPr>
          <p:cNvPr id="9" name="Text 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 - Module V</dc:title>
  <dc:subject>PptxGenJS Presentation</dc:subject>
  <dc:creator>Dr. Rajakrishnan Manivel</dc:creator>
  <cp:lastModifiedBy>Dr. Rajakrishnan Manivel</cp:lastModifiedBy>
  <cp:revision>1</cp:revision>
  <dcterms:created xsi:type="dcterms:W3CDTF">2026-09-09T01:49:49Z</dcterms:created>
  <dcterms:modified xsi:type="dcterms:W3CDTF">2026-09-09T01:49:49Z</dcterms:modified>
</cp:coreProperties>
</file>