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0268712" y="4480560"/>
            <a:ext cx="2926080" cy="2926080"/>
          </a:xfrm>
          <a:prstGeom prst="ellipse">
            <a:avLst/>
          </a:prstGeom>
          <a:solidFill>
            <a:srgbClr val="1E2761"/>
          </a:solidFill>
          <a:ln/>
        </p:spPr>
      </p:sp>
      <p:sp>
        <p:nvSpPr>
          <p:cNvPr id="4" name="Text 2"/>
          <p:cNvSpPr/>
          <p:nvPr/>
        </p:nvSpPr>
        <p:spPr>
          <a:xfrm>
            <a:off x="822960" y="1371600"/>
            <a:ext cx="7315200" cy="365760"/>
          </a:xfrm>
          <a:prstGeom prst="rect">
            <a:avLst/>
          </a:prstGeom>
          <a:noFill/>
          <a:ln/>
        </p:spPr>
        <p:txBody>
          <a:bodyPr wrap="square" rtlCol="0" anchor="ctr"/>
          <a:lstStyle/>
          <a:p>
            <a:pPr indent="0" marL="0">
              <a:buNone/>
            </a:pPr>
            <a:r>
              <a:rPr lang="en-US" sz="1500" b="1" spc="300" kern="0" dirty="0">
                <a:solidFill>
                  <a:srgbClr val="C9A24B"/>
                </a:solidFill>
                <a:latin typeface="Calibri" pitchFamily="34" charset="0"/>
                <a:ea typeface="Calibri" pitchFamily="34" charset="-122"/>
                <a:cs typeface="Calibri" pitchFamily="34" charset="-120"/>
              </a:rPr>
              <a:t>MODULE IV</a:t>
            </a:r>
            <a:endParaRPr lang="en-US" sz="1500" dirty="0"/>
          </a:p>
        </p:txBody>
      </p:sp>
      <p:sp>
        <p:nvSpPr>
          <p:cNvPr id="5" name="Text 3"/>
          <p:cNvSpPr/>
          <p:nvPr/>
        </p:nvSpPr>
        <p:spPr>
          <a:xfrm>
            <a:off x="822960" y="1737360"/>
            <a:ext cx="969264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Staffing and Leadership</a:t>
            </a:r>
            <a:endParaRPr lang="en-US" sz="4400" dirty="0"/>
          </a:p>
        </p:txBody>
      </p:sp>
      <p:sp>
        <p:nvSpPr>
          <p:cNvPr id="6" name="Text 4"/>
          <p:cNvSpPr/>
          <p:nvPr/>
        </p:nvSpPr>
        <p:spPr>
          <a:xfrm>
            <a:off x="822960" y="2788920"/>
            <a:ext cx="9692640" cy="777240"/>
          </a:xfrm>
          <a:prstGeom prst="rect">
            <a:avLst/>
          </a:prstGeom>
          <a:noFill/>
          <a:ln/>
        </p:spPr>
        <p:txBody>
          <a:bodyPr wrap="square" rtlCol="0" anchor="t"/>
          <a:lstStyle/>
          <a:p>
            <a:pPr indent="0" marL="0">
              <a:buNone/>
            </a:pPr>
            <a:r>
              <a:rPr lang="en-US" sz="1600" dirty="0">
                <a:solidFill>
                  <a:srgbClr val="CADCFC"/>
                </a:solidFill>
                <a:latin typeface="Calibri" pitchFamily="34" charset="0"/>
                <a:ea typeface="Calibri" pitchFamily="34" charset="-122"/>
                <a:cs typeface="Calibri" pitchFamily="34" charset="-120"/>
              </a:rPr>
              <a:t>The Staffing Process • Recruitment &amp; Selection • Training &amp; Appraisal • Leadership • Lessons from the Ramayana &amp; Mahabharata</a:t>
            </a:r>
            <a:endParaRPr lang="en-US" sz="1600" dirty="0"/>
          </a:p>
        </p:txBody>
      </p:sp>
      <p:sp>
        <p:nvSpPr>
          <p:cNvPr id="7" name="Shape 5"/>
          <p:cNvSpPr/>
          <p:nvPr/>
        </p:nvSpPr>
        <p:spPr>
          <a:xfrm>
            <a:off x="868680" y="3749040"/>
            <a:ext cx="2011680" cy="0"/>
          </a:xfrm>
          <a:prstGeom prst="line">
            <a:avLst/>
          </a:prstGeom>
          <a:noFill/>
          <a:ln w="25400">
            <a:solidFill>
              <a:srgbClr val="C9A24B"/>
            </a:solidFill>
            <a:prstDash val="solid"/>
          </a:ln>
        </p:spPr>
      </p:sp>
      <p:sp>
        <p:nvSpPr>
          <p:cNvPr id="8" name="Text 6"/>
          <p:cNvSpPr/>
          <p:nvPr/>
        </p:nvSpPr>
        <p:spPr>
          <a:xfrm>
            <a:off x="822960" y="5760720"/>
            <a:ext cx="7315200" cy="914400"/>
          </a:xfrm>
          <a:prstGeom prst="rect">
            <a:avLst/>
          </a:prstGeom>
          <a:noFill/>
          <a:ln/>
        </p:spPr>
        <p:txBody>
          <a:bodyPr wrap="square" rtlCol="0" anchor="ctr"/>
          <a:lstStyle/>
          <a:p>
            <a:pPr indent="0" marL="0">
              <a:lnSpc>
                <a:spcPct val="120000"/>
              </a:lnSpc>
              <a:buNone/>
            </a:pPr>
            <a:r>
              <a:rPr lang="en-US" sz="1300" b="1" dirty="0">
                <a:solidFill>
                  <a:srgbClr val="CADCFC"/>
                </a:solidFill>
                <a:latin typeface="Calibri" pitchFamily="34" charset="0"/>
                <a:ea typeface="Calibri" pitchFamily="34" charset="-122"/>
                <a:cs typeface="Calibri" pitchFamily="34" charset="-120"/>
              </a:rPr>
              <a:t>Dr. Rajakrishnan Manivel</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Assistant Professor, Department of Commerce (CA)</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PSG College of Arts &amp; Science, Coimbatore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LECTURE ROADMAP</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What We Will Cover Today</a:t>
            </a:r>
            <a:endParaRPr lang="en-US" sz="2700" dirty="0"/>
          </a:p>
        </p:txBody>
      </p:sp>
      <p:sp>
        <p:nvSpPr>
          <p:cNvPr id="4" name="Shape 2"/>
          <p:cNvSpPr/>
          <p:nvPr/>
        </p:nvSpPr>
        <p:spPr>
          <a:xfrm>
            <a:off x="548640" y="1600200"/>
            <a:ext cx="11064240" cy="749808"/>
          </a:xfrm>
          <a:prstGeom prst="roundRect">
            <a:avLst>
              <a:gd name="adj" fmla="val 9756"/>
            </a:avLst>
          </a:prstGeom>
          <a:solidFill>
            <a:srgbClr val="EEF3FC"/>
          </a:solidFill>
          <a:ln/>
        </p:spPr>
      </p:sp>
      <p:sp>
        <p:nvSpPr>
          <p:cNvPr id="5" name="Shape 3"/>
          <p:cNvSpPr/>
          <p:nvPr/>
        </p:nvSpPr>
        <p:spPr>
          <a:xfrm>
            <a:off x="777240" y="1728216"/>
            <a:ext cx="502920" cy="50292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907999" y="1858975"/>
            <a:ext cx="241402" cy="241402"/>
          </a:xfrm>
          <a:prstGeom prst="rect">
            <a:avLst/>
          </a:prstGeom>
        </p:spPr>
      </p:pic>
      <p:sp>
        <p:nvSpPr>
          <p:cNvPr id="7" name="Text 4"/>
          <p:cNvSpPr/>
          <p:nvPr/>
        </p:nvSpPr>
        <p:spPr>
          <a:xfrm>
            <a:off x="1417320" y="1691640"/>
            <a:ext cx="457200" cy="365760"/>
          </a:xfrm>
          <a:prstGeom prst="rect">
            <a:avLst/>
          </a:prstGeom>
          <a:noFill/>
          <a:ln/>
        </p:spPr>
        <p:txBody>
          <a:bodyPr wrap="square" lIns="0" tIns="0" rIns="0" bIns="0" rtlCol="0" anchor="ctr"/>
          <a:lstStyle/>
          <a:p>
            <a:pPr indent="0" marL="0">
              <a:buNone/>
            </a:pPr>
            <a:r>
              <a:rPr lang="en-US" sz="1700" b="1" dirty="0">
                <a:solidFill>
                  <a:srgbClr val="C9A24B"/>
                </a:solidFill>
                <a:latin typeface="Cambria" pitchFamily="34" charset="0"/>
                <a:ea typeface="Cambria" pitchFamily="34" charset="-122"/>
                <a:cs typeface="Cambria" pitchFamily="34" charset="-120"/>
              </a:rPr>
              <a:t>A</a:t>
            </a:r>
            <a:endParaRPr lang="en-US" sz="1700" dirty="0"/>
          </a:p>
        </p:txBody>
      </p:sp>
      <p:sp>
        <p:nvSpPr>
          <p:cNvPr id="8" name="Text 5"/>
          <p:cNvSpPr/>
          <p:nvPr/>
        </p:nvSpPr>
        <p:spPr>
          <a:xfrm>
            <a:off x="1965960" y="1655064"/>
            <a:ext cx="914400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Staffing — Meaning, Nature &amp; Process</a:t>
            </a:r>
            <a:endParaRPr lang="en-US" sz="1450" dirty="0"/>
          </a:p>
        </p:txBody>
      </p:sp>
      <p:sp>
        <p:nvSpPr>
          <p:cNvPr id="9" name="Text 6"/>
          <p:cNvSpPr/>
          <p:nvPr/>
        </p:nvSpPr>
        <p:spPr>
          <a:xfrm>
            <a:off x="1965960" y="2020824"/>
            <a:ext cx="914400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Manpower planning through to compensation</a:t>
            </a:r>
            <a:endParaRPr lang="en-US" sz="1150" dirty="0"/>
          </a:p>
        </p:txBody>
      </p:sp>
      <p:sp>
        <p:nvSpPr>
          <p:cNvPr id="10" name="Shape 7"/>
          <p:cNvSpPr/>
          <p:nvPr/>
        </p:nvSpPr>
        <p:spPr>
          <a:xfrm>
            <a:off x="548640" y="2441448"/>
            <a:ext cx="11064240" cy="749808"/>
          </a:xfrm>
          <a:prstGeom prst="roundRect">
            <a:avLst>
              <a:gd name="adj" fmla="val 9756"/>
            </a:avLst>
          </a:prstGeom>
          <a:solidFill>
            <a:srgbClr val="EEF3FC"/>
          </a:solidFill>
          <a:ln/>
        </p:spPr>
      </p:sp>
      <p:sp>
        <p:nvSpPr>
          <p:cNvPr id="11" name="Shape 8"/>
          <p:cNvSpPr/>
          <p:nvPr/>
        </p:nvSpPr>
        <p:spPr>
          <a:xfrm>
            <a:off x="777240" y="2569464"/>
            <a:ext cx="502920" cy="502920"/>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907999" y="2700223"/>
            <a:ext cx="241402" cy="241402"/>
          </a:xfrm>
          <a:prstGeom prst="rect">
            <a:avLst/>
          </a:prstGeom>
        </p:spPr>
      </p:pic>
      <p:sp>
        <p:nvSpPr>
          <p:cNvPr id="13" name="Text 9"/>
          <p:cNvSpPr/>
          <p:nvPr/>
        </p:nvSpPr>
        <p:spPr>
          <a:xfrm>
            <a:off x="1417320" y="2532888"/>
            <a:ext cx="457200" cy="365760"/>
          </a:xfrm>
          <a:prstGeom prst="rect">
            <a:avLst/>
          </a:prstGeom>
          <a:noFill/>
          <a:ln/>
        </p:spPr>
        <p:txBody>
          <a:bodyPr wrap="square" lIns="0" tIns="0" rIns="0" bIns="0" rtlCol="0" anchor="ctr"/>
          <a:lstStyle/>
          <a:p>
            <a:pPr indent="0" marL="0">
              <a:buNone/>
            </a:pPr>
            <a:r>
              <a:rPr lang="en-US" sz="1700" b="1" dirty="0">
                <a:solidFill>
                  <a:srgbClr val="C9A24B"/>
                </a:solidFill>
                <a:latin typeface="Cambria" pitchFamily="34" charset="0"/>
                <a:ea typeface="Cambria" pitchFamily="34" charset="-122"/>
                <a:cs typeface="Cambria" pitchFamily="34" charset="-120"/>
              </a:rPr>
              <a:t>B</a:t>
            </a:r>
            <a:endParaRPr lang="en-US" sz="1700" dirty="0"/>
          </a:p>
        </p:txBody>
      </p:sp>
      <p:sp>
        <p:nvSpPr>
          <p:cNvPr id="14" name="Text 10"/>
          <p:cNvSpPr/>
          <p:nvPr/>
        </p:nvSpPr>
        <p:spPr>
          <a:xfrm>
            <a:off x="1965960" y="2496312"/>
            <a:ext cx="914400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Recruitment &amp; Selection</a:t>
            </a:r>
            <a:endParaRPr lang="en-US" sz="1450" dirty="0"/>
          </a:p>
        </p:txBody>
      </p:sp>
      <p:sp>
        <p:nvSpPr>
          <p:cNvPr id="15" name="Text 11"/>
          <p:cNvSpPr/>
          <p:nvPr/>
        </p:nvSpPr>
        <p:spPr>
          <a:xfrm>
            <a:off x="1965960" y="2862072"/>
            <a:ext cx="914400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Sourcing and choosing the right people</a:t>
            </a:r>
            <a:endParaRPr lang="en-US" sz="1150" dirty="0"/>
          </a:p>
        </p:txBody>
      </p:sp>
      <p:sp>
        <p:nvSpPr>
          <p:cNvPr id="16" name="Shape 12"/>
          <p:cNvSpPr/>
          <p:nvPr/>
        </p:nvSpPr>
        <p:spPr>
          <a:xfrm>
            <a:off x="548640" y="3282696"/>
            <a:ext cx="11064240" cy="749808"/>
          </a:xfrm>
          <a:prstGeom prst="roundRect">
            <a:avLst>
              <a:gd name="adj" fmla="val 9756"/>
            </a:avLst>
          </a:prstGeom>
          <a:solidFill>
            <a:srgbClr val="EEF3FC"/>
          </a:solidFill>
          <a:ln/>
        </p:spPr>
      </p:sp>
      <p:sp>
        <p:nvSpPr>
          <p:cNvPr id="17" name="Shape 13"/>
          <p:cNvSpPr/>
          <p:nvPr/>
        </p:nvSpPr>
        <p:spPr>
          <a:xfrm>
            <a:off x="777240" y="3410712"/>
            <a:ext cx="502920" cy="502920"/>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07999" y="3541471"/>
            <a:ext cx="241402" cy="241402"/>
          </a:xfrm>
          <a:prstGeom prst="rect">
            <a:avLst/>
          </a:prstGeom>
        </p:spPr>
      </p:pic>
      <p:sp>
        <p:nvSpPr>
          <p:cNvPr id="19" name="Text 14"/>
          <p:cNvSpPr/>
          <p:nvPr/>
        </p:nvSpPr>
        <p:spPr>
          <a:xfrm>
            <a:off x="1417320" y="3374136"/>
            <a:ext cx="457200" cy="365760"/>
          </a:xfrm>
          <a:prstGeom prst="rect">
            <a:avLst/>
          </a:prstGeom>
          <a:noFill/>
          <a:ln/>
        </p:spPr>
        <p:txBody>
          <a:bodyPr wrap="square" lIns="0" tIns="0" rIns="0" bIns="0" rtlCol="0" anchor="ctr"/>
          <a:lstStyle/>
          <a:p>
            <a:pPr indent="0" marL="0">
              <a:buNone/>
            </a:pPr>
            <a:r>
              <a:rPr lang="en-US" sz="1700" b="1" dirty="0">
                <a:solidFill>
                  <a:srgbClr val="C9A24B"/>
                </a:solidFill>
                <a:latin typeface="Cambria" pitchFamily="34" charset="0"/>
                <a:ea typeface="Cambria" pitchFamily="34" charset="-122"/>
                <a:cs typeface="Cambria" pitchFamily="34" charset="-120"/>
              </a:rPr>
              <a:t>C</a:t>
            </a:r>
            <a:endParaRPr lang="en-US" sz="1700" dirty="0"/>
          </a:p>
        </p:txBody>
      </p:sp>
      <p:sp>
        <p:nvSpPr>
          <p:cNvPr id="20" name="Text 15"/>
          <p:cNvSpPr/>
          <p:nvPr/>
        </p:nvSpPr>
        <p:spPr>
          <a:xfrm>
            <a:off x="1965960" y="3337560"/>
            <a:ext cx="914400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Training, Appraisal, Promotion &amp; Job Analysis</a:t>
            </a:r>
            <a:endParaRPr lang="en-US" sz="1450" dirty="0"/>
          </a:p>
        </p:txBody>
      </p:sp>
      <p:sp>
        <p:nvSpPr>
          <p:cNvPr id="21" name="Text 16"/>
          <p:cNvSpPr/>
          <p:nvPr/>
        </p:nvSpPr>
        <p:spPr>
          <a:xfrm>
            <a:off x="1965960" y="3703320"/>
            <a:ext cx="914400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Developing, evaluating and rewarding people</a:t>
            </a:r>
            <a:endParaRPr lang="en-US" sz="1150" dirty="0"/>
          </a:p>
        </p:txBody>
      </p:sp>
      <p:sp>
        <p:nvSpPr>
          <p:cNvPr id="22" name="Shape 17"/>
          <p:cNvSpPr/>
          <p:nvPr/>
        </p:nvSpPr>
        <p:spPr>
          <a:xfrm>
            <a:off x="548640" y="4123944"/>
            <a:ext cx="11064240" cy="749808"/>
          </a:xfrm>
          <a:prstGeom prst="roundRect">
            <a:avLst>
              <a:gd name="adj" fmla="val 9756"/>
            </a:avLst>
          </a:prstGeom>
          <a:solidFill>
            <a:srgbClr val="EEF3FC"/>
          </a:solidFill>
          <a:ln/>
        </p:spPr>
      </p:sp>
      <p:sp>
        <p:nvSpPr>
          <p:cNvPr id="23" name="Shape 18"/>
          <p:cNvSpPr/>
          <p:nvPr/>
        </p:nvSpPr>
        <p:spPr>
          <a:xfrm>
            <a:off x="777240" y="4251960"/>
            <a:ext cx="502920" cy="502920"/>
          </a:xfrm>
          <a:prstGeom prst="ellipse">
            <a:avLst/>
          </a:prstGeom>
          <a:solidFill>
            <a:srgbClr val="1E2761"/>
          </a:solidFill>
          <a:ln/>
        </p:spPr>
      </p:sp>
      <p:pic>
        <p:nvPicPr>
          <p:cNvPr id="24" name="Image 3" descr="preencoded.png">    </p:cNvPr>
          <p:cNvPicPr>
            <a:picLocks noChangeAspect="1"/>
          </p:cNvPicPr>
          <p:nvPr/>
        </p:nvPicPr>
        <p:blipFill>
          <a:blip r:embed="rId4"/>
          <a:stretch>
            <a:fillRect/>
          </a:stretch>
        </p:blipFill>
        <p:spPr>
          <a:xfrm>
            <a:off x="907999" y="4382719"/>
            <a:ext cx="241402" cy="241402"/>
          </a:xfrm>
          <a:prstGeom prst="rect">
            <a:avLst/>
          </a:prstGeom>
        </p:spPr>
      </p:pic>
      <p:sp>
        <p:nvSpPr>
          <p:cNvPr id="25" name="Text 19"/>
          <p:cNvSpPr/>
          <p:nvPr/>
        </p:nvSpPr>
        <p:spPr>
          <a:xfrm>
            <a:off x="1417320" y="4215384"/>
            <a:ext cx="457200" cy="365760"/>
          </a:xfrm>
          <a:prstGeom prst="rect">
            <a:avLst/>
          </a:prstGeom>
          <a:noFill/>
          <a:ln/>
        </p:spPr>
        <p:txBody>
          <a:bodyPr wrap="square" lIns="0" tIns="0" rIns="0" bIns="0" rtlCol="0" anchor="ctr"/>
          <a:lstStyle/>
          <a:p>
            <a:pPr indent="0" marL="0">
              <a:buNone/>
            </a:pPr>
            <a:r>
              <a:rPr lang="en-US" sz="1700" b="1" dirty="0">
                <a:solidFill>
                  <a:srgbClr val="C9A24B"/>
                </a:solidFill>
                <a:latin typeface="Cambria" pitchFamily="34" charset="0"/>
                <a:ea typeface="Cambria" pitchFamily="34" charset="-122"/>
                <a:cs typeface="Cambria" pitchFamily="34" charset="-120"/>
              </a:rPr>
              <a:t>D</a:t>
            </a:r>
            <a:endParaRPr lang="en-US" sz="1700" dirty="0"/>
          </a:p>
        </p:txBody>
      </p:sp>
      <p:sp>
        <p:nvSpPr>
          <p:cNvPr id="26" name="Text 20"/>
          <p:cNvSpPr/>
          <p:nvPr/>
        </p:nvSpPr>
        <p:spPr>
          <a:xfrm>
            <a:off x="1965960" y="4178808"/>
            <a:ext cx="914400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Leadership — Meaning, Need, Functions &amp; Qualities</a:t>
            </a:r>
            <a:endParaRPr lang="en-US" sz="1450" dirty="0"/>
          </a:p>
        </p:txBody>
      </p:sp>
      <p:sp>
        <p:nvSpPr>
          <p:cNvPr id="27" name="Text 21"/>
          <p:cNvSpPr/>
          <p:nvPr/>
        </p:nvSpPr>
        <p:spPr>
          <a:xfrm>
            <a:off x="1965960" y="4544568"/>
            <a:ext cx="914400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What makes someone worth following</a:t>
            </a:r>
            <a:endParaRPr lang="en-US" sz="1150" dirty="0"/>
          </a:p>
        </p:txBody>
      </p:sp>
      <p:sp>
        <p:nvSpPr>
          <p:cNvPr id="28" name="Shape 22"/>
          <p:cNvSpPr/>
          <p:nvPr/>
        </p:nvSpPr>
        <p:spPr>
          <a:xfrm>
            <a:off x="548640" y="4965192"/>
            <a:ext cx="11064240" cy="749808"/>
          </a:xfrm>
          <a:prstGeom prst="roundRect">
            <a:avLst>
              <a:gd name="adj" fmla="val 9756"/>
            </a:avLst>
          </a:prstGeom>
          <a:solidFill>
            <a:srgbClr val="EEF3FC"/>
          </a:solidFill>
          <a:ln/>
        </p:spPr>
      </p:sp>
      <p:sp>
        <p:nvSpPr>
          <p:cNvPr id="29" name="Shape 23"/>
          <p:cNvSpPr/>
          <p:nvPr/>
        </p:nvSpPr>
        <p:spPr>
          <a:xfrm>
            <a:off x="777240" y="5093208"/>
            <a:ext cx="502920" cy="502920"/>
          </a:xfrm>
          <a:prstGeom prst="ellipse">
            <a:avLst/>
          </a:prstGeom>
          <a:solidFill>
            <a:srgbClr val="1E2761"/>
          </a:solidFill>
          <a:ln/>
        </p:spPr>
      </p:sp>
      <p:pic>
        <p:nvPicPr>
          <p:cNvPr id="30" name="Image 4" descr="preencoded.png">    </p:cNvPr>
          <p:cNvPicPr>
            <a:picLocks noChangeAspect="1"/>
          </p:cNvPicPr>
          <p:nvPr/>
        </p:nvPicPr>
        <p:blipFill>
          <a:blip r:embed="rId5"/>
          <a:stretch>
            <a:fillRect/>
          </a:stretch>
        </p:blipFill>
        <p:spPr>
          <a:xfrm>
            <a:off x="907999" y="5223967"/>
            <a:ext cx="241402" cy="241402"/>
          </a:xfrm>
          <a:prstGeom prst="rect">
            <a:avLst/>
          </a:prstGeom>
        </p:spPr>
      </p:pic>
      <p:sp>
        <p:nvSpPr>
          <p:cNvPr id="31" name="Text 24"/>
          <p:cNvSpPr/>
          <p:nvPr/>
        </p:nvSpPr>
        <p:spPr>
          <a:xfrm>
            <a:off x="1417320" y="5056632"/>
            <a:ext cx="457200" cy="365760"/>
          </a:xfrm>
          <a:prstGeom prst="rect">
            <a:avLst/>
          </a:prstGeom>
          <a:noFill/>
          <a:ln/>
        </p:spPr>
        <p:txBody>
          <a:bodyPr wrap="square" lIns="0" tIns="0" rIns="0" bIns="0" rtlCol="0" anchor="ctr"/>
          <a:lstStyle/>
          <a:p>
            <a:pPr indent="0" marL="0">
              <a:buNone/>
            </a:pPr>
            <a:r>
              <a:rPr lang="en-US" sz="1700" b="1" dirty="0">
                <a:solidFill>
                  <a:srgbClr val="C9A24B"/>
                </a:solidFill>
                <a:latin typeface="Cambria" pitchFamily="34" charset="0"/>
                <a:ea typeface="Cambria" pitchFamily="34" charset="-122"/>
                <a:cs typeface="Cambria" pitchFamily="34" charset="-120"/>
              </a:rPr>
              <a:t>E</a:t>
            </a:r>
            <a:endParaRPr lang="en-US" sz="1700" dirty="0"/>
          </a:p>
        </p:txBody>
      </p:sp>
      <p:sp>
        <p:nvSpPr>
          <p:cNvPr id="32" name="Text 25"/>
          <p:cNvSpPr/>
          <p:nvPr/>
        </p:nvSpPr>
        <p:spPr>
          <a:xfrm>
            <a:off x="1965960" y="5020056"/>
            <a:ext cx="914400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Types of Leadership</a:t>
            </a:r>
            <a:endParaRPr lang="en-US" sz="1450" dirty="0"/>
          </a:p>
        </p:txBody>
      </p:sp>
      <p:sp>
        <p:nvSpPr>
          <p:cNvPr id="33" name="Text 26"/>
          <p:cNvSpPr/>
          <p:nvPr/>
        </p:nvSpPr>
        <p:spPr>
          <a:xfrm>
            <a:off x="1965960" y="5385816"/>
            <a:ext cx="914400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Autocratic to Transformational</a:t>
            </a:r>
            <a:endParaRPr lang="en-US" sz="1150" dirty="0"/>
          </a:p>
        </p:txBody>
      </p:sp>
      <p:sp>
        <p:nvSpPr>
          <p:cNvPr id="34" name="Shape 27"/>
          <p:cNvSpPr/>
          <p:nvPr/>
        </p:nvSpPr>
        <p:spPr>
          <a:xfrm>
            <a:off x="548640" y="5806440"/>
            <a:ext cx="11064240" cy="749808"/>
          </a:xfrm>
          <a:prstGeom prst="roundRect">
            <a:avLst>
              <a:gd name="adj" fmla="val 9756"/>
            </a:avLst>
          </a:prstGeom>
          <a:solidFill>
            <a:srgbClr val="EEF3FC"/>
          </a:solidFill>
          <a:ln/>
        </p:spPr>
      </p:sp>
      <p:sp>
        <p:nvSpPr>
          <p:cNvPr id="35" name="Shape 28"/>
          <p:cNvSpPr/>
          <p:nvPr/>
        </p:nvSpPr>
        <p:spPr>
          <a:xfrm>
            <a:off x="777240" y="5934456"/>
            <a:ext cx="502920" cy="502920"/>
          </a:xfrm>
          <a:prstGeom prst="ellipse">
            <a:avLst/>
          </a:prstGeom>
          <a:solidFill>
            <a:srgbClr val="1E2761"/>
          </a:solidFill>
          <a:ln/>
        </p:spPr>
      </p:sp>
      <p:pic>
        <p:nvPicPr>
          <p:cNvPr id="36" name="Image 5" descr="preencoded.png">    </p:cNvPr>
          <p:cNvPicPr>
            <a:picLocks noChangeAspect="1"/>
          </p:cNvPicPr>
          <p:nvPr/>
        </p:nvPicPr>
        <p:blipFill>
          <a:blip r:embed="rId6"/>
          <a:stretch>
            <a:fillRect/>
          </a:stretch>
        </p:blipFill>
        <p:spPr>
          <a:xfrm>
            <a:off x="907999" y="6065215"/>
            <a:ext cx="241402" cy="241402"/>
          </a:xfrm>
          <a:prstGeom prst="rect">
            <a:avLst/>
          </a:prstGeom>
        </p:spPr>
      </p:pic>
      <p:sp>
        <p:nvSpPr>
          <p:cNvPr id="37" name="Text 29"/>
          <p:cNvSpPr/>
          <p:nvPr/>
        </p:nvSpPr>
        <p:spPr>
          <a:xfrm>
            <a:off x="1417320" y="5897880"/>
            <a:ext cx="457200" cy="365760"/>
          </a:xfrm>
          <a:prstGeom prst="rect">
            <a:avLst/>
          </a:prstGeom>
          <a:noFill/>
          <a:ln/>
        </p:spPr>
        <p:txBody>
          <a:bodyPr wrap="square" lIns="0" tIns="0" rIns="0" bIns="0" rtlCol="0" anchor="ctr"/>
          <a:lstStyle/>
          <a:p>
            <a:pPr indent="0" marL="0">
              <a:buNone/>
            </a:pPr>
            <a:r>
              <a:rPr lang="en-US" sz="1700" b="1" dirty="0">
                <a:solidFill>
                  <a:srgbClr val="C9A24B"/>
                </a:solidFill>
                <a:latin typeface="Cambria" pitchFamily="34" charset="0"/>
                <a:ea typeface="Cambria" pitchFamily="34" charset="-122"/>
                <a:cs typeface="Cambria" pitchFamily="34" charset="-120"/>
              </a:rPr>
              <a:t>F</a:t>
            </a:r>
            <a:endParaRPr lang="en-US" sz="1700" dirty="0"/>
          </a:p>
        </p:txBody>
      </p:sp>
      <p:sp>
        <p:nvSpPr>
          <p:cNvPr id="38" name="Text 30"/>
          <p:cNvSpPr/>
          <p:nvPr/>
        </p:nvSpPr>
        <p:spPr>
          <a:xfrm>
            <a:off x="1965960" y="5861304"/>
            <a:ext cx="914400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Leadership Lessons from the Ramayana &amp; Mahabharata</a:t>
            </a:r>
            <a:endParaRPr lang="en-US" sz="1450" dirty="0"/>
          </a:p>
        </p:txBody>
      </p:sp>
      <p:sp>
        <p:nvSpPr>
          <p:cNvPr id="39" name="Text 31"/>
          <p:cNvSpPr/>
          <p:nvPr/>
        </p:nvSpPr>
        <p:spPr>
          <a:xfrm>
            <a:off x="1965960" y="6227064"/>
            <a:ext cx="914400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Timeless case studies in leading people</a:t>
            </a:r>
            <a:endParaRPr lang="en-US" sz="1150" dirty="0"/>
          </a:p>
        </p:txBody>
      </p:sp>
      <p:sp>
        <p:nvSpPr>
          <p:cNvPr id="40" name="Text 32"/>
          <p:cNvSpPr/>
          <p:nvPr/>
        </p:nvSpPr>
        <p:spPr>
          <a:xfrm>
            <a:off x="548640" y="6693408"/>
            <a:ext cx="10972800" cy="365760"/>
          </a:xfrm>
          <a:prstGeom prst="rect">
            <a:avLst/>
          </a:prstGeom>
          <a:noFill/>
          <a:ln/>
        </p:spPr>
        <p:txBody>
          <a:bodyPr wrap="square"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Wraps up with Recall Questions for revision.</a:t>
            </a:r>
            <a:endParaRPr lang="en-US" sz="1250" dirty="0"/>
          </a:p>
        </p:txBody>
      </p:sp>
      <p:sp>
        <p:nvSpPr>
          <p:cNvPr id="41" name="Text 3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42" name="Text 3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A</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Staffing</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Meaning, Nature &amp; Elements of the Staffing Process</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Staffing ensures the organization has the right people, in the right roles, at the right time.</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STAFFING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Meaning of Staffing</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Staffing is the managerial function of filling, and keeping filled, the positions in the organization structure. It involves identifying workforce requirements, recruiting, selecting, placing, promoting, appraising, planning the careers of, compensating, and training people — so that they can accomplish their tasks efficiently and effectively.</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In short, staffing is about ensuring the right person is available for the right job, at the right time — and stays effective in that role.</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While specialized HR departments assist with staffing, the responsibility for staffing decisions ultimately belongs to every manager who has people reporting to them.</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Right Person, Right Job</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fast-growing startup hiring its first dedicated finance manager only once the founder can no longer track cash flow on a spreadsheet — staffing responds to real organizational need.</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STAFFING</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365760"/>
            <a:ext cx="1106424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NATURE OF STAFFING</a:t>
            </a:r>
            <a:endParaRPr lang="en-US" sz="2000" dirty="0"/>
          </a:p>
        </p:txBody>
      </p:sp>
      <p:sp>
        <p:nvSpPr>
          <p:cNvPr id="3" name="Shape 1"/>
          <p:cNvSpPr/>
          <p:nvPr/>
        </p:nvSpPr>
        <p:spPr>
          <a:xfrm>
            <a:off x="548640" y="1508760"/>
            <a:ext cx="3590544" cy="1965960"/>
          </a:xfrm>
          <a:prstGeom prst="roundRect">
            <a:avLst>
              <a:gd name="adj" fmla="val 4186"/>
            </a:avLst>
          </a:prstGeom>
          <a:solidFill>
            <a:srgbClr val="1E2761"/>
          </a:solidFill>
          <a:ln/>
        </p:spPr>
      </p:sp>
      <p:sp>
        <p:nvSpPr>
          <p:cNvPr id="4" name="Shape 2"/>
          <p:cNvSpPr/>
          <p:nvPr/>
        </p:nvSpPr>
        <p:spPr>
          <a:xfrm>
            <a:off x="713232" y="1673352"/>
            <a:ext cx="457200" cy="45720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32104" y="1792224"/>
            <a:ext cx="219456" cy="219456"/>
          </a:xfrm>
          <a:prstGeom prst="rect">
            <a:avLst/>
          </a:prstGeom>
        </p:spPr>
      </p:pic>
      <p:sp>
        <p:nvSpPr>
          <p:cNvPr id="6" name="Text 3"/>
          <p:cNvSpPr/>
          <p:nvPr/>
        </p:nvSpPr>
        <p:spPr>
          <a:xfrm>
            <a:off x="3590544"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1</a:t>
            </a:r>
            <a:endParaRPr lang="en-US" sz="1600" dirty="0"/>
          </a:p>
        </p:txBody>
      </p:sp>
      <p:sp>
        <p:nvSpPr>
          <p:cNvPr id="7" name="Text 4"/>
          <p:cNvSpPr/>
          <p:nvPr/>
        </p:nvSpPr>
        <p:spPr>
          <a:xfrm>
            <a:off x="713232"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 continuous process</a:t>
            </a:r>
            <a:endParaRPr lang="en-US" sz="1200" dirty="0"/>
          </a:p>
        </p:txBody>
      </p:sp>
      <p:sp>
        <p:nvSpPr>
          <p:cNvPr id="8" name="Shape 5"/>
          <p:cNvSpPr/>
          <p:nvPr/>
        </p:nvSpPr>
        <p:spPr>
          <a:xfrm>
            <a:off x="4285488" y="1508760"/>
            <a:ext cx="3590544" cy="1965960"/>
          </a:xfrm>
          <a:prstGeom prst="roundRect">
            <a:avLst>
              <a:gd name="adj" fmla="val 4186"/>
            </a:avLst>
          </a:prstGeom>
          <a:solidFill>
            <a:srgbClr val="1E2761"/>
          </a:solidFill>
          <a:ln/>
        </p:spPr>
      </p:sp>
      <p:sp>
        <p:nvSpPr>
          <p:cNvPr id="9" name="Shape 6"/>
          <p:cNvSpPr/>
          <p:nvPr/>
        </p:nvSpPr>
        <p:spPr>
          <a:xfrm>
            <a:off x="4450080" y="1673352"/>
            <a:ext cx="457200" cy="45720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4568952" y="1792224"/>
            <a:ext cx="219456" cy="219456"/>
          </a:xfrm>
          <a:prstGeom prst="rect">
            <a:avLst/>
          </a:prstGeom>
        </p:spPr>
      </p:pic>
      <p:sp>
        <p:nvSpPr>
          <p:cNvPr id="11" name="Text 7"/>
          <p:cNvSpPr/>
          <p:nvPr/>
        </p:nvSpPr>
        <p:spPr>
          <a:xfrm>
            <a:off x="7327392"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2</a:t>
            </a:r>
            <a:endParaRPr lang="en-US" sz="1600" dirty="0"/>
          </a:p>
        </p:txBody>
      </p:sp>
      <p:sp>
        <p:nvSpPr>
          <p:cNvPr id="12" name="Text 8"/>
          <p:cNvSpPr/>
          <p:nvPr/>
        </p:nvSpPr>
        <p:spPr>
          <a:xfrm>
            <a:off x="4450080"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 pervasive function — exists at every level</a:t>
            </a:r>
            <a:endParaRPr lang="en-US" sz="1200" dirty="0"/>
          </a:p>
        </p:txBody>
      </p:sp>
      <p:sp>
        <p:nvSpPr>
          <p:cNvPr id="13" name="Shape 9"/>
          <p:cNvSpPr/>
          <p:nvPr/>
        </p:nvSpPr>
        <p:spPr>
          <a:xfrm>
            <a:off x="8022336" y="1508760"/>
            <a:ext cx="3590544" cy="1965960"/>
          </a:xfrm>
          <a:prstGeom prst="roundRect">
            <a:avLst>
              <a:gd name="adj" fmla="val 4186"/>
            </a:avLst>
          </a:prstGeom>
          <a:solidFill>
            <a:srgbClr val="1E2761"/>
          </a:solidFill>
          <a:ln/>
        </p:spPr>
      </p:sp>
      <p:sp>
        <p:nvSpPr>
          <p:cNvPr id="14" name="Shape 10"/>
          <p:cNvSpPr/>
          <p:nvPr/>
        </p:nvSpPr>
        <p:spPr>
          <a:xfrm>
            <a:off x="8186928" y="1673352"/>
            <a:ext cx="457200" cy="45720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8305800" y="1792224"/>
            <a:ext cx="219456" cy="219456"/>
          </a:xfrm>
          <a:prstGeom prst="rect">
            <a:avLst/>
          </a:prstGeom>
        </p:spPr>
      </p:pic>
      <p:sp>
        <p:nvSpPr>
          <p:cNvPr id="16" name="Text 11"/>
          <p:cNvSpPr/>
          <p:nvPr/>
        </p:nvSpPr>
        <p:spPr>
          <a:xfrm>
            <a:off x="11064240"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3</a:t>
            </a:r>
            <a:endParaRPr lang="en-US" sz="1600" dirty="0"/>
          </a:p>
        </p:txBody>
      </p:sp>
      <p:sp>
        <p:nvSpPr>
          <p:cNvPr id="17" name="Text 12"/>
          <p:cNvSpPr/>
          <p:nvPr/>
        </p:nvSpPr>
        <p:spPr>
          <a:xfrm>
            <a:off x="8186928"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Concerned with managing people, the most dynamic resource</a:t>
            </a:r>
            <a:endParaRPr lang="en-US" sz="1200" dirty="0"/>
          </a:p>
        </p:txBody>
      </p:sp>
      <p:sp>
        <p:nvSpPr>
          <p:cNvPr id="18" name="Shape 13"/>
          <p:cNvSpPr/>
          <p:nvPr/>
        </p:nvSpPr>
        <p:spPr>
          <a:xfrm>
            <a:off x="548640" y="3675888"/>
            <a:ext cx="3590544" cy="1965960"/>
          </a:xfrm>
          <a:prstGeom prst="roundRect">
            <a:avLst>
              <a:gd name="adj" fmla="val 4186"/>
            </a:avLst>
          </a:prstGeom>
          <a:solidFill>
            <a:srgbClr val="1E2761"/>
          </a:solidFill>
          <a:ln/>
        </p:spPr>
      </p:sp>
      <p:sp>
        <p:nvSpPr>
          <p:cNvPr id="19" name="Shape 14"/>
          <p:cNvSpPr/>
          <p:nvPr/>
        </p:nvSpPr>
        <p:spPr>
          <a:xfrm>
            <a:off x="713232" y="3840480"/>
            <a:ext cx="457200" cy="45720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832104" y="3959352"/>
            <a:ext cx="219456" cy="219456"/>
          </a:xfrm>
          <a:prstGeom prst="rect">
            <a:avLst/>
          </a:prstGeom>
        </p:spPr>
      </p:pic>
      <p:sp>
        <p:nvSpPr>
          <p:cNvPr id="21" name="Text 15"/>
          <p:cNvSpPr/>
          <p:nvPr/>
        </p:nvSpPr>
        <p:spPr>
          <a:xfrm>
            <a:off x="3590544"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4</a:t>
            </a:r>
            <a:endParaRPr lang="en-US" sz="1600" dirty="0"/>
          </a:p>
        </p:txBody>
      </p:sp>
      <p:sp>
        <p:nvSpPr>
          <p:cNvPr id="22" name="Text 16"/>
          <p:cNvSpPr/>
          <p:nvPr/>
        </p:nvSpPr>
        <p:spPr>
          <a:xfrm>
            <a:off x="713232" y="4361688"/>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Helps ensure effective performance of other management functions</a:t>
            </a:r>
            <a:endParaRPr lang="en-US" sz="1200" dirty="0"/>
          </a:p>
        </p:txBody>
      </p:sp>
      <p:sp>
        <p:nvSpPr>
          <p:cNvPr id="23" name="Shape 17"/>
          <p:cNvSpPr/>
          <p:nvPr/>
        </p:nvSpPr>
        <p:spPr>
          <a:xfrm>
            <a:off x="4285488" y="3675888"/>
            <a:ext cx="3590544" cy="1965960"/>
          </a:xfrm>
          <a:prstGeom prst="roundRect">
            <a:avLst>
              <a:gd name="adj" fmla="val 4186"/>
            </a:avLst>
          </a:prstGeom>
          <a:solidFill>
            <a:srgbClr val="1E2761"/>
          </a:solidFill>
          <a:ln/>
        </p:spPr>
      </p:sp>
      <p:sp>
        <p:nvSpPr>
          <p:cNvPr id="24" name="Shape 18"/>
          <p:cNvSpPr/>
          <p:nvPr/>
        </p:nvSpPr>
        <p:spPr>
          <a:xfrm>
            <a:off x="4450080" y="3840480"/>
            <a:ext cx="457200" cy="457200"/>
          </a:xfrm>
          <a:prstGeom prst="ellipse">
            <a:avLst/>
          </a:prstGeom>
          <a:solidFill>
            <a:srgbClr val="C9A24B"/>
          </a:solidFill>
          <a:ln/>
        </p:spPr>
      </p:sp>
      <p:pic>
        <p:nvPicPr>
          <p:cNvPr id="25" name="Image 4" descr="preencoded.png">    </p:cNvPr>
          <p:cNvPicPr>
            <a:picLocks noChangeAspect="1"/>
          </p:cNvPicPr>
          <p:nvPr/>
        </p:nvPicPr>
        <p:blipFill>
          <a:blip r:embed="rId5"/>
          <a:stretch>
            <a:fillRect/>
          </a:stretch>
        </p:blipFill>
        <p:spPr>
          <a:xfrm>
            <a:off x="4568952" y="3959352"/>
            <a:ext cx="219456" cy="219456"/>
          </a:xfrm>
          <a:prstGeom prst="rect">
            <a:avLst/>
          </a:prstGeom>
        </p:spPr>
      </p:pic>
      <p:sp>
        <p:nvSpPr>
          <p:cNvPr id="26" name="Text 19"/>
          <p:cNvSpPr/>
          <p:nvPr/>
        </p:nvSpPr>
        <p:spPr>
          <a:xfrm>
            <a:off x="7327392"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5</a:t>
            </a:r>
            <a:endParaRPr lang="en-US" sz="1600" dirty="0"/>
          </a:p>
        </p:txBody>
      </p:sp>
      <p:sp>
        <p:nvSpPr>
          <p:cNvPr id="27" name="Text 20"/>
          <p:cNvSpPr/>
          <p:nvPr/>
        </p:nvSpPr>
        <p:spPr>
          <a:xfrm>
            <a:off x="4450080" y="4361688"/>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Broader than personnel management — involves organizing too</a:t>
            </a:r>
            <a:endParaRPr lang="en-US" sz="1200" dirty="0"/>
          </a:p>
        </p:txBody>
      </p:sp>
      <p:sp>
        <p:nvSpPr>
          <p:cNvPr id="28" name="Shape 21"/>
          <p:cNvSpPr/>
          <p:nvPr/>
        </p:nvSpPr>
        <p:spPr>
          <a:xfrm>
            <a:off x="8022336" y="3675888"/>
            <a:ext cx="3590544" cy="1965960"/>
          </a:xfrm>
          <a:prstGeom prst="roundRect">
            <a:avLst>
              <a:gd name="adj" fmla="val 4186"/>
            </a:avLst>
          </a:prstGeom>
          <a:solidFill>
            <a:srgbClr val="1E2761"/>
          </a:solidFill>
          <a:ln/>
        </p:spPr>
      </p:sp>
      <p:sp>
        <p:nvSpPr>
          <p:cNvPr id="29" name="Shape 22"/>
          <p:cNvSpPr/>
          <p:nvPr/>
        </p:nvSpPr>
        <p:spPr>
          <a:xfrm>
            <a:off x="8186928" y="3840480"/>
            <a:ext cx="457200" cy="457200"/>
          </a:xfrm>
          <a:prstGeom prst="ellipse">
            <a:avLst/>
          </a:prstGeom>
          <a:solidFill>
            <a:srgbClr val="C9A24B"/>
          </a:solidFill>
          <a:ln/>
        </p:spPr>
      </p:sp>
      <p:pic>
        <p:nvPicPr>
          <p:cNvPr id="30" name="Image 5" descr="preencoded.png">    </p:cNvPr>
          <p:cNvPicPr>
            <a:picLocks noChangeAspect="1"/>
          </p:cNvPicPr>
          <p:nvPr/>
        </p:nvPicPr>
        <p:blipFill>
          <a:blip r:embed="rId6"/>
          <a:stretch>
            <a:fillRect/>
          </a:stretch>
        </p:blipFill>
        <p:spPr>
          <a:xfrm>
            <a:off x="8305800" y="3959352"/>
            <a:ext cx="219456" cy="219456"/>
          </a:xfrm>
          <a:prstGeom prst="rect">
            <a:avLst/>
          </a:prstGeom>
        </p:spPr>
      </p:pic>
      <p:sp>
        <p:nvSpPr>
          <p:cNvPr id="31" name="Text 23"/>
          <p:cNvSpPr/>
          <p:nvPr/>
        </p:nvSpPr>
        <p:spPr>
          <a:xfrm>
            <a:off x="11064240"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6</a:t>
            </a:r>
            <a:endParaRPr lang="en-US" sz="1600" dirty="0"/>
          </a:p>
        </p:txBody>
      </p:sp>
      <p:sp>
        <p:nvSpPr>
          <p:cNvPr id="32" name="Text 24"/>
          <p:cNvSpPr/>
          <p:nvPr/>
        </p:nvSpPr>
        <p:spPr>
          <a:xfrm>
            <a:off x="8186928" y="4361688"/>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Performed by every manager, not the HR department alone</a:t>
            </a:r>
            <a:endParaRPr lang="en-US" sz="1200" dirty="0"/>
          </a:p>
        </p:txBody>
      </p:sp>
      <p:sp>
        <p:nvSpPr>
          <p:cNvPr id="33" name="Text 25"/>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NATURE OF STAFFING</a:t>
            </a:r>
            <a:endParaRPr lang="en-US" sz="1100" dirty="0"/>
          </a:p>
        </p:txBody>
      </p:sp>
      <p:sp>
        <p:nvSpPr>
          <p:cNvPr id="34" name="Text 26"/>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NATURE OF STAFFING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(1)–(3) Continuous, Pervasive &amp; People-Centered</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A Continuous Process</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People join, get promoted, retire, resign or are transferred all the time. Staffing is never a one-time exercise — the organization must keep replenishing and realigning its workforce.</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A Pervasive Function</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Staffing is not confined to one department. Every manager, in every function and at every level, is involved in staffing decisions for the people who report to them.</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Centered on People — the Most Dynamic Resource</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Unlike machines or capital, people bring judgment, emotion, and growth potential. Staffing must account for this dynamism, not just fill a static organization chart.</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NATURE OF STAFFING</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NATURE OF STAFFING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(4)–(6) Enabling, Broad in Scope &amp; Everyone's Job</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Enables Other Management Functions</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Planning, organizing, directing and controlling all depend on having competent people in place. Poor staffing undermines every other function, however well-designed.</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Broader Than 'Personnel Management'</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Staffing includes designing jobs and organizing work, not just hiring and paying people — it is an integral part of the organizing function itself.</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(6)</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The Responsibility of Every Manager</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The HR department assists with policies, tools and processes, but the manager who will actually work with the new hire carries ultimate responsibility for the staffing decision.</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NATURE OF STAFFING</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STAFFING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Elements of the Staffing Process</a:t>
            </a:r>
            <a:endParaRPr lang="en-US" sz="2700" dirty="0"/>
          </a:p>
        </p:txBody>
      </p:sp>
      <p:sp>
        <p:nvSpPr>
          <p:cNvPr id="4" name="Text 2"/>
          <p:cNvSpPr/>
          <p:nvPr/>
        </p:nvSpPr>
        <p:spPr>
          <a:xfrm>
            <a:off x="548640" y="1600200"/>
            <a:ext cx="11064240" cy="457200"/>
          </a:xfrm>
          <a:prstGeom prst="rect">
            <a:avLst/>
          </a:prstGeom>
          <a:noFill/>
          <a:ln/>
        </p:spPr>
        <p:txBody>
          <a:bodyPr wrap="square" rtlCol="0" anchor="ctr"/>
          <a:lstStyle/>
          <a:p>
            <a:pPr indent="0" marL="0">
              <a:buNone/>
            </a:pPr>
            <a:r>
              <a:rPr lang="en-US" sz="1400" i="1" dirty="0">
                <a:solidFill>
                  <a:srgbClr val="2B2B33"/>
                </a:solidFill>
                <a:latin typeface="Calibri" pitchFamily="34" charset="0"/>
                <a:ea typeface="Calibri" pitchFamily="34" charset="-122"/>
                <a:cs typeface="Calibri" pitchFamily="34" charset="-120"/>
              </a:rPr>
              <a:t>Staffing unfolds as a connected sequence — each stage feeding into the next, and looping back as people grow, move, or leave.</a:t>
            </a:r>
            <a:endParaRPr lang="en-US" sz="1400" dirty="0"/>
          </a:p>
        </p:txBody>
      </p:sp>
      <p:sp>
        <p:nvSpPr>
          <p:cNvPr id="5" name="Shape 3"/>
          <p:cNvSpPr/>
          <p:nvPr/>
        </p:nvSpPr>
        <p:spPr>
          <a:xfrm>
            <a:off x="548640" y="2240280"/>
            <a:ext cx="2624328" cy="1965960"/>
          </a:xfrm>
          <a:prstGeom prst="roundRect">
            <a:avLst>
              <a:gd name="adj" fmla="val 3721"/>
            </a:avLst>
          </a:prstGeom>
          <a:solidFill>
            <a:srgbClr val="1E2761"/>
          </a:solidFill>
          <a:ln/>
        </p:spPr>
      </p:sp>
      <p:sp>
        <p:nvSpPr>
          <p:cNvPr id="6" name="Shape 4"/>
          <p:cNvSpPr/>
          <p:nvPr/>
        </p:nvSpPr>
        <p:spPr>
          <a:xfrm>
            <a:off x="731520" y="2423160"/>
            <a:ext cx="457200" cy="45720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50392" y="2542032"/>
            <a:ext cx="219456" cy="219456"/>
          </a:xfrm>
          <a:prstGeom prst="rect">
            <a:avLst/>
          </a:prstGeom>
        </p:spPr>
      </p:pic>
      <p:sp>
        <p:nvSpPr>
          <p:cNvPr id="8" name="Text 5"/>
          <p:cNvSpPr/>
          <p:nvPr/>
        </p:nvSpPr>
        <p:spPr>
          <a:xfrm>
            <a:off x="1325880" y="2423160"/>
            <a:ext cx="1709928" cy="502920"/>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1. Manpower Planning</a:t>
            </a:r>
            <a:endParaRPr lang="en-US" sz="1200" dirty="0"/>
          </a:p>
        </p:txBody>
      </p:sp>
      <p:sp>
        <p:nvSpPr>
          <p:cNvPr id="9" name="Text 6"/>
          <p:cNvSpPr/>
          <p:nvPr/>
        </p:nvSpPr>
        <p:spPr>
          <a:xfrm>
            <a:off x="731520" y="3017520"/>
            <a:ext cx="2258568" cy="1097280"/>
          </a:xfrm>
          <a:prstGeom prst="rect">
            <a:avLst/>
          </a:prstGeom>
          <a:noFill/>
          <a:ln/>
        </p:spPr>
        <p:txBody>
          <a:bodyPr wrap="square" rtlCol="0" anchor="t"/>
          <a:lstStyle/>
          <a:p>
            <a:pPr indent="0" marL="0">
              <a:buNone/>
            </a:pPr>
            <a:r>
              <a:rPr lang="en-US" sz="1030" dirty="0">
                <a:solidFill>
                  <a:srgbClr val="CADCFC"/>
                </a:solidFill>
                <a:latin typeface="Calibri" pitchFamily="34" charset="0"/>
                <a:ea typeface="Calibri" pitchFamily="34" charset="-122"/>
                <a:cs typeface="Calibri" pitchFamily="34" charset="-120"/>
              </a:rPr>
              <a:t>Forecasting future workforce needs in number and kind.</a:t>
            </a:r>
            <a:endParaRPr lang="en-US" sz="1030" dirty="0"/>
          </a:p>
        </p:txBody>
      </p:sp>
      <p:sp>
        <p:nvSpPr>
          <p:cNvPr id="10" name="Shape 7"/>
          <p:cNvSpPr/>
          <p:nvPr/>
        </p:nvSpPr>
        <p:spPr>
          <a:xfrm>
            <a:off x="3182112" y="3150108"/>
            <a:ext cx="118872" cy="146304"/>
          </a:xfrm>
          <a:prstGeom prst="rightArrow">
            <a:avLst/>
          </a:prstGeom>
          <a:solidFill>
            <a:srgbClr val="C9A24B"/>
          </a:solidFill>
          <a:ln/>
        </p:spPr>
      </p:sp>
      <p:sp>
        <p:nvSpPr>
          <p:cNvPr id="11" name="Shape 8"/>
          <p:cNvSpPr/>
          <p:nvPr/>
        </p:nvSpPr>
        <p:spPr>
          <a:xfrm>
            <a:off x="3310128" y="2240280"/>
            <a:ext cx="2624328" cy="1965960"/>
          </a:xfrm>
          <a:prstGeom prst="roundRect">
            <a:avLst>
              <a:gd name="adj" fmla="val 3721"/>
            </a:avLst>
          </a:prstGeom>
          <a:solidFill>
            <a:srgbClr val="1E2761"/>
          </a:solidFill>
          <a:ln/>
        </p:spPr>
      </p:sp>
      <p:sp>
        <p:nvSpPr>
          <p:cNvPr id="12" name="Shape 9"/>
          <p:cNvSpPr/>
          <p:nvPr/>
        </p:nvSpPr>
        <p:spPr>
          <a:xfrm>
            <a:off x="3493008" y="2423160"/>
            <a:ext cx="457200" cy="457200"/>
          </a:xfrm>
          <a:prstGeom prst="ellipse">
            <a:avLst/>
          </a:prstGeom>
          <a:solidFill>
            <a:srgbClr val="C9A24B"/>
          </a:solidFill>
          <a:ln/>
        </p:spPr>
      </p:sp>
      <p:pic>
        <p:nvPicPr>
          <p:cNvPr id="13" name="Image 1" descr="preencoded.png">    </p:cNvPr>
          <p:cNvPicPr>
            <a:picLocks noChangeAspect="1"/>
          </p:cNvPicPr>
          <p:nvPr/>
        </p:nvPicPr>
        <p:blipFill>
          <a:blip r:embed="rId2"/>
          <a:stretch>
            <a:fillRect/>
          </a:stretch>
        </p:blipFill>
        <p:spPr>
          <a:xfrm>
            <a:off x="3611880" y="2542032"/>
            <a:ext cx="219456" cy="219456"/>
          </a:xfrm>
          <a:prstGeom prst="rect">
            <a:avLst/>
          </a:prstGeom>
        </p:spPr>
      </p:pic>
      <p:sp>
        <p:nvSpPr>
          <p:cNvPr id="14" name="Text 10"/>
          <p:cNvSpPr/>
          <p:nvPr/>
        </p:nvSpPr>
        <p:spPr>
          <a:xfrm>
            <a:off x="4087368" y="2423160"/>
            <a:ext cx="1709928" cy="502920"/>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2. Recruitment</a:t>
            </a:r>
            <a:endParaRPr lang="en-US" sz="1200" dirty="0"/>
          </a:p>
        </p:txBody>
      </p:sp>
      <p:sp>
        <p:nvSpPr>
          <p:cNvPr id="15" name="Text 11"/>
          <p:cNvSpPr/>
          <p:nvPr/>
        </p:nvSpPr>
        <p:spPr>
          <a:xfrm>
            <a:off x="3493008" y="3017520"/>
            <a:ext cx="2258568" cy="1097280"/>
          </a:xfrm>
          <a:prstGeom prst="rect">
            <a:avLst/>
          </a:prstGeom>
          <a:noFill/>
          <a:ln/>
        </p:spPr>
        <p:txBody>
          <a:bodyPr wrap="square" rtlCol="0" anchor="t"/>
          <a:lstStyle/>
          <a:p>
            <a:pPr indent="0" marL="0">
              <a:buNone/>
            </a:pPr>
            <a:r>
              <a:rPr lang="en-US" sz="1030" dirty="0">
                <a:solidFill>
                  <a:srgbClr val="CADCFC"/>
                </a:solidFill>
                <a:latin typeface="Calibri" pitchFamily="34" charset="0"/>
                <a:ea typeface="Calibri" pitchFamily="34" charset="-122"/>
                <a:cs typeface="Calibri" pitchFamily="34" charset="-120"/>
              </a:rPr>
              <a:t>Searching for and attracting potential candidates.</a:t>
            </a:r>
            <a:endParaRPr lang="en-US" sz="1030" dirty="0"/>
          </a:p>
        </p:txBody>
      </p:sp>
      <p:sp>
        <p:nvSpPr>
          <p:cNvPr id="16" name="Shape 12"/>
          <p:cNvSpPr/>
          <p:nvPr/>
        </p:nvSpPr>
        <p:spPr>
          <a:xfrm>
            <a:off x="5943600" y="3150108"/>
            <a:ext cx="118872" cy="146304"/>
          </a:xfrm>
          <a:prstGeom prst="rightArrow">
            <a:avLst/>
          </a:prstGeom>
          <a:solidFill>
            <a:srgbClr val="C9A24B"/>
          </a:solidFill>
          <a:ln/>
        </p:spPr>
      </p:sp>
      <p:sp>
        <p:nvSpPr>
          <p:cNvPr id="17" name="Shape 13"/>
          <p:cNvSpPr/>
          <p:nvPr/>
        </p:nvSpPr>
        <p:spPr>
          <a:xfrm>
            <a:off x="6071616" y="2240280"/>
            <a:ext cx="2624328" cy="1965960"/>
          </a:xfrm>
          <a:prstGeom prst="roundRect">
            <a:avLst>
              <a:gd name="adj" fmla="val 3721"/>
            </a:avLst>
          </a:prstGeom>
          <a:solidFill>
            <a:srgbClr val="1E2761"/>
          </a:solidFill>
          <a:ln/>
        </p:spPr>
      </p:sp>
      <p:sp>
        <p:nvSpPr>
          <p:cNvPr id="18" name="Shape 14"/>
          <p:cNvSpPr/>
          <p:nvPr/>
        </p:nvSpPr>
        <p:spPr>
          <a:xfrm>
            <a:off x="6254496" y="2423160"/>
            <a:ext cx="457200" cy="457200"/>
          </a:xfrm>
          <a:prstGeom prst="ellipse">
            <a:avLst/>
          </a:prstGeom>
          <a:solidFill>
            <a:srgbClr val="C9A24B"/>
          </a:solidFill>
          <a:ln/>
        </p:spPr>
      </p:sp>
      <p:pic>
        <p:nvPicPr>
          <p:cNvPr id="19" name="Image 2" descr="preencoded.png">    </p:cNvPr>
          <p:cNvPicPr>
            <a:picLocks noChangeAspect="1"/>
          </p:cNvPicPr>
          <p:nvPr/>
        </p:nvPicPr>
        <p:blipFill>
          <a:blip r:embed="rId3"/>
          <a:stretch>
            <a:fillRect/>
          </a:stretch>
        </p:blipFill>
        <p:spPr>
          <a:xfrm>
            <a:off x="6373368" y="2542032"/>
            <a:ext cx="219456" cy="219456"/>
          </a:xfrm>
          <a:prstGeom prst="rect">
            <a:avLst/>
          </a:prstGeom>
        </p:spPr>
      </p:pic>
      <p:sp>
        <p:nvSpPr>
          <p:cNvPr id="20" name="Text 15"/>
          <p:cNvSpPr/>
          <p:nvPr/>
        </p:nvSpPr>
        <p:spPr>
          <a:xfrm>
            <a:off x="6848856" y="2423160"/>
            <a:ext cx="1709928" cy="502920"/>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3. Selection</a:t>
            </a:r>
            <a:endParaRPr lang="en-US" sz="1200" dirty="0"/>
          </a:p>
        </p:txBody>
      </p:sp>
      <p:sp>
        <p:nvSpPr>
          <p:cNvPr id="21" name="Text 16"/>
          <p:cNvSpPr/>
          <p:nvPr/>
        </p:nvSpPr>
        <p:spPr>
          <a:xfrm>
            <a:off x="6254496" y="3017520"/>
            <a:ext cx="2258568" cy="1097280"/>
          </a:xfrm>
          <a:prstGeom prst="rect">
            <a:avLst/>
          </a:prstGeom>
          <a:noFill/>
          <a:ln/>
        </p:spPr>
        <p:txBody>
          <a:bodyPr wrap="square" rtlCol="0" anchor="t"/>
          <a:lstStyle/>
          <a:p>
            <a:pPr indent="0" marL="0">
              <a:buNone/>
            </a:pPr>
            <a:r>
              <a:rPr lang="en-US" sz="1030" dirty="0">
                <a:solidFill>
                  <a:srgbClr val="CADCFC"/>
                </a:solidFill>
                <a:latin typeface="Calibri" pitchFamily="34" charset="0"/>
                <a:ea typeface="Calibri" pitchFamily="34" charset="-122"/>
                <a:cs typeface="Calibri" pitchFamily="34" charset="-120"/>
              </a:rPr>
              <a:t>Choosing the most suitable candidates from applicants.</a:t>
            </a:r>
            <a:endParaRPr lang="en-US" sz="1030" dirty="0"/>
          </a:p>
        </p:txBody>
      </p:sp>
      <p:sp>
        <p:nvSpPr>
          <p:cNvPr id="22" name="Shape 17"/>
          <p:cNvSpPr/>
          <p:nvPr/>
        </p:nvSpPr>
        <p:spPr>
          <a:xfrm>
            <a:off x="8705088" y="3150108"/>
            <a:ext cx="118872" cy="146304"/>
          </a:xfrm>
          <a:prstGeom prst="rightArrow">
            <a:avLst/>
          </a:prstGeom>
          <a:solidFill>
            <a:srgbClr val="C9A24B"/>
          </a:solidFill>
          <a:ln/>
        </p:spPr>
      </p:sp>
      <p:sp>
        <p:nvSpPr>
          <p:cNvPr id="23" name="Shape 18"/>
          <p:cNvSpPr/>
          <p:nvPr/>
        </p:nvSpPr>
        <p:spPr>
          <a:xfrm>
            <a:off x="8833104" y="2240280"/>
            <a:ext cx="2624328" cy="1965960"/>
          </a:xfrm>
          <a:prstGeom prst="roundRect">
            <a:avLst>
              <a:gd name="adj" fmla="val 3721"/>
            </a:avLst>
          </a:prstGeom>
          <a:solidFill>
            <a:srgbClr val="1E2761"/>
          </a:solidFill>
          <a:ln/>
        </p:spPr>
      </p:sp>
      <p:sp>
        <p:nvSpPr>
          <p:cNvPr id="24" name="Shape 19"/>
          <p:cNvSpPr/>
          <p:nvPr/>
        </p:nvSpPr>
        <p:spPr>
          <a:xfrm>
            <a:off x="9015984" y="2423160"/>
            <a:ext cx="457200" cy="457200"/>
          </a:xfrm>
          <a:prstGeom prst="ellipse">
            <a:avLst/>
          </a:prstGeom>
          <a:solidFill>
            <a:srgbClr val="C9A24B"/>
          </a:solidFill>
          <a:ln/>
        </p:spPr>
      </p:sp>
      <p:pic>
        <p:nvPicPr>
          <p:cNvPr id="25" name="Image 3" descr="preencoded.png">    </p:cNvPr>
          <p:cNvPicPr>
            <a:picLocks noChangeAspect="1"/>
          </p:cNvPicPr>
          <p:nvPr/>
        </p:nvPicPr>
        <p:blipFill>
          <a:blip r:embed="rId4"/>
          <a:stretch>
            <a:fillRect/>
          </a:stretch>
        </p:blipFill>
        <p:spPr>
          <a:xfrm>
            <a:off x="9134856" y="2542032"/>
            <a:ext cx="219456" cy="219456"/>
          </a:xfrm>
          <a:prstGeom prst="rect">
            <a:avLst/>
          </a:prstGeom>
        </p:spPr>
      </p:pic>
      <p:sp>
        <p:nvSpPr>
          <p:cNvPr id="26" name="Text 20"/>
          <p:cNvSpPr/>
          <p:nvPr/>
        </p:nvSpPr>
        <p:spPr>
          <a:xfrm>
            <a:off x="9610344" y="2423160"/>
            <a:ext cx="1709928" cy="502920"/>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4. Placement &amp; Orientation</a:t>
            </a:r>
            <a:endParaRPr lang="en-US" sz="1200" dirty="0"/>
          </a:p>
        </p:txBody>
      </p:sp>
      <p:sp>
        <p:nvSpPr>
          <p:cNvPr id="27" name="Text 21"/>
          <p:cNvSpPr/>
          <p:nvPr/>
        </p:nvSpPr>
        <p:spPr>
          <a:xfrm>
            <a:off x="9015984" y="3017520"/>
            <a:ext cx="2258568" cy="1097280"/>
          </a:xfrm>
          <a:prstGeom prst="rect">
            <a:avLst/>
          </a:prstGeom>
          <a:noFill/>
          <a:ln/>
        </p:spPr>
        <p:txBody>
          <a:bodyPr wrap="square" rtlCol="0" anchor="t"/>
          <a:lstStyle/>
          <a:p>
            <a:pPr indent="0" marL="0">
              <a:buNone/>
            </a:pPr>
            <a:r>
              <a:rPr lang="en-US" sz="1030" dirty="0">
                <a:solidFill>
                  <a:srgbClr val="CADCFC"/>
                </a:solidFill>
                <a:latin typeface="Calibri" pitchFamily="34" charset="0"/>
                <a:ea typeface="Calibri" pitchFamily="34" charset="-122"/>
                <a:cs typeface="Calibri" pitchFamily="34" charset="-120"/>
              </a:rPr>
              <a:t>Assigning the right job and introducing the newcomer.</a:t>
            </a:r>
            <a:endParaRPr lang="en-US" sz="1030" dirty="0"/>
          </a:p>
        </p:txBody>
      </p:sp>
      <p:sp>
        <p:nvSpPr>
          <p:cNvPr id="28" name="Shape 22"/>
          <p:cNvSpPr/>
          <p:nvPr/>
        </p:nvSpPr>
        <p:spPr>
          <a:xfrm>
            <a:off x="548640" y="4389120"/>
            <a:ext cx="2624328" cy="1965960"/>
          </a:xfrm>
          <a:prstGeom prst="roundRect">
            <a:avLst>
              <a:gd name="adj" fmla="val 3721"/>
            </a:avLst>
          </a:prstGeom>
          <a:solidFill>
            <a:srgbClr val="1E2761"/>
          </a:solidFill>
          <a:ln/>
        </p:spPr>
      </p:sp>
      <p:sp>
        <p:nvSpPr>
          <p:cNvPr id="29" name="Shape 23"/>
          <p:cNvSpPr/>
          <p:nvPr/>
        </p:nvSpPr>
        <p:spPr>
          <a:xfrm>
            <a:off x="731520" y="4572000"/>
            <a:ext cx="457200" cy="457200"/>
          </a:xfrm>
          <a:prstGeom prst="ellipse">
            <a:avLst/>
          </a:prstGeom>
          <a:solidFill>
            <a:srgbClr val="C9A24B"/>
          </a:solidFill>
          <a:ln/>
        </p:spPr>
      </p:sp>
      <p:pic>
        <p:nvPicPr>
          <p:cNvPr id="30" name="Image 4" descr="preencoded.png">    </p:cNvPr>
          <p:cNvPicPr>
            <a:picLocks noChangeAspect="1"/>
          </p:cNvPicPr>
          <p:nvPr/>
        </p:nvPicPr>
        <p:blipFill>
          <a:blip r:embed="rId5"/>
          <a:stretch>
            <a:fillRect/>
          </a:stretch>
        </p:blipFill>
        <p:spPr>
          <a:xfrm>
            <a:off x="850392" y="4690872"/>
            <a:ext cx="219456" cy="219456"/>
          </a:xfrm>
          <a:prstGeom prst="rect">
            <a:avLst/>
          </a:prstGeom>
        </p:spPr>
      </p:pic>
      <p:sp>
        <p:nvSpPr>
          <p:cNvPr id="31" name="Text 24"/>
          <p:cNvSpPr/>
          <p:nvPr/>
        </p:nvSpPr>
        <p:spPr>
          <a:xfrm>
            <a:off x="1325880" y="4572000"/>
            <a:ext cx="1709928" cy="502920"/>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5. Training &amp; Development</a:t>
            </a:r>
            <a:endParaRPr lang="en-US" sz="1200" dirty="0"/>
          </a:p>
        </p:txBody>
      </p:sp>
      <p:sp>
        <p:nvSpPr>
          <p:cNvPr id="32" name="Text 25"/>
          <p:cNvSpPr/>
          <p:nvPr/>
        </p:nvSpPr>
        <p:spPr>
          <a:xfrm>
            <a:off x="731520" y="5166360"/>
            <a:ext cx="2258568" cy="1097280"/>
          </a:xfrm>
          <a:prstGeom prst="rect">
            <a:avLst/>
          </a:prstGeom>
          <a:noFill/>
          <a:ln/>
        </p:spPr>
        <p:txBody>
          <a:bodyPr wrap="square" rtlCol="0" anchor="t"/>
          <a:lstStyle/>
          <a:p>
            <a:pPr indent="0" marL="0">
              <a:buNone/>
            </a:pPr>
            <a:r>
              <a:rPr lang="en-US" sz="1030" dirty="0">
                <a:solidFill>
                  <a:srgbClr val="CADCFC"/>
                </a:solidFill>
                <a:latin typeface="Calibri" pitchFamily="34" charset="0"/>
                <a:ea typeface="Calibri" pitchFamily="34" charset="-122"/>
                <a:cs typeface="Calibri" pitchFamily="34" charset="-120"/>
              </a:rPr>
              <a:t>Building the skills and knowledge needed to perform.</a:t>
            </a:r>
            <a:endParaRPr lang="en-US" sz="1030" dirty="0"/>
          </a:p>
        </p:txBody>
      </p:sp>
      <p:sp>
        <p:nvSpPr>
          <p:cNvPr id="33" name="Shape 26"/>
          <p:cNvSpPr/>
          <p:nvPr/>
        </p:nvSpPr>
        <p:spPr>
          <a:xfrm>
            <a:off x="3182112" y="5298948"/>
            <a:ext cx="118872" cy="146304"/>
          </a:xfrm>
          <a:prstGeom prst="rightArrow">
            <a:avLst/>
          </a:prstGeom>
          <a:solidFill>
            <a:srgbClr val="C9A24B"/>
          </a:solidFill>
          <a:ln/>
        </p:spPr>
      </p:sp>
      <p:sp>
        <p:nvSpPr>
          <p:cNvPr id="34" name="Shape 27"/>
          <p:cNvSpPr/>
          <p:nvPr/>
        </p:nvSpPr>
        <p:spPr>
          <a:xfrm>
            <a:off x="3310128" y="4389120"/>
            <a:ext cx="2624328" cy="1965960"/>
          </a:xfrm>
          <a:prstGeom prst="roundRect">
            <a:avLst>
              <a:gd name="adj" fmla="val 3721"/>
            </a:avLst>
          </a:prstGeom>
          <a:solidFill>
            <a:srgbClr val="1E2761"/>
          </a:solidFill>
          <a:ln/>
        </p:spPr>
      </p:sp>
      <p:sp>
        <p:nvSpPr>
          <p:cNvPr id="35" name="Shape 28"/>
          <p:cNvSpPr/>
          <p:nvPr/>
        </p:nvSpPr>
        <p:spPr>
          <a:xfrm>
            <a:off x="3493008" y="4572000"/>
            <a:ext cx="457200" cy="457200"/>
          </a:xfrm>
          <a:prstGeom prst="ellipse">
            <a:avLst/>
          </a:prstGeom>
          <a:solidFill>
            <a:srgbClr val="C9A24B"/>
          </a:solidFill>
          <a:ln/>
        </p:spPr>
      </p:sp>
      <p:pic>
        <p:nvPicPr>
          <p:cNvPr id="36" name="Image 5" descr="preencoded.png">    </p:cNvPr>
          <p:cNvPicPr>
            <a:picLocks noChangeAspect="1"/>
          </p:cNvPicPr>
          <p:nvPr/>
        </p:nvPicPr>
        <p:blipFill>
          <a:blip r:embed="rId6"/>
          <a:stretch>
            <a:fillRect/>
          </a:stretch>
        </p:blipFill>
        <p:spPr>
          <a:xfrm>
            <a:off x="3611880" y="4690872"/>
            <a:ext cx="219456" cy="219456"/>
          </a:xfrm>
          <a:prstGeom prst="rect">
            <a:avLst/>
          </a:prstGeom>
        </p:spPr>
      </p:pic>
      <p:sp>
        <p:nvSpPr>
          <p:cNvPr id="37" name="Text 29"/>
          <p:cNvSpPr/>
          <p:nvPr/>
        </p:nvSpPr>
        <p:spPr>
          <a:xfrm>
            <a:off x="4087368" y="4572000"/>
            <a:ext cx="1709928" cy="502920"/>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6. Performance Appraisal</a:t>
            </a:r>
            <a:endParaRPr lang="en-US" sz="1200" dirty="0"/>
          </a:p>
        </p:txBody>
      </p:sp>
      <p:sp>
        <p:nvSpPr>
          <p:cNvPr id="38" name="Text 30"/>
          <p:cNvSpPr/>
          <p:nvPr/>
        </p:nvSpPr>
        <p:spPr>
          <a:xfrm>
            <a:off x="3493008" y="5166360"/>
            <a:ext cx="2258568" cy="1097280"/>
          </a:xfrm>
          <a:prstGeom prst="rect">
            <a:avLst/>
          </a:prstGeom>
          <a:noFill/>
          <a:ln/>
        </p:spPr>
        <p:txBody>
          <a:bodyPr wrap="square" rtlCol="0" anchor="t"/>
          <a:lstStyle/>
          <a:p>
            <a:pPr indent="0" marL="0">
              <a:buNone/>
            </a:pPr>
            <a:r>
              <a:rPr lang="en-US" sz="1030" dirty="0">
                <a:solidFill>
                  <a:srgbClr val="CADCFC"/>
                </a:solidFill>
                <a:latin typeface="Calibri" pitchFamily="34" charset="0"/>
                <a:ea typeface="Calibri" pitchFamily="34" charset="-122"/>
                <a:cs typeface="Calibri" pitchFamily="34" charset="-120"/>
              </a:rPr>
              <a:t>Systematically evaluating how well someone is doing.</a:t>
            </a:r>
            <a:endParaRPr lang="en-US" sz="1030" dirty="0"/>
          </a:p>
        </p:txBody>
      </p:sp>
      <p:sp>
        <p:nvSpPr>
          <p:cNvPr id="39" name="Shape 31"/>
          <p:cNvSpPr/>
          <p:nvPr/>
        </p:nvSpPr>
        <p:spPr>
          <a:xfrm>
            <a:off x="5943600" y="5298948"/>
            <a:ext cx="118872" cy="146304"/>
          </a:xfrm>
          <a:prstGeom prst="rightArrow">
            <a:avLst/>
          </a:prstGeom>
          <a:solidFill>
            <a:srgbClr val="C9A24B"/>
          </a:solidFill>
          <a:ln/>
        </p:spPr>
      </p:sp>
      <p:sp>
        <p:nvSpPr>
          <p:cNvPr id="40" name="Shape 32"/>
          <p:cNvSpPr/>
          <p:nvPr/>
        </p:nvSpPr>
        <p:spPr>
          <a:xfrm>
            <a:off x="6071616" y="4389120"/>
            <a:ext cx="2624328" cy="1965960"/>
          </a:xfrm>
          <a:prstGeom prst="roundRect">
            <a:avLst>
              <a:gd name="adj" fmla="val 3721"/>
            </a:avLst>
          </a:prstGeom>
          <a:solidFill>
            <a:srgbClr val="1E2761"/>
          </a:solidFill>
          <a:ln/>
        </p:spPr>
      </p:sp>
      <p:sp>
        <p:nvSpPr>
          <p:cNvPr id="41" name="Shape 33"/>
          <p:cNvSpPr/>
          <p:nvPr/>
        </p:nvSpPr>
        <p:spPr>
          <a:xfrm>
            <a:off x="6254496" y="4572000"/>
            <a:ext cx="457200" cy="457200"/>
          </a:xfrm>
          <a:prstGeom prst="ellipse">
            <a:avLst/>
          </a:prstGeom>
          <a:solidFill>
            <a:srgbClr val="C9A24B"/>
          </a:solidFill>
          <a:ln/>
        </p:spPr>
      </p:sp>
      <p:pic>
        <p:nvPicPr>
          <p:cNvPr id="42" name="Image 6" descr="preencoded.png">    </p:cNvPr>
          <p:cNvPicPr>
            <a:picLocks noChangeAspect="1"/>
          </p:cNvPicPr>
          <p:nvPr/>
        </p:nvPicPr>
        <p:blipFill>
          <a:blip r:embed="rId7"/>
          <a:stretch>
            <a:fillRect/>
          </a:stretch>
        </p:blipFill>
        <p:spPr>
          <a:xfrm>
            <a:off x="6373368" y="4690872"/>
            <a:ext cx="219456" cy="219456"/>
          </a:xfrm>
          <a:prstGeom prst="rect">
            <a:avLst/>
          </a:prstGeom>
        </p:spPr>
      </p:pic>
      <p:sp>
        <p:nvSpPr>
          <p:cNvPr id="43" name="Text 34"/>
          <p:cNvSpPr/>
          <p:nvPr/>
        </p:nvSpPr>
        <p:spPr>
          <a:xfrm>
            <a:off x="6848856" y="4572000"/>
            <a:ext cx="1709928" cy="502920"/>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7. Promotion &amp; Career Planning</a:t>
            </a:r>
            <a:endParaRPr lang="en-US" sz="1200" dirty="0"/>
          </a:p>
        </p:txBody>
      </p:sp>
      <p:sp>
        <p:nvSpPr>
          <p:cNvPr id="44" name="Text 35"/>
          <p:cNvSpPr/>
          <p:nvPr/>
        </p:nvSpPr>
        <p:spPr>
          <a:xfrm>
            <a:off x="6254496" y="5166360"/>
            <a:ext cx="2258568" cy="1097280"/>
          </a:xfrm>
          <a:prstGeom prst="rect">
            <a:avLst/>
          </a:prstGeom>
          <a:noFill/>
          <a:ln/>
        </p:spPr>
        <p:txBody>
          <a:bodyPr wrap="square" rtlCol="0" anchor="t"/>
          <a:lstStyle/>
          <a:p>
            <a:pPr indent="0" marL="0">
              <a:buNone/>
            </a:pPr>
            <a:r>
              <a:rPr lang="en-US" sz="1030" dirty="0">
                <a:solidFill>
                  <a:srgbClr val="CADCFC"/>
                </a:solidFill>
                <a:latin typeface="Calibri" pitchFamily="34" charset="0"/>
                <a:ea typeface="Calibri" pitchFamily="34" charset="-122"/>
                <a:cs typeface="Calibri" pitchFamily="34" charset="-120"/>
              </a:rPr>
              <a:t>Moving people into roles that match their growth.</a:t>
            </a:r>
            <a:endParaRPr lang="en-US" sz="1030" dirty="0"/>
          </a:p>
        </p:txBody>
      </p:sp>
      <p:sp>
        <p:nvSpPr>
          <p:cNvPr id="45" name="Shape 36"/>
          <p:cNvSpPr/>
          <p:nvPr/>
        </p:nvSpPr>
        <p:spPr>
          <a:xfrm>
            <a:off x="8705088" y="5298948"/>
            <a:ext cx="118872" cy="146304"/>
          </a:xfrm>
          <a:prstGeom prst="rightArrow">
            <a:avLst/>
          </a:prstGeom>
          <a:solidFill>
            <a:srgbClr val="C9A24B"/>
          </a:solidFill>
          <a:ln/>
        </p:spPr>
      </p:sp>
      <p:sp>
        <p:nvSpPr>
          <p:cNvPr id="46" name="Shape 37"/>
          <p:cNvSpPr/>
          <p:nvPr/>
        </p:nvSpPr>
        <p:spPr>
          <a:xfrm>
            <a:off x="8833104" y="4389120"/>
            <a:ext cx="2624328" cy="1965960"/>
          </a:xfrm>
          <a:prstGeom prst="roundRect">
            <a:avLst>
              <a:gd name="adj" fmla="val 3721"/>
            </a:avLst>
          </a:prstGeom>
          <a:solidFill>
            <a:srgbClr val="1E2761"/>
          </a:solidFill>
          <a:ln/>
        </p:spPr>
      </p:sp>
      <p:sp>
        <p:nvSpPr>
          <p:cNvPr id="47" name="Shape 38"/>
          <p:cNvSpPr/>
          <p:nvPr/>
        </p:nvSpPr>
        <p:spPr>
          <a:xfrm>
            <a:off x="9015984" y="4572000"/>
            <a:ext cx="457200" cy="457200"/>
          </a:xfrm>
          <a:prstGeom prst="ellipse">
            <a:avLst/>
          </a:prstGeom>
          <a:solidFill>
            <a:srgbClr val="C9A24B"/>
          </a:solidFill>
          <a:ln/>
        </p:spPr>
      </p:sp>
      <p:pic>
        <p:nvPicPr>
          <p:cNvPr id="48" name="Image 7" descr="preencoded.png">    </p:cNvPr>
          <p:cNvPicPr>
            <a:picLocks noChangeAspect="1"/>
          </p:cNvPicPr>
          <p:nvPr/>
        </p:nvPicPr>
        <p:blipFill>
          <a:blip r:embed="rId8"/>
          <a:stretch>
            <a:fillRect/>
          </a:stretch>
        </p:blipFill>
        <p:spPr>
          <a:xfrm>
            <a:off x="9134856" y="4690872"/>
            <a:ext cx="219456" cy="219456"/>
          </a:xfrm>
          <a:prstGeom prst="rect">
            <a:avLst/>
          </a:prstGeom>
        </p:spPr>
      </p:pic>
      <p:sp>
        <p:nvSpPr>
          <p:cNvPr id="49" name="Text 39"/>
          <p:cNvSpPr/>
          <p:nvPr/>
        </p:nvSpPr>
        <p:spPr>
          <a:xfrm>
            <a:off x="9610344" y="4572000"/>
            <a:ext cx="1709928" cy="502920"/>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8. Compensation</a:t>
            </a:r>
            <a:endParaRPr lang="en-US" sz="1200" dirty="0"/>
          </a:p>
        </p:txBody>
      </p:sp>
      <p:sp>
        <p:nvSpPr>
          <p:cNvPr id="50" name="Text 40"/>
          <p:cNvSpPr/>
          <p:nvPr/>
        </p:nvSpPr>
        <p:spPr>
          <a:xfrm>
            <a:off x="9015984" y="5166360"/>
            <a:ext cx="2258568" cy="1097280"/>
          </a:xfrm>
          <a:prstGeom prst="rect">
            <a:avLst/>
          </a:prstGeom>
          <a:noFill/>
          <a:ln/>
        </p:spPr>
        <p:txBody>
          <a:bodyPr wrap="square" rtlCol="0" anchor="t"/>
          <a:lstStyle/>
          <a:p>
            <a:pPr indent="0" marL="0">
              <a:buNone/>
            </a:pPr>
            <a:r>
              <a:rPr lang="en-US" sz="1030" dirty="0">
                <a:solidFill>
                  <a:srgbClr val="CADCFC"/>
                </a:solidFill>
                <a:latin typeface="Calibri" pitchFamily="34" charset="0"/>
                <a:ea typeface="Calibri" pitchFamily="34" charset="-122"/>
                <a:cs typeface="Calibri" pitchFamily="34" charset="-120"/>
              </a:rPr>
              <a:t>Determining and administering fair pay and benefits.</a:t>
            </a:r>
            <a:endParaRPr lang="en-US" sz="1030" dirty="0"/>
          </a:p>
        </p:txBody>
      </p:sp>
      <p:sp>
        <p:nvSpPr>
          <p:cNvPr id="51" name="Text 41"/>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ELEMENTS OF STAFFING PROCESS</a:t>
            </a:r>
            <a:endParaRPr lang="en-US" sz="1100" dirty="0"/>
          </a:p>
        </p:txBody>
      </p:sp>
      <p:sp>
        <p:nvSpPr>
          <p:cNvPr id="52" name="Text 4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B</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Recruitment &amp; Selection</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Finding and Choosing the Right People</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Recruitment casts the net wide; selection narrows it down to the one best fit.</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RECRUITMENT</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Meaning &amp; Sources of Recruitment</a:t>
            </a:r>
            <a:endParaRPr lang="en-US" sz="2700" dirty="0"/>
          </a:p>
        </p:txBody>
      </p:sp>
      <p:sp>
        <p:nvSpPr>
          <p:cNvPr id="4" name="Text 2"/>
          <p:cNvSpPr/>
          <p:nvPr/>
        </p:nvSpPr>
        <p:spPr>
          <a:xfrm>
            <a:off x="548640" y="1645920"/>
            <a:ext cx="11064240" cy="457200"/>
          </a:xfrm>
          <a:prstGeom prst="rect">
            <a:avLst/>
          </a:prstGeom>
          <a:noFill/>
          <a:ln/>
        </p:spPr>
        <p:txBody>
          <a:bodyPr wrap="square" rtlCol="0" anchor="ctr"/>
          <a:lstStyle/>
          <a:p>
            <a:pPr indent="0" marL="0">
              <a:buNone/>
            </a:pPr>
            <a:r>
              <a:rPr lang="en-US" sz="1450" i="1" dirty="0">
                <a:solidFill>
                  <a:srgbClr val="2B2B33"/>
                </a:solidFill>
                <a:latin typeface="Calibri" pitchFamily="34" charset="0"/>
                <a:ea typeface="Calibri" pitchFamily="34" charset="-122"/>
                <a:cs typeface="Calibri" pitchFamily="34" charset="-120"/>
              </a:rPr>
              <a:t>Recruitment is the process of searching for prospective employees and stimulating them to apply for jobs in the organization.</a:t>
            </a:r>
            <a:endParaRPr lang="en-US" sz="1450" dirty="0"/>
          </a:p>
        </p:txBody>
      </p:sp>
      <p:sp>
        <p:nvSpPr>
          <p:cNvPr id="5" name="Shape 3"/>
          <p:cNvSpPr/>
          <p:nvPr/>
        </p:nvSpPr>
        <p:spPr>
          <a:xfrm>
            <a:off x="548640" y="2286000"/>
            <a:ext cx="5394960" cy="457200"/>
          </a:xfrm>
          <a:prstGeom prst="roundRect">
            <a:avLst>
              <a:gd name="adj" fmla="val 12000"/>
            </a:avLst>
          </a:prstGeom>
          <a:solidFill>
            <a:srgbClr val="1E2761"/>
          </a:solidFill>
          <a:ln/>
        </p:spPr>
      </p:sp>
      <p:sp>
        <p:nvSpPr>
          <p:cNvPr id="6" name="Text 4"/>
          <p:cNvSpPr/>
          <p:nvPr/>
        </p:nvSpPr>
        <p:spPr>
          <a:xfrm>
            <a:off x="548640" y="2286000"/>
            <a:ext cx="539496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Internal Sources</a:t>
            </a:r>
            <a:endParaRPr lang="en-US" sz="1500" dirty="0"/>
          </a:p>
        </p:txBody>
      </p:sp>
      <p:sp>
        <p:nvSpPr>
          <p:cNvPr id="7" name="Shape 5"/>
          <p:cNvSpPr/>
          <p:nvPr/>
        </p:nvSpPr>
        <p:spPr>
          <a:xfrm>
            <a:off x="548640" y="2880360"/>
            <a:ext cx="5394960" cy="457200"/>
          </a:xfrm>
          <a:prstGeom prst="rect">
            <a:avLst/>
          </a:prstGeom>
          <a:solidFill>
            <a:srgbClr val="EEF3FC"/>
          </a:solidFill>
          <a:ln w="9525">
            <a:solidFill>
              <a:srgbClr val="3A4A8C"/>
            </a:solidFill>
            <a:prstDash val="solid"/>
          </a:ln>
        </p:spPr>
      </p:sp>
      <p:sp>
        <p:nvSpPr>
          <p:cNvPr id="8" name="Text 6"/>
          <p:cNvSpPr/>
          <p:nvPr/>
        </p:nvSpPr>
        <p:spPr>
          <a:xfrm>
            <a:off x="731520" y="2880360"/>
            <a:ext cx="5029200" cy="457200"/>
          </a:xfrm>
          <a:prstGeom prst="rect">
            <a:avLst/>
          </a:prstGeom>
          <a:noFill/>
          <a:ln/>
        </p:spPr>
        <p:txBody>
          <a:bodyPr wrap="square" rtlCol="0" anchor="ctr"/>
          <a:lstStyle/>
          <a:p>
            <a:pPr indent="0" marL="0">
              <a:buNone/>
            </a:pPr>
            <a:r>
              <a:rPr lang="en-US" sz="1250" dirty="0">
                <a:solidFill>
                  <a:srgbClr val="2B2B33"/>
                </a:solidFill>
                <a:latin typeface="Calibri" pitchFamily="34" charset="0"/>
                <a:ea typeface="Calibri" pitchFamily="34" charset="-122"/>
                <a:cs typeface="Calibri" pitchFamily="34" charset="-120"/>
              </a:rPr>
              <a:t>Promotion of existing employees</a:t>
            </a:r>
            <a:endParaRPr lang="en-US" sz="1250" dirty="0"/>
          </a:p>
        </p:txBody>
      </p:sp>
      <p:sp>
        <p:nvSpPr>
          <p:cNvPr id="9" name="Shape 7"/>
          <p:cNvSpPr/>
          <p:nvPr/>
        </p:nvSpPr>
        <p:spPr>
          <a:xfrm>
            <a:off x="548640" y="3447288"/>
            <a:ext cx="5394960" cy="457200"/>
          </a:xfrm>
          <a:prstGeom prst="rect">
            <a:avLst/>
          </a:prstGeom>
          <a:solidFill>
            <a:srgbClr val="EEF3FC"/>
          </a:solidFill>
          <a:ln w="9525">
            <a:solidFill>
              <a:srgbClr val="3A4A8C"/>
            </a:solidFill>
            <a:prstDash val="solid"/>
          </a:ln>
        </p:spPr>
      </p:sp>
      <p:sp>
        <p:nvSpPr>
          <p:cNvPr id="10" name="Text 8"/>
          <p:cNvSpPr/>
          <p:nvPr/>
        </p:nvSpPr>
        <p:spPr>
          <a:xfrm>
            <a:off x="731520" y="3447288"/>
            <a:ext cx="5029200" cy="457200"/>
          </a:xfrm>
          <a:prstGeom prst="rect">
            <a:avLst/>
          </a:prstGeom>
          <a:noFill/>
          <a:ln/>
        </p:spPr>
        <p:txBody>
          <a:bodyPr wrap="square" rtlCol="0" anchor="ctr"/>
          <a:lstStyle/>
          <a:p>
            <a:pPr indent="0" marL="0">
              <a:buNone/>
            </a:pPr>
            <a:r>
              <a:rPr lang="en-US" sz="1250" dirty="0">
                <a:solidFill>
                  <a:srgbClr val="2B2B33"/>
                </a:solidFill>
                <a:latin typeface="Calibri" pitchFamily="34" charset="0"/>
                <a:ea typeface="Calibri" pitchFamily="34" charset="-122"/>
                <a:cs typeface="Calibri" pitchFamily="34" charset="-120"/>
              </a:rPr>
              <a:t>Transfer from another department/location</a:t>
            </a:r>
            <a:endParaRPr lang="en-US" sz="1250" dirty="0"/>
          </a:p>
        </p:txBody>
      </p:sp>
      <p:sp>
        <p:nvSpPr>
          <p:cNvPr id="11" name="Shape 9"/>
          <p:cNvSpPr/>
          <p:nvPr/>
        </p:nvSpPr>
        <p:spPr>
          <a:xfrm>
            <a:off x="548640" y="4014216"/>
            <a:ext cx="5394960" cy="457200"/>
          </a:xfrm>
          <a:prstGeom prst="rect">
            <a:avLst/>
          </a:prstGeom>
          <a:solidFill>
            <a:srgbClr val="EEF3FC"/>
          </a:solidFill>
          <a:ln w="9525">
            <a:solidFill>
              <a:srgbClr val="3A4A8C"/>
            </a:solidFill>
            <a:prstDash val="solid"/>
          </a:ln>
        </p:spPr>
      </p:sp>
      <p:sp>
        <p:nvSpPr>
          <p:cNvPr id="12" name="Text 10"/>
          <p:cNvSpPr/>
          <p:nvPr/>
        </p:nvSpPr>
        <p:spPr>
          <a:xfrm>
            <a:off x="731520" y="4014216"/>
            <a:ext cx="5029200" cy="457200"/>
          </a:xfrm>
          <a:prstGeom prst="rect">
            <a:avLst/>
          </a:prstGeom>
          <a:noFill/>
          <a:ln/>
        </p:spPr>
        <p:txBody>
          <a:bodyPr wrap="square" rtlCol="0" anchor="ctr"/>
          <a:lstStyle/>
          <a:p>
            <a:pPr indent="0" marL="0">
              <a:buNone/>
            </a:pPr>
            <a:r>
              <a:rPr lang="en-US" sz="1250" dirty="0">
                <a:solidFill>
                  <a:srgbClr val="2B2B33"/>
                </a:solidFill>
                <a:latin typeface="Calibri" pitchFamily="34" charset="0"/>
                <a:ea typeface="Calibri" pitchFamily="34" charset="-122"/>
                <a:cs typeface="Calibri" pitchFamily="34" charset="-120"/>
              </a:rPr>
              <a:t>Employee referrals from within</a:t>
            </a:r>
            <a:endParaRPr lang="en-US" sz="1250" dirty="0"/>
          </a:p>
        </p:txBody>
      </p:sp>
      <p:sp>
        <p:nvSpPr>
          <p:cNvPr id="13" name="Shape 11"/>
          <p:cNvSpPr/>
          <p:nvPr/>
        </p:nvSpPr>
        <p:spPr>
          <a:xfrm>
            <a:off x="6263640" y="2286000"/>
            <a:ext cx="5394960" cy="457200"/>
          </a:xfrm>
          <a:prstGeom prst="roundRect">
            <a:avLst>
              <a:gd name="adj" fmla="val 12000"/>
            </a:avLst>
          </a:prstGeom>
          <a:solidFill>
            <a:srgbClr val="C9A24B"/>
          </a:solidFill>
          <a:ln/>
        </p:spPr>
      </p:sp>
      <p:sp>
        <p:nvSpPr>
          <p:cNvPr id="14" name="Text 12"/>
          <p:cNvSpPr/>
          <p:nvPr/>
        </p:nvSpPr>
        <p:spPr>
          <a:xfrm>
            <a:off x="6263640" y="2286000"/>
            <a:ext cx="5394960" cy="457200"/>
          </a:xfrm>
          <a:prstGeom prst="rect">
            <a:avLst/>
          </a:prstGeom>
          <a:noFill/>
          <a:ln/>
        </p:spPr>
        <p:txBody>
          <a:bodyPr wrap="square" rtlCol="0" anchor="ctr"/>
          <a:lstStyle/>
          <a:p>
            <a:pPr algn="ctr" indent="0" marL="0">
              <a:buNone/>
            </a:pPr>
            <a:r>
              <a:rPr lang="en-US" sz="1500" b="1" dirty="0">
                <a:solidFill>
                  <a:srgbClr val="141B48"/>
                </a:solidFill>
                <a:latin typeface="Cambria" pitchFamily="34" charset="0"/>
                <a:ea typeface="Cambria" pitchFamily="34" charset="-122"/>
                <a:cs typeface="Cambria" pitchFamily="34" charset="-120"/>
              </a:rPr>
              <a:t>External Sources</a:t>
            </a:r>
            <a:endParaRPr lang="en-US" sz="1500" dirty="0"/>
          </a:p>
        </p:txBody>
      </p:sp>
      <p:sp>
        <p:nvSpPr>
          <p:cNvPr id="15" name="Shape 13"/>
          <p:cNvSpPr/>
          <p:nvPr/>
        </p:nvSpPr>
        <p:spPr>
          <a:xfrm>
            <a:off x="6263640" y="2880360"/>
            <a:ext cx="5394960" cy="457200"/>
          </a:xfrm>
          <a:prstGeom prst="rect">
            <a:avLst/>
          </a:prstGeom>
          <a:solidFill>
            <a:srgbClr val="FBF3E0"/>
          </a:solidFill>
          <a:ln w="9525">
            <a:solidFill>
              <a:srgbClr val="C9A24B"/>
            </a:solidFill>
            <a:prstDash val="solid"/>
          </a:ln>
        </p:spPr>
      </p:sp>
      <p:sp>
        <p:nvSpPr>
          <p:cNvPr id="16" name="Text 14"/>
          <p:cNvSpPr/>
          <p:nvPr/>
        </p:nvSpPr>
        <p:spPr>
          <a:xfrm>
            <a:off x="6446520" y="2880360"/>
            <a:ext cx="5029200" cy="457200"/>
          </a:xfrm>
          <a:prstGeom prst="rect">
            <a:avLst/>
          </a:prstGeom>
          <a:noFill/>
          <a:ln/>
        </p:spPr>
        <p:txBody>
          <a:bodyPr wrap="square" rtlCol="0" anchor="ctr"/>
          <a:lstStyle/>
          <a:p>
            <a:pPr indent="0" marL="0">
              <a:buNone/>
            </a:pPr>
            <a:r>
              <a:rPr lang="en-US" sz="1250" dirty="0">
                <a:solidFill>
                  <a:srgbClr val="2B2B33"/>
                </a:solidFill>
                <a:latin typeface="Calibri" pitchFamily="34" charset="0"/>
                <a:ea typeface="Calibri" pitchFamily="34" charset="-122"/>
                <a:cs typeface="Calibri" pitchFamily="34" charset="-120"/>
              </a:rPr>
              <a:t>Advertisements (print, online, social media)</a:t>
            </a:r>
            <a:endParaRPr lang="en-US" sz="1250" dirty="0"/>
          </a:p>
        </p:txBody>
      </p:sp>
      <p:sp>
        <p:nvSpPr>
          <p:cNvPr id="17" name="Shape 15"/>
          <p:cNvSpPr/>
          <p:nvPr/>
        </p:nvSpPr>
        <p:spPr>
          <a:xfrm>
            <a:off x="6263640" y="3447288"/>
            <a:ext cx="5394960" cy="457200"/>
          </a:xfrm>
          <a:prstGeom prst="rect">
            <a:avLst/>
          </a:prstGeom>
          <a:solidFill>
            <a:srgbClr val="FBF3E0"/>
          </a:solidFill>
          <a:ln w="9525">
            <a:solidFill>
              <a:srgbClr val="C9A24B"/>
            </a:solidFill>
            <a:prstDash val="solid"/>
          </a:ln>
        </p:spPr>
      </p:sp>
      <p:sp>
        <p:nvSpPr>
          <p:cNvPr id="18" name="Text 16"/>
          <p:cNvSpPr/>
          <p:nvPr/>
        </p:nvSpPr>
        <p:spPr>
          <a:xfrm>
            <a:off x="6446520" y="3447288"/>
            <a:ext cx="5029200" cy="457200"/>
          </a:xfrm>
          <a:prstGeom prst="rect">
            <a:avLst/>
          </a:prstGeom>
          <a:noFill/>
          <a:ln/>
        </p:spPr>
        <p:txBody>
          <a:bodyPr wrap="square" rtlCol="0" anchor="ctr"/>
          <a:lstStyle/>
          <a:p>
            <a:pPr indent="0" marL="0">
              <a:buNone/>
            </a:pPr>
            <a:r>
              <a:rPr lang="en-US" sz="1250" dirty="0">
                <a:solidFill>
                  <a:srgbClr val="2B2B33"/>
                </a:solidFill>
                <a:latin typeface="Calibri" pitchFamily="34" charset="0"/>
                <a:ea typeface="Calibri" pitchFamily="34" charset="-122"/>
                <a:cs typeface="Calibri" pitchFamily="34" charset="-120"/>
              </a:rPr>
              <a:t>Employment exchanges &amp; job portals</a:t>
            </a:r>
            <a:endParaRPr lang="en-US" sz="1250" dirty="0"/>
          </a:p>
        </p:txBody>
      </p:sp>
      <p:sp>
        <p:nvSpPr>
          <p:cNvPr id="19" name="Shape 17"/>
          <p:cNvSpPr/>
          <p:nvPr/>
        </p:nvSpPr>
        <p:spPr>
          <a:xfrm>
            <a:off x="6263640" y="4014216"/>
            <a:ext cx="5394960" cy="457200"/>
          </a:xfrm>
          <a:prstGeom prst="rect">
            <a:avLst/>
          </a:prstGeom>
          <a:solidFill>
            <a:srgbClr val="FBF3E0"/>
          </a:solidFill>
          <a:ln w="9525">
            <a:solidFill>
              <a:srgbClr val="C9A24B"/>
            </a:solidFill>
            <a:prstDash val="solid"/>
          </a:ln>
        </p:spPr>
      </p:sp>
      <p:sp>
        <p:nvSpPr>
          <p:cNvPr id="20" name="Text 18"/>
          <p:cNvSpPr/>
          <p:nvPr/>
        </p:nvSpPr>
        <p:spPr>
          <a:xfrm>
            <a:off x="6446520" y="4014216"/>
            <a:ext cx="5029200" cy="457200"/>
          </a:xfrm>
          <a:prstGeom prst="rect">
            <a:avLst/>
          </a:prstGeom>
          <a:noFill/>
          <a:ln/>
        </p:spPr>
        <p:txBody>
          <a:bodyPr wrap="square" rtlCol="0" anchor="ctr"/>
          <a:lstStyle/>
          <a:p>
            <a:pPr indent="0" marL="0">
              <a:buNone/>
            </a:pPr>
            <a:r>
              <a:rPr lang="en-US" sz="1250" dirty="0">
                <a:solidFill>
                  <a:srgbClr val="2B2B33"/>
                </a:solidFill>
                <a:latin typeface="Calibri" pitchFamily="34" charset="0"/>
                <a:ea typeface="Calibri" pitchFamily="34" charset="-122"/>
                <a:cs typeface="Calibri" pitchFamily="34" charset="-120"/>
              </a:rPr>
              <a:t>Campus recruitment</a:t>
            </a:r>
            <a:endParaRPr lang="en-US" sz="1250" dirty="0"/>
          </a:p>
        </p:txBody>
      </p:sp>
      <p:sp>
        <p:nvSpPr>
          <p:cNvPr id="21" name="Shape 19"/>
          <p:cNvSpPr/>
          <p:nvPr/>
        </p:nvSpPr>
        <p:spPr>
          <a:xfrm>
            <a:off x="6263640" y="4581144"/>
            <a:ext cx="5394960" cy="457200"/>
          </a:xfrm>
          <a:prstGeom prst="rect">
            <a:avLst/>
          </a:prstGeom>
          <a:solidFill>
            <a:srgbClr val="FBF3E0"/>
          </a:solidFill>
          <a:ln w="9525">
            <a:solidFill>
              <a:srgbClr val="C9A24B"/>
            </a:solidFill>
            <a:prstDash val="solid"/>
          </a:ln>
        </p:spPr>
      </p:sp>
      <p:sp>
        <p:nvSpPr>
          <p:cNvPr id="22" name="Text 20"/>
          <p:cNvSpPr/>
          <p:nvPr/>
        </p:nvSpPr>
        <p:spPr>
          <a:xfrm>
            <a:off x="6446520" y="4581144"/>
            <a:ext cx="5029200" cy="457200"/>
          </a:xfrm>
          <a:prstGeom prst="rect">
            <a:avLst/>
          </a:prstGeom>
          <a:noFill/>
          <a:ln/>
        </p:spPr>
        <p:txBody>
          <a:bodyPr wrap="square" rtlCol="0" anchor="ctr"/>
          <a:lstStyle/>
          <a:p>
            <a:pPr indent="0" marL="0">
              <a:buNone/>
            </a:pPr>
            <a:r>
              <a:rPr lang="en-US" sz="1250" dirty="0">
                <a:solidFill>
                  <a:srgbClr val="2B2B33"/>
                </a:solidFill>
                <a:latin typeface="Calibri" pitchFamily="34" charset="0"/>
                <a:ea typeface="Calibri" pitchFamily="34" charset="-122"/>
                <a:cs typeface="Calibri" pitchFamily="34" charset="-120"/>
              </a:rPr>
              <a:t>Placement agencies &amp; consultants</a:t>
            </a:r>
            <a:endParaRPr lang="en-US" sz="1250" dirty="0"/>
          </a:p>
        </p:txBody>
      </p:sp>
      <p:sp>
        <p:nvSpPr>
          <p:cNvPr id="23" name="Shape 21"/>
          <p:cNvSpPr/>
          <p:nvPr/>
        </p:nvSpPr>
        <p:spPr>
          <a:xfrm>
            <a:off x="6263640" y="5148072"/>
            <a:ext cx="5394960" cy="457200"/>
          </a:xfrm>
          <a:prstGeom prst="rect">
            <a:avLst/>
          </a:prstGeom>
          <a:solidFill>
            <a:srgbClr val="FBF3E0"/>
          </a:solidFill>
          <a:ln w="9525">
            <a:solidFill>
              <a:srgbClr val="C9A24B"/>
            </a:solidFill>
            <a:prstDash val="solid"/>
          </a:ln>
        </p:spPr>
      </p:sp>
      <p:sp>
        <p:nvSpPr>
          <p:cNvPr id="24" name="Text 22"/>
          <p:cNvSpPr/>
          <p:nvPr/>
        </p:nvSpPr>
        <p:spPr>
          <a:xfrm>
            <a:off x="6446520" y="5148072"/>
            <a:ext cx="5029200" cy="457200"/>
          </a:xfrm>
          <a:prstGeom prst="rect">
            <a:avLst/>
          </a:prstGeom>
          <a:noFill/>
          <a:ln/>
        </p:spPr>
        <p:txBody>
          <a:bodyPr wrap="square" rtlCol="0" anchor="ctr"/>
          <a:lstStyle/>
          <a:p>
            <a:pPr indent="0" marL="0">
              <a:buNone/>
            </a:pPr>
            <a:r>
              <a:rPr lang="en-US" sz="1250" dirty="0">
                <a:solidFill>
                  <a:srgbClr val="2B2B33"/>
                </a:solidFill>
                <a:latin typeface="Calibri" pitchFamily="34" charset="0"/>
                <a:ea typeface="Calibri" pitchFamily="34" charset="-122"/>
                <a:cs typeface="Calibri" pitchFamily="34" charset="-120"/>
              </a:rPr>
              <a:t>Walk-ins &amp; unsolicited applications</a:t>
            </a:r>
            <a:endParaRPr lang="en-US" sz="1250" dirty="0"/>
          </a:p>
        </p:txBody>
      </p:sp>
      <p:sp>
        <p:nvSpPr>
          <p:cNvPr id="25" name="Text 2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RECRUITMENT</a:t>
            </a:r>
            <a:endParaRPr lang="en-US" sz="1100" dirty="0"/>
          </a:p>
        </p:txBody>
      </p:sp>
      <p:sp>
        <p:nvSpPr>
          <p:cNvPr id="26" name="Text 2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SELECTION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Meaning &amp; the Selection Process</a:t>
            </a:r>
            <a:endParaRPr lang="en-US" sz="2700" dirty="0"/>
          </a:p>
        </p:txBody>
      </p:sp>
      <p:sp>
        <p:nvSpPr>
          <p:cNvPr id="4" name="Text 2"/>
          <p:cNvSpPr/>
          <p:nvPr/>
        </p:nvSpPr>
        <p:spPr>
          <a:xfrm>
            <a:off x="548640" y="1600200"/>
            <a:ext cx="11064240" cy="502920"/>
          </a:xfrm>
          <a:prstGeom prst="rect">
            <a:avLst/>
          </a:prstGeom>
          <a:noFill/>
          <a:ln/>
        </p:spPr>
        <p:txBody>
          <a:bodyPr wrap="square" rtlCol="0" anchor="ctr"/>
          <a:lstStyle/>
          <a:p>
            <a:pPr indent="0" marL="0">
              <a:buNone/>
            </a:pPr>
            <a:r>
              <a:rPr lang="en-US" sz="1350" i="1" dirty="0">
                <a:solidFill>
                  <a:srgbClr val="2B2B33"/>
                </a:solidFill>
                <a:latin typeface="Calibri" pitchFamily="34" charset="0"/>
                <a:ea typeface="Calibri" pitchFamily="34" charset="-122"/>
                <a:cs typeface="Calibri" pitchFamily="34" charset="-120"/>
              </a:rPr>
              <a:t>Selection is the process of choosing the most suitable candidates from among those who apply — a series of steps designed to predict who will succeed on the job.</a:t>
            </a:r>
            <a:endParaRPr lang="en-US" sz="1350" dirty="0"/>
          </a:p>
        </p:txBody>
      </p:sp>
      <p:sp>
        <p:nvSpPr>
          <p:cNvPr id="5" name="Shape 3"/>
          <p:cNvSpPr/>
          <p:nvPr/>
        </p:nvSpPr>
        <p:spPr>
          <a:xfrm>
            <a:off x="3017520" y="2240280"/>
            <a:ext cx="6126480" cy="457200"/>
          </a:xfrm>
          <a:prstGeom prst="roundRect">
            <a:avLst>
              <a:gd name="adj" fmla="val 12000"/>
            </a:avLst>
          </a:prstGeom>
          <a:solidFill>
            <a:srgbClr val="1E2761"/>
          </a:solidFill>
          <a:ln/>
        </p:spPr>
      </p:sp>
      <p:sp>
        <p:nvSpPr>
          <p:cNvPr id="6" name="Text 4"/>
          <p:cNvSpPr/>
          <p:nvPr/>
        </p:nvSpPr>
        <p:spPr>
          <a:xfrm>
            <a:off x="3200400" y="2240280"/>
            <a:ext cx="576072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  Preliminary Screening</a:t>
            </a:r>
            <a:endParaRPr lang="en-US" sz="1300" dirty="0"/>
          </a:p>
        </p:txBody>
      </p:sp>
      <p:sp>
        <p:nvSpPr>
          <p:cNvPr id="7" name="Shape 5"/>
          <p:cNvSpPr/>
          <p:nvPr/>
        </p:nvSpPr>
        <p:spPr>
          <a:xfrm>
            <a:off x="6080760" y="2697480"/>
            <a:ext cx="0" cy="128016"/>
          </a:xfrm>
          <a:prstGeom prst="line">
            <a:avLst/>
          </a:prstGeom>
          <a:noFill/>
          <a:ln w="19050">
            <a:solidFill>
              <a:srgbClr val="1E2761"/>
            </a:solidFill>
            <a:prstDash val="solid"/>
          </a:ln>
        </p:spPr>
      </p:sp>
      <p:sp>
        <p:nvSpPr>
          <p:cNvPr id="8" name="Shape 6"/>
          <p:cNvSpPr/>
          <p:nvPr/>
        </p:nvSpPr>
        <p:spPr>
          <a:xfrm>
            <a:off x="3017520" y="2825496"/>
            <a:ext cx="6126480" cy="457200"/>
          </a:xfrm>
          <a:prstGeom prst="roundRect">
            <a:avLst>
              <a:gd name="adj" fmla="val 12000"/>
            </a:avLst>
          </a:prstGeom>
          <a:solidFill>
            <a:srgbClr val="1E2761"/>
          </a:solidFill>
          <a:ln/>
        </p:spPr>
      </p:sp>
      <p:sp>
        <p:nvSpPr>
          <p:cNvPr id="9" name="Text 7"/>
          <p:cNvSpPr/>
          <p:nvPr/>
        </p:nvSpPr>
        <p:spPr>
          <a:xfrm>
            <a:off x="3200400" y="2825496"/>
            <a:ext cx="576072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  Application Blank</a:t>
            </a:r>
            <a:endParaRPr lang="en-US" sz="1300" dirty="0"/>
          </a:p>
        </p:txBody>
      </p:sp>
      <p:sp>
        <p:nvSpPr>
          <p:cNvPr id="10" name="Shape 8"/>
          <p:cNvSpPr/>
          <p:nvPr/>
        </p:nvSpPr>
        <p:spPr>
          <a:xfrm>
            <a:off x="6080760" y="3282696"/>
            <a:ext cx="0" cy="128016"/>
          </a:xfrm>
          <a:prstGeom prst="line">
            <a:avLst/>
          </a:prstGeom>
          <a:noFill/>
          <a:ln w="19050">
            <a:solidFill>
              <a:srgbClr val="1E2761"/>
            </a:solidFill>
            <a:prstDash val="solid"/>
          </a:ln>
        </p:spPr>
      </p:sp>
      <p:sp>
        <p:nvSpPr>
          <p:cNvPr id="11" name="Shape 9"/>
          <p:cNvSpPr/>
          <p:nvPr/>
        </p:nvSpPr>
        <p:spPr>
          <a:xfrm>
            <a:off x="3017520" y="3410712"/>
            <a:ext cx="6126480" cy="457200"/>
          </a:xfrm>
          <a:prstGeom prst="roundRect">
            <a:avLst>
              <a:gd name="adj" fmla="val 12000"/>
            </a:avLst>
          </a:prstGeom>
          <a:solidFill>
            <a:srgbClr val="1E2761"/>
          </a:solidFill>
          <a:ln/>
        </p:spPr>
      </p:sp>
      <p:sp>
        <p:nvSpPr>
          <p:cNvPr id="12" name="Text 10"/>
          <p:cNvSpPr/>
          <p:nvPr/>
        </p:nvSpPr>
        <p:spPr>
          <a:xfrm>
            <a:off x="3200400" y="3410712"/>
            <a:ext cx="576072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  Selection Tests</a:t>
            </a:r>
            <a:endParaRPr lang="en-US" sz="1300" dirty="0"/>
          </a:p>
        </p:txBody>
      </p:sp>
      <p:sp>
        <p:nvSpPr>
          <p:cNvPr id="13" name="Shape 11"/>
          <p:cNvSpPr/>
          <p:nvPr/>
        </p:nvSpPr>
        <p:spPr>
          <a:xfrm>
            <a:off x="6080760" y="3867912"/>
            <a:ext cx="0" cy="128016"/>
          </a:xfrm>
          <a:prstGeom prst="line">
            <a:avLst/>
          </a:prstGeom>
          <a:noFill/>
          <a:ln w="19050">
            <a:solidFill>
              <a:srgbClr val="1E2761"/>
            </a:solidFill>
            <a:prstDash val="solid"/>
          </a:ln>
        </p:spPr>
      </p:sp>
      <p:sp>
        <p:nvSpPr>
          <p:cNvPr id="14" name="Shape 12"/>
          <p:cNvSpPr/>
          <p:nvPr/>
        </p:nvSpPr>
        <p:spPr>
          <a:xfrm>
            <a:off x="3017520" y="3995928"/>
            <a:ext cx="6126480" cy="457200"/>
          </a:xfrm>
          <a:prstGeom prst="roundRect">
            <a:avLst>
              <a:gd name="adj" fmla="val 12000"/>
            </a:avLst>
          </a:prstGeom>
          <a:solidFill>
            <a:srgbClr val="1E2761"/>
          </a:solidFill>
          <a:ln/>
        </p:spPr>
      </p:sp>
      <p:sp>
        <p:nvSpPr>
          <p:cNvPr id="15" name="Text 13"/>
          <p:cNvSpPr/>
          <p:nvPr/>
        </p:nvSpPr>
        <p:spPr>
          <a:xfrm>
            <a:off x="3200400" y="3995928"/>
            <a:ext cx="576072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4.  Employment Interview</a:t>
            </a:r>
            <a:endParaRPr lang="en-US" sz="1300" dirty="0"/>
          </a:p>
        </p:txBody>
      </p:sp>
      <p:sp>
        <p:nvSpPr>
          <p:cNvPr id="16" name="Shape 14"/>
          <p:cNvSpPr/>
          <p:nvPr/>
        </p:nvSpPr>
        <p:spPr>
          <a:xfrm>
            <a:off x="6080760" y="4453128"/>
            <a:ext cx="0" cy="128016"/>
          </a:xfrm>
          <a:prstGeom prst="line">
            <a:avLst/>
          </a:prstGeom>
          <a:noFill/>
          <a:ln w="19050">
            <a:solidFill>
              <a:srgbClr val="1E2761"/>
            </a:solidFill>
            <a:prstDash val="solid"/>
          </a:ln>
        </p:spPr>
      </p:sp>
      <p:sp>
        <p:nvSpPr>
          <p:cNvPr id="17" name="Shape 15"/>
          <p:cNvSpPr/>
          <p:nvPr/>
        </p:nvSpPr>
        <p:spPr>
          <a:xfrm>
            <a:off x="3017520" y="4581144"/>
            <a:ext cx="6126480" cy="457200"/>
          </a:xfrm>
          <a:prstGeom prst="roundRect">
            <a:avLst>
              <a:gd name="adj" fmla="val 12000"/>
            </a:avLst>
          </a:prstGeom>
          <a:solidFill>
            <a:srgbClr val="1E2761"/>
          </a:solidFill>
          <a:ln/>
        </p:spPr>
      </p:sp>
      <p:sp>
        <p:nvSpPr>
          <p:cNvPr id="18" name="Text 16"/>
          <p:cNvSpPr/>
          <p:nvPr/>
        </p:nvSpPr>
        <p:spPr>
          <a:xfrm>
            <a:off x="3200400" y="4581144"/>
            <a:ext cx="576072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5.  Reference &amp; Background Check</a:t>
            </a:r>
            <a:endParaRPr lang="en-US" sz="1300" dirty="0"/>
          </a:p>
        </p:txBody>
      </p:sp>
      <p:sp>
        <p:nvSpPr>
          <p:cNvPr id="19" name="Shape 17"/>
          <p:cNvSpPr/>
          <p:nvPr/>
        </p:nvSpPr>
        <p:spPr>
          <a:xfrm>
            <a:off x="6080760" y="5038344"/>
            <a:ext cx="0" cy="128016"/>
          </a:xfrm>
          <a:prstGeom prst="line">
            <a:avLst/>
          </a:prstGeom>
          <a:noFill/>
          <a:ln w="19050">
            <a:solidFill>
              <a:srgbClr val="1E2761"/>
            </a:solidFill>
            <a:prstDash val="solid"/>
          </a:ln>
        </p:spPr>
      </p:sp>
      <p:sp>
        <p:nvSpPr>
          <p:cNvPr id="20" name="Shape 18"/>
          <p:cNvSpPr/>
          <p:nvPr/>
        </p:nvSpPr>
        <p:spPr>
          <a:xfrm>
            <a:off x="3017520" y="5166360"/>
            <a:ext cx="6126480" cy="457200"/>
          </a:xfrm>
          <a:prstGeom prst="roundRect">
            <a:avLst>
              <a:gd name="adj" fmla="val 12000"/>
            </a:avLst>
          </a:prstGeom>
          <a:solidFill>
            <a:srgbClr val="1E2761"/>
          </a:solidFill>
          <a:ln/>
        </p:spPr>
      </p:sp>
      <p:sp>
        <p:nvSpPr>
          <p:cNvPr id="21" name="Text 19"/>
          <p:cNvSpPr/>
          <p:nvPr/>
        </p:nvSpPr>
        <p:spPr>
          <a:xfrm>
            <a:off x="3200400" y="5166360"/>
            <a:ext cx="576072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  Medical Examination</a:t>
            </a:r>
            <a:endParaRPr lang="en-US" sz="1300" dirty="0"/>
          </a:p>
        </p:txBody>
      </p:sp>
      <p:sp>
        <p:nvSpPr>
          <p:cNvPr id="22" name="Shape 20"/>
          <p:cNvSpPr/>
          <p:nvPr/>
        </p:nvSpPr>
        <p:spPr>
          <a:xfrm>
            <a:off x="6080760" y="5623560"/>
            <a:ext cx="0" cy="128016"/>
          </a:xfrm>
          <a:prstGeom prst="line">
            <a:avLst/>
          </a:prstGeom>
          <a:noFill/>
          <a:ln w="19050">
            <a:solidFill>
              <a:srgbClr val="1E2761"/>
            </a:solidFill>
            <a:prstDash val="solid"/>
          </a:ln>
        </p:spPr>
      </p:sp>
      <p:sp>
        <p:nvSpPr>
          <p:cNvPr id="23" name="Shape 21"/>
          <p:cNvSpPr/>
          <p:nvPr/>
        </p:nvSpPr>
        <p:spPr>
          <a:xfrm>
            <a:off x="3017520" y="5751576"/>
            <a:ext cx="6126480" cy="457200"/>
          </a:xfrm>
          <a:prstGeom prst="roundRect">
            <a:avLst>
              <a:gd name="adj" fmla="val 12000"/>
            </a:avLst>
          </a:prstGeom>
          <a:solidFill>
            <a:srgbClr val="1E2761"/>
          </a:solidFill>
          <a:ln/>
        </p:spPr>
      </p:sp>
      <p:sp>
        <p:nvSpPr>
          <p:cNvPr id="24" name="Text 22"/>
          <p:cNvSpPr/>
          <p:nvPr/>
        </p:nvSpPr>
        <p:spPr>
          <a:xfrm>
            <a:off x="3200400" y="5751576"/>
            <a:ext cx="576072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7.  Final Selection &amp; Job Offer</a:t>
            </a:r>
            <a:endParaRPr lang="en-US" sz="1300" dirty="0"/>
          </a:p>
        </p:txBody>
      </p:sp>
      <p:sp>
        <p:nvSpPr>
          <p:cNvPr id="25" name="Text 2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SELECTION PROCESS</a:t>
            </a:r>
            <a:endParaRPr lang="en-US" sz="1100" dirty="0"/>
          </a:p>
        </p:txBody>
      </p:sp>
      <p:sp>
        <p:nvSpPr>
          <p:cNvPr id="26" name="Text 2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SELECTION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Types of Selection Tests</a:t>
            </a:r>
            <a:endParaRPr lang="en-US" sz="2700" dirty="0"/>
          </a:p>
        </p:txBody>
      </p:sp>
      <p:sp>
        <p:nvSpPr>
          <p:cNvPr id="4" name="Shape 2"/>
          <p:cNvSpPr/>
          <p:nvPr/>
        </p:nvSpPr>
        <p:spPr>
          <a:xfrm>
            <a:off x="548640" y="1645920"/>
            <a:ext cx="2670048" cy="4434840"/>
          </a:xfrm>
          <a:prstGeom prst="roundRect">
            <a:avLst>
              <a:gd name="adj" fmla="val 3082"/>
            </a:avLst>
          </a:prstGeom>
          <a:solidFill>
            <a:srgbClr val="EEF3FC"/>
          </a:solidFill>
          <a:ln/>
        </p:spPr>
      </p:sp>
      <p:sp>
        <p:nvSpPr>
          <p:cNvPr id="5" name="Shape 3"/>
          <p:cNvSpPr/>
          <p:nvPr/>
        </p:nvSpPr>
        <p:spPr>
          <a:xfrm>
            <a:off x="1618488"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756380" y="1984980"/>
            <a:ext cx="254569" cy="254569"/>
          </a:xfrm>
          <a:prstGeom prst="rect">
            <a:avLst/>
          </a:prstGeom>
        </p:spPr>
      </p:pic>
      <p:sp>
        <p:nvSpPr>
          <p:cNvPr id="7" name="Text 4"/>
          <p:cNvSpPr/>
          <p:nvPr/>
        </p:nvSpPr>
        <p:spPr>
          <a:xfrm>
            <a:off x="667512"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Aptitude Tests</a:t>
            </a:r>
            <a:endParaRPr lang="en-US" sz="1320" dirty="0"/>
          </a:p>
        </p:txBody>
      </p:sp>
      <p:sp>
        <p:nvSpPr>
          <p:cNvPr id="8" name="Text 5"/>
          <p:cNvSpPr/>
          <p:nvPr/>
        </p:nvSpPr>
        <p:spPr>
          <a:xfrm>
            <a:off x="694944"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Measure a candidate's potential ability to learn or perform a specific kind of work — numerical, verbal, or mechanical aptitude.</a:t>
            </a:r>
            <a:endParaRPr lang="en-US" sz="1060" dirty="0"/>
          </a:p>
        </p:txBody>
      </p:sp>
      <p:sp>
        <p:nvSpPr>
          <p:cNvPr id="9" name="Shape 6"/>
          <p:cNvSpPr/>
          <p:nvPr/>
        </p:nvSpPr>
        <p:spPr>
          <a:xfrm>
            <a:off x="3346704" y="1645920"/>
            <a:ext cx="2670048" cy="4434840"/>
          </a:xfrm>
          <a:prstGeom prst="roundRect">
            <a:avLst>
              <a:gd name="adj" fmla="val 3082"/>
            </a:avLst>
          </a:prstGeom>
          <a:solidFill>
            <a:srgbClr val="EEF3FC"/>
          </a:solidFill>
          <a:ln/>
        </p:spPr>
      </p:sp>
      <p:sp>
        <p:nvSpPr>
          <p:cNvPr id="10" name="Shape 7"/>
          <p:cNvSpPr/>
          <p:nvPr/>
        </p:nvSpPr>
        <p:spPr>
          <a:xfrm>
            <a:off x="4416552" y="1847088"/>
            <a:ext cx="530352" cy="530352"/>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4554444" y="1984980"/>
            <a:ext cx="254569" cy="254569"/>
          </a:xfrm>
          <a:prstGeom prst="rect">
            <a:avLst/>
          </a:prstGeom>
        </p:spPr>
      </p:pic>
      <p:sp>
        <p:nvSpPr>
          <p:cNvPr id="12" name="Text 8"/>
          <p:cNvSpPr/>
          <p:nvPr/>
        </p:nvSpPr>
        <p:spPr>
          <a:xfrm>
            <a:off x="3465576"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Intelligence Tests</a:t>
            </a:r>
            <a:endParaRPr lang="en-US" sz="1320" dirty="0"/>
          </a:p>
        </p:txBody>
      </p:sp>
      <p:sp>
        <p:nvSpPr>
          <p:cNvPr id="13" name="Text 9"/>
          <p:cNvSpPr/>
          <p:nvPr/>
        </p:nvSpPr>
        <p:spPr>
          <a:xfrm>
            <a:off x="3493008"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Measure general mental ability — reasoning, comprehension and problem-solving capacity.</a:t>
            </a:r>
            <a:endParaRPr lang="en-US" sz="1060" dirty="0"/>
          </a:p>
        </p:txBody>
      </p:sp>
      <p:sp>
        <p:nvSpPr>
          <p:cNvPr id="14" name="Shape 10"/>
          <p:cNvSpPr/>
          <p:nvPr/>
        </p:nvSpPr>
        <p:spPr>
          <a:xfrm>
            <a:off x="6144768" y="1645920"/>
            <a:ext cx="2670048" cy="4434840"/>
          </a:xfrm>
          <a:prstGeom prst="roundRect">
            <a:avLst>
              <a:gd name="adj" fmla="val 3082"/>
            </a:avLst>
          </a:prstGeom>
          <a:solidFill>
            <a:srgbClr val="EEF3FC"/>
          </a:solidFill>
          <a:ln/>
        </p:spPr>
      </p:sp>
      <p:sp>
        <p:nvSpPr>
          <p:cNvPr id="15" name="Shape 11"/>
          <p:cNvSpPr/>
          <p:nvPr/>
        </p:nvSpPr>
        <p:spPr>
          <a:xfrm>
            <a:off x="7214616" y="1847088"/>
            <a:ext cx="530352" cy="530352"/>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7352508" y="1984980"/>
            <a:ext cx="254569" cy="254569"/>
          </a:xfrm>
          <a:prstGeom prst="rect">
            <a:avLst/>
          </a:prstGeom>
        </p:spPr>
      </p:pic>
      <p:sp>
        <p:nvSpPr>
          <p:cNvPr id="17" name="Text 12"/>
          <p:cNvSpPr/>
          <p:nvPr/>
        </p:nvSpPr>
        <p:spPr>
          <a:xfrm>
            <a:off x="6263640"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Personality Tests</a:t>
            </a:r>
            <a:endParaRPr lang="en-US" sz="1320" dirty="0"/>
          </a:p>
        </p:txBody>
      </p:sp>
      <p:sp>
        <p:nvSpPr>
          <p:cNvPr id="18" name="Text 13"/>
          <p:cNvSpPr/>
          <p:nvPr/>
        </p:nvSpPr>
        <p:spPr>
          <a:xfrm>
            <a:off x="6291072"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Assess traits, temperament and behavioral tendencies — relevant for roles needing specific interpersonal styles.</a:t>
            </a:r>
            <a:endParaRPr lang="en-US" sz="1060" dirty="0"/>
          </a:p>
        </p:txBody>
      </p:sp>
      <p:sp>
        <p:nvSpPr>
          <p:cNvPr id="19" name="Shape 14"/>
          <p:cNvSpPr/>
          <p:nvPr/>
        </p:nvSpPr>
        <p:spPr>
          <a:xfrm>
            <a:off x="8942832" y="1645920"/>
            <a:ext cx="2670048" cy="4434840"/>
          </a:xfrm>
          <a:prstGeom prst="roundRect">
            <a:avLst>
              <a:gd name="adj" fmla="val 3082"/>
            </a:avLst>
          </a:prstGeom>
          <a:solidFill>
            <a:srgbClr val="EEF3FC"/>
          </a:solidFill>
          <a:ln/>
        </p:spPr>
      </p:sp>
      <p:sp>
        <p:nvSpPr>
          <p:cNvPr id="20" name="Shape 15"/>
          <p:cNvSpPr/>
          <p:nvPr/>
        </p:nvSpPr>
        <p:spPr>
          <a:xfrm>
            <a:off x="10012680" y="1847088"/>
            <a:ext cx="530352" cy="530352"/>
          </a:xfrm>
          <a:prstGeom prst="ellipse">
            <a:avLst/>
          </a:prstGeom>
          <a:solidFill>
            <a:srgbClr val="1E2761"/>
          </a:solidFill>
          <a:ln/>
        </p:spPr>
      </p:sp>
      <p:pic>
        <p:nvPicPr>
          <p:cNvPr id="21" name="Image 3" descr="preencoded.png">    </p:cNvPr>
          <p:cNvPicPr>
            <a:picLocks noChangeAspect="1"/>
          </p:cNvPicPr>
          <p:nvPr/>
        </p:nvPicPr>
        <p:blipFill>
          <a:blip r:embed="rId4"/>
          <a:stretch>
            <a:fillRect/>
          </a:stretch>
        </p:blipFill>
        <p:spPr>
          <a:xfrm>
            <a:off x="10150572" y="1984980"/>
            <a:ext cx="254569" cy="254569"/>
          </a:xfrm>
          <a:prstGeom prst="rect">
            <a:avLst/>
          </a:prstGeom>
        </p:spPr>
      </p:pic>
      <p:sp>
        <p:nvSpPr>
          <p:cNvPr id="22" name="Text 16"/>
          <p:cNvSpPr/>
          <p:nvPr/>
        </p:nvSpPr>
        <p:spPr>
          <a:xfrm>
            <a:off x="9061704"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Trade / Proficiency Tests</a:t>
            </a:r>
            <a:endParaRPr lang="en-US" sz="1320" dirty="0"/>
          </a:p>
        </p:txBody>
      </p:sp>
      <p:sp>
        <p:nvSpPr>
          <p:cNvPr id="23" name="Text 17"/>
          <p:cNvSpPr/>
          <p:nvPr/>
        </p:nvSpPr>
        <p:spPr>
          <a:xfrm>
            <a:off x="9089136"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Measure the skill a candidate already possesses in a specific job — e.g., a typing test or a coding test.</a:t>
            </a:r>
            <a:endParaRPr lang="en-US" sz="1060" dirty="0"/>
          </a:p>
        </p:txBody>
      </p:sp>
      <p:sp>
        <p:nvSpPr>
          <p:cNvPr id="24" name="Text 1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SELECTION</a:t>
            </a:r>
            <a:endParaRPr lang="en-US" sz="1100" dirty="0"/>
          </a:p>
        </p:txBody>
      </p:sp>
      <p:sp>
        <p:nvSpPr>
          <p:cNvPr id="25" name="Text 1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C</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Training, Appraisal &amp; Job Analysis</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Developing, Evaluating and Rewarding People</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Hiring the right person is only the start — they must then be developed, fairly judged, and matched to well-defined roles.</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TRAINING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Meaning &amp; Methods of Training</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MEANING</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Systematic Skill-Building</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Training is the systematic process of improving employees' knowledge, skills and attitudes for better performance on their present job.</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ON-THE-JOB</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Learning While Working</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Job rotation, coaching/mentoring by a senior, apprenticeship, and understudy assignments — learning by doing, at the actual workplace.</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OFF-THE-JOB</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Learning Away From the Desk</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Classroom lectures, case study discussions, role-playing exercises, vestibule training (practice in a simulated work setting), and simulations.</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TRAINING</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PERFORMANCE APPRAISAL</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Meaning &amp; Methods of Appraisal</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MEANING</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Systematic Evaluation</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Performance appraisal is the systematic evaluation of an employee's job performance and potential for future development.</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TRADITIONAL METHODS</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Simpler, Rating-Based</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Ranking method (ordering employees best to worst), graphic rating scales, and checklists of desired behaviors.</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MODERN METHODS</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More Holistic &amp; Objective</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Management by Objectives (appraising against agreed targets), 360-degree feedback (input from peers, subordinates and superiors), and Behaviorally Anchored Rating Scales.</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PERFORMANCE APPRAISAL</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PROMOTION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Meaning &amp; the Two Bases of Promotion</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Promotion is the upward reassignment of an employee to a position of higher rank, greater responsibility, higher status, and usually higher pay.</a:t>
            </a:r>
            <a:endParaRPr lang="en-US" sz="1500" dirty="0"/>
          </a:p>
          <a:p>
            <a:pPr indent="0" marL="0">
              <a:lnSpc>
                <a:spcPct val="110000"/>
              </a:lnSpc>
              <a:spcAft>
                <a:spcPts val="600"/>
              </a:spcAft>
              <a:buNone/>
            </a:pPr>
            <a:r>
              <a:rPr lang="en-US" sz="1500" dirty="0">
                <a:solidFill>
                  <a:srgbClr val="2B2B33"/>
                </a:solidFill>
                <a:latin typeface="Calibri" pitchFamily="34" charset="0"/>
                <a:ea typeface="Calibri" pitchFamily="34" charset="-122"/>
                <a:cs typeface="Calibri" pitchFamily="34" charset="-120"/>
              </a:rPr>
              <a:t>Organizations typically promote on one, or a combination, of two bases:</a:t>
            </a:r>
            <a:endParaRPr lang="en-US" sz="1500" dirty="0"/>
          </a:p>
          <a:p>
            <a:pPr marL="342900" indent="-342900">
              <a:lnSpc>
                <a:spcPct val="110000"/>
              </a:lnSpc>
              <a:spcAft>
                <a:spcPts val="400"/>
              </a:spcAft>
              <a:buSzPct val="100000"/>
              <a:buChar char="•"/>
            </a:pPr>
            <a:r>
              <a:rPr lang="en-US" sz="1500" dirty="0">
                <a:solidFill>
                  <a:srgbClr val="2B2B33"/>
                </a:solidFill>
                <a:latin typeface="Calibri" pitchFamily="34" charset="0"/>
                <a:ea typeface="Calibri" pitchFamily="34" charset="-122"/>
                <a:cs typeface="Calibri" pitchFamily="34" charset="-120"/>
              </a:rPr>
              <a:t>Seniority: length of service in the organization — objective and easy to apply, but does not always reward the most capable performer.</a:t>
            </a:r>
            <a:endParaRPr lang="en-US" sz="1500" dirty="0"/>
          </a:p>
          <a:p>
            <a:pPr marL="342900" indent="-342900">
              <a:lnSpc>
                <a:spcPct val="110000"/>
              </a:lnSpc>
              <a:buSzPct val="100000"/>
              <a:buChar char="•"/>
            </a:pPr>
            <a:r>
              <a:rPr lang="en-US" sz="1500" dirty="0">
                <a:solidFill>
                  <a:srgbClr val="2B2B33"/>
                </a:solidFill>
                <a:latin typeface="Calibri" pitchFamily="34" charset="0"/>
                <a:ea typeface="Calibri" pitchFamily="34" charset="-122"/>
                <a:cs typeface="Calibri" pitchFamily="34" charset="-120"/>
              </a:rPr>
              <a:t>Merit: demonstrated performance and competence — rewards ability, but requires a fair, well-documented appraisal system to avoid disputes and perceptions of favoritism.</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Balancing Both</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Many organizations use merit as the primary test but give some weight to seniority as a tie-breaker — rewarding competence without discouraging loyalty.</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PROMOTION</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JOB ANALYSIS AND EVALUATION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Meaning &amp; the Two Outputs of Job Analysis</a:t>
            </a:r>
            <a:endParaRPr lang="en-US" sz="2700" dirty="0"/>
          </a:p>
        </p:txBody>
      </p:sp>
      <p:sp>
        <p:nvSpPr>
          <p:cNvPr id="4" name="Text 2"/>
          <p:cNvSpPr/>
          <p:nvPr/>
        </p:nvSpPr>
        <p:spPr>
          <a:xfrm>
            <a:off x="548640" y="1645920"/>
            <a:ext cx="11064240" cy="640080"/>
          </a:xfrm>
          <a:prstGeom prst="rect">
            <a:avLst/>
          </a:prstGeom>
          <a:noFill/>
          <a:ln/>
        </p:spPr>
        <p:txBody>
          <a:bodyPr wrap="square" rtlCol="0" anchor="t"/>
          <a:lstStyle/>
          <a:p>
            <a:pPr indent="0" marL="0">
              <a:buNone/>
            </a:pPr>
            <a:r>
              <a:rPr lang="en-US" sz="1400" dirty="0">
                <a:solidFill>
                  <a:srgbClr val="2B2B33"/>
                </a:solidFill>
                <a:latin typeface="Calibri" pitchFamily="34" charset="0"/>
                <a:ea typeface="Calibri" pitchFamily="34" charset="-122"/>
                <a:cs typeface="Calibri" pitchFamily="34" charset="-120"/>
              </a:rPr>
              <a:t>Job analysis is the systematic process of gathering information about a job's duties, responsibilities, required skills, and working conditions. It produces two related documents:</a:t>
            </a:r>
            <a:endParaRPr lang="en-US" sz="1400" dirty="0"/>
          </a:p>
        </p:txBody>
      </p:sp>
      <p:sp>
        <p:nvSpPr>
          <p:cNvPr id="5" name="Shape 3"/>
          <p:cNvSpPr/>
          <p:nvPr/>
        </p:nvSpPr>
        <p:spPr>
          <a:xfrm>
            <a:off x="4892040" y="2468880"/>
            <a:ext cx="2377440" cy="457200"/>
          </a:xfrm>
          <a:prstGeom prst="roundRect">
            <a:avLst>
              <a:gd name="adj" fmla="val 12000"/>
            </a:avLst>
          </a:prstGeom>
          <a:solidFill>
            <a:srgbClr val="1E2761"/>
          </a:solidFill>
          <a:ln/>
        </p:spPr>
      </p:sp>
      <p:sp>
        <p:nvSpPr>
          <p:cNvPr id="6" name="Text 4"/>
          <p:cNvSpPr/>
          <p:nvPr/>
        </p:nvSpPr>
        <p:spPr>
          <a:xfrm>
            <a:off x="4892040" y="2468880"/>
            <a:ext cx="2377440" cy="45720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Job Analysis</a:t>
            </a:r>
            <a:endParaRPr lang="en-US" sz="1300" dirty="0"/>
          </a:p>
        </p:txBody>
      </p:sp>
      <p:sp>
        <p:nvSpPr>
          <p:cNvPr id="7" name="Shape 5"/>
          <p:cNvSpPr/>
          <p:nvPr/>
        </p:nvSpPr>
        <p:spPr>
          <a:xfrm>
            <a:off x="6080760" y="2926080"/>
            <a:ext cx="0" cy="228600"/>
          </a:xfrm>
          <a:prstGeom prst="line">
            <a:avLst/>
          </a:prstGeom>
          <a:noFill/>
          <a:ln w="19050">
            <a:solidFill>
              <a:srgbClr val="1E2761"/>
            </a:solidFill>
            <a:prstDash val="solid"/>
          </a:ln>
        </p:spPr>
      </p:sp>
      <p:sp>
        <p:nvSpPr>
          <p:cNvPr id="8" name="Shape 6"/>
          <p:cNvSpPr/>
          <p:nvPr/>
        </p:nvSpPr>
        <p:spPr>
          <a:xfrm>
            <a:off x="4023360" y="3154680"/>
            <a:ext cx="4114800" cy="0"/>
          </a:xfrm>
          <a:prstGeom prst="line">
            <a:avLst/>
          </a:prstGeom>
          <a:noFill/>
          <a:ln w="19050">
            <a:solidFill>
              <a:srgbClr val="1E2761"/>
            </a:solidFill>
            <a:prstDash val="solid"/>
          </a:ln>
        </p:spPr>
      </p:sp>
      <p:sp>
        <p:nvSpPr>
          <p:cNvPr id="9" name="Shape 7"/>
          <p:cNvSpPr/>
          <p:nvPr/>
        </p:nvSpPr>
        <p:spPr>
          <a:xfrm>
            <a:off x="4023360" y="3154680"/>
            <a:ext cx="0" cy="137160"/>
          </a:xfrm>
          <a:prstGeom prst="line">
            <a:avLst/>
          </a:prstGeom>
          <a:noFill/>
          <a:ln w="15875">
            <a:solidFill>
              <a:srgbClr val="1E2761"/>
            </a:solidFill>
            <a:prstDash val="solid"/>
          </a:ln>
        </p:spPr>
      </p:sp>
      <p:sp>
        <p:nvSpPr>
          <p:cNvPr id="10" name="Shape 8"/>
          <p:cNvSpPr/>
          <p:nvPr/>
        </p:nvSpPr>
        <p:spPr>
          <a:xfrm>
            <a:off x="3154680" y="3291840"/>
            <a:ext cx="1737360" cy="457200"/>
          </a:xfrm>
          <a:prstGeom prst="roundRect">
            <a:avLst>
              <a:gd name="adj" fmla="val 12000"/>
            </a:avLst>
          </a:prstGeom>
          <a:solidFill>
            <a:srgbClr val="3A4A8C"/>
          </a:solidFill>
          <a:ln/>
        </p:spPr>
      </p:sp>
      <p:sp>
        <p:nvSpPr>
          <p:cNvPr id="11" name="Text 9"/>
          <p:cNvSpPr/>
          <p:nvPr/>
        </p:nvSpPr>
        <p:spPr>
          <a:xfrm>
            <a:off x="3154680" y="3291840"/>
            <a:ext cx="1737360" cy="457200"/>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Job Description</a:t>
            </a:r>
            <a:endParaRPr lang="en-US" sz="1150" dirty="0"/>
          </a:p>
        </p:txBody>
      </p:sp>
      <p:sp>
        <p:nvSpPr>
          <p:cNvPr id="12" name="Text 10"/>
          <p:cNvSpPr/>
          <p:nvPr/>
        </p:nvSpPr>
        <p:spPr>
          <a:xfrm>
            <a:off x="2743200" y="3886200"/>
            <a:ext cx="2560320" cy="1188720"/>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What the job entails — duties, responsibilities, reporting relationships, and working conditions.</a:t>
            </a:r>
            <a:endParaRPr lang="en-US" sz="1100" dirty="0"/>
          </a:p>
        </p:txBody>
      </p:sp>
      <p:sp>
        <p:nvSpPr>
          <p:cNvPr id="13" name="Shape 11"/>
          <p:cNvSpPr/>
          <p:nvPr/>
        </p:nvSpPr>
        <p:spPr>
          <a:xfrm>
            <a:off x="8138160" y="3154680"/>
            <a:ext cx="0" cy="137160"/>
          </a:xfrm>
          <a:prstGeom prst="line">
            <a:avLst/>
          </a:prstGeom>
          <a:noFill/>
          <a:ln w="15875">
            <a:solidFill>
              <a:srgbClr val="1E2761"/>
            </a:solidFill>
            <a:prstDash val="solid"/>
          </a:ln>
        </p:spPr>
      </p:sp>
      <p:sp>
        <p:nvSpPr>
          <p:cNvPr id="14" name="Shape 12"/>
          <p:cNvSpPr/>
          <p:nvPr/>
        </p:nvSpPr>
        <p:spPr>
          <a:xfrm>
            <a:off x="7269480" y="3291840"/>
            <a:ext cx="1737360" cy="457200"/>
          </a:xfrm>
          <a:prstGeom prst="roundRect">
            <a:avLst>
              <a:gd name="adj" fmla="val 12000"/>
            </a:avLst>
          </a:prstGeom>
          <a:solidFill>
            <a:srgbClr val="3A4A8C"/>
          </a:solidFill>
          <a:ln/>
        </p:spPr>
      </p:sp>
      <p:sp>
        <p:nvSpPr>
          <p:cNvPr id="15" name="Text 13"/>
          <p:cNvSpPr/>
          <p:nvPr/>
        </p:nvSpPr>
        <p:spPr>
          <a:xfrm>
            <a:off x="7269480" y="3291840"/>
            <a:ext cx="1737360" cy="457200"/>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Job Specification</a:t>
            </a:r>
            <a:endParaRPr lang="en-US" sz="1150" dirty="0"/>
          </a:p>
        </p:txBody>
      </p:sp>
      <p:sp>
        <p:nvSpPr>
          <p:cNvPr id="16" name="Text 14"/>
          <p:cNvSpPr/>
          <p:nvPr/>
        </p:nvSpPr>
        <p:spPr>
          <a:xfrm>
            <a:off x="6858000" y="3886200"/>
            <a:ext cx="2560320" cy="1188720"/>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Who should do it — qualifications, skills, experience, and personal attributes needed.</a:t>
            </a:r>
            <a:endParaRPr lang="en-US" sz="1100" dirty="0"/>
          </a:p>
        </p:txBody>
      </p:sp>
      <p:sp>
        <p:nvSpPr>
          <p:cNvPr id="17" name="Text 15"/>
          <p:cNvSpPr/>
          <p:nvPr/>
        </p:nvSpPr>
        <p:spPr>
          <a:xfrm>
            <a:off x="548640" y="4892040"/>
            <a:ext cx="1106424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Job Evaluation — Determining Relative Worth for Fair Pay</a:t>
            </a:r>
            <a:endParaRPr lang="en-US" sz="1400" dirty="0"/>
          </a:p>
        </p:txBody>
      </p:sp>
      <p:sp>
        <p:nvSpPr>
          <p:cNvPr id="18" name="Text 16"/>
          <p:cNvSpPr/>
          <p:nvPr/>
        </p:nvSpPr>
        <p:spPr>
          <a:xfrm>
            <a:off x="548640" y="5303520"/>
            <a:ext cx="11064240" cy="822960"/>
          </a:xfrm>
          <a:prstGeom prst="rect">
            <a:avLst/>
          </a:prstGeom>
          <a:noFill/>
          <a:ln/>
        </p:spPr>
        <p:txBody>
          <a:bodyPr wrap="square" rtlCol="0" anchor="t"/>
          <a:lstStyle/>
          <a:p>
            <a:pPr indent="0" marL="0">
              <a:buNone/>
            </a:pPr>
            <a:r>
              <a:rPr lang="en-US" sz="1250" dirty="0">
                <a:solidFill>
                  <a:srgbClr val="2B2B33"/>
                </a:solidFill>
                <a:latin typeface="Calibri" pitchFamily="34" charset="0"/>
                <a:ea typeface="Calibri" pitchFamily="34" charset="-122"/>
                <a:cs typeface="Calibri" pitchFamily="34" charset="-120"/>
              </a:rPr>
              <a:t>Job evaluation systematically determines the relative worth of different jobs to build a fair, defensible pay structure. Common methods: Ranking method, Job Classification/Grading, Point method, and Factor Comparison method.</a:t>
            </a:r>
            <a:endParaRPr lang="en-US" sz="1250" dirty="0"/>
          </a:p>
        </p:txBody>
      </p:sp>
      <p:sp>
        <p:nvSpPr>
          <p:cNvPr id="19"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JOB ANALYSIS AND EVALUATION</a:t>
            </a:r>
            <a:endParaRPr lang="en-US" sz="1100" dirty="0"/>
          </a:p>
        </p:txBody>
      </p:sp>
      <p:sp>
        <p:nvSpPr>
          <p:cNvPr id="20"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D</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Leadership</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Meaning, Need, Functions &amp; Qualities</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Management gets things done through people; leadership is what makes people want to follow.</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LEADERSHIP</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Meaning of Leadership</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Leadership is the process of influencing and directing the behavior of others toward the achievement of organizational goals. It is the ability to inspire confidence and support among people to accomplish a shared objective.</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Where authority gives a manager the right to direct others, leadership is what earns their willing, even enthusiastic, cooperation — authority can be assigned by position, but leadership must be earned.</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Every leader is not necessarily a manager, and every manager is not automatically a leader — the best managers combine both.</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Position vs. Influence</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newly-appointed team lead has the authority to assign tasks from day one, but earns real leadership only once the team starts following her judgment willingly.</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LEADERSHIP</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NEED FOR LEADERSHIP</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(1)–(3) Direction, Motivation &amp; Morale</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Guides &amp; Directs</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Leadership translates organizational goals into a clear direction that individuals and teams can act on day to day.</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Motivates Performance</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 leader draws out discretionary effort — the extra energy and initiative people give when they are genuinely inspired, not merely instructed.</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Builds Morale &amp; Confidence</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Good leadership creates a sense of security and belonging, helping people stay resilient and engaged even under pressure.</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NEED FOR LEADERSHIP</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NEED FOR LEADERSHIP</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(4)–(6) Coordination, Change &amp; Representation</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Creates Coordination</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Leadership aligns the efforts of diverse individuals and departments toward a common purpose, reducing friction and duplication.</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Facilitates Change</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Leaders help a group accept and adapt to change — explaining the 'why', absorbing initial resistance, and building confidence in a new direction.</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(6)</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Represents the Group</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 leader often speaks for the team or organization externally — to top management, other departments, customers, or the public.</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NEED FOR LEADERSHIP</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365760"/>
            <a:ext cx="1106424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FUNCTIONS OF LEADERSHIP</a:t>
            </a:r>
            <a:endParaRPr lang="en-US" sz="2000" dirty="0"/>
          </a:p>
        </p:txBody>
      </p:sp>
      <p:sp>
        <p:nvSpPr>
          <p:cNvPr id="3" name="Shape 1"/>
          <p:cNvSpPr/>
          <p:nvPr/>
        </p:nvSpPr>
        <p:spPr>
          <a:xfrm>
            <a:off x="548640" y="1508760"/>
            <a:ext cx="2656332" cy="1965960"/>
          </a:xfrm>
          <a:prstGeom prst="roundRect">
            <a:avLst>
              <a:gd name="adj" fmla="val 4186"/>
            </a:avLst>
          </a:prstGeom>
          <a:solidFill>
            <a:srgbClr val="1E2761"/>
          </a:solidFill>
          <a:ln/>
        </p:spPr>
      </p:sp>
      <p:sp>
        <p:nvSpPr>
          <p:cNvPr id="4" name="Shape 2"/>
          <p:cNvSpPr/>
          <p:nvPr/>
        </p:nvSpPr>
        <p:spPr>
          <a:xfrm>
            <a:off x="713232" y="1673352"/>
            <a:ext cx="457200" cy="45720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32104" y="1792224"/>
            <a:ext cx="219456" cy="219456"/>
          </a:xfrm>
          <a:prstGeom prst="rect">
            <a:avLst/>
          </a:prstGeom>
        </p:spPr>
      </p:pic>
      <p:sp>
        <p:nvSpPr>
          <p:cNvPr id="6" name="Text 3"/>
          <p:cNvSpPr/>
          <p:nvPr/>
        </p:nvSpPr>
        <p:spPr>
          <a:xfrm>
            <a:off x="2656332"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1</a:t>
            </a:r>
            <a:endParaRPr lang="en-US" sz="1600" dirty="0"/>
          </a:p>
        </p:txBody>
      </p:sp>
      <p:sp>
        <p:nvSpPr>
          <p:cNvPr id="7" name="Text 4"/>
          <p:cNvSpPr/>
          <p:nvPr/>
        </p:nvSpPr>
        <p:spPr>
          <a:xfrm>
            <a:off x="713232"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Setting goals and objectives</a:t>
            </a:r>
            <a:endParaRPr lang="en-US" sz="1200" dirty="0"/>
          </a:p>
        </p:txBody>
      </p:sp>
      <p:sp>
        <p:nvSpPr>
          <p:cNvPr id="8" name="Shape 5"/>
          <p:cNvSpPr/>
          <p:nvPr/>
        </p:nvSpPr>
        <p:spPr>
          <a:xfrm>
            <a:off x="3351276" y="1508760"/>
            <a:ext cx="2656332" cy="1965960"/>
          </a:xfrm>
          <a:prstGeom prst="roundRect">
            <a:avLst>
              <a:gd name="adj" fmla="val 4186"/>
            </a:avLst>
          </a:prstGeom>
          <a:solidFill>
            <a:srgbClr val="1E2761"/>
          </a:solidFill>
          <a:ln/>
        </p:spPr>
      </p:sp>
      <p:sp>
        <p:nvSpPr>
          <p:cNvPr id="9" name="Shape 6"/>
          <p:cNvSpPr/>
          <p:nvPr/>
        </p:nvSpPr>
        <p:spPr>
          <a:xfrm>
            <a:off x="3515868" y="1673352"/>
            <a:ext cx="457200" cy="45720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3634740" y="1792224"/>
            <a:ext cx="219456" cy="219456"/>
          </a:xfrm>
          <a:prstGeom prst="rect">
            <a:avLst/>
          </a:prstGeom>
        </p:spPr>
      </p:pic>
      <p:sp>
        <p:nvSpPr>
          <p:cNvPr id="11" name="Text 7"/>
          <p:cNvSpPr/>
          <p:nvPr/>
        </p:nvSpPr>
        <p:spPr>
          <a:xfrm>
            <a:off x="5458968"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2</a:t>
            </a:r>
            <a:endParaRPr lang="en-US" sz="1600" dirty="0"/>
          </a:p>
        </p:txBody>
      </p:sp>
      <p:sp>
        <p:nvSpPr>
          <p:cNvPr id="12" name="Text 8"/>
          <p:cNvSpPr/>
          <p:nvPr/>
        </p:nvSpPr>
        <p:spPr>
          <a:xfrm>
            <a:off x="3515868"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Organizing and coordinating activities</a:t>
            </a:r>
            <a:endParaRPr lang="en-US" sz="1200" dirty="0"/>
          </a:p>
        </p:txBody>
      </p:sp>
      <p:sp>
        <p:nvSpPr>
          <p:cNvPr id="13" name="Shape 9"/>
          <p:cNvSpPr/>
          <p:nvPr/>
        </p:nvSpPr>
        <p:spPr>
          <a:xfrm>
            <a:off x="6153912" y="1508760"/>
            <a:ext cx="2656332" cy="1965960"/>
          </a:xfrm>
          <a:prstGeom prst="roundRect">
            <a:avLst>
              <a:gd name="adj" fmla="val 4186"/>
            </a:avLst>
          </a:prstGeom>
          <a:solidFill>
            <a:srgbClr val="1E2761"/>
          </a:solidFill>
          <a:ln/>
        </p:spPr>
      </p:sp>
      <p:sp>
        <p:nvSpPr>
          <p:cNvPr id="14" name="Shape 10"/>
          <p:cNvSpPr/>
          <p:nvPr/>
        </p:nvSpPr>
        <p:spPr>
          <a:xfrm>
            <a:off x="6318504" y="1673352"/>
            <a:ext cx="457200" cy="45720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6437376" y="1792224"/>
            <a:ext cx="219456" cy="219456"/>
          </a:xfrm>
          <a:prstGeom prst="rect">
            <a:avLst/>
          </a:prstGeom>
        </p:spPr>
      </p:pic>
      <p:sp>
        <p:nvSpPr>
          <p:cNvPr id="16" name="Text 11"/>
          <p:cNvSpPr/>
          <p:nvPr/>
        </p:nvSpPr>
        <p:spPr>
          <a:xfrm>
            <a:off x="8261604"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3</a:t>
            </a:r>
            <a:endParaRPr lang="en-US" sz="1600" dirty="0"/>
          </a:p>
        </p:txBody>
      </p:sp>
      <p:sp>
        <p:nvSpPr>
          <p:cNvPr id="17" name="Text 12"/>
          <p:cNvSpPr/>
          <p:nvPr/>
        </p:nvSpPr>
        <p:spPr>
          <a:xfrm>
            <a:off x="6318504"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Motivating and inspiring followers</a:t>
            </a:r>
            <a:endParaRPr lang="en-US" sz="1200" dirty="0"/>
          </a:p>
        </p:txBody>
      </p:sp>
      <p:sp>
        <p:nvSpPr>
          <p:cNvPr id="18" name="Shape 13"/>
          <p:cNvSpPr/>
          <p:nvPr/>
        </p:nvSpPr>
        <p:spPr>
          <a:xfrm>
            <a:off x="8956548" y="1508760"/>
            <a:ext cx="2656332" cy="1965960"/>
          </a:xfrm>
          <a:prstGeom prst="roundRect">
            <a:avLst>
              <a:gd name="adj" fmla="val 4186"/>
            </a:avLst>
          </a:prstGeom>
          <a:solidFill>
            <a:srgbClr val="1E2761"/>
          </a:solidFill>
          <a:ln/>
        </p:spPr>
      </p:sp>
      <p:sp>
        <p:nvSpPr>
          <p:cNvPr id="19" name="Shape 14"/>
          <p:cNvSpPr/>
          <p:nvPr/>
        </p:nvSpPr>
        <p:spPr>
          <a:xfrm>
            <a:off x="9121140" y="1673352"/>
            <a:ext cx="457200" cy="45720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9240012" y="1792224"/>
            <a:ext cx="219456" cy="219456"/>
          </a:xfrm>
          <a:prstGeom prst="rect">
            <a:avLst/>
          </a:prstGeom>
        </p:spPr>
      </p:pic>
      <p:sp>
        <p:nvSpPr>
          <p:cNvPr id="21" name="Text 15"/>
          <p:cNvSpPr/>
          <p:nvPr/>
        </p:nvSpPr>
        <p:spPr>
          <a:xfrm>
            <a:off x="11064240"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4</a:t>
            </a:r>
            <a:endParaRPr lang="en-US" sz="1600" dirty="0"/>
          </a:p>
        </p:txBody>
      </p:sp>
      <p:sp>
        <p:nvSpPr>
          <p:cNvPr id="22" name="Text 16"/>
          <p:cNvSpPr/>
          <p:nvPr/>
        </p:nvSpPr>
        <p:spPr>
          <a:xfrm>
            <a:off x="9121140"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Two-way communication</a:t>
            </a:r>
            <a:endParaRPr lang="en-US" sz="1200" dirty="0"/>
          </a:p>
        </p:txBody>
      </p:sp>
      <p:sp>
        <p:nvSpPr>
          <p:cNvPr id="23" name="Shape 17"/>
          <p:cNvSpPr/>
          <p:nvPr/>
        </p:nvSpPr>
        <p:spPr>
          <a:xfrm>
            <a:off x="548640" y="3675888"/>
            <a:ext cx="2656332" cy="1965960"/>
          </a:xfrm>
          <a:prstGeom prst="roundRect">
            <a:avLst>
              <a:gd name="adj" fmla="val 4186"/>
            </a:avLst>
          </a:prstGeom>
          <a:solidFill>
            <a:srgbClr val="1E2761"/>
          </a:solidFill>
          <a:ln/>
        </p:spPr>
      </p:sp>
      <p:sp>
        <p:nvSpPr>
          <p:cNvPr id="24" name="Shape 18"/>
          <p:cNvSpPr/>
          <p:nvPr/>
        </p:nvSpPr>
        <p:spPr>
          <a:xfrm>
            <a:off x="713232" y="3840480"/>
            <a:ext cx="457200" cy="457200"/>
          </a:xfrm>
          <a:prstGeom prst="ellipse">
            <a:avLst/>
          </a:prstGeom>
          <a:solidFill>
            <a:srgbClr val="C9A24B"/>
          </a:solidFill>
          <a:ln/>
        </p:spPr>
      </p:sp>
      <p:pic>
        <p:nvPicPr>
          <p:cNvPr id="25" name="Image 4" descr="preencoded.png">    </p:cNvPr>
          <p:cNvPicPr>
            <a:picLocks noChangeAspect="1"/>
          </p:cNvPicPr>
          <p:nvPr/>
        </p:nvPicPr>
        <p:blipFill>
          <a:blip r:embed="rId5"/>
          <a:stretch>
            <a:fillRect/>
          </a:stretch>
        </p:blipFill>
        <p:spPr>
          <a:xfrm>
            <a:off x="832104" y="3959352"/>
            <a:ext cx="219456" cy="219456"/>
          </a:xfrm>
          <a:prstGeom prst="rect">
            <a:avLst/>
          </a:prstGeom>
        </p:spPr>
      </p:pic>
      <p:sp>
        <p:nvSpPr>
          <p:cNvPr id="26" name="Text 19"/>
          <p:cNvSpPr/>
          <p:nvPr/>
        </p:nvSpPr>
        <p:spPr>
          <a:xfrm>
            <a:off x="2656332"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5</a:t>
            </a:r>
            <a:endParaRPr lang="en-US" sz="1600" dirty="0"/>
          </a:p>
        </p:txBody>
      </p:sp>
      <p:sp>
        <p:nvSpPr>
          <p:cNvPr id="27" name="Text 20"/>
          <p:cNvSpPr/>
          <p:nvPr/>
        </p:nvSpPr>
        <p:spPr>
          <a:xfrm>
            <a:off x="713232"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Decision-making</a:t>
            </a:r>
            <a:endParaRPr lang="en-US" sz="1200" dirty="0"/>
          </a:p>
        </p:txBody>
      </p:sp>
      <p:sp>
        <p:nvSpPr>
          <p:cNvPr id="28" name="Shape 21"/>
          <p:cNvSpPr/>
          <p:nvPr/>
        </p:nvSpPr>
        <p:spPr>
          <a:xfrm>
            <a:off x="3351276" y="3675888"/>
            <a:ext cx="2656332" cy="1965960"/>
          </a:xfrm>
          <a:prstGeom prst="roundRect">
            <a:avLst>
              <a:gd name="adj" fmla="val 4186"/>
            </a:avLst>
          </a:prstGeom>
          <a:solidFill>
            <a:srgbClr val="1E2761"/>
          </a:solidFill>
          <a:ln/>
        </p:spPr>
      </p:sp>
      <p:sp>
        <p:nvSpPr>
          <p:cNvPr id="29" name="Shape 22"/>
          <p:cNvSpPr/>
          <p:nvPr/>
        </p:nvSpPr>
        <p:spPr>
          <a:xfrm>
            <a:off x="3515868" y="3840480"/>
            <a:ext cx="457200" cy="457200"/>
          </a:xfrm>
          <a:prstGeom prst="ellipse">
            <a:avLst/>
          </a:prstGeom>
          <a:solidFill>
            <a:srgbClr val="C9A24B"/>
          </a:solidFill>
          <a:ln/>
        </p:spPr>
      </p:sp>
      <p:pic>
        <p:nvPicPr>
          <p:cNvPr id="30" name="Image 5" descr="preencoded.png">    </p:cNvPr>
          <p:cNvPicPr>
            <a:picLocks noChangeAspect="1"/>
          </p:cNvPicPr>
          <p:nvPr/>
        </p:nvPicPr>
        <p:blipFill>
          <a:blip r:embed="rId6"/>
          <a:stretch>
            <a:fillRect/>
          </a:stretch>
        </p:blipFill>
        <p:spPr>
          <a:xfrm>
            <a:off x="3634740" y="3959352"/>
            <a:ext cx="219456" cy="219456"/>
          </a:xfrm>
          <a:prstGeom prst="rect">
            <a:avLst/>
          </a:prstGeom>
        </p:spPr>
      </p:pic>
      <p:sp>
        <p:nvSpPr>
          <p:cNvPr id="31" name="Text 23"/>
          <p:cNvSpPr/>
          <p:nvPr/>
        </p:nvSpPr>
        <p:spPr>
          <a:xfrm>
            <a:off x="5458968"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6</a:t>
            </a:r>
            <a:endParaRPr lang="en-US" sz="1600" dirty="0"/>
          </a:p>
        </p:txBody>
      </p:sp>
      <p:sp>
        <p:nvSpPr>
          <p:cNvPr id="32" name="Text 24"/>
          <p:cNvSpPr/>
          <p:nvPr/>
        </p:nvSpPr>
        <p:spPr>
          <a:xfrm>
            <a:off x="3515868"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Building team spirit</a:t>
            </a:r>
            <a:endParaRPr lang="en-US" sz="1200" dirty="0"/>
          </a:p>
        </p:txBody>
      </p:sp>
      <p:sp>
        <p:nvSpPr>
          <p:cNvPr id="33" name="Shape 25"/>
          <p:cNvSpPr/>
          <p:nvPr/>
        </p:nvSpPr>
        <p:spPr>
          <a:xfrm>
            <a:off x="6153912" y="3675888"/>
            <a:ext cx="2656332" cy="1965960"/>
          </a:xfrm>
          <a:prstGeom prst="roundRect">
            <a:avLst>
              <a:gd name="adj" fmla="val 4186"/>
            </a:avLst>
          </a:prstGeom>
          <a:solidFill>
            <a:srgbClr val="1E2761"/>
          </a:solidFill>
          <a:ln/>
        </p:spPr>
      </p:sp>
      <p:sp>
        <p:nvSpPr>
          <p:cNvPr id="34" name="Shape 26"/>
          <p:cNvSpPr/>
          <p:nvPr/>
        </p:nvSpPr>
        <p:spPr>
          <a:xfrm>
            <a:off x="6318504" y="3840480"/>
            <a:ext cx="457200" cy="457200"/>
          </a:xfrm>
          <a:prstGeom prst="ellipse">
            <a:avLst/>
          </a:prstGeom>
          <a:solidFill>
            <a:srgbClr val="C9A24B"/>
          </a:solidFill>
          <a:ln/>
        </p:spPr>
      </p:sp>
      <p:pic>
        <p:nvPicPr>
          <p:cNvPr id="35" name="Image 6" descr="preencoded.png">    </p:cNvPr>
          <p:cNvPicPr>
            <a:picLocks noChangeAspect="1"/>
          </p:cNvPicPr>
          <p:nvPr/>
        </p:nvPicPr>
        <p:blipFill>
          <a:blip r:embed="rId7"/>
          <a:stretch>
            <a:fillRect/>
          </a:stretch>
        </p:blipFill>
        <p:spPr>
          <a:xfrm>
            <a:off x="6437376" y="3959352"/>
            <a:ext cx="219456" cy="219456"/>
          </a:xfrm>
          <a:prstGeom prst="rect">
            <a:avLst/>
          </a:prstGeom>
        </p:spPr>
      </p:pic>
      <p:sp>
        <p:nvSpPr>
          <p:cNvPr id="36" name="Text 27"/>
          <p:cNvSpPr/>
          <p:nvPr/>
        </p:nvSpPr>
        <p:spPr>
          <a:xfrm>
            <a:off x="8261604"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7</a:t>
            </a:r>
            <a:endParaRPr lang="en-US" sz="1600" dirty="0"/>
          </a:p>
        </p:txBody>
      </p:sp>
      <p:sp>
        <p:nvSpPr>
          <p:cNvPr id="37" name="Text 28"/>
          <p:cNvSpPr/>
          <p:nvPr/>
        </p:nvSpPr>
        <p:spPr>
          <a:xfrm>
            <a:off x="6318504"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Representing the group</a:t>
            </a:r>
            <a:endParaRPr lang="en-US" sz="1200" dirty="0"/>
          </a:p>
        </p:txBody>
      </p:sp>
      <p:sp>
        <p:nvSpPr>
          <p:cNvPr id="38" name="Text 29"/>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FUNCTIONS OF LEADERSHIP</a:t>
            </a:r>
            <a:endParaRPr lang="en-US" sz="1100" dirty="0"/>
          </a:p>
        </p:txBody>
      </p:sp>
      <p:sp>
        <p:nvSpPr>
          <p:cNvPr id="39" name="Text 30"/>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457200" y="365760"/>
            <a:ext cx="1124712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QUALITIES OF A GOOD LEADER</a:t>
            </a:r>
            <a:endParaRPr lang="en-US" sz="2000" dirty="0"/>
          </a:p>
        </p:txBody>
      </p:sp>
      <p:sp>
        <p:nvSpPr>
          <p:cNvPr id="3" name="Shape 1"/>
          <p:cNvSpPr/>
          <p:nvPr/>
        </p:nvSpPr>
        <p:spPr>
          <a:xfrm>
            <a:off x="6080760" y="1371600"/>
            <a:ext cx="9144" cy="2286000"/>
          </a:xfrm>
          <a:prstGeom prst="line">
            <a:avLst/>
          </a:prstGeom>
          <a:noFill/>
          <a:ln w="12700">
            <a:solidFill>
              <a:srgbClr val="C9A24B"/>
            </a:solidFill>
            <a:prstDash val="solid"/>
          </a:ln>
        </p:spPr>
      </p:sp>
      <p:sp>
        <p:nvSpPr>
          <p:cNvPr id="4" name="Shape 2"/>
          <p:cNvSpPr/>
          <p:nvPr/>
        </p:nvSpPr>
        <p:spPr>
          <a:xfrm>
            <a:off x="5303520" y="1042416"/>
            <a:ext cx="1554480" cy="658368"/>
          </a:xfrm>
          <a:prstGeom prst="roundRect">
            <a:avLst>
              <a:gd name="adj" fmla="val 9722"/>
            </a:avLst>
          </a:prstGeom>
          <a:solidFill>
            <a:srgbClr val="1E2761"/>
          </a:solidFill>
          <a:ln/>
        </p:spPr>
      </p:sp>
      <p:sp>
        <p:nvSpPr>
          <p:cNvPr id="5" name="Text 3"/>
          <p:cNvSpPr/>
          <p:nvPr/>
        </p:nvSpPr>
        <p:spPr>
          <a:xfrm>
            <a:off x="5376672" y="1042416"/>
            <a:ext cx="1408176" cy="65836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Vision</a:t>
            </a:r>
            <a:endParaRPr lang="en-US" sz="1000" dirty="0"/>
          </a:p>
        </p:txBody>
      </p:sp>
      <p:sp>
        <p:nvSpPr>
          <p:cNvPr id="6" name="Shape 4"/>
          <p:cNvSpPr/>
          <p:nvPr/>
        </p:nvSpPr>
        <p:spPr>
          <a:xfrm>
            <a:off x="6080760" y="2041154"/>
            <a:ext cx="1616446" cy="1616446"/>
          </a:xfrm>
          <a:prstGeom prst="line">
            <a:avLst/>
          </a:prstGeom>
          <a:noFill/>
          <a:ln w="12700">
            <a:solidFill>
              <a:srgbClr val="C9A24B"/>
            </a:solidFill>
            <a:prstDash val="solid"/>
          </a:ln>
        </p:spPr>
      </p:sp>
      <p:sp>
        <p:nvSpPr>
          <p:cNvPr id="7" name="Shape 5"/>
          <p:cNvSpPr/>
          <p:nvPr/>
        </p:nvSpPr>
        <p:spPr>
          <a:xfrm>
            <a:off x="6919966" y="1711970"/>
            <a:ext cx="1554480" cy="658368"/>
          </a:xfrm>
          <a:prstGeom prst="roundRect">
            <a:avLst>
              <a:gd name="adj" fmla="val 9722"/>
            </a:avLst>
          </a:prstGeom>
          <a:solidFill>
            <a:srgbClr val="1E2761"/>
          </a:solidFill>
          <a:ln/>
        </p:spPr>
      </p:sp>
      <p:sp>
        <p:nvSpPr>
          <p:cNvPr id="8" name="Text 6"/>
          <p:cNvSpPr/>
          <p:nvPr/>
        </p:nvSpPr>
        <p:spPr>
          <a:xfrm>
            <a:off x="6993118" y="1711970"/>
            <a:ext cx="1408176" cy="65836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Integrity</a:t>
            </a:r>
            <a:endParaRPr lang="en-US" sz="1000" dirty="0"/>
          </a:p>
        </p:txBody>
      </p:sp>
      <p:sp>
        <p:nvSpPr>
          <p:cNvPr id="9" name="Shape 7"/>
          <p:cNvSpPr/>
          <p:nvPr/>
        </p:nvSpPr>
        <p:spPr>
          <a:xfrm>
            <a:off x="6080760" y="3657600"/>
            <a:ext cx="2286000" cy="9144"/>
          </a:xfrm>
          <a:prstGeom prst="line">
            <a:avLst/>
          </a:prstGeom>
          <a:noFill/>
          <a:ln w="12700">
            <a:solidFill>
              <a:srgbClr val="C9A24B"/>
            </a:solidFill>
            <a:prstDash val="solid"/>
          </a:ln>
        </p:spPr>
      </p:sp>
      <p:sp>
        <p:nvSpPr>
          <p:cNvPr id="10" name="Shape 8"/>
          <p:cNvSpPr/>
          <p:nvPr/>
        </p:nvSpPr>
        <p:spPr>
          <a:xfrm>
            <a:off x="7589520" y="3328416"/>
            <a:ext cx="1554480" cy="658368"/>
          </a:xfrm>
          <a:prstGeom prst="roundRect">
            <a:avLst>
              <a:gd name="adj" fmla="val 9722"/>
            </a:avLst>
          </a:prstGeom>
          <a:solidFill>
            <a:srgbClr val="1E2761"/>
          </a:solidFill>
          <a:ln/>
        </p:spPr>
      </p:sp>
      <p:sp>
        <p:nvSpPr>
          <p:cNvPr id="11" name="Text 9"/>
          <p:cNvSpPr/>
          <p:nvPr/>
        </p:nvSpPr>
        <p:spPr>
          <a:xfrm>
            <a:off x="7662672" y="3328416"/>
            <a:ext cx="1408176" cy="65836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Communication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Skills</a:t>
            </a:r>
            <a:endParaRPr lang="en-US" sz="1000" dirty="0"/>
          </a:p>
        </p:txBody>
      </p:sp>
      <p:sp>
        <p:nvSpPr>
          <p:cNvPr id="12" name="Shape 10"/>
          <p:cNvSpPr/>
          <p:nvPr/>
        </p:nvSpPr>
        <p:spPr>
          <a:xfrm>
            <a:off x="6080760" y="3657600"/>
            <a:ext cx="1616446" cy="1616446"/>
          </a:xfrm>
          <a:prstGeom prst="line">
            <a:avLst/>
          </a:prstGeom>
          <a:noFill/>
          <a:ln w="12700">
            <a:solidFill>
              <a:srgbClr val="C9A24B"/>
            </a:solidFill>
            <a:prstDash val="solid"/>
          </a:ln>
        </p:spPr>
      </p:sp>
      <p:sp>
        <p:nvSpPr>
          <p:cNvPr id="13" name="Shape 11"/>
          <p:cNvSpPr/>
          <p:nvPr/>
        </p:nvSpPr>
        <p:spPr>
          <a:xfrm>
            <a:off x="6919966" y="4944862"/>
            <a:ext cx="1554480" cy="658368"/>
          </a:xfrm>
          <a:prstGeom prst="roundRect">
            <a:avLst>
              <a:gd name="adj" fmla="val 9722"/>
            </a:avLst>
          </a:prstGeom>
          <a:solidFill>
            <a:srgbClr val="1E2761"/>
          </a:solidFill>
          <a:ln/>
        </p:spPr>
      </p:sp>
      <p:sp>
        <p:nvSpPr>
          <p:cNvPr id="14" name="Text 12"/>
          <p:cNvSpPr/>
          <p:nvPr/>
        </p:nvSpPr>
        <p:spPr>
          <a:xfrm>
            <a:off x="6993118" y="4944862"/>
            <a:ext cx="1408176" cy="65836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Decisiveness</a:t>
            </a:r>
            <a:endParaRPr lang="en-US" sz="1000" dirty="0"/>
          </a:p>
        </p:txBody>
      </p:sp>
      <p:sp>
        <p:nvSpPr>
          <p:cNvPr id="15" name="Shape 13"/>
          <p:cNvSpPr/>
          <p:nvPr/>
        </p:nvSpPr>
        <p:spPr>
          <a:xfrm>
            <a:off x="6080760" y="3657600"/>
            <a:ext cx="9144" cy="2286000"/>
          </a:xfrm>
          <a:prstGeom prst="line">
            <a:avLst/>
          </a:prstGeom>
          <a:noFill/>
          <a:ln w="12700">
            <a:solidFill>
              <a:srgbClr val="C9A24B"/>
            </a:solidFill>
            <a:prstDash val="solid"/>
          </a:ln>
        </p:spPr>
      </p:sp>
      <p:sp>
        <p:nvSpPr>
          <p:cNvPr id="16" name="Shape 14"/>
          <p:cNvSpPr/>
          <p:nvPr/>
        </p:nvSpPr>
        <p:spPr>
          <a:xfrm>
            <a:off x="5303520" y="5614416"/>
            <a:ext cx="1554480" cy="658368"/>
          </a:xfrm>
          <a:prstGeom prst="roundRect">
            <a:avLst>
              <a:gd name="adj" fmla="val 9722"/>
            </a:avLst>
          </a:prstGeom>
          <a:solidFill>
            <a:srgbClr val="1E2761"/>
          </a:solidFill>
          <a:ln/>
        </p:spPr>
      </p:sp>
      <p:sp>
        <p:nvSpPr>
          <p:cNvPr id="17" name="Text 15"/>
          <p:cNvSpPr/>
          <p:nvPr/>
        </p:nvSpPr>
        <p:spPr>
          <a:xfrm>
            <a:off x="5376672" y="5614416"/>
            <a:ext cx="1408176" cy="65836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Empathy</a:t>
            </a:r>
            <a:endParaRPr lang="en-US" sz="1000" dirty="0"/>
          </a:p>
        </p:txBody>
      </p:sp>
      <p:sp>
        <p:nvSpPr>
          <p:cNvPr id="18" name="Shape 16"/>
          <p:cNvSpPr/>
          <p:nvPr/>
        </p:nvSpPr>
        <p:spPr>
          <a:xfrm>
            <a:off x="4464314" y="3657600"/>
            <a:ext cx="1616446" cy="1616446"/>
          </a:xfrm>
          <a:prstGeom prst="line">
            <a:avLst/>
          </a:prstGeom>
          <a:noFill/>
          <a:ln w="12700">
            <a:solidFill>
              <a:srgbClr val="C9A24B"/>
            </a:solidFill>
            <a:prstDash val="solid"/>
          </a:ln>
        </p:spPr>
      </p:sp>
      <p:sp>
        <p:nvSpPr>
          <p:cNvPr id="19" name="Shape 17"/>
          <p:cNvSpPr/>
          <p:nvPr/>
        </p:nvSpPr>
        <p:spPr>
          <a:xfrm>
            <a:off x="3687074" y="4944862"/>
            <a:ext cx="1554480" cy="658368"/>
          </a:xfrm>
          <a:prstGeom prst="roundRect">
            <a:avLst>
              <a:gd name="adj" fmla="val 9722"/>
            </a:avLst>
          </a:prstGeom>
          <a:solidFill>
            <a:srgbClr val="1E2761"/>
          </a:solidFill>
          <a:ln/>
        </p:spPr>
      </p:sp>
      <p:sp>
        <p:nvSpPr>
          <p:cNvPr id="20" name="Text 18"/>
          <p:cNvSpPr/>
          <p:nvPr/>
        </p:nvSpPr>
        <p:spPr>
          <a:xfrm>
            <a:off x="3760226" y="4944862"/>
            <a:ext cx="1408176" cy="65836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Confidence</a:t>
            </a:r>
            <a:endParaRPr lang="en-US" sz="1000" dirty="0"/>
          </a:p>
        </p:txBody>
      </p:sp>
      <p:sp>
        <p:nvSpPr>
          <p:cNvPr id="21" name="Shape 19"/>
          <p:cNvSpPr/>
          <p:nvPr/>
        </p:nvSpPr>
        <p:spPr>
          <a:xfrm>
            <a:off x="3794760" y="3657600"/>
            <a:ext cx="2286000" cy="9144"/>
          </a:xfrm>
          <a:prstGeom prst="line">
            <a:avLst/>
          </a:prstGeom>
          <a:noFill/>
          <a:ln w="12700">
            <a:solidFill>
              <a:srgbClr val="C9A24B"/>
            </a:solidFill>
            <a:prstDash val="solid"/>
          </a:ln>
        </p:spPr>
      </p:sp>
      <p:sp>
        <p:nvSpPr>
          <p:cNvPr id="22" name="Shape 20"/>
          <p:cNvSpPr/>
          <p:nvPr/>
        </p:nvSpPr>
        <p:spPr>
          <a:xfrm>
            <a:off x="3017520" y="3328416"/>
            <a:ext cx="1554480" cy="658368"/>
          </a:xfrm>
          <a:prstGeom prst="roundRect">
            <a:avLst>
              <a:gd name="adj" fmla="val 9722"/>
            </a:avLst>
          </a:prstGeom>
          <a:solidFill>
            <a:srgbClr val="1E2761"/>
          </a:solidFill>
          <a:ln/>
        </p:spPr>
      </p:sp>
      <p:sp>
        <p:nvSpPr>
          <p:cNvPr id="23" name="Text 21"/>
          <p:cNvSpPr/>
          <p:nvPr/>
        </p:nvSpPr>
        <p:spPr>
          <a:xfrm>
            <a:off x="3090672" y="3328416"/>
            <a:ext cx="1408176" cy="65836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Courage</a:t>
            </a:r>
            <a:endParaRPr lang="en-US" sz="1000" dirty="0"/>
          </a:p>
        </p:txBody>
      </p:sp>
      <p:sp>
        <p:nvSpPr>
          <p:cNvPr id="24" name="Shape 22"/>
          <p:cNvSpPr/>
          <p:nvPr/>
        </p:nvSpPr>
        <p:spPr>
          <a:xfrm>
            <a:off x="4464314" y="2041154"/>
            <a:ext cx="1616446" cy="1616446"/>
          </a:xfrm>
          <a:prstGeom prst="line">
            <a:avLst/>
          </a:prstGeom>
          <a:noFill/>
          <a:ln w="12700">
            <a:solidFill>
              <a:srgbClr val="C9A24B"/>
            </a:solidFill>
            <a:prstDash val="solid"/>
          </a:ln>
        </p:spPr>
      </p:sp>
      <p:sp>
        <p:nvSpPr>
          <p:cNvPr id="25" name="Shape 23"/>
          <p:cNvSpPr/>
          <p:nvPr/>
        </p:nvSpPr>
        <p:spPr>
          <a:xfrm>
            <a:off x="3687074" y="1711970"/>
            <a:ext cx="1554480" cy="658368"/>
          </a:xfrm>
          <a:prstGeom prst="roundRect">
            <a:avLst>
              <a:gd name="adj" fmla="val 9722"/>
            </a:avLst>
          </a:prstGeom>
          <a:solidFill>
            <a:srgbClr val="1E2761"/>
          </a:solidFill>
          <a:ln/>
        </p:spPr>
      </p:sp>
      <p:sp>
        <p:nvSpPr>
          <p:cNvPr id="26" name="Text 24"/>
          <p:cNvSpPr/>
          <p:nvPr/>
        </p:nvSpPr>
        <p:spPr>
          <a:xfrm>
            <a:off x="3760226" y="1711970"/>
            <a:ext cx="1408176" cy="65836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Emotional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Intelligence</a:t>
            </a:r>
            <a:endParaRPr lang="en-US" sz="1000" dirty="0"/>
          </a:p>
        </p:txBody>
      </p:sp>
      <p:sp>
        <p:nvSpPr>
          <p:cNvPr id="27" name="Shape 25"/>
          <p:cNvSpPr/>
          <p:nvPr/>
        </p:nvSpPr>
        <p:spPr>
          <a:xfrm>
            <a:off x="5029200" y="3108960"/>
            <a:ext cx="2103120" cy="1097280"/>
          </a:xfrm>
          <a:prstGeom prst="ellipse">
            <a:avLst/>
          </a:prstGeom>
          <a:solidFill>
            <a:srgbClr val="C9A24B"/>
          </a:solidFill>
          <a:ln/>
        </p:spPr>
      </p:sp>
      <p:sp>
        <p:nvSpPr>
          <p:cNvPr id="28" name="Text 26"/>
          <p:cNvSpPr/>
          <p:nvPr/>
        </p:nvSpPr>
        <p:spPr>
          <a:xfrm>
            <a:off x="5120640" y="3108960"/>
            <a:ext cx="1920240" cy="1097280"/>
          </a:xfrm>
          <a:prstGeom prst="rect">
            <a:avLst/>
          </a:prstGeom>
          <a:noFill/>
          <a:ln/>
        </p:spPr>
        <p:txBody>
          <a:bodyPr wrap="square" rtlCol="0" anchor="ctr"/>
          <a:lstStyle/>
          <a:p>
            <a:pPr algn="ctr" indent="0" marL="0">
              <a:buNone/>
            </a:pPr>
            <a:r>
              <a:rPr lang="en-US" sz="1300" b="1" dirty="0">
                <a:solidFill>
                  <a:srgbClr val="141B48"/>
                </a:solidFill>
                <a:latin typeface="Cambria" pitchFamily="34" charset="0"/>
                <a:ea typeface="Cambria" pitchFamily="34" charset="-122"/>
                <a:cs typeface="Cambria" pitchFamily="34" charset="-120"/>
              </a:rPr>
              <a:t>Qualities of</a:t>
            </a:r>
            <a:endParaRPr lang="en-US" sz="1300" dirty="0"/>
          </a:p>
          <a:p>
            <a:pPr algn="ctr" indent="0" marL="0">
              <a:buNone/>
            </a:pPr>
            <a:r>
              <a:rPr lang="en-US" sz="1300" b="1" dirty="0">
                <a:solidFill>
                  <a:srgbClr val="141B48"/>
                </a:solidFill>
                <a:latin typeface="Cambria" pitchFamily="34" charset="0"/>
                <a:ea typeface="Cambria" pitchFamily="34" charset="-122"/>
                <a:cs typeface="Cambria" pitchFamily="34" charset="-120"/>
              </a:rPr>
              <a:t>a Good</a:t>
            </a:r>
            <a:endParaRPr lang="en-US" sz="1300" dirty="0"/>
          </a:p>
          <a:p>
            <a:pPr algn="ctr" indent="0" marL="0">
              <a:buNone/>
            </a:pPr>
            <a:r>
              <a:rPr lang="en-US" sz="1300" b="1" dirty="0">
                <a:solidFill>
                  <a:srgbClr val="141B48"/>
                </a:solidFill>
                <a:latin typeface="Cambria" pitchFamily="34" charset="0"/>
                <a:ea typeface="Cambria" pitchFamily="34" charset="-122"/>
                <a:cs typeface="Cambria" pitchFamily="34" charset="-120"/>
              </a:rPr>
              <a:t>Leader</a:t>
            </a:r>
            <a:endParaRPr lang="en-US" sz="1300" dirty="0"/>
          </a:p>
        </p:txBody>
      </p:sp>
      <p:sp>
        <p:nvSpPr>
          <p:cNvPr id="29" name="Text 2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QUALITIES OF A GOOD LEADER</a:t>
            </a:r>
            <a:endParaRPr lang="en-US" sz="1100" dirty="0"/>
          </a:p>
        </p:txBody>
      </p:sp>
      <p:sp>
        <p:nvSpPr>
          <p:cNvPr id="30" name="Text 2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E</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Types of Leadership</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Six Common Leadership Styles</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No single style suits every situation — effective leaders recognize which approach a moment calls for.</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TYPES OF LEADERSHIP</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(1)–(3) Autocratic, Democratic &amp; Laissez-Faire</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Autocratic (Authoritarian)</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The leader makes decisions alone and expects compliance, with tight control over the team. Effective in crises or with inexperienced teams, but can suppress initiative over time.</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Democratic (Participative)</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The leader involves the team in decision-making, seeking input before deciding. Builds commitment and creativity, though it can slow decisions when speed is critical.</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Laissez-Faire (Free-Rein)</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The leader gives the team wide freedom and minimal interference. Works well with highly skilled, self-motivated teams, but can drift without enough guidance.</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TYPES OF LEADERSHIP</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TYPES OF LEADERSHIP</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(4)–(6) Transformational, Transactional &amp; Paternalistic</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Transformational</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The leader inspires and motivates followers to exceed their own expectations and embrace change — leading through vision and personal example.</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Transactional</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Leadership based on a clear exchange — rewards for meeting targets, correction for falling short. Provides structure and clarity, well-suited to routine, well-defined work.</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(6)</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Paternalistic</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The leader acts like a protective 'father figure' — caring for followers' welfare while still directing their work closely. Builds loyalty, but can limit independence.</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TYPES OF LEADERSHIP</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F</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Timeless Case Studies</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Leadership Lessons from the Ramayana &amp; Mahabharata</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Two of India's great epics remain some of the richest case studies in leadership — the ideal, the flawed, and everything between.</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26</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LEADERSHIP LESSONS FROM THE RAMAYANA</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Rama — Principle-Centered, Unifying Leadership</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Adherence to Dharma: Rama honors his father's promise and accepts fourteen years of exile without protest — leadership grounded in principle, even at great personal cost.</a:t>
            </a:r>
            <a:endParaRPr lang="en-US" sz="1500" dirty="0"/>
          </a:p>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Inclusive coalition-building: Rama builds his army from vanaras (monkeys), bears, and Vibhishana — a defector from the enemy's own camp — treating every ally with equal respect regardless of origin.</a:t>
            </a:r>
            <a:endParaRPr lang="en-US" sz="1500" dirty="0"/>
          </a:p>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Delegation and trust: he entrusts Hanuman with the mission-critical task of finding Sita in Lanka, and relies on the counsel of Jambavan and Angada — empowering capable people rather than doing everything himself.</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Decisive, well-planned action: the building of the Rama Setu bridge to Lanka reflects careful logistics and engineering, not impulsive action.</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Trust, Then Empower</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Handing Hanuman sole responsibility for finding Sita — with no supervision across the ocean — is delegation taken to its fullest, most trusting extreme.</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LEADERSHIP LESSONS FROM THE RAMAYANA</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LEADERSHIP LESSONS FROM THE MAHABHARATA</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A Cast of Contrasting Leadership Styles</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Krishna — the situational mentor: adapts his counsel to Arjuna's exact state of mind on the battlefield, then lets Arjuna make the final decision himself — guiding rather than commanding.</a:t>
            </a:r>
            <a:endParaRPr lang="en-US" sz="1500" dirty="0"/>
          </a:p>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Yudhishthira — righteousness with a caution: admired as Dharmaraja for his commitment to truth and consensus, but his fateful game of dice shows how even principled leaders can be drawn into disastrous decisions under peer pressure.</a:t>
            </a:r>
            <a:endParaRPr lang="en-US" sz="1500" dirty="0"/>
          </a:p>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Bhishma — loyalty in tension with conscience: bound by an old vow, he fights for a cause he privately disapproves of — a stark lesson in the conflict between institutional loyalty and personal judgment.</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Duryodhana — a cautionary example: his refusal to compromise even 'a needle-point of land' shows how ego-driven, zero-sum leadership ultimately destroys the very side it means to protect.</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The Cost of Rigid Ego</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Duryodhana's all-or-nothing stance left no room for negotiation — a reminder that leadership without flexibility can turn a winnable situation into a catastrophic one.</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LEADERSHIP LESSONS FROM THE MAHABHARATA</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28</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LEADERSHIP LESSONS FROM THE EPICS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Ramayana vs. Mahabharata — Two Leadership Mirrors</a:t>
            </a:r>
            <a:endParaRPr lang="en-US" sz="2700" dirty="0"/>
          </a:p>
        </p:txBody>
      </p:sp>
      <p:sp>
        <p:nvSpPr>
          <p:cNvPr id="4" name="Shape 2"/>
          <p:cNvSpPr/>
          <p:nvPr/>
        </p:nvSpPr>
        <p:spPr>
          <a:xfrm>
            <a:off x="548640" y="1645920"/>
            <a:ext cx="2651760" cy="941832"/>
          </a:xfrm>
          <a:prstGeom prst="rect">
            <a:avLst/>
          </a:prstGeom>
          <a:solidFill>
            <a:srgbClr val="1E2761"/>
          </a:solidFill>
          <a:ln/>
        </p:spPr>
      </p:sp>
      <p:sp>
        <p:nvSpPr>
          <p:cNvPr id="5" name="Shape 3"/>
          <p:cNvSpPr/>
          <p:nvPr/>
        </p:nvSpPr>
        <p:spPr>
          <a:xfrm>
            <a:off x="3200400" y="1645920"/>
            <a:ext cx="4206240" cy="941832"/>
          </a:xfrm>
          <a:prstGeom prst="rect">
            <a:avLst/>
          </a:prstGeom>
          <a:solidFill>
            <a:srgbClr val="3A4A8C"/>
          </a:solidFill>
          <a:ln/>
        </p:spPr>
      </p:sp>
      <p:sp>
        <p:nvSpPr>
          <p:cNvPr id="6" name="Shape 4"/>
          <p:cNvSpPr/>
          <p:nvPr/>
        </p:nvSpPr>
        <p:spPr>
          <a:xfrm>
            <a:off x="7406640" y="1645920"/>
            <a:ext cx="4206240" cy="941832"/>
          </a:xfrm>
          <a:prstGeom prst="rect">
            <a:avLst/>
          </a:prstGeom>
          <a:solidFill>
            <a:srgbClr val="C9A24B"/>
          </a:solidFill>
          <a:ln/>
        </p:spPr>
      </p:sp>
      <p:sp>
        <p:nvSpPr>
          <p:cNvPr id="7" name="Text 5"/>
          <p:cNvSpPr/>
          <p:nvPr/>
        </p:nvSpPr>
        <p:spPr>
          <a:xfrm>
            <a:off x="548640" y="1645920"/>
            <a:ext cx="2651760" cy="941832"/>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BASIS</a:t>
            </a:r>
            <a:endParaRPr lang="en-US" sz="1250" dirty="0"/>
          </a:p>
        </p:txBody>
      </p:sp>
      <p:sp>
        <p:nvSpPr>
          <p:cNvPr id="8" name="Text 6"/>
          <p:cNvSpPr/>
          <p:nvPr/>
        </p:nvSpPr>
        <p:spPr>
          <a:xfrm>
            <a:off x="3200400" y="1645920"/>
            <a:ext cx="4206240" cy="941832"/>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The Ramayana</a:t>
            </a:r>
            <a:endParaRPr lang="en-US" sz="1250" dirty="0"/>
          </a:p>
        </p:txBody>
      </p:sp>
      <p:sp>
        <p:nvSpPr>
          <p:cNvPr id="9" name="Text 7"/>
          <p:cNvSpPr/>
          <p:nvPr/>
        </p:nvSpPr>
        <p:spPr>
          <a:xfrm>
            <a:off x="7406640" y="1645920"/>
            <a:ext cx="4206240" cy="941832"/>
          </a:xfrm>
          <a:prstGeom prst="rect">
            <a:avLst/>
          </a:prstGeom>
          <a:noFill/>
          <a:ln/>
        </p:spPr>
        <p:txBody>
          <a:bodyPr wrap="square" rtlCol="0" anchor="ctr"/>
          <a:lstStyle/>
          <a:p>
            <a:pPr algn="ctr" indent="0" marL="0">
              <a:buNone/>
            </a:pPr>
            <a:r>
              <a:rPr lang="en-US" sz="1250" b="1" dirty="0">
                <a:solidFill>
                  <a:srgbClr val="141B48"/>
                </a:solidFill>
                <a:latin typeface="Cambria" pitchFamily="34" charset="0"/>
                <a:ea typeface="Cambria" pitchFamily="34" charset="-122"/>
                <a:cs typeface="Cambria" pitchFamily="34" charset="-120"/>
              </a:rPr>
              <a:t>The Mahabharata</a:t>
            </a:r>
            <a:endParaRPr lang="en-US" sz="1250" dirty="0"/>
          </a:p>
        </p:txBody>
      </p:sp>
      <p:sp>
        <p:nvSpPr>
          <p:cNvPr id="10" name="Shape 8"/>
          <p:cNvSpPr/>
          <p:nvPr/>
        </p:nvSpPr>
        <p:spPr>
          <a:xfrm>
            <a:off x="548640" y="2587752"/>
            <a:ext cx="2651760" cy="941832"/>
          </a:xfrm>
          <a:prstGeom prst="rect">
            <a:avLst/>
          </a:prstGeom>
          <a:solidFill>
            <a:srgbClr val="EEF3FC"/>
          </a:solidFill>
          <a:ln/>
        </p:spPr>
      </p:sp>
      <p:sp>
        <p:nvSpPr>
          <p:cNvPr id="11" name="Shape 9"/>
          <p:cNvSpPr/>
          <p:nvPr/>
        </p:nvSpPr>
        <p:spPr>
          <a:xfrm>
            <a:off x="3200400" y="2587752"/>
            <a:ext cx="4206240" cy="941832"/>
          </a:xfrm>
          <a:prstGeom prst="rect">
            <a:avLst/>
          </a:prstGeom>
          <a:solidFill>
            <a:srgbClr val="EEF3FC"/>
          </a:solidFill>
          <a:ln/>
        </p:spPr>
      </p:sp>
      <p:sp>
        <p:nvSpPr>
          <p:cNvPr id="12" name="Shape 10"/>
          <p:cNvSpPr/>
          <p:nvPr/>
        </p:nvSpPr>
        <p:spPr>
          <a:xfrm>
            <a:off x="7406640" y="2587752"/>
            <a:ext cx="4206240" cy="941832"/>
          </a:xfrm>
          <a:prstGeom prst="rect">
            <a:avLst/>
          </a:prstGeom>
          <a:solidFill>
            <a:srgbClr val="EEF3FC"/>
          </a:solidFill>
          <a:ln/>
        </p:spPr>
      </p:sp>
      <p:sp>
        <p:nvSpPr>
          <p:cNvPr id="13" name="Text 11"/>
          <p:cNvSpPr/>
          <p:nvPr/>
        </p:nvSpPr>
        <p:spPr>
          <a:xfrm>
            <a:off x="685800" y="2587752"/>
            <a:ext cx="2377440" cy="9418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Central leadership model</a:t>
            </a:r>
            <a:endParaRPr lang="en-US" sz="1150" dirty="0"/>
          </a:p>
        </p:txBody>
      </p:sp>
      <p:sp>
        <p:nvSpPr>
          <p:cNvPr id="14" name="Text 12"/>
          <p:cNvSpPr/>
          <p:nvPr/>
        </p:nvSpPr>
        <p:spPr>
          <a:xfrm>
            <a:off x="3337560" y="2587752"/>
            <a:ext cx="3931920" cy="941832"/>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One consistent, principle-centered ideal (Rama)</a:t>
            </a:r>
            <a:endParaRPr lang="en-US" sz="1080" dirty="0"/>
          </a:p>
        </p:txBody>
      </p:sp>
      <p:sp>
        <p:nvSpPr>
          <p:cNvPr id="15" name="Text 13"/>
          <p:cNvSpPr/>
          <p:nvPr/>
        </p:nvSpPr>
        <p:spPr>
          <a:xfrm>
            <a:off x="7543800" y="2587752"/>
            <a:ext cx="3931920" cy="941832"/>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Multiple contrasting styles — ideal, conflicted, and flawed, side by side</a:t>
            </a:r>
            <a:endParaRPr lang="en-US" sz="1080" dirty="0"/>
          </a:p>
        </p:txBody>
      </p:sp>
      <p:sp>
        <p:nvSpPr>
          <p:cNvPr id="16" name="Shape 14"/>
          <p:cNvSpPr/>
          <p:nvPr/>
        </p:nvSpPr>
        <p:spPr>
          <a:xfrm>
            <a:off x="548640" y="3529584"/>
            <a:ext cx="2651760" cy="941832"/>
          </a:xfrm>
          <a:prstGeom prst="rect">
            <a:avLst/>
          </a:prstGeom>
          <a:solidFill>
            <a:srgbClr val="FFFFFF"/>
          </a:solidFill>
          <a:ln/>
        </p:spPr>
      </p:sp>
      <p:sp>
        <p:nvSpPr>
          <p:cNvPr id="17" name="Shape 15"/>
          <p:cNvSpPr/>
          <p:nvPr/>
        </p:nvSpPr>
        <p:spPr>
          <a:xfrm>
            <a:off x="3200400" y="3529584"/>
            <a:ext cx="4206240" cy="941832"/>
          </a:xfrm>
          <a:prstGeom prst="rect">
            <a:avLst/>
          </a:prstGeom>
          <a:solidFill>
            <a:srgbClr val="FFFFFF"/>
          </a:solidFill>
          <a:ln/>
        </p:spPr>
      </p:sp>
      <p:sp>
        <p:nvSpPr>
          <p:cNvPr id="18" name="Shape 16"/>
          <p:cNvSpPr/>
          <p:nvPr/>
        </p:nvSpPr>
        <p:spPr>
          <a:xfrm>
            <a:off x="7406640" y="3529584"/>
            <a:ext cx="4206240" cy="941832"/>
          </a:xfrm>
          <a:prstGeom prst="rect">
            <a:avLst/>
          </a:prstGeom>
          <a:solidFill>
            <a:srgbClr val="FFFFFF"/>
          </a:solidFill>
          <a:ln/>
        </p:spPr>
      </p:sp>
      <p:sp>
        <p:nvSpPr>
          <p:cNvPr id="19" name="Text 17"/>
          <p:cNvSpPr/>
          <p:nvPr/>
        </p:nvSpPr>
        <p:spPr>
          <a:xfrm>
            <a:off x="685800" y="3529584"/>
            <a:ext cx="2377440" cy="9418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View of authority</a:t>
            </a:r>
            <a:endParaRPr lang="en-US" sz="1150" dirty="0"/>
          </a:p>
        </p:txBody>
      </p:sp>
      <p:sp>
        <p:nvSpPr>
          <p:cNvPr id="20" name="Text 18"/>
          <p:cNvSpPr/>
          <p:nvPr/>
        </p:nvSpPr>
        <p:spPr>
          <a:xfrm>
            <a:off x="3337560" y="3529584"/>
            <a:ext cx="3931920" cy="941832"/>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Duty and promise-keeping, even at personal cost</a:t>
            </a:r>
            <a:endParaRPr lang="en-US" sz="1080" dirty="0"/>
          </a:p>
        </p:txBody>
      </p:sp>
      <p:sp>
        <p:nvSpPr>
          <p:cNvPr id="21" name="Text 19"/>
          <p:cNvSpPr/>
          <p:nvPr/>
        </p:nvSpPr>
        <p:spPr>
          <a:xfrm>
            <a:off x="7543800" y="3529584"/>
            <a:ext cx="3931920" cy="941832"/>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Duty in tension with conscience, ambition, and loyalty</a:t>
            </a:r>
            <a:endParaRPr lang="en-US" sz="1080" dirty="0"/>
          </a:p>
        </p:txBody>
      </p:sp>
      <p:sp>
        <p:nvSpPr>
          <p:cNvPr id="22" name="Shape 20"/>
          <p:cNvSpPr/>
          <p:nvPr/>
        </p:nvSpPr>
        <p:spPr>
          <a:xfrm>
            <a:off x="548640" y="4471416"/>
            <a:ext cx="2651760" cy="941832"/>
          </a:xfrm>
          <a:prstGeom prst="rect">
            <a:avLst/>
          </a:prstGeom>
          <a:solidFill>
            <a:srgbClr val="EEF3FC"/>
          </a:solidFill>
          <a:ln/>
        </p:spPr>
      </p:sp>
      <p:sp>
        <p:nvSpPr>
          <p:cNvPr id="23" name="Shape 21"/>
          <p:cNvSpPr/>
          <p:nvPr/>
        </p:nvSpPr>
        <p:spPr>
          <a:xfrm>
            <a:off x="3200400" y="4471416"/>
            <a:ext cx="4206240" cy="941832"/>
          </a:xfrm>
          <a:prstGeom prst="rect">
            <a:avLst/>
          </a:prstGeom>
          <a:solidFill>
            <a:srgbClr val="EEF3FC"/>
          </a:solidFill>
          <a:ln/>
        </p:spPr>
      </p:sp>
      <p:sp>
        <p:nvSpPr>
          <p:cNvPr id="24" name="Shape 22"/>
          <p:cNvSpPr/>
          <p:nvPr/>
        </p:nvSpPr>
        <p:spPr>
          <a:xfrm>
            <a:off x="7406640" y="4471416"/>
            <a:ext cx="4206240" cy="941832"/>
          </a:xfrm>
          <a:prstGeom prst="rect">
            <a:avLst/>
          </a:prstGeom>
          <a:solidFill>
            <a:srgbClr val="EEF3FC"/>
          </a:solidFill>
          <a:ln/>
        </p:spPr>
      </p:sp>
      <p:sp>
        <p:nvSpPr>
          <p:cNvPr id="25" name="Text 23"/>
          <p:cNvSpPr/>
          <p:nvPr/>
        </p:nvSpPr>
        <p:spPr>
          <a:xfrm>
            <a:off x="685800" y="4471416"/>
            <a:ext cx="2377440" cy="9418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Team-building</a:t>
            </a:r>
            <a:endParaRPr lang="en-US" sz="1150" dirty="0"/>
          </a:p>
        </p:txBody>
      </p:sp>
      <p:sp>
        <p:nvSpPr>
          <p:cNvPr id="26" name="Text 24"/>
          <p:cNvSpPr/>
          <p:nvPr/>
        </p:nvSpPr>
        <p:spPr>
          <a:xfrm>
            <a:off x="3337560" y="4471416"/>
            <a:ext cx="3931920" cy="941832"/>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Inclusive coalition across former enemies (Vibhishana)</a:t>
            </a:r>
            <a:endParaRPr lang="en-US" sz="1080" dirty="0"/>
          </a:p>
        </p:txBody>
      </p:sp>
      <p:sp>
        <p:nvSpPr>
          <p:cNvPr id="27" name="Text 25"/>
          <p:cNvSpPr/>
          <p:nvPr/>
        </p:nvSpPr>
        <p:spPr>
          <a:xfrm>
            <a:off x="7543800" y="4471416"/>
            <a:ext cx="3931920" cy="941832"/>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Alliances often driven by kinship, vows, or convenience</a:t>
            </a:r>
            <a:endParaRPr lang="en-US" sz="1080" dirty="0"/>
          </a:p>
        </p:txBody>
      </p:sp>
      <p:sp>
        <p:nvSpPr>
          <p:cNvPr id="28" name="Shape 26"/>
          <p:cNvSpPr/>
          <p:nvPr/>
        </p:nvSpPr>
        <p:spPr>
          <a:xfrm>
            <a:off x="548640" y="5413248"/>
            <a:ext cx="2651760" cy="941832"/>
          </a:xfrm>
          <a:prstGeom prst="rect">
            <a:avLst/>
          </a:prstGeom>
          <a:solidFill>
            <a:srgbClr val="FFFFFF"/>
          </a:solidFill>
          <a:ln/>
        </p:spPr>
      </p:sp>
      <p:sp>
        <p:nvSpPr>
          <p:cNvPr id="29" name="Shape 27"/>
          <p:cNvSpPr/>
          <p:nvPr/>
        </p:nvSpPr>
        <p:spPr>
          <a:xfrm>
            <a:off x="3200400" y="5413248"/>
            <a:ext cx="4206240" cy="941832"/>
          </a:xfrm>
          <a:prstGeom prst="rect">
            <a:avLst/>
          </a:prstGeom>
          <a:solidFill>
            <a:srgbClr val="FFFFFF"/>
          </a:solidFill>
          <a:ln/>
        </p:spPr>
      </p:sp>
      <p:sp>
        <p:nvSpPr>
          <p:cNvPr id="30" name="Shape 28"/>
          <p:cNvSpPr/>
          <p:nvPr/>
        </p:nvSpPr>
        <p:spPr>
          <a:xfrm>
            <a:off x="7406640" y="5413248"/>
            <a:ext cx="4206240" cy="941832"/>
          </a:xfrm>
          <a:prstGeom prst="rect">
            <a:avLst/>
          </a:prstGeom>
          <a:solidFill>
            <a:srgbClr val="FFFFFF"/>
          </a:solidFill>
          <a:ln/>
        </p:spPr>
      </p:sp>
      <p:sp>
        <p:nvSpPr>
          <p:cNvPr id="31" name="Text 29"/>
          <p:cNvSpPr/>
          <p:nvPr/>
        </p:nvSpPr>
        <p:spPr>
          <a:xfrm>
            <a:off x="685800" y="5413248"/>
            <a:ext cx="2377440" cy="9418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Central caution</a:t>
            </a:r>
            <a:endParaRPr lang="en-US" sz="1150" dirty="0"/>
          </a:p>
        </p:txBody>
      </p:sp>
      <p:sp>
        <p:nvSpPr>
          <p:cNvPr id="32" name="Text 30"/>
          <p:cNvSpPr/>
          <p:nvPr/>
        </p:nvSpPr>
        <p:spPr>
          <a:xfrm>
            <a:off x="3337560" y="5413248"/>
            <a:ext cx="3931920" cy="941832"/>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Even a righteous ruler must balance personal duty against public duty</a:t>
            </a:r>
            <a:endParaRPr lang="en-US" sz="1080" dirty="0"/>
          </a:p>
        </p:txBody>
      </p:sp>
      <p:sp>
        <p:nvSpPr>
          <p:cNvPr id="33" name="Text 31"/>
          <p:cNvSpPr/>
          <p:nvPr/>
        </p:nvSpPr>
        <p:spPr>
          <a:xfrm>
            <a:off x="7543800" y="5413248"/>
            <a:ext cx="3931920" cy="941832"/>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Rigid ego (Duryodhana) and poor judgment under pressure (the dice game) can undo great strength</a:t>
            </a:r>
            <a:endParaRPr lang="en-US" sz="1080" dirty="0"/>
          </a:p>
        </p:txBody>
      </p:sp>
      <p:sp>
        <p:nvSpPr>
          <p:cNvPr id="34" name="Text 3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LEADERSHIP LESSONS FROM THE EPICS</a:t>
            </a:r>
            <a:endParaRPr lang="en-US" sz="1100" dirty="0"/>
          </a:p>
        </p:txBody>
      </p:sp>
      <p:sp>
        <p:nvSpPr>
          <p:cNvPr id="35" name="Text 3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RECALL — PART 1</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Recall Questions — Part 1</a:t>
            </a:r>
            <a:endParaRPr lang="en-US" sz="2700" dirty="0"/>
          </a:p>
        </p:txBody>
      </p:sp>
      <p:sp>
        <p:nvSpPr>
          <p:cNvPr id="4" name="Text 2"/>
          <p:cNvSpPr/>
          <p:nvPr/>
        </p:nvSpPr>
        <p:spPr>
          <a:xfrm>
            <a:off x="548640" y="1371600"/>
            <a:ext cx="10972800" cy="365760"/>
          </a:xfrm>
          <a:prstGeom prst="rect">
            <a:avLst/>
          </a:prstGeom>
          <a:noFill/>
          <a:ln/>
        </p:spPr>
        <p:txBody>
          <a:bodyPr wrap="square"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Test yourself before checking the notes.</a:t>
            </a:r>
            <a:endParaRPr lang="en-US" sz="1350" dirty="0"/>
          </a:p>
        </p:txBody>
      </p:sp>
      <p:sp>
        <p:nvSpPr>
          <p:cNvPr id="5" name="Shape 3"/>
          <p:cNvSpPr/>
          <p:nvPr/>
        </p:nvSpPr>
        <p:spPr>
          <a:xfrm>
            <a:off x="548640" y="1950938"/>
            <a:ext cx="402336" cy="402336"/>
          </a:xfrm>
          <a:prstGeom prst="ellipse">
            <a:avLst/>
          </a:prstGeom>
          <a:solidFill>
            <a:srgbClr val="1E2761"/>
          </a:solidFill>
          <a:ln/>
        </p:spPr>
      </p:sp>
      <p:sp>
        <p:nvSpPr>
          <p:cNvPr id="6" name="Text 4"/>
          <p:cNvSpPr/>
          <p:nvPr/>
        </p:nvSpPr>
        <p:spPr>
          <a:xfrm>
            <a:off x="548640" y="1950938"/>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1</a:t>
            </a:r>
            <a:endParaRPr lang="en-US" sz="1250" dirty="0"/>
          </a:p>
        </p:txBody>
      </p:sp>
      <p:sp>
        <p:nvSpPr>
          <p:cNvPr id="7" name="Text 5"/>
          <p:cNvSpPr/>
          <p:nvPr/>
        </p:nvSpPr>
        <p:spPr>
          <a:xfrm>
            <a:off x="1143000" y="1828800"/>
            <a:ext cx="10515600" cy="646611"/>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Define staffing in your own words.</a:t>
            </a:r>
            <a:endParaRPr lang="en-US" sz="1300" dirty="0"/>
          </a:p>
        </p:txBody>
      </p:sp>
      <p:sp>
        <p:nvSpPr>
          <p:cNvPr id="8" name="Shape 6"/>
          <p:cNvSpPr/>
          <p:nvPr/>
        </p:nvSpPr>
        <p:spPr>
          <a:xfrm>
            <a:off x="548640" y="2597549"/>
            <a:ext cx="402336" cy="402336"/>
          </a:xfrm>
          <a:prstGeom prst="ellipse">
            <a:avLst/>
          </a:prstGeom>
          <a:solidFill>
            <a:srgbClr val="1E2761"/>
          </a:solidFill>
          <a:ln/>
        </p:spPr>
      </p:sp>
      <p:sp>
        <p:nvSpPr>
          <p:cNvPr id="9" name="Text 7"/>
          <p:cNvSpPr/>
          <p:nvPr/>
        </p:nvSpPr>
        <p:spPr>
          <a:xfrm>
            <a:off x="548640" y="2597549"/>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2</a:t>
            </a:r>
            <a:endParaRPr lang="en-US" sz="1250" dirty="0"/>
          </a:p>
        </p:txBody>
      </p:sp>
      <p:sp>
        <p:nvSpPr>
          <p:cNvPr id="10" name="Text 8"/>
          <p:cNvSpPr/>
          <p:nvPr/>
        </p:nvSpPr>
        <p:spPr>
          <a:xfrm>
            <a:off x="1143000" y="2475411"/>
            <a:ext cx="10515600" cy="646611"/>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Name any four of the six characteristics of staffing.</a:t>
            </a:r>
            <a:endParaRPr lang="en-US" sz="1300" dirty="0"/>
          </a:p>
        </p:txBody>
      </p:sp>
      <p:sp>
        <p:nvSpPr>
          <p:cNvPr id="11" name="Shape 9"/>
          <p:cNvSpPr/>
          <p:nvPr/>
        </p:nvSpPr>
        <p:spPr>
          <a:xfrm>
            <a:off x="548640" y="3244161"/>
            <a:ext cx="402336" cy="402336"/>
          </a:xfrm>
          <a:prstGeom prst="ellipse">
            <a:avLst/>
          </a:prstGeom>
          <a:solidFill>
            <a:srgbClr val="1E2761"/>
          </a:solidFill>
          <a:ln/>
        </p:spPr>
      </p:sp>
      <p:sp>
        <p:nvSpPr>
          <p:cNvPr id="12" name="Text 10"/>
          <p:cNvSpPr/>
          <p:nvPr/>
        </p:nvSpPr>
        <p:spPr>
          <a:xfrm>
            <a:off x="548640" y="3244161"/>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3</a:t>
            </a:r>
            <a:endParaRPr lang="en-US" sz="1250" dirty="0"/>
          </a:p>
        </p:txBody>
      </p:sp>
      <p:sp>
        <p:nvSpPr>
          <p:cNvPr id="13" name="Text 11"/>
          <p:cNvSpPr/>
          <p:nvPr/>
        </p:nvSpPr>
        <p:spPr>
          <a:xfrm>
            <a:off x="1143000" y="3122023"/>
            <a:ext cx="10515600" cy="646611"/>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List the eight elements of the staffing process, in order.</a:t>
            </a:r>
            <a:endParaRPr lang="en-US" sz="1300" dirty="0"/>
          </a:p>
        </p:txBody>
      </p:sp>
      <p:sp>
        <p:nvSpPr>
          <p:cNvPr id="14" name="Shape 12"/>
          <p:cNvSpPr/>
          <p:nvPr/>
        </p:nvSpPr>
        <p:spPr>
          <a:xfrm>
            <a:off x="548640" y="3890772"/>
            <a:ext cx="402336" cy="402336"/>
          </a:xfrm>
          <a:prstGeom prst="ellipse">
            <a:avLst/>
          </a:prstGeom>
          <a:solidFill>
            <a:srgbClr val="1E2761"/>
          </a:solidFill>
          <a:ln/>
        </p:spPr>
      </p:sp>
      <p:sp>
        <p:nvSpPr>
          <p:cNvPr id="15" name="Text 13"/>
          <p:cNvSpPr/>
          <p:nvPr/>
        </p:nvSpPr>
        <p:spPr>
          <a:xfrm>
            <a:off x="548640" y="3890772"/>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4</a:t>
            </a:r>
            <a:endParaRPr lang="en-US" sz="1250" dirty="0"/>
          </a:p>
        </p:txBody>
      </p:sp>
      <p:sp>
        <p:nvSpPr>
          <p:cNvPr id="16" name="Text 14"/>
          <p:cNvSpPr/>
          <p:nvPr/>
        </p:nvSpPr>
        <p:spPr>
          <a:xfrm>
            <a:off x="1143000" y="3768634"/>
            <a:ext cx="10515600" cy="646611"/>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Distinguish between internal and external sources of recruitment.</a:t>
            </a:r>
            <a:endParaRPr lang="en-US" sz="1300" dirty="0"/>
          </a:p>
        </p:txBody>
      </p:sp>
      <p:sp>
        <p:nvSpPr>
          <p:cNvPr id="17" name="Shape 15"/>
          <p:cNvSpPr/>
          <p:nvPr/>
        </p:nvSpPr>
        <p:spPr>
          <a:xfrm>
            <a:off x="548640" y="4537383"/>
            <a:ext cx="402336" cy="402336"/>
          </a:xfrm>
          <a:prstGeom prst="ellipse">
            <a:avLst/>
          </a:prstGeom>
          <a:solidFill>
            <a:srgbClr val="1E2761"/>
          </a:solidFill>
          <a:ln/>
        </p:spPr>
      </p:sp>
      <p:sp>
        <p:nvSpPr>
          <p:cNvPr id="18" name="Text 16"/>
          <p:cNvSpPr/>
          <p:nvPr/>
        </p:nvSpPr>
        <p:spPr>
          <a:xfrm>
            <a:off x="548640" y="4537383"/>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5</a:t>
            </a:r>
            <a:endParaRPr lang="en-US" sz="1250" dirty="0"/>
          </a:p>
        </p:txBody>
      </p:sp>
      <p:sp>
        <p:nvSpPr>
          <p:cNvPr id="19" name="Text 17"/>
          <p:cNvSpPr/>
          <p:nvPr/>
        </p:nvSpPr>
        <p:spPr>
          <a:xfrm>
            <a:off x="1143000" y="4415246"/>
            <a:ext cx="10515600" cy="646611"/>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List the seven steps in the selection process.</a:t>
            </a:r>
            <a:endParaRPr lang="en-US" sz="1300" dirty="0"/>
          </a:p>
        </p:txBody>
      </p:sp>
      <p:sp>
        <p:nvSpPr>
          <p:cNvPr id="20" name="Shape 18"/>
          <p:cNvSpPr/>
          <p:nvPr/>
        </p:nvSpPr>
        <p:spPr>
          <a:xfrm>
            <a:off x="548640" y="5183995"/>
            <a:ext cx="402336" cy="402336"/>
          </a:xfrm>
          <a:prstGeom prst="ellipse">
            <a:avLst/>
          </a:prstGeom>
          <a:solidFill>
            <a:srgbClr val="1E2761"/>
          </a:solidFill>
          <a:ln/>
        </p:spPr>
      </p:sp>
      <p:sp>
        <p:nvSpPr>
          <p:cNvPr id="21" name="Text 19"/>
          <p:cNvSpPr/>
          <p:nvPr/>
        </p:nvSpPr>
        <p:spPr>
          <a:xfrm>
            <a:off x="548640" y="5183995"/>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6</a:t>
            </a:r>
            <a:endParaRPr lang="en-US" sz="1250" dirty="0"/>
          </a:p>
        </p:txBody>
      </p:sp>
      <p:sp>
        <p:nvSpPr>
          <p:cNvPr id="22" name="Text 20"/>
          <p:cNvSpPr/>
          <p:nvPr/>
        </p:nvSpPr>
        <p:spPr>
          <a:xfrm>
            <a:off x="1143000" y="5061857"/>
            <a:ext cx="10515600" cy="646611"/>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Name the four types of selection tests.</a:t>
            </a:r>
            <a:endParaRPr lang="en-US" sz="1300" dirty="0"/>
          </a:p>
        </p:txBody>
      </p:sp>
      <p:sp>
        <p:nvSpPr>
          <p:cNvPr id="23" name="Shape 21"/>
          <p:cNvSpPr/>
          <p:nvPr/>
        </p:nvSpPr>
        <p:spPr>
          <a:xfrm>
            <a:off x="548640" y="5830606"/>
            <a:ext cx="402336" cy="402336"/>
          </a:xfrm>
          <a:prstGeom prst="ellipse">
            <a:avLst/>
          </a:prstGeom>
          <a:solidFill>
            <a:srgbClr val="1E2761"/>
          </a:solidFill>
          <a:ln/>
        </p:spPr>
      </p:sp>
      <p:sp>
        <p:nvSpPr>
          <p:cNvPr id="24" name="Text 22"/>
          <p:cNvSpPr/>
          <p:nvPr/>
        </p:nvSpPr>
        <p:spPr>
          <a:xfrm>
            <a:off x="548640" y="5830606"/>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7</a:t>
            </a:r>
            <a:endParaRPr lang="en-US" sz="1250" dirty="0"/>
          </a:p>
        </p:txBody>
      </p:sp>
      <p:sp>
        <p:nvSpPr>
          <p:cNvPr id="25" name="Text 23"/>
          <p:cNvSpPr/>
          <p:nvPr/>
        </p:nvSpPr>
        <p:spPr>
          <a:xfrm>
            <a:off x="1143000" y="5708469"/>
            <a:ext cx="10515600" cy="646611"/>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What is the difference between on-the-job and off-the-job training?</a:t>
            </a:r>
            <a:endParaRPr lang="en-US" sz="1300" dirty="0"/>
          </a:p>
        </p:txBody>
      </p:sp>
      <p:sp>
        <p:nvSpPr>
          <p:cNvPr id="26" name="Text 24"/>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RECALL &amp; REVISION</a:t>
            </a:r>
            <a:endParaRPr lang="en-US" sz="1100" dirty="0"/>
          </a:p>
        </p:txBody>
      </p:sp>
      <p:sp>
        <p:nvSpPr>
          <p:cNvPr id="27" name="Text 2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30</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RECALL — PART 2</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Recall Questions — Part 2</a:t>
            </a:r>
            <a:endParaRPr lang="en-US" sz="2700" dirty="0"/>
          </a:p>
        </p:txBody>
      </p:sp>
      <p:sp>
        <p:nvSpPr>
          <p:cNvPr id="4" name="Text 2"/>
          <p:cNvSpPr/>
          <p:nvPr/>
        </p:nvSpPr>
        <p:spPr>
          <a:xfrm>
            <a:off x="548640" y="1371600"/>
            <a:ext cx="10972800" cy="365760"/>
          </a:xfrm>
          <a:prstGeom prst="rect">
            <a:avLst/>
          </a:prstGeom>
          <a:noFill/>
          <a:ln/>
        </p:spPr>
        <p:txBody>
          <a:bodyPr wrap="square"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Test yourself before checking the notes.</a:t>
            </a:r>
            <a:endParaRPr lang="en-US" sz="1350" dirty="0"/>
          </a:p>
        </p:txBody>
      </p:sp>
      <p:sp>
        <p:nvSpPr>
          <p:cNvPr id="5" name="Shape 3"/>
          <p:cNvSpPr/>
          <p:nvPr/>
        </p:nvSpPr>
        <p:spPr>
          <a:xfrm>
            <a:off x="548640" y="1910525"/>
            <a:ext cx="402336" cy="402336"/>
          </a:xfrm>
          <a:prstGeom prst="ellipse">
            <a:avLst/>
          </a:prstGeom>
          <a:solidFill>
            <a:srgbClr val="1E2761"/>
          </a:solidFill>
          <a:ln/>
        </p:spPr>
      </p:sp>
      <p:sp>
        <p:nvSpPr>
          <p:cNvPr id="6" name="Text 4"/>
          <p:cNvSpPr/>
          <p:nvPr/>
        </p:nvSpPr>
        <p:spPr>
          <a:xfrm>
            <a:off x="548640" y="1910525"/>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1</a:t>
            </a:r>
            <a:endParaRPr lang="en-US" sz="1250" dirty="0"/>
          </a:p>
        </p:txBody>
      </p:sp>
      <p:sp>
        <p:nvSpPr>
          <p:cNvPr id="7" name="Text 5"/>
          <p:cNvSpPr/>
          <p:nvPr/>
        </p:nvSpPr>
        <p:spPr>
          <a:xfrm>
            <a:off x="1143000" y="1828800"/>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Name two traditional and two modern methods of performance appraisal.</a:t>
            </a:r>
            <a:endParaRPr lang="en-US" sz="1300" dirty="0"/>
          </a:p>
        </p:txBody>
      </p:sp>
      <p:sp>
        <p:nvSpPr>
          <p:cNvPr id="8" name="Shape 6"/>
          <p:cNvSpPr/>
          <p:nvPr/>
        </p:nvSpPr>
        <p:spPr>
          <a:xfrm>
            <a:off x="548640" y="2476310"/>
            <a:ext cx="402336" cy="402336"/>
          </a:xfrm>
          <a:prstGeom prst="ellipse">
            <a:avLst/>
          </a:prstGeom>
          <a:solidFill>
            <a:srgbClr val="1E2761"/>
          </a:solidFill>
          <a:ln/>
        </p:spPr>
      </p:sp>
      <p:sp>
        <p:nvSpPr>
          <p:cNvPr id="9" name="Text 7"/>
          <p:cNvSpPr/>
          <p:nvPr/>
        </p:nvSpPr>
        <p:spPr>
          <a:xfrm>
            <a:off x="548640" y="2476310"/>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2</a:t>
            </a:r>
            <a:endParaRPr lang="en-US" sz="1250" dirty="0"/>
          </a:p>
        </p:txBody>
      </p:sp>
      <p:sp>
        <p:nvSpPr>
          <p:cNvPr id="10" name="Text 8"/>
          <p:cNvSpPr/>
          <p:nvPr/>
        </p:nvSpPr>
        <p:spPr>
          <a:xfrm>
            <a:off x="1143000" y="2394585"/>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What are the two bases on which promotion decisions are made?</a:t>
            </a:r>
            <a:endParaRPr lang="en-US" sz="1300" dirty="0"/>
          </a:p>
        </p:txBody>
      </p:sp>
      <p:sp>
        <p:nvSpPr>
          <p:cNvPr id="11" name="Shape 9"/>
          <p:cNvSpPr/>
          <p:nvPr/>
        </p:nvSpPr>
        <p:spPr>
          <a:xfrm>
            <a:off x="548640" y="3042095"/>
            <a:ext cx="402336" cy="402336"/>
          </a:xfrm>
          <a:prstGeom prst="ellipse">
            <a:avLst/>
          </a:prstGeom>
          <a:solidFill>
            <a:srgbClr val="1E2761"/>
          </a:solidFill>
          <a:ln/>
        </p:spPr>
      </p:sp>
      <p:sp>
        <p:nvSpPr>
          <p:cNvPr id="12" name="Text 10"/>
          <p:cNvSpPr/>
          <p:nvPr/>
        </p:nvSpPr>
        <p:spPr>
          <a:xfrm>
            <a:off x="548640" y="3042095"/>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3</a:t>
            </a:r>
            <a:endParaRPr lang="en-US" sz="1250" dirty="0"/>
          </a:p>
        </p:txBody>
      </p:sp>
      <p:sp>
        <p:nvSpPr>
          <p:cNvPr id="13" name="Text 11"/>
          <p:cNvSpPr/>
          <p:nvPr/>
        </p:nvSpPr>
        <p:spPr>
          <a:xfrm>
            <a:off x="1143000" y="2960370"/>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Distinguish between Job Description and Job Specification.</a:t>
            </a:r>
            <a:endParaRPr lang="en-US" sz="1300" dirty="0"/>
          </a:p>
        </p:txBody>
      </p:sp>
      <p:sp>
        <p:nvSpPr>
          <p:cNvPr id="14" name="Shape 12"/>
          <p:cNvSpPr/>
          <p:nvPr/>
        </p:nvSpPr>
        <p:spPr>
          <a:xfrm>
            <a:off x="548640" y="3607879"/>
            <a:ext cx="402336" cy="402336"/>
          </a:xfrm>
          <a:prstGeom prst="ellipse">
            <a:avLst/>
          </a:prstGeom>
          <a:solidFill>
            <a:srgbClr val="1E2761"/>
          </a:solidFill>
          <a:ln/>
        </p:spPr>
      </p:sp>
      <p:sp>
        <p:nvSpPr>
          <p:cNvPr id="15" name="Text 13"/>
          <p:cNvSpPr/>
          <p:nvPr/>
        </p:nvSpPr>
        <p:spPr>
          <a:xfrm>
            <a:off x="548640" y="3607879"/>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4</a:t>
            </a:r>
            <a:endParaRPr lang="en-US" sz="1250" dirty="0"/>
          </a:p>
        </p:txBody>
      </p:sp>
      <p:sp>
        <p:nvSpPr>
          <p:cNvPr id="16" name="Text 14"/>
          <p:cNvSpPr/>
          <p:nvPr/>
        </p:nvSpPr>
        <p:spPr>
          <a:xfrm>
            <a:off x="1143000" y="3526155"/>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Name any four methods of job evaluation.</a:t>
            </a:r>
            <a:endParaRPr lang="en-US" sz="1300" dirty="0"/>
          </a:p>
        </p:txBody>
      </p:sp>
      <p:sp>
        <p:nvSpPr>
          <p:cNvPr id="17" name="Shape 15"/>
          <p:cNvSpPr/>
          <p:nvPr/>
        </p:nvSpPr>
        <p:spPr>
          <a:xfrm>
            <a:off x="548640" y="4173665"/>
            <a:ext cx="402336" cy="402336"/>
          </a:xfrm>
          <a:prstGeom prst="ellipse">
            <a:avLst/>
          </a:prstGeom>
          <a:solidFill>
            <a:srgbClr val="1E2761"/>
          </a:solidFill>
          <a:ln/>
        </p:spPr>
      </p:sp>
      <p:sp>
        <p:nvSpPr>
          <p:cNvPr id="18" name="Text 16"/>
          <p:cNvSpPr/>
          <p:nvPr/>
        </p:nvSpPr>
        <p:spPr>
          <a:xfrm>
            <a:off x="548640" y="4173665"/>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5</a:t>
            </a:r>
            <a:endParaRPr lang="en-US" sz="1250" dirty="0"/>
          </a:p>
        </p:txBody>
      </p:sp>
      <p:sp>
        <p:nvSpPr>
          <p:cNvPr id="19" name="Text 17"/>
          <p:cNvSpPr/>
          <p:nvPr/>
        </p:nvSpPr>
        <p:spPr>
          <a:xfrm>
            <a:off x="1143000" y="4091940"/>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How does leadership differ from mere positional authority?</a:t>
            </a:r>
            <a:endParaRPr lang="en-US" sz="1300" dirty="0"/>
          </a:p>
        </p:txBody>
      </p:sp>
      <p:sp>
        <p:nvSpPr>
          <p:cNvPr id="20" name="Shape 18"/>
          <p:cNvSpPr/>
          <p:nvPr/>
        </p:nvSpPr>
        <p:spPr>
          <a:xfrm>
            <a:off x="548640" y="4739450"/>
            <a:ext cx="402336" cy="402336"/>
          </a:xfrm>
          <a:prstGeom prst="ellipse">
            <a:avLst/>
          </a:prstGeom>
          <a:solidFill>
            <a:srgbClr val="1E2761"/>
          </a:solidFill>
          <a:ln/>
        </p:spPr>
      </p:sp>
      <p:sp>
        <p:nvSpPr>
          <p:cNvPr id="21" name="Text 19"/>
          <p:cNvSpPr/>
          <p:nvPr/>
        </p:nvSpPr>
        <p:spPr>
          <a:xfrm>
            <a:off x="548640" y="4739450"/>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6</a:t>
            </a:r>
            <a:endParaRPr lang="en-US" sz="1250" dirty="0"/>
          </a:p>
        </p:txBody>
      </p:sp>
      <p:sp>
        <p:nvSpPr>
          <p:cNvPr id="22" name="Text 20"/>
          <p:cNvSpPr/>
          <p:nvPr/>
        </p:nvSpPr>
        <p:spPr>
          <a:xfrm>
            <a:off x="1143000" y="4657725"/>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List any four of the seven functions of leadership.</a:t>
            </a:r>
            <a:endParaRPr lang="en-US" sz="1300" dirty="0"/>
          </a:p>
        </p:txBody>
      </p:sp>
      <p:sp>
        <p:nvSpPr>
          <p:cNvPr id="23" name="Shape 21"/>
          <p:cNvSpPr/>
          <p:nvPr/>
        </p:nvSpPr>
        <p:spPr>
          <a:xfrm>
            <a:off x="548640" y="5305235"/>
            <a:ext cx="402336" cy="402336"/>
          </a:xfrm>
          <a:prstGeom prst="ellipse">
            <a:avLst/>
          </a:prstGeom>
          <a:solidFill>
            <a:srgbClr val="1E2761"/>
          </a:solidFill>
          <a:ln/>
        </p:spPr>
      </p:sp>
      <p:sp>
        <p:nvSpPr>
          <p:cNvPr id="24" name="Text 22"/>
          <p:cNvSpPr/>
          <p:nvPr/>
        </p:nvSpPr>
        <p:spPr>
          <a:xfrm>
            <a:off x="548640" y="5305235"/>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7</a:t>
            </a:r>
            <a:endParaRPr lang="en-US" sz="1250" dirty="0"/>
          </a:p>
        </p:txBody>
      </p:sp>
      <p:sp>
        <p:nvSpPr>
          <p:cNvPr id="25" name="Text 23"/>
          <p:cNvSpPr/>
          <p:nvPr/>
        </p:nvSpPr>
        <p:spPr>
          <a:xfrm>
            <a:off x="1143000" y="5223510"/>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Name the six types of leadership discussed in this module.</a:t>
            </a:r>
            <a:endParaRPr lang="en-US" sz="1300" dirty="0"/>
          </a:p>
        </p:txBody>
      </p:sp>
      <p:sp>
        <p:nvSpPr>
          <p:cNvPr id="26" name="Shape 24"/>
          <p:cNvSpPr/>
          <p:nvPr/>
        </p:nvSpPr>
        <p:spPr>
          <a:xfrm>
            <a:off x="548640" y="5871020"/>
            <a:ext cx="402336" cy="402336"/>
          </a:xfrm>
          <a:prstGeom prst="ellipse">
            <a:avLst/>
          </a:prstGeom>
          <a:solidFill>
            <a:srgbClr val="1E2761"/>
          </a:solidFill>
          <a:ln/>
        </p:spPr>
      </p:sp>
      <p:sp>
        <p:nvSpPr>
          <p:cNvPr id="27" name="Text 25"/>
          <p:cNvSpPr/>
          <p:nvPr/>
        </p:nvSpPr>
        <p:spPr>
          <a:xfrm>
            <a:off x="548640" y="5871020"/>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8</a:t>
            </a:r>
            <a:endParaRPr lang="en-US" sz="1250" dirty="0"/>
          </a:p>
        </p:txBody>
      </p:sp>
      <p:sp>
        <p:nvSpPr>
          <p:cNvPr id="28" name="Text 26"/>
          <p:cNvSpPr/>
          <p:nvPr/>
        </p:nvSpPr>
        <p:spPr>
          <a:xfrm>
            <a:off x="1143000" y="5789295"/>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Give one leadership lesson each from the Ramayana and the Mahabharata.</a:t>
            </a:r>
            <a:endParaRPr lang="en-US" sz="1300" dirty="0"/>
          </a:p>
        </p:txBody>
      </p:sp>
      <p:sp>
        <p:nvSpPr>
          <p:cNvPr id="29" name="Text 2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RECALL &amp; REVISION</a:t>
            </a:r>
            <a:endParaRPr lang="en-US" sz="1100" dirty="0"/>
          </a:p>
        </p:txBody>
      </p:sp>
      <p:sp>
        <p:nvSpPr>
          <p:cNvPr id="30" name="Text 2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31</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1463040" y="4114800"/>
            <a:ext cx="4572000" cy="4572000"/>
          </a:xfrm>
          <a:prstGeom prst="ellipse">
            <a:avLst/>
          </a:prstGeom>
          <a:solidFill>
            <a:srgbClr val="1E2761"/>
          </a:solidFill>
          <a:ln/>
        </p:spPr>
      </p:sp>
      <p:sp>
        <p:nvSpPr>
          <p:cNvPr id="3" name="Text 1"/>
          <p:cNvSpPr/>
          <p:nvPr/>
        </p:nvSpPr>
        <p:spPr>
          <a:xfrm>
            <a:off x="822960" y="640080"/>
            <a:ext cx="7315200" cy="365760"/>
          </a:xfrm>
          <a:prstGeom prst="rect">
            <a:avLst/>
          </a:prstGeom>
          <a:noFill/>
          <a:ln/>
        </p:spPr>
        <p:txBody>
          <a:bodyPr wrap="square" rtlCol="0" anchor="ctr"/>
          <a:lstStyle/>
          <a:p>
            <a:pPr indent="0" marL="0">
              <a:buNone/>
            </a:pPr>
            <a:r>
              <a:rPr lang="en-US" sz="1500" b="1" spc="300" kern="0" dirty="0">
                <a:solidFill>
                  <a:srgbClr val="C9A24B"/>
                </a:solidFill>
                <a:latin typeface="Calibri" pitchFamily="34" charset="0"/>
                <a:ea typeface="Calibri" pitchFamily="34" charset="-122"/>
                <a:cs typeface="Calibri" pitchFamily="34" charset="-120"/>
              </a:rPr>
              <a:t>KEY TAKEAWAYS</a:t>
            </a:r>
            <a:endParaRPr lang="en-US" sz="1500" dirty="0"/>
          </a:p>
        </p:txBody>
      </p:sp>
      <p:sp>
        <p:nvSpPr>
          <p:cNvPr id="4" name="Text 2"/>
          <p:cNvSpPr/>
          <p:nvPr/>
        </p:nvSpPr>
        <p:spPr>
          <a:xfrm>
            <a:off x="822960" y="100584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Recap of Today's Lecture</a:t>
            </a:r>
            <a:endParaRPr lang="en-US" sz="3200" dirty="0"/>
          </a:p>
        </p:txBody>
      </p:sp>
      <p:sp>
        <p:nvSpPr>
          <p:cNvPr id="5" name="Text 3"/>
          <p:cNvSpPr/>
          <p:nvPr/>
        </p:nvSpPr>
        <p:spPr>
          <a:xfrm>
            <a:off x="822960" y="1965960"/>
            <a:ext cx="10515600" cy="96012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Staffing: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A continuous, pervasive process that runs from manpower planning through recruitment, selection, training, appraisal, promotion and compensation.</a:t>
            </a:r>
            <a:endParaRPr lang="en-US" sz="1500" dirty="0"/>
          </a:p>
        </p:txBody>
      </p:sp>
      <p:sp>
        <p:nvSpPr>
          <p:cNvPr id="6" name="Text 4"/>
          <p:cNvSpPr/>
          <p:nvPr/>
        </p:nvSpPr>
        <p:spPr>
          <a:xfrm>
            <a:off x="822960" y="3063240"/>
            <a:ext cx="10515600" cy="96012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Recruitment &amp; Selection: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Recruitment casts a wide net across internal and external sources; selection narrows it down through a structured, multi-step process.</a:t>
            </a:r>
            <a:endParaRPr lang="en-US" sz="1500" dirty="0"/>
          </a:p>
        </p:txBody>
      </p:sp>
      <p:sp>
        <p:nvSpPr>
          <p:cNvPr id="7" name="Text 5"/>
          <p:cNvSpPr/>
          <p:nvPr/>
        </p:nvSpPr>
        <p:spPr>
          <a:xfrm>
            <a:off x="822960" y="4160520"/>
            <a:ext cx="10515600" cy="96012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Development &amp; Evaluation: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Training builds capability, appraisal measures performance fairly, and job analysis ensures every role is clearly defined and fairly valued.</a:t>
            </a:r>
            <a:endParaRPr lang="en-US" sz="1500" dirty="0"/>
          </a:p>
        </p:txBody>
      </p:sp>
      <p:sp>
        <p:nvSpPr>
          <p:cNvPr id="8" name="Text 6"/>
          <p:cNvSpPr/>
          <p:nvPr/>
        </p:nvSpPr>
        <p:spPr>
          <a:xfrm>
            <a:off x="822960" y="5257800"/>
            <a:ext cx="10515600" cy="96012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Leadership: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Authority can be assigned, but leadership must be earned — as vividly shown by the contrasting, timeless examples of the Ramayana and Mahabharata.</a:t>
            </a:r>
            <a:endParaRPr lang="en-US" sz="1500" dirty="0"/>
          </a:p>
        </p:txBody>
      </p:sp>
      <p:sp>
        <p:nvSpPr>
          <p:cNvPr id="9" name="Text 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0" name="Text 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Management - Module IV</dc:title>
  <dc:subject>PptxGenJS Presentation</dc:subject>
  <dc:creator>Dr. Rajakrishnan Manivel</dc:creator>
  <cp:lastModifiedBy>Dr. Rajakrishnan Manivel</cp:lastModifiedBy>
  <cp:revision>1</cp:revision>
  <dcterms:created xsi:type="dcterms:W3CDTF">2026-09-08T10:54:37Z</dcterms:created>
  <dcterms:modified xsi:type="dcterms:W3CDTF">2026-09-08T10:54:37Z</dcterms:modified>
</cp:coreProperties>
</file>