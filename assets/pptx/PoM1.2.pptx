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PRINCIPLES OF MANAGEMENT — PART II</a:t>
            </a:r>
            <a:endParaRPr lang="en-US" sz="1500" dirty="0"/>
          </a:p>
        </p:txBody>
      </p:sp>
      <p:sp>
        <p:nvSpPr>
          <p:cNvPr id="5" name="Text 3"/>
          <p:cNvSpPr/>
          <p:nvPr/>
        </p:nvSpPr>
        <p:spPr>
          <a:xfrm>
            <a:off x="822960" y="1737360"/>
            <a:ext cx="969264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Functions, Nature, Levels &amp; Founding Theories</a:t>
            </a:r>
            <a:endParaRPr lang="en-US" sz="4000" dirty="0"/>
          </a:p>
        </p:txBody>
      </p:sp>
      <p:sp>
        <p:nvSpPr>
          <p:cNvPr id="6" name="Text 4"/>
          <p:cNvSpPr/>
          <p:nvPr/>
        </p:nvSpPr>
        <p:spPr>
          <a:xfrm>
            <a:off x="822960" y="2788920"/>
            <a:ext cx="9601200" cy="502920"/>
          </a:xfrm>
          <a:prstGeom prst="rect">
            <a:avLst/>
          </a:prstGeom>
          <a:noFill/>
          <a:ln/>
        </p:spPr>
        <p:txBody>
          <a:bodyPr wrap="square" rtlCol="0" anchor="ctr"/>
          <a:lstStyle/>
          <a:p>
            <a:pPr indent="0" marL="0">
              <a:buNone/>
            </a:pPr>
            <a:r>
              <a:rPr lang="en-US" sz="1700" dirty="0">
                <a:solidFill>
                  <a:srgbClr val="CADCFC"/>
                </a:solidFill>
                <a:latin typeface="Calibri" pitchFamily="34" charset="0"/>
                <a:ea typeface="Calibri" pitchFamily="34" charset="-122"/>
                <a:cs typeface="Calibri" pitchFamily="34" charset="-120"/>
              </a:rPr>
              <a:t>Functional Management • Science or Art • Levels of Management • Taylor • Fayol</a:t>
            </a:r>
            <a:endParaRPr lang="en-US" sz="1700" dirty="0"/>
          </a:p>
        </p:txBody>
      </p:sp>
      <p:sp>
        <p:nvSpPr>
          <p:cNvPr id="7" name="Shape 5"/>
          <p:cNvSpPr/>
          <p:nvPr/>
        </p:nvSpPr>
        <p:spPr>
          <a:xfrm>
            <a:off x="868680" y="3383280"/>
            <a:ext cx="2011680" cy="0"/>
          </a:xfrm>
          <a:prstGeom prst="line">
            <a:avLst/>
          </a:prstGeom>
          <a:noFill/>
          <a:ln w="25400">
            <a:solidFill>
              <a:srgbClr val="C9A24B"/>
            </a:solidFill>
            <a:prstDash val="solid"/>
          </a:ln>
        </p:spPr>
      </p:sp>
      <p:sp>
        <p:nvSpPr>
          <p:cNvPr id="8" name="Text 6"/>
          <p:cNvSpPr/>
          <p:nvPr/>
        </p:nvSpPr>
        <p:spPr>
          <a:xfrm>
            <a:off x="822960" y="576072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LECTURE ROADMAP</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What We Will Cover Today</a:t>
            </a:r>
            <a:endParaRPr lang="en-US" sz="2900" dirty="0"/>
          </a:p>
        </p:txBody>
      </p:sp>
      <p:sp>
        <p:nvSpPr>
          <p:cNvPr id="4" name="Shape 2"/>
          <p:cNvSpPr/>
          <p:nvPr/>
        </p:nvSpPr>
        <p:spPr>
          <a:xfrm>
            <a:off x="548640" y="1645920"/>
            <a:ext cx="11064240" cy="868680"/>
          </a:xfrm>
          <a:prstGeom prst="roundRect">
            <a:avLst>
              <a:gd name="adj" fmla="val 8421"/>
            </a:avLst>
          </a:prstGeom>
          <a:solidFill>
            <a:srgbClr val="EEF3FC"/>
          </a:solidFill>
          <a:ln/>
        </p:spPr>
      </p:sp>
      <p:sp>
        <p:nvSpPr>
          <p:cNvPr id="5" name="Shape 3"/>
          <p:cNvSpPr/>
          <p:nvPr/>
        </p:nvSpPr>
        <p:spPr>
          <a:xfrm>
            <a:off x="777240" y="1792224"/>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19886" y="1934870"/>
            <a:ext cx="263347" cy="263347"/>
          </a:xfrm>
          <a:prstGeom prst="rect">
            <a:avLst/>
          </a:prstGeom>
        </p:spPr>
      </p:pic>
      <p:sp>
        <p:nvSpPr>
          <p:cNvPr id="7" name="Text 4"/>
          <p:cNvSpPr/>
          <p:nvPr/>
        </p:nvSpPr>
        <p:spPr>
          <a:xfrm>
            <a:off x="1508760" y="1737360"/>
            <a:ext cx="54864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A</a:t>
            </a:r>
            <a:endParaRPr lang="en-US" sz="1800" dirty="0"/>
          </a:p>
        </p:txBody>
      </p:sp>
      <p:sp>
        <p:nvSpPr>
          <p:cNvPr id="8" name="Text 5"/>
          <p:cNvSpPr/>
          <p:nvPr/>
        </p:nvSpPr>
        <p:spPr>
          <a:xfrm>
            <a:off x="2148840" y="1700784"/>
            <a:ext cx="9144000" cy="384048"/>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Functions of Management &amp; Functional Areas</a:t>
            </a:r>
            <a:endParaRPr lang="en-US" sz="1650" dirty="0"/>
          </a:p>
        </p:txBody>
      </p:sp>
      <p:sp>
        <p:nvSpPr>
          <p:cNvPr id="9" name="Text 6"/>
          <p:cNvSpPr/>
          <p:nvPr/>
        </p:nvSpPr>
        <p:spPr>
          <a:xfrm>
            <a:off x="2148840" y="2075688"/>
            <a:ext cx="9144000" cy="3657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1.19 — Production, Marketing, Finance, Personnel</a:t>
            </a:r>
            <a:endParaRPr lang="en-US" sz="1250" dirty="0"/>
          </a:p>
        </p:txBody>
      </p:sp>
      <p:sp>
        <p:nvSpPr>
          <p:cNvPr id="10" name="Shape 7"/>
          <p:cNvSpPr/>
          <p:nvPr/>
        </p:nvSpPr>
        <p:spPr>
          <a:xfrm>
            <a:off x="548640" y="2651760"/>
            <a:ext cx="11064240" cy="868680"/>
          </a:xfrm>
          <a:prstGeom prst="roundRect">
            <a:avLst>
              <a:gd name="adj" fmla="val 8421"/>
            </a:avLst>
          </a:prstGeom>
          <a:solidFill>
            <a:srgbClr val="EEF3FC"/>
          </a:solidFill>
          <a:ln/>
        </p:spPr>
      </p:sp>
      <p:sp>
        <p:nvSpPr>
          <p:cNvPr id="11" name="Shape 8"/>
          <p:cNvSpPr/>
          <p:nvPr/>
        </p:nvSpPr>
        <p:spPr>
          <a:xfrm>
            <a:off x="777240" y="2798064"/>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919886" y="2940710"/>
            <a:ext cx="263347" cy="263347"/>
          </a:xfrm>
          <a:prstGeom prst="rect">
            <a:avLst/>
          </a:prstGeom>
        </p:spPr>
      </p:pic>
      <p:sp>
        <p:nvSpPr>
          <p:cNvPr id="13" name="Text 9"/>
          <p:cNvSpPr/>
          <p:nvPr/>
        </p:nvSpPr>
        <p:spPr>
          <a:xfrm>
            <a:off x="1508760" y="2743200"/>
            <a:ext cx="54864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B</a:t>
            </a:r>
            <a:endParaRPr lang="en-US" sz="1800" dirty="0"/>
          </a:p>
        </p:txBody>
      </p:sp>
      <p:sp>
        <p:nvSpPr>
          <p:cNvPr id="14" name="Text 10"/>
          <p:cNvSpPr/>
          <p:nvPr/>
        </p:nvSpPr>
        <p:spPr>
          <a:xfrm>
            <a:off x="2148840" y="2706624"/>
            <a:ext cx="9144000" cy="384048"/>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Is Management a Science or an Art?</a:t>
            </a:r>
            <a:endParaRPr lang="en-US" sz="1650" dirty="0"/>
          </a:p>
        </p:txBody>
      </p:sp>
      <p:sp>
        <p:nvSpPr>
          <p:cNvPr id="15" name="Text 11"/>
          <p:cNvSpPr/>
          <p:nvPr/>
        </p:nvSpPr>
        <p:spPr>
          <a:xfrm>
            <a:off x="2148840" y="3081528"/>
            <a:ext cx="9144000" cy="3657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1.11–1.14 — Arguments, evidence &amp; a working synthesis</a:t>
            </a:r>
            <a:endParaRPr lang="en-US" sz="1250" dirty="0"/>
          </a:p>
        </p:txBody>
      </p:sp>
      <p:sp>
        <p:nvSpPr>
          <p:cNvPr id="16" name="Shape 12"/>
          <p:cNvSpPr/>
          <p:nvPr/>
        </p:nvSpPr>
        <p:spPr>
          <a:xfrm>
            <a:off x="548640" y="3657600"/>
            <a:ext cx="11064240" cy="868680"/>
          </a:xfrm>
          <a:prstGeom prst="roundRect">
            <a:avLst>
              <a:gd name="adj" fmla="val 8421"/>
            </a:avLst>
          </a:prstGeom>
          <a:solidFill>
            <a:srgbClr val="EEF3FC"/>
          </a:solidFill>
          <a:ln/>
        </p:spPr>
      </p:sp>
      <p:sp>
        <p:nvSpPr>
          <p:cNvPr id="17" name="Shape 13"/>
          <p:cNvSpPr/>
          <p:nvPr/>
        </p:nvSpPr>
        <p:spPr>
          <a:xfrm>
            <a:off x="777240" y="3803904"/>
            <a:ext cx="548640" cy="54864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19886" y="3946550"/>
            <a:ext cx="263347" cy="263347"/>
          </a:xfrm>
          <a:prstGeom prst="rect">
            <a:avLst/>
          </a:prstGeom>
        </p:spPr>
      </p:pic>
      <p:sp>
        <p:nvSpPr>
          <p:cNvPr id="19" name="Text 14"/>
          <p:cNvSpPr/>
          <p:nvPr/>
        </p:nvSpPr>
        <p:spPr>
          <a:xfrm>
            <a:off x="1508760" y="3749040"/>
            <a:ext cx="54864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C</a:t>
            </a:r>
            <a:endParaRPr lang="en-US" sz="1800" dirty="0"/>
          </a:p>
        </p:txBody>
      </p:sp>
      <p:sp>
        <p:nvSpPr>
          <p:cNvPr id="20" name="Text 15"/>
          <p:cNvSpPr/>
          <p:nvPr/>
        </p:nvSpPr>
        <p:spPr>
          <a:xfrm>
            <a:off x="2148840" y="3712464"/>
            <a:ext cx="9144000" cy="384048"/>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Levels of Management</a:t>
            </a:r>
            <a:endParaRPr lang="en-US" sz="1650" dirty="0"/>
          </a:p>
        </p:txBody>
      </p:sp>
      <p:sp>
        <p:nvSpPr>
          <p:cNvPr id="21" name="Text 16"/>
          <p:cNvSpPr/>
          <p:nvPr/>
        </p:nvSpPr>
        <p:spPr>
          <a:xfrm>
            <a:off x="2148840" y="4087368"/>
            <a:ext cx="9144000" cy="3657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1.23–1.24 — Top, Middle &amp; Supervisory Management</a:t>
            </a:r>
            <a:endParaRPr lang="en-US" sz="1250" dirty="0"/>
          </a:p>
        </p:txBody>
      </p:sp>
      <p:sp>
        <p:nvSpPr>
          <p:cNvPr id="22" name="Shape 17"/>
          <p:cNvSpPr/>
          <p:nvPr/>
        </p:nvSpPr>
        <p:spPr>
          <a:xfrm>
            <a:off x="548640" y="4663440"/>
            <a:ext cx="11064240" cy="868680"/>
          </a:xfrm>
          <a:prstGeom prst="roundRect">
            <a:avLst>
              <a:gd name="adj" fmla="val 8421"/>
            </a:avLst>
          </a:prstGeom>
          <a:solidFill>
            <a:srgbClr val="EEF3FC"/>
          </a:solidFill>
          <a:ln/>
        </p:spPr>
      </p:sp>
      <p:sp>
        <p:nvSpPr>
          <p:cNvPr id="23" name="Shape 18"/>
          <p:cNvSpPr/>
          <p:nvPr/>
        </p:nvSpPr>
        <p:spPr>
          <a:xfrm>
            <a:off x="777240" y="4809744"/>
            <a:ext cx="548640" cy="548640"/>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919886" y="4952390"/>
            <a:ext cx="263347" cy="263347"/>
          </a:xfrm>
          <a:prstGeom prst="rect">
            <a:avLst/>
          </a:prstGeom>
        </p:spPr>
      </p:pic>
      <p:sp>
        <p:nvSpPr>
          <p:cNvPr id="25" name="Text 19"/>
          <p:cNvSpPr/>
          <p:nvPr/>
        </p:nvSpPr>
        <p:spPr>
          <a:xfrm>
            <a:off x="1508760" y="4754880"/>
            <a:ext cx="54864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D</a:t>
            </a:r>
            <a:endParaRPr lang="en-US" sz="1800" dirty="0"/>
          </a:p>
        </p:txBody>
      </p:sp>
      <p:sp>
        <p:nvSpPr>
          <p:cNvPr id="26" name="Text 20"/>
          <p:cNvSpPr/>
          <p:nvPr/>
        </p:nvSpPr>
        <p:spPr>
          <a:xfrm>
            <a:off x="2148840" y="4718304"/>
            <a:ext cx="9144000" cy="384048"/>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Scientific Management (Taylor)</a:t>
            </a:r>
            <a:endParaRPr lang="en-US" sz="1650" dirty="0"/>
          </a:p>
        </p:txBody>
      </p:sp>
      <p:sp>
        <p:nvSpPr>
          <p:cNvPr id="27" name="Text 21"/>
          <p:cNvSpPr/>
          <p:nvPr/>
        </p:nvSpPr>
        <p:spPr>
          <a:xfrm>
            <a:off x="2148840" y="5093208"/>
            <a:ext cx="9144000" cy="3657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4.1–4.2 — Taylor's life, work &amp; five principles</a:t>
            </a:r>
            <a:endParaRPr lang="en-US" sz="1250" dirty="0"/>
          </a:p>
        </p:txBody>
      </p:sp>
      <p:sp>
        <p:nvSpPr>
          <p:cNvPr id="28" name="Shape 22"/>
          <p:cNvSpPr/>
          <p:nvPr/>
        </p:nvSpPr>
        <p:spPr>
          <a:xfrm>
            <a:off x="548640" y="5669280"/>
            <a:ext cx="11064240" cy="868680"/>
          </a:xfrm>
          <a:prstGeom prst="roundRect">
            <a:avLst>
              <a:gd name="adj" fmla="val 8421"/>
            </a:avLst>
          </a:prstGeom>
          <a:solidFill>
            <a:srgbClr val="EEF3FC"/>
          </a:solidFill>
          <a:ln/>
        </p:spPr>
      </p:sp>
      <p:sp>
        <p:nvSpPr>
          <p:cNvPr id="29" name="Shape 23"/>
          <p:cNvSpPr/>
          <p:nvPr/>
        </p:nvSpPr>
        <p:spPr>
          <a:xfrm>
            <a:off x="777240" y="5815584"/>
            <a:ext cx="548640" cy="548640"/>
          </a:xfrm>
          <a:prstGeom prst="ellipse">
            <a:avLst/>
          </a:prstGeom>
          <a:solidFill>
            <a:srgbClr val="1E2761"/>
          </a:solidFill>
          <a:ln/>
        </p:spPr>
      </p:sp>
      <p:pic>
        <p:nvPicPr>
          <p:cNvPr id="30" name="Image 4" descr="preencoded.png">    </p:cNvPr>
          <p:cNvPicPr>
            <a:picLocks noChangeAspect="1"/>
          </p:cNvPicPr>
          <p:nvPr/>
        </p:nvPicPr>
        <p:blipFill>
          <a:blip r:embed="rId5"/>
          <a:stretch>
            <a:fillRect/>
          </a:stretch>
        </p:blipFill>
        <p:spPr>
          <a:xfrm>
            <a:off x="919886" y="5958230"/>
            <a:ext cx="263347" cy="263347"/>
          </a:xfrm>
          <a:prstGeom prst="rect">
            <a:avLst/>
          </a:prstGeom>
        </p:spPr>
      </p:pic>
      <p:sp>
        <p:nvSpPr>
          <p:cNvPr id="31" name="Text 24"/>
          <p:cNvSpPr/>
          <p:nvPr/>
        </p:nvSpPr>
        <p:spPr>
          <a:xfrm>
            <a:off x="1508760" y="5760720"/>
            <a:ext cx="54864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E</a:t>
            </a:r>
            <a:endParaRPr lang="en-US" sz="1800" dirty="0"/>
          </a:p>
        </p:txBody>
      </p:sp>
      <p:sp>
        <p:nvSpPr>
          <p:cNvPr id="32" name="Text 25"/>
          <p:cNvSpPr/>
          <p:nvPr/>
        </p:nvSpPr>
        <p:spPr>
          <a:xfrm>
            <a:off x="2148840" y="5724144"/>
            <a:ext cx="9144000" cy="384048"/>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Fayol's Theory of Management</a:t>
            </a:r>
            <a:endParaRPr lang="en-US" sz="1650" dirty="0"/>
          </a:p>
        </p:txBody>
      </p:sp>
      <p:sp>
        <p:nvSpPr>
          <p:cNvPr id="33" name="Text 26"/>
          <p:cNvSpPr/>
          <p:nvPr/>
        </p:nvSpPr>
        <p:spPr>
          <a:xfrm>
            <a:off x="2148840" y="6099048"/>
            <a:ext cx="9144000" cy="3657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5.1–5.4 — 14 General Principles of Management</a:t>
            </a:r>
            <a:endParaRPr lang="en-US" sz="1250" dirty="0"/>
          </a:p>
        </p:txBody>
      </p:sp>
      <p:sp>
        <p:nvSpPr>
          <p:cNvPr id="34" name="Text 27"/>
          <p:cNvSpPr/>
          <p:nvPr/>
        </p:nvSpPr>
        <p:spPr>
          <a:xfrm>
            <a:off x="548640" y="6720840"/>
            <a:ext cx="10972800" cy="36576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Wraps up with Recall Questions and animated Multiple-Choice Quiz.</a:t>
            </a:r>
            <a:endParaRPr lang="en-US" sz="1250" dirty="0"/>
          </a:p>
        </p:txBody>
      </p:sp>
      <p:sp>
        <p:nvSpPr>
          <p:cNvPr id="35" name="Text 2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36" name="Text 2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A</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1.19</a:t>
            </a:r>
            <a:endParaRPr lang="en-US" sz="34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Functions of 'Management' and 'Functional Management'</a:t>
            </a:r>
            <a:endParaRPr lang="en-US" sz="22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68680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How the general functions of management map onto the specialised functional areas of a business.</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Functions of Management</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200"/>
              </a:spcAft>
              <a:buNone/>
            </a:pPr>
            <a:r>
              <a:rPr lang="en-US" sz="1600" dirty="0">
                <a:solidFill>
                  <a:srgbClr val="2B2B33"/>
                </a:solidFill>
                <a:latin typeface="Calibri" pitchFamily="34" charset="0"/>
                <a:ea typeface="Calibri" pitchFamily="34" charset="-122"/>
                <a:cs typeface="Calibri" pitchFamily="34" charset="-120"/>
              </a:rPr>
              <a:t>Business management consists of six important functions, e.g.:</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1. Planning</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2. Organization</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3. Staffing</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4. Coordination, and</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5. Control.</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“Please Organize Staff, Coordinate &amp; Control” — P-O-S-C-C keeps the functions in order.</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Seen in Action</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store manager Plans the week's sales target, Organizes shelves and staff shifts, Staffs the counters, Coordinates with the warehouse, and Controls cash counts every evening.</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 &amp; FUNCTIONAL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(2) Functional Management</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functional areas of management can be classified as follows:</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1. Production management</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2. Marketing management</a:t>
            </a:r>
            <a:endParaRPr lang="en-US" sz="1600" dirty="0"/>
          </a:p>
          <a:p>
            <a:pPr marL="342900" indent="-342900">
              <a:lnSpc>
                <a:spcPct val="112000"/>
              </a:lnSpc>
              <a:spcAft>
                <a:spcPts val="600"/>
              </a:spcAft>
              <a:buSzPct val="100000"/>
              <a:buChar char="•"/>
            </a:pPr>
            <a:r>
              <a:rPr lang="en-US" sz="1600" dirty="0">
                <a:solidFill>
                  <a:srgbClr val="2B2B33"/>
                </a:solidFill>
                <a:latin typeface="Calibri" pitchFamily="34" charset="0"/>
                <a:ea typeface="Calibri" pitchFamily="34" charset="-122"/>
                <a:cs typeface="Calibri" pitchFamily="34" charset="-120"/>
              </a:rPr>
              <a:t>3. Financial management, and</a:t>
            </a:r>
            <a:endParaRPr lang="en-US" sz="1600" dirty="0"/>
          </a:p>
          <a:p>
            <a:pPr marL="342900" indent="-342900">
              <a:lnSpc>
                <a:spcPct val="112000"/>
              </a:lnSpc>
              <a:spcAft>
                <a:spcPts val="1200"/>
              </a:spcAft>
              <a:buSzPct val="100000"/>
              <a:buChar char="•"/>
            </a:pPr>
            <a:r>
              <a:rPr lang="en-US" sz="1600" dirty="0">
                <a:solidFill>
                  <a:srgbClr val="2B2B33"/>
                </a:solidFill>
                <a:latin typeface="Calibri" pitchFamily="34" charset="0"/>
                <a:ea typeface="Calibri" pitchFamily="34" charset="-122"/>
                <a:cs typeface="Calibri" pitchFamily="34" charset="-120"/>
              </a:rPr>
              <a:t>4. Personnel management.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Some experts also speak of 'Information and Administration Management', 'Accounting Management', and 'Research and Development Management' — but these are at best subsidiary parts of the four main areas above.</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“People Make Fine Products” — Personnel, Marketing, Finance, Production (the 4 functional areas).</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Four Pillars</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Think of any factory: someone makes the product (Production), someone sells it (Marketing), someone funds it (Finance), and someone staffs it (Personnel).</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 &amp; FUNCTIONAL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(3) Functions of 'Production Management'</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 business unit is established for production and distribution of goods and/or services.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Production management refers to planning, organization, direction, coordination and control of the production function so that the desired goods or services could be produced at the right time, in right quantity, and at the right cost.</a:t>
            </a:r>
            <a:endParaRPr lang="en-US" sz="1600" dirty="0"/>
          </a:p>
          <a:p>
            <a:pPr indent="0" marL="0">
              <a:lnSpc>
                <a:spcPct val="112000"/>
              </a:lnSpc>
              <a:spcAft>
                <a:spcPts val="600"/>
              </a:spcAft>
              <a:buNone/>
            </a:pPr>
            <a:r>
              <a:rPr lang="en-US" sz="1600" dirty="0">
                <a:solidFill>
                  <a:srgbClr val="2B2B33"/>
                </a:solidFill>
                <a:latin typeface="Calibri" pitchFamily="34" charset="0"/>
                <a:ea typeface="Calibri" pitchFamily="34" charset="-122"/>
                <a:cs typeface="Calibri" pitchFamily="34" charset="-120"/>
              </a:rPr>
              <a:t>Production management involves the following activities: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(a) Developing the product/service</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(b) Establishment of proper organization structure</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(c) Selection of personnel</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(d) Management of purchase, storage and transportation of raw materials, and</a:t>
            </a:r>
            <a:endParaRPr lang="en-US" sz="1600" dirty="0"/>
          </a:p>
          <a:p>
            <a:pPr marL="342900" indent="-342900">
              <a:lnSpc>
                <a:spcPct val="112000"/>
              </a:lnSpc>
              <a:buSzPct val="100000"/>
              <a:buChar char="•"/>
            </a:pPr>
            <a:r>
              <a:rPr lang="en-US" sz="1600" dirty="0">
                <a:solidFill>
                  <a:srgbClr val="2B2B33"/>
                </a:solidFill>
                <a:latin typeface="Calibri" pitchFamily="34" charset="0"/>
                <a:ea typeface="Calibri" pitchFamily="34" charset="-122"/>
                <a:cs typeface="Calibri" pitchFamily="34" charset="-120"/>
              </a:rPr>
              <a:t>(e) Ensuring effective production control.</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“DOSE” of production: Develop, Organize, Select, Ensure control.</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Right Time, Right Cost</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bakery scheduling dough-mixing, oven slots and delivery vans so that fresh bread reaches shops every morning at the lowest possible cost.</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 &amp; FUNCTIONAL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(4) Functions of 'Marketing Management' – I</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In the modern world, the marketing function is becoming more and more complex — because the market today is the buyers' market.</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First, the needs, desires, buying capacities and habits of buyers need to be carefully studied to draw them to a particular product or service; and if they are habituated to another product, it becomes necessary to wean them away by convincing them how they stand to benefit if they switch (e.g., a TV manufacturer calling competing TVs 'dabba', or a washing-powder maker demonstrating two shirts side by side).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Secondly, the market is no longer localized — it extends to far-flung and even foreign lands, raising issues of transportation, payment security, multi-language advertising, and export/import procedures.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Thirdly, there is increasing competition from local as well as foreign producers.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Buyers' Market</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Two rival detergent brands running side-by-side demo ads, each trying to prove its powder washes clothes whiter — classic competitive marketing.</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 &amp; FUNCTIONAL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(4) Functions of 'Marketing Management' – II</a:t>
            </a:r>
            <a:endParaRPr lang="en-US" sz="2900" dirty="0"/>
          </a:p>
        </p:txBody>
      </p:sp>
      <p:sp>
        <p:nvSpPr>
          <p:cNvPr id="4" name="Text 2"/>
          <p:cNvSpPr/>
          <p:nvPr/>
        </p:nvSpPr>
        <p:spPr>
          <a:xfrm>
            <a:off x="548640" y="1691640"/>
            <a:ext cx="5669280" cy="4480560"/>
          </a:xfrm>
          <a:prstGeom prst="rect">
            <a:avLst/>
          </a:prstGeom>
          <a:noFill/>
          <a:ln/>
        </p:spPr>
        <p:txBody>
          <a:bodyPr wrap="square" rtlCol="0" anchor="t"/>
          <a:lstStyle/>
          <a:p>
            <a:pPr indent="0" marL="0">
              <a:lnSpc>
                <a:spcPct val="112000"/>
              </a:lnSpc>
              <a:spcAft>
                <a:spcPts val="1000"/>
              </a:spcAft>
              <a:buNone/>
            </a:pPr>
            <a:r>
              <a:rPr lang="en-US" sz="1500" dirty="0">
                <a:solidFill>
                  <a:srgbClr val="2B2B33"/>
                </a:solidFill>
                <a:latin typeface="Calibri" pitchFamily="34" charset="0"/>
                <a:ea typeface="Calibri" pitchFamily="34" charset="-122"/>
                <a:cs typeface="Calibri" pitchFamily="34" charset="-120"/>
              </a:rPr>
              <a:t>The marketing function comprises the following activities:</a:t>
            </a:r>
            <a:endParaRPr lang="en-US" sz="1500" dirty="0"/>
          </a:p>
          <a:p>
            <a:pPr marL="342900" indent="-342900">
              <a:lnSpc>
                <a:spcPct val="112000"/>
              </a:lnSpc>
              <a:spcAft>
                <a:spcPts val="600"/>
              </a:spcAft>
              <a:buSzPct val="100000"/>
              <a:buChar char="•"/>
            </a:pPr>
            <a:r>
              <a:rPr lang="en-US" sz="1500" dirty="0">
                <a:solidFill>
                  <a:srgbClr val="2B2B33"/>
                </a:solidFill>
                <a:latin typeface="Calibri" pitchFamily="34" charset="0"/>
                <a:ea typeface="Calibri" pitchFamily="34" charset="-122"/>
                <a:cs typeface="Calibri" pitchFamily="34" charset="-120"/>
              </a:rPr>
              <a:t>1. Assessing consumer demand</a:t>
            </a:r>
            <a:endParaRPr lang="en-US" sz="1500" dirty="0"/>
          </a:p>
          <a:p>
            <a:pPr marL="342900" indent="-342900">
              <a:lnSpc>
                <a:spcPct val="112000"/>
              </a:lnSpc>
              <a:spcAft>
                <a:spcPts val="600"/>
              </a:spcAft>
              <a:buSzPct val="100000"/>
              <a:buChar char="•"/>
            </a:pPr>
            <a:r>
              <a:rPr lang="en-US" sz="1500" dirty="0">
                <a:solidFill>
                  <a:srgbClr val="2B2B33"/>
                </a:solidFill>
                <a:latin typeface="Calibri" pitchFamily="34" charset="0"/>
                <a:ea typeface="Calibri" pitchFamily="34" charset="-122"/>
                <a:cs typeface="Calibri" pitchFamily="34" charset="-120"/>
              </a:rPr>
              <a:t>2. Setting up facility to produce goods and/or services</a:t>
            </a:r>
            <a:endParaRPr lang="en-US" sz="1500" dirty="0"/>
          </a:p>
          <a:p>
            <a:pPr marL="342900" indent="-342900">
              <a:lnSpc>
                <a:spcPct val="112000"/>
              </a:lnSpc>
              <a:spcAft>
                <a:spcPts val="600"/>
              </a:spcAft>
              <a:buSzPct val="100000"/>
              <a:buChar char="•"/>
            </a:pPr>
            <a:r>
              <a:rPr lang="en-US" sz="1500" dirty="0">
                <a:solidFill>
                  <a:srgbClr val="2B2B33"/>
                </a:solidFill>
                <a:latin typeface="Calibri" pitchFamily="34" charset="0"/>
                <a:ea typeface="Calibri" pitchFamily="34" charset="-122"/>
                <a:cs typeface="Calibri" pitchFamily="34" charset="-120"/>
              </a:rPr>
              <a:t>3. Ensuring adequacy of finance, depending on production costs and length of time-interval between production and sales</a:t>
            </a:r>
            <a:endParaRPr lang="en-US" sz="1500" dirty="0"/>
          </a:p>
          <a:p>
            <a:pPr marL="342900" indent="-342900">
              <a:lnSpc>
                <a:spcPct val="112000"/>
              </a:lnSpc>
              <a:spcAft>
                <a:spcPts val="600"/>
              </a:spcAft>
              <a:buSzPct val="100000"/>
              <a:buChar char="•"/>
            </a:pPr>
            <a:r>
              <a:rPr lang="en-US" sz="1500" dirty="0">
                <a:solidFill>
                  <a:srgbClr val="2B2B33"/>
                </a:solidFill>
                <a:latin typeface="Calibri" pitchFamily="34" charset="0"/>
                <a:ea typeface="Calibri" pitchFamily="34" charset="-122"/>
                <a:cs typeface="Calibri" pitchFamily="34" charset="-120"/>
              </a:rPr>
              <a:t>4. Choice of the market — whether high-price top-end or low-price mass market, and</a:t>
            </a:r>
            <a:endParaRPr lang="en-US" sz="1500" dirty="0"/>
          </a:p>
          <a:p>
            <a:pPr marL="342900" indent="-342900">
              <a:lnSpc>
                <a:spcPct val="112000"/>
              </a:lnSpc>
              <a:buSzPct val="100000"/>
              <a:buChar char="•"/>
            </a:pPr>
            <a:r>
              <a:rPr lang="en-US" sz="1500" dirty="0">
                <a:solidFill>
                  <a:srgbClr val="2B2B33"/>
                </a:solidFill>
                <a:latin typeface="Calibri" pitchFamily="34" charset="0"/>
                <a:ea typeface="Calibri" pitchFamily="34" charset="-122"/>
                <a:cs typeface="Calibri" pitchFamily="34" charset="-120"/>
              </a:rPr>
              <a:t>5. Assessing the extent of competition.</a:t>
            </a:r>
            <a:endParaRPr lang="en-US" sz="1500" dirty="0"/>
          </a:p>
        </p:txBody>
      </p:sp>
      <p:sp>
        <p:nvSpPr>
          <p:cNvPr id="5" name="Text 3"/>
          <p:cNvSpPr/>
          <p:nvPr/>
        </p:nvSpPr>
        <p:spPr>
          <a:xfrm>
            <a:off x="7315200" y="1234440"/>
            <a:ext cx="3657600" cy="32004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Personnel Management</a:t>
            </a:r>
            <a:endParaRPr lang="en-US" sz="1200" dirty="0"/>
          </a:p>
        </p:txBody>
      </p:sp>
      <p:sp>
        <p:nvSpPr>
          <p:cNvPr id="6" name="Shape 4"/>
          <p:cNvSpPr/>
          <p:nvPr/>
        </p:nvSpPr>
        <p:spPr>
          <a:xfrm>
            <a:off x="7178040" y="1783080"/>
            <a:ext cx="3931920" cy="3931920"/>
          </a:xfrm>
          <a:prstGeom prst="ellipse">
            <a:avLst/>
          </a:prstGeom>
          <a:solidFill>
            <a:srgbClr val="EEF3FC"/>
          </a:solidFill>
          <a:ln w="19050">
            <a:solidFill>
              <a:srgbClr val="3A4A8C"/>
            </a:solidFill>
            <a:prstDash val="solid"/>
          </a:ln>
        </p:spPr>
      </p:sp>
      <p:sp>
        <p:nvSpPr>
          <p:cNvPr id="7" name="Shape 5"/>
          <p:cNvSpPr/>
          <p:nvPr/>
        </p:nvSpPr>
        <p:spPr>
          <a:xfrm>
            <a:off x="8046720" y="2651760"/>
            <a:ext cx="2194560" cy="2194560"/>
          </a:xfrm>
          <a:prstGeom prst="ellipse">
            <a:avLst/>
          </a:prstGeom>
          <a:solidFill>
            <a:srgbClr val="1E2761"/>
          </a:solidFill>
          <a:ln w="19050">
            <a:solidFill>
              <a:srgbClr val="C9A24B"/>
            </a:solidFill>
            <a:prstDash val="solid"/>
          </a:ln>
        </p:spPr>
      </p:sp>
      <p:sp>
        <p:nvSpPr>
          <p:cNvPr id="8" name="Text 6"/>
          <p:cNvSpPr/>
          <p:nvPr/>
        </p:nvSpPr>
        <p:spPr>
          <a:xfrm>
            <a:off x="8046720" y="3246120"/>
            <a:ext cx="2194560" cy="640080"/>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Business</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Management</a:t>
            </a:r>
            <a:endParaRPr lang="en-US" sz="1100" dirty="0"/>
          </a:p>
        </p:txBody>
      </p:sp>
      <p:sp>
        <p:nvSpPr>
          <p:cNvPr id="9" name="Text 7"/>
          <p:cNvSpPr/>
          <p:nvPr/>
        </p:nvSpPr>
        <p:spPr>
          <a:xfrm>
            <a:off x="8641080" y="2093976"/>
            <a:ext cx="1005840" cy="292608"/>
          </a:xfrm>
          <a:prstGeom prst="rect">
            <a:avLst/>
          </a:prstGeom>
          <a:noFill/>
          <a:ln/>
        </p:spPr>
        <p:txBody>
          <a:bodyPr wrap="square" rtlCol="0" anchor="ctr"/>
          <a:lstStyle/>
          <a:p>
            <a:pPr algn="ctr" indent="0" marL="0">
              <a:buNone/>
            </a:pPr>
            <a:r>
              <a:rPr lang="en-US" sz="950" b="1" dirty="0">
                <a:solidFill>
                  <a:srgbClr val="141B48"/>
                </a:solidFill>
                <a:latin typeface="Calibri" pitchFamily="34" charset="0"/>
                <a:ea typeface="Calibri" pitchFamily="34" charset="-122"/>
                <a:cs typeface="Calibri" pitchFamily="34" charset="-120"/>
              </a:rPr>
              <a:t>Planning</a:t>
            </a:r>
            <a:endParaRPr lang="en-US" sz="950" dirty="0"/>
          </a:p>
        </p:txBody>
      </p:sp>
      <p:sp>
        <p:nvSpPr>
          <p:cNvPr id="10" name="Text 8"/>
          <p:cNvSpPr/>
          <p:nvPr/>
        </p:nvSpPr>
        <p:spPr>
          <a:xfrm>
            <a:off x="9947704" y="2848356"/>
            <a:ext cx="1005840" cy="292608"/>
          </a:xfrm>
          <a:prstGeom prst="rect">
            <a:avLst/>
          </a:prstGeom>
          <a:noFill/>
          <a:ln/>
        </p:spPr>
        <p:txBody>
          <a:bodyPr wrap="square" rtlCol="0" anchor="ctr"/>
          <a:lstStyle/>
          <a:p>
            <a:pPr algn="ctr" indent="0" marL="0">
              <a:buNone/>
            </a:pPr>
            <a:r>
              <a:rPr lang="en-US" sz="950" b="1" dirty="0">
                <a:solidFill>
                  <a:srgbClr val="141B48"/>
                </a:solidFill>
                <a:latin typeface="Calibri" pitchFamily="34" charset="0"/>
                <a:ea typeface="Calibri" pitchFamily="34" charset="-122"/>
                <a:cs typeface="Calibri" pitchFamily="34" charset="-120"/>
              </a:rPr>
              <a:t>Marketing</a:t>
            </a:r>
            <a:endParaRPr lang="en-US" sz="950" dirty="0"/>
          </a:p>
        </p:txBody>
      </p:sp>
      <p:sp>
        <p:nvSpPr>
          <p:cNvPr id="11" name="Text 9"/>
          <p:cNvSpPr/>
          <p:nvPr/>
        </p:nvSpPr>
        <p:spPr>
          <a:xfrm>
            <a:off x="9947704" y="4357116"/>
            <a:ext cx="1005840" cy="292608"/>
          </a:xfrm>
          <a:prstGeom prst="rect">
            <a:avLst/>
          </a:prstGeom>
          <a:noFill/>
          <a:ln/>
        </p:spPr>
        <p:txBody>
          <a:bodyPr wrap="square" rtlCol="0" anchor="ctr"/>
          <a:lstStyle/>
          <a:p>
            <a:pPr algn="ctr" indent="0" marL="0">
              <a:buNone/>
            </a:pPr>
            <a:r>
              <a:rPr lang="en-US" sz="950" b="1" dirty="0">
                <a:solidFill>
                  <a:srgbClr val="141B48"/>
                </a:solidFill>
                <a:latin typeface="Calibri" pitchFamily="34" charset="0"/>
                <a:ea typeface="Calibri" pitchFamily="34" charset="-122"/>
                <a:cs typeface="Calibri" pitchFamily="34" charset="-120"/>
              </a:rPr>
              <a:t>Personnel</a:t>
            </a:r>
            <a:endParaRPr lang="en-US" sz="950" dirty="0"/>
          </a:p>
        </p:txBody>
      </p:sp>
      <p:sp>
        <p:nvSpPr>
          <p:cNvPr id="12" name="Text 10"/>
          <p:cNvSpPr/>
          <p:nvPr/>
        </p:nvSpPr>
        <p:spPr>
          <a:xfrm>
            <a:off x="8641080" y="5111496"/>
            <a:ext cx="1005840" cy="292608"/>
          </a:xfrm>
          <a:prstGeom prst="rect">
            <a:avLst/>
          </a:prstGeom>
          <a:noFill/>
          <a:ln/>
        </p:spPr>
        <p:txBody>
          <a:bodyPr wrap="square" rtlCol="0" anchor="ctr"/>
          <a:lstStyle/>
          <a:p>
            <a:pPr algn="ctr" indent="0" marL="0">
              <a:buNone/>
            </a:pPr>
            <a:r>
              <a:rPr lang="en-US" sz="950" b="1" dirty="0">
                <a:solidFill>
                  <a:srgbClr val="141B48"/>
                </a:solidFill>
                <a:latin typeface="Calibri" pitchFamily="34" charset="0"/>
                <a:ea typeface="Calibri" pitchFamily="34" charset="-122"/>
                <a:cs typeface="Calibri" pitchFamily="34" charset="-120"/>
              </a:rPr>
              <a:t>Production</a:t>
            </a:r>
            <a:endParaRPr lang="en-US" sz="950" dirty="0"/>
          </a:p>
        </p:txBody>
      </p:sp>
      <p:sp>
        <p:nvSpPr>
          <p:cNvPr id="13" name="Text 11"/>
          <p:cNvSpPr/>
          <p:nvPr/>
        </p:nvSpPr>
        <p:spPr>
          <a:xfrm>
            <a:off x="7334456" y="4357116"/>
            <a:ext cx="1005840" cy="292608"/>
          </a:xfrm>
          <a:prstGeom prst="rect">
            <a:avLst/>
          </a:prstGeom>
          <a:noFill/>
          <a:ln/>
        </p:spPr>
        <p:txBody>
          <a:bodyPr wrap="square" rtlCol="0" anchor="ctr"/>
          <a:lstStyle/>
          <a:p>
            <a:pPr algn="ctr" indent="0" marL="0">
              <a:buNone/>
            </a:pPr>
            <a:r>
              <a:rPr lang="en-US" sz="950" b="1" dirty="0">
                <a:solidFill>
                  <a:srgbClr val="141B48"/>
                </a:solidFill>
                <a:latin typeface="Calibri" pitchFamily="34" charset="0"/>
                <a:ea typeface="Calibri" pitchFamily="34" charset="-122"/>
                <a:cs typeface="Calibri" pitchFamily="34" charset="-120"/>
              </a:rPr>
              <a:t>Control</a:t>
            </a:r>
            <a:endParaRPr lang="en-US" sz="950" dirty="0"/>
          </a:p>
        </p:txBody>
      </p:sp>
      <p:sp>
        <p:nvSpPr>
          <p:cNvPr id="14" name="Text 12"/>
          <p:cNvSpPr/>
          <p:nvPr/>
        </p:nvSpPr>
        <p:spPr>
          <a:xfrm>
            <a:off x="7334456" y="2848356"/>
            <a:ext cx="1005840" cy="292608"/>
          </a:xfrm>
          <a:prstGeom prst="rect">
            <a:avLst/>
          </a:prstGeom>
          <a:noFill/>
          <a:ln/>
        </p:spPr>
        <p:txBody>
          <a:bodyPr wrap="square" rtlCol="0" anchor="ctr"/>
          <a:lstStyle/>
          <a:p>
            <a:pPr algn="ctr" indent="0" marL="0">
              <a:buNone/>
            </a:pPr>
            <a:r>
              <a:rPr lang="en-US" sz="950" b="1" dirty="0">
                <a:solidFill>
                  <a:srgbClr val="141B48"/>
                </a:solidFill>
                <a:latin typeface="Calibri" pitchFamily="34" charset="0"/>
                <a:ea typeface="Calibri" pitchFamily="34" charset="-122"/>
                <a:cs typeface="Calibri" pitchFamily="34" charset="-120"/>
              </a:rPr>
              <a:t>Finance</a:t>
            </a:r>
            <a:endParaRPr lang="en-US" sz="950" dirty="0"/>
          </a:p>
        </p:txBody>
      </p:sp>
      <p:sp>
        <p:nvSpPr>
          <p:cNvPr id="15" name="Text 13"/>
          <p:cNvSpPr/>
          <p:nvPr/>
        </p:nvSpPr>
        <p:spPr>
          <a:xfrm>
            <a:off x="7005696" y="1930776"/>
            <a:ext cx="914400" cy="274320"/>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Efficiency</a:t>
            </a:r>
            <a:endParaRPr lang="en-US" sz="900" dirty="0"/>
          </a:p>
        </p:txBody>
      </p:sp>
      <p:sp>
        <p:nvSpPr>
          <p:cNvPr id="16" name="Text 14"/>
          <p:cNvSpPr/>
          <p:nvPr/>
        </p:nvSpPr>
        <p:spPr>
          <a:xfrm>
            <a:off x="10367904" y="1930776"/>
            <a:ext cx="914400" cy="274320"/>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Effectiveness</a:t>
            </a:r>
            <a:endParaRPr lang="en-US" sz="900" dirty="0"/>
          </a:p>
        </p:txBody>
      </p:sp>
      <p:sp>
        <p:nvSpPr>
          <p:cNvPr id="17" name="Text 15"/>
          <p:cNvSpPr/>
          <p:nvPr/>
        </p:nvSpPr>
        <p:spPr>
          <a:xfrm>
            <a:off x="7005696" y="5292984"/>
            <a:ext cx="914400" cy="274320"/>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Cooperation</a:t>
            </a:r>
            <a:endParaRPr lang="en-US" sz="900" dirty="0"/>
          </a:p>
        </p:txBody>
      </p:sp>
      <p:sp>
        <p:nvSpPr>
          <p:cNvPr id="18" name="Text 16"/>
          <p:cNvSpPr/>
          <p:nvPr/>
        </p:nvSpPr>
        <p:spPr>
          <a:xfrm>
            <a:off x="10367904" y="5292984"/>
            <a:ext cx="914400" cy="274320"/>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Coordination</a:t>
            </a:r>
            <a:endParaRPr lang="en-US" sz="900" dirty="0"/>
          </a:p>
        </p:txBody>
      </p:sp>
      <p:sp>
        <p:nvSpPr>
          <p:cNvPr id="19" name="Text 17"/>
          <p:cNvSpPr/>
          <p:nvPr/>
        </p:nvSpPr>
        <p:spPr>
          <a:xfrm>
            <a:off x="7132320" y="5897880"/>
            <a:ext cx="4023360" cy="32004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5 Ms: Men • Money • Materials • Machines • Methods</a:t>
            </a:r>
            <a:endParaRPr lang="en-US" sz="100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a:t>
            </a:r>
            <a:endParaRPr lang="en-US" sz="11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(5) Functions of 'Financial Management'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Finance is the life-blood of a business; business operations revolve round finance. In fact, all management decisions are subject to availability, safety and liquidity of financial resource.</a:t>
            </a:r>
            <a:endParaRPr lang="en-US" sz="1600" dirty="0"/>
          </a:p>
          <a:p>
            <a:pPr indent="0" marL="0">
              <a:lnSpc>
                <a:spcPct val="112000"/>
              </a:lnSpc>
              <a:spcAft>
                <a:spcPts val="600"/>
              </a:spcAft>
              <a:buNone/>
            </a:pPr>
            <a:r>
              <a:rPr lang="en-US" sz="1600" dirty="0">
                <a:solidFill>
                  <a:srgbClr val="2B2B33"/>
                </a:solidFill>
                <a:latin typeface="Calibri" pitchFamily="34" charset="0"/>
                <a:ea typeface="Calibri" pitchFamily="34" charset="-122"/>
                <a:cs typeface="Calibri" pitchFamily="34" charset="-120"/>
              </a:rPr>
              <a:t>The main objectives and functions of financial management are as follows: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(a) To ensure availability of adequate funds for business operations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(b) To allow sufficient flexibility in financial planning to ensure funds are available when needed</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(c) To raise and maintain funds at the lowest cost possible</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(d) To ensure adequate liquidity so the business is never short of liquid cash for current liabilities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(e) To achieve safety of investment as also secure maximum return on investments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(f) To maintain credit-worthiness and reputation among creditors, bankers, shareholders and the public, and</a:t>
            </a:r>
            <a:endParaRPr lang="en-US" sz="1600" dirty="0"/>
          </a:p>
          <a:p>
            <a:pPr marL="342900" indent="-342900">
              <a:lnSpc>
                <a:spcPct val="112000"/>
              </a:lnSpc>
              <a:buSzPct val="100000"/>
              <a:buChar char="•"/>
            </a:pPr>
            <a:r>
              <a:rPr lang="en-US" sz="1600" dirty="0">
                <a:solidFill>
                  <a:srgbClr val="2B2B33"/>
                </a:solidFill>
                <a:latin typeface="Calibri" pitchFamily="34" charset="0"/>
                <a:ea typeface="Calibri" pitchFamily="34" charset="-122"/>
                <a:cs typeface="Calibri" pitchFamily="34" charset="-120"/>
              </a:rPr>
              <a:t>(g) To secure to owners (shareholders) a fair return on the capital invested by them.</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Life-Blood of Business</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company delaying a machine purchase until it secures a low-interest loan — balancing adequacy of funds against lowest cost of capital.</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 &amp; FUNCTIONAL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1.19. FUNCTIONS OF MANAGEMENT &amp; FUNCTIONAL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(6) Functions of 'Personnel Management'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Personnel management is concerned with human resources of an organization. Its functions include procurement, development, provision of compensation, and integration of the personnel to contribute to accomplishment of organizational goals.</a:t>
            </a:r>
            <a:endParaRPr lang="en-US" sz="1600" dirty="0"/>
          </a:p>
          <a:p>
            <a:pPr indent="0" marL="0">
              <a:lnSpc>
                <a:spcPct val="112000"/>
              </a:lnSpc>
              <a:spcAft>
                <a:spcPts val="600"/>
              </a:spcAft>
              <a:buNone/>
            </a:pPr>
            <a:r>
              <a:rPr lang="en-US" sz="1600" dirty="0">
                <a:solidFill>
                  <a:srgbClr val="2B2B33"/>
                </a:solidFill>
                <a:latin typeface="Calibri" pitchFamily="34" charset="0"/>
                <a:ea typeface="Calibri" pitchFamily="34" charset="-122"/>
                <a:cs typeface="Calibri" pitchFamily="34" charset="-120"/>
              </a:rPr>
              <a:t>The main objectives of personnel management are as follows: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(a) To contribute to welfare of society by creating job opportunities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(b) To contribute to welfare of individual workers by providing adequate monetary and non-monetary compensation, job-satisfaction, job security, and opportunities for all-round development</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(c) To ensure that various positions are occupied by competent, contented and effective workers, with opportunity to perform in an atmosphere free from physical or mental tension, and</a:t>
            </a:r>
            <a:endParaRPr lang="en-US" sz="1600" dirty="0"/>
          </a:p>
          <a:p>
            <a:pPr marL="342900" indent="-342900">
              <a:lnSpc>
                <a:spcPct val="112000"/>
              </a:lnSpc>
              <a:buSzPct val="100000"/>
              <a:buChar char="•"/>
            </a:pPr>
            <a:r>
              <a:rPr lang="en-US" sz="1600" dirty="0">
                <a:solidFill>
                  <a:srgbClr val="2B2B33"/>
                </a:solidFill>
                <a:latin typeface="Calibri" pitchFamily="34" charset="0"/>
                <a:ea typeface="Calibri" pitchFamily="34" charset="-122"/>
                <a:cs typeface="Calibri" pitchFamily="34" charset="-120"/>
              </a:rPr>
              <a:t>(d) To recognize workers' right to form or join labor unions and persuade their leaders to promote self-discipline among workers for maximum efficiency and economy.</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People First</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An HR department running a wellness programme and encouraging an employee association — covering both individual welfare and organized worker voice.</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1.19. FUNCTIONS OF MANAGEMENT &amp; FUNCTIONAL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B</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1.11 – 1.14</a:t>
            </a:r>
            <a:endParaRPr lang="en-US" sz="34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Whether Management is 'Science' or 'Art'?</a:t>
            </a:r>
            <a:endParaRPr lang="en-US" sz="22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68680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A classic debate: does management behave like a science, an art, or a bit of both?</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1.11. WHETHER MANAGEMENT IS 'SCIENCE' OR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Management Experts Have Different Opinions</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question — whether management is a science or an art — cannot be answered to the satisfaction of everybody.</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Experts like Frederick Taylor, Luther Gullick, and others claim that management is a body of knowledge that seeks to systematically understand why and how people work together to achieve common goals. As management principles are based on conclusions of scientific inquiry, it is reason enough to call management a science.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Those opposed to this viewpoint concede that while practice of management does require an element of skill or art, this does not raise management to the status of a science. Mary Parker Follet, on the other hand, says management is an art.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Given the divergent views on the subject, it is necessary to test the validity of each view and arrive at an acceptable conclusion.</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Two Camps</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Taylor &amp; Gullick: 'It's a Science.' Mary Parker Follet: 'It's an Art.' — the debate this section resolves.</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1.11. WHETHER MANAGEMENT IS 'SCIENCE' OR 'ART'?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1.11. WHETHER MANAGEMENT IS 'SCIENCE' OR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(2) Management as 'Science'</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 science represents knowledge gathered by observation and experimentation, and systematized and presented as recognized principles.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It is true that management is not a science in the same sense as biology or chemistry; it has practical utility and value — it helps produce medicines or send man to the moon, because laboratory science is able to perform these jobs — but the art part of management can make no such claim.</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What management can claim is that it meticulously applies the principles of management, and that is nothing but the art part of management working alongside its science part.</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Lab vs. Life</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Chemistry predicts a reaction with certainty every time; management can only apply well-tested principles — the outcome still depends on people.</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1.11. WHETHER MANAGEMENT IS 'SCIENCE' OR 'ART'?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411480"/>
            <a:ext cx="1106424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1.12. WHY MANAGEMENT SHOULD BE CALLED 'SCIENCE'?</a:t>
            </a:r>
            <a:endParaRPr lang="en-US" sz="2200" dirty="0"/>
          </a:p>
        </p:txBody>
      </p:sp>
      <p:sp>
        <p:nvSpPr>
          <p:cNvPr id="3" name="Shape 1"/>
          <p:cNvSpPr/>
          <p:nvPr/>
        </p:nvSpPr>
        <p:spPr>
          <a:xfrm>
            <a:off x="548640" y="1554480"/>
            <a:ext cx="2081174" cy="2011680"/>
          </a:xfrm>
          <a:prstGeom prst="roundRect">
            <a:avLst>
              <a:gd name="adj" fmla="val 4091"/>
            </a:avLst>
          </a:prstGeom>
          <a:solidFill>
            <a:srgbClr val="1E2761"/>
          </a:solidFill>
          <a:ln/>
        </p:spPr>
      </p:sp>
      <p:sp>
        <p:nvSpPr>
          <p:cNvPr id="4" name="Shape 2"/>
          <p:cNvSpPr/>
          <p:nvPr/>
        </p:nvSpPr>
        <p:spPr>
          <a:xfrm>
            <a:off x="731520" y="1737360"/>
            <a:ext cx="502920" cy="50292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62279" y="1868119"/>
            <a:ext cx="241402" cy="241402"/>
          </a:xfrm>
          <a:prstGeom prst="rect">
            <a:avLst/>
          </a:prstGeom>
        </p:spPr>
      </p:pic>
      <p:sp>
        <p:nvSpPr>
          <p:cNvPr id="6" name="Text 3"/>
          <p:cNvSpPr/>
          <p:nvPr/>
        </p:nvSpPr>
        <p:spPr>
          <a:xfrm>
            <a:off x="203545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1</a:t>
            </a:r>
            <a:endParaRPr lang="en-US" sz="1700" dirty="0"/>
          </a:p>
        </p:txBody>
      </p:sp>
      <p:sp>
        <p:nvSpPr>
          <p:cNvPr id="7" name="Text 4"/>
          <p:cNvSpPr/>
          <p:nvPr/>
        </p:nvSpPr>
        <p:spPr>
          <a:xfrm>
            <a:off x="731520"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Identifies business problems &amp; opportunities</a:t>
            </a:r>
            <a:endParaRPr lang="en-US" sz="1350" dirty="0"/>
          </a:p>
        </p:txBody>
      </p:sp>
      <p:sp>
        <p:nvSpPr>
          <p:cNvPr id="8" name="Shape 5"/>
          <p:cNvSpPr/>
          <p:nvPr/>
        </p:nvSpPr>
        <p:spPr>
          <a:xfrm>
            <a:off x="2794406" y="1554480"/>
            <a:ext cx="2081174" cy="2011680"/>
          </a:xfrm>
          <a:prstGeom prst="roundRect">
            <a:avLst>
              <a:gd name="adj" fmla="val 4091"/>
            </a:avLst>
          </a:prstGeom>
          <a:solidFill>
            <a:srgbClr val="1E2761"/>
          </a:solidFill>
          <a:ln/>
        </p:spPr>
      </p:sp>
      <p:sp>
        <p:nvSpPr>
          <p:cNvPr id="9" name="Shape 6"/>
          <p:cNvSpPr/>
          <p:nvPr/>
        </p:nvSpPr>
        <p:spPr>
          <a:xfrm>
            <a:off x="2977286" y="1737360"/>
            <a:ext cx="502920" cy="50292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108046" y="1868119"/>
            <a:ext cx="241402" cy="241402"/>
          </a:xfrm>
          <a:prstGeom prst="rect">
            <a:avLst/>
          </a:prstGeom>
        </p:spPr>
      </p:pic>
      <p:sp>
        <p:nvSpPr>
          <p:cNvPr id="11" name="Text 7"/>
          <p:cNvSpPr/>
          <p:nvPr/>
        </p:nvSpPr>
        <p:spPr>
          <a:xfrm>
            <a:off x="4281221"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2</a:t>
            </a:r>
            <a:endParaRPr lang="en-US" sz="1700" dirty="0"/>
          </a:p>
        </p:txBody>
      </p:sp>
      <p:sp>
        <p:nvSpPr>
          <p:cNvPr id="12" name="Text 8"/>
          <p:cNvSpPr/>
          <p:nvPr/>
        </p:nvSpPr>
        <p:spPr>
          <a:xfrm>
            <a:off x="2977286"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Makes scientific, analytical inquiry</a:t>
            </a:r>
            <a:endParaRPr lang="en-US" sz="1350" dirty="0"/>
          </a:p>
        </p:txBody>
      </p:sp>
      <p:sp>
        <p:nvSpPr>
          <p:cNvPr id="13" name="Shape 9"/>
          <p:cNvSpPr/>
          <p:nvPr/>
        </p:nvSpPr>
        <p:spPr>
          <a:xfrm>
            <a:off x="5040173" y="1554480"/>
            <a:ext cx="2081174" cy="2011680"/>
          </a:xfrm>
          <a:prstGeom prst="roundRect">
            <a:avLst>
              <a:gd name="adj" fmla="val 4091"/>
            </a:avLst>
          </a:prstGeom>
          <a:solidFill>
            <a:srgbClr val="1E2761"/>
          </a:solidFill>
          <a:ln/>
        </p:spPr>
      </p:sp>
      <p:sp>
        <p:nvSpPr>
          <p:cNvPr id="14" name="Shape 10"/>
          <p:cNvSpPr/>
          <p:nvPr/>
        </p:nvSpPr>
        <p:spPr>
          <a:xfrm>
            <a:off x="5223053" y="1737360"/>
            <a:ext cx="502920" cy="50292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5353812" y="1868119"/>
            <a:ext cx="241402" cy="241402"/>
          </a:xfrm>
          <a:prstGeom prst="rect">
            <a:avLst/>
          </a:prstGeom>
        </p:spPr>
      </p:pic>
      <p:sp>
        <p:nvSpPr>
          <p:cNvPr id="16" name="Text 11"/>
          <p:cNvSpPr/>
          <p:nvPr/>
        </p:nvSpPr>
        <p:spPr>
          <a:xfrm>
            <a:off x="6526987"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3</a:t>
            </a:r>
            <a:endParaRPr lang="en-US" sz="1700" dirty="0"/>
          </a:p>
        </p:txBody>
      </p:sp>
      <p:sp>
        <p:nvSpPr>
          <p:cNvPr id="17" name="Text 12"/>
          <p:cNvSpPr/>
          <p:nvPr/>
        </p:nvSpPr>
        <p:spPr>
          <a:xfrm>
            <a:off x="5223053"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Decides on the best among alternatives</a:t>
            </a:r>
            <a:endParaRPr lang="en-US" sz="1350" dirty="0"/>
          </a:p>
        </p:txBody>
      </p:sp>
      <p:sp>
        <p:nvSpPr>
          <p:cNvPr id="18" name="Shape 13"/>
          <p:cNvSpPr/>
          <p:nvPr/>
        </p:nvSpPr>
        <p:spPr>
          <a:xfrm>
            <a:off x="7285939" y="1554480"/>
            <a:ext cx="2081174" cy="2011680"/>
          </a:xfrm>
          <a:prstGeom prst="roundRect">
            <a:avLst>
              <a:gd name="adj" fmla="val 4091"/>
            </a:avLst>
          </a:prstGeom>
          <a:solidFill>
            <a:srgbClr val="1E2761"/>
          </a:solidFill>
          <a:ln/>
        </p:spPr>
      </p:sp>
      <p:sp>
        <p:nvSpPr>
          <p:cNvPr id="19" name="Shape 14"/>
          <p:cNvSpPr/>
          <p:nvPr/>
        </p:nvSpPr>
        <p:spPr>
          <a:xfrm>
            <a:off x="7468819" y="1737360"/>
            <a:ext cx="502920" cy="50292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7599578" y="1868119"/>
            <a:ext cx="241402" cy="241402"/>
          </a:xfrm>
          <a:prstGeom prst="rect">
            <a:avLst/>
          </a:prstGeom>
        </p:spPr>
      </p:pic>
      <p:sp>
        <p:nvSpPr>
          <p:cNvPr id="21" name="Text 15"/>
          <p:cNvSpPr/>
          <p:nvPr/>
        </p:nvSpPr>
        <p:spPr>
          <a:xfrm>
            <a:off x="877275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4</a:t>
            </a:r>
            <a:endParaRPr lang="en-US" sz="1700" dirty="0"/>
          </a:p>
        </p:txBody>
      </p:sp>
      <p:sp>
        <p:nvSpPr>
          <p:cNvPr id="22" name="Text 16"/>
          <p:cNvSpPr/>
          <p:nvPr/>
        </p:nvSpPr>
        <p:spPr>
          <a:xfrm>
            <a:off x="7468819"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Monitors performance &amp; corrects deviations</a:t>
            </a:r>
            <a:endParaRPr lang="en-US" sz="1350" dirty="0"/>
          </a:p>
        </p:txBody>
      </p:sp>
      <p:sp>
        <p:nvSpPr>
          <p:cNvPr id="23" name="Shape 17"/>
          <p:cNvSpPr/>
          <p:nvPr/>
        </p:nvSpPr>
        <p:spPr>
          <a:xfrm>
            <a:off x="9531706" y="1554480"/>
            <a:ext cx="2081174" cy="2011680"/>
          </a:xfrm>
          <a:prstGeom prst="roundRect">
            <a:avLst>
              <a:gd name="adj" fmla="val 4091"/>
            </a:avLst>
          </a:prstGeom>
          <a:solidFill>
            <a:srgbClr val="1E2761"/>
          </a:solidFill>
          <a:ln/>
        </p:spPr>
      </p:sp>
      <p:sp>
        <p:nvSpPr>
          <p:cNvPr id="24" name="Shape 18"/>
          <p:cNvSpPr/>
          <p:nvPr/>
        </p:nvSpPr>
        <p:spPr>
          <a:xfrm>
            <a:off x="9714586" y="1737360"/>
            <a:ext cx="502920" cy="50292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9845345" y="1868119"/>
            <a:ext cx="241402" cy="241402"/>
          </a:xfrm>
          <a:prstGeom prst="rect">
            <a:avLst/>
          </a:prstGeom>
        </p:spPr>
      </p:pic>
      <p:sp>
        <p:nvSpPr>
          <p:cNvPr id="26" name="Text 19"/>
          <p:cNvSpPr/>
          <p:nvPr/>
        </p:nvSpPr>
        <p:spPr>
          <a:xfrm>
            <a:off x="11018520"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5</a:t>
            </a:r>
            <a:endParaRPr lang="en-US" sz="1700" dirty="0"/>
          </a:p>
        </p:txBody>
      </p:sp>
      <p:sp>
        <p:nvSpPr>
          <p:cNvPr id="27" name="Text 20"/>
          <p:cNvSpPr/>
          <p:nvPr/>
        </p:nvSpPr>
        <p:spPr>
          <a:xfrm>
            <a:off x="9714586"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Principles satisfy scientific tests</a:t>
            </a:r>
            <a:endParaRPr lang="en-US" sz="1350" dirty="0"/>
          </a:p>
        </p:txBody>
      </p:sp>
      <p:sp>
        <p:nvSpPr>
          <p:cNvPr id="28" name="Text 2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1.12. WHY MANAGEMENT SHOULD BE CALLED 'SCIENCE'?</a:t>
            </a:r>
            <a:endParaRPr lang="en-US" sz="1100" dirty="0"/>
          </a:p>
        </p:txBody>
      </p:sp>
      <p:sp>
        <p:nvSpPr>
          <p:cNvPr id="29" name="Text 2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1.12. WHY MANAGEMENT SHOULD BE CALLED 'SCIENCE'?</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Reasons (1)–(3)</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Identifies Problems &amp; Opportunities</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Management correctly identifies the business problem or opportunity before deciding how to meet it — giving an idea of what human, financial and physical resources will be necessary.</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Scientific, Analytical Inquiry</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It evaluates alternative courses of action to resolve the problem or exploit the opportunity, taking into account its capacity to find the necessary resources.</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(3)</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Decides on the Best Alternative</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After evaluating each alternative by applying logic or quantitative techniques, it chooses the best course of action to tackle the problem or meet the opportunity.</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1.12. WHY MANAGEMENT SHOULD BE CALLED 'SCIENCE'?</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1.12. WHY MANAGEMENT SHOULD BE CALLED 'SCIENCE'?</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Reasons (4)–(5) &amp; Conclusion</a:t>
            </a:r>
            <a:endParaRPr lang="en-US" sz="2900" dirty="0"/>
          </a:p>
        </p:txBody>
      </p:sp>
      <p:sp>
        <p:nvSpPr>
          <p:cNvPr id="4" name="Shape 2"/>
          <p:cNvSpPr/>
          <p:nvPr/>
        </p:nvSpPr>
        <p:spPr>
          <a:xfrm>
            <a:off x="548640" y="1737360"/>
            <a:ext cx="5394960" cy="2377440"/>
          </a:xfrm>
          <a:prstGeom prst="roundRect">
            <a:avLst>
              <a:gd name="adj" fmla="val 3462"/>
            </a:avLst>
          </a:prstGeom>
          <a:solidFill>
            <a:srgbClr val="EEF3FC"/>
          </a:solidFill>
          <a:ln/>
        </p:spPr>
      </p:sp>
      <p:sp>
        <p:nvSpPr>
          <p:cNvPr id="5" name="Shape 3"/>
          <p:cNvSpPr/>
          <p:nvPr/>
        </p:nvSpPr>
        <p:spPr>
          <a:xfrm>
            <a:off x="822960" y="196596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65606" y="2108606"/>
            <a:ext cx="263347" cy="263347"/>
          </a:xfrm>
          <a:prstGeom prst="rect">
            <a:avLst/>
          </a:prstGeom>
        </p:spPr>
      </p:pic>
      <p:sp>
        <p:nvSpPr>
          <p:cNvPr id="7" name="Text 4"/>
          <p:cNvSpPr/>
          <p:nvPr/>
        </p:nvSpPr>
        <p:spPr>
          <a:xfrm>
            <a:off x="1554480" y="2084832"/>
            <a:ext cx="548640" cy="365760"/>
          </a:xfrm>
          <a:prstGeom prst="rect">
            <a:avLst/>
          </a:prstGeom>
          <a:noFill/>
          <a:ln/>
        </p:spPr>
        <p:txBody>
          <a:bodyPr wrap="square"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8" name="Text 5"/>
          <p:cNvSpPr/>
          <p:nvPr/>
        </p:nvSpPr>
        <p:spPr>
          <a:xfrm>
            <a:off x="822960" y="2606040"/>
            <a:ext cx="4846320" cy="45720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Monitors, Measures &amp; Corrects</a:t>
            </a:r>
            <a:endParaRPr lang="en-US" sz="1500" dirty="0"/>
          </a:p>
        </p:txBody>
      </p:sp>
      <p:sp>
        <p:nvSpPr>
          <p:cNvPr id="9" name="Text 6"/>
          <p:cNvSpPr/>
          <p:nvPr/>
        </p:nvSpPr>
        <p:spPr>
          <a:xfrm>
            <a:off x="822960" y="3063240"/>
            <a:ext cx="4846320" cy="1005840"/>
          </a:xfrm>
          <a:prstGeom prst="rect">
            <a:avLst/>
          </a:prstGeom>
          <a:noFill/>
          <a:ln/>
        </p:spPr>
        <p:txBody>
          <a:bodyPr wrap="square" rtlCol="0" anchor="t"/>
          <a:lstStyle/>
          <a:p>
            <a:pPr indent="0" marL="0">
              <a:buNone/>
            </a:pPr>
            <a:r>
              <a:rPr lang="en-US" sz="1250" dirty="0">
                <a:solidFill>
                  <a:srgbClr val="2B2B33"/>
                </a:solidFill>
                <a:latin typeface="Calibri" pitchFamily="34" charset="0"/>
                <a:ea typeface="Calibri" pitchFamily="34" charset="-122"/>
                <a:cs typeface="Calibri" pitchFamily="34" charset="-120"/>
              </a:rPr>
              <a:t>Responsibility does not end with selecting the best alternative. Management must constantly monitor and measure ongoing performance and apply correctives if actual performance deviates from the standard.</a:t>
            </a:r>
            <a:endParaRPr lang="en-US" sz="1250" dirty="0"/>
          </a:p>
        </p:txBody>
      </p:sp>
      <p:sp>
        <p:nvSpPr>
          <p:cNvPr id="10" name="Shape 7"/>
          <p:cNvSpPr/>
          <p:nvPr/>
        </p:nvSpPr>
        <p:spPr>
          <a:xfrm>
            <a:off x="6172200" y="1737360"/>
            <a:ext cx="5394960" cy="2377440"/>
          </a:xfrm>
          <a:prstGeom prst="roundRect">
            <a:avLst>
              <a:gd name="adj" fmla="val 3462"/>
            </a:avLst>
          </a:prstGeom>
          <a:solidFill>
            <a:srgbClr val="EEF3FC"/>
          </a:solidFill>
          <a:ln/>
        </p:spPr>
      </p:sp>
      <p:sp>
        <p:nvSpPr>
          <p:cNvPr id="11" name="Shape 8"/>
          <p:cNvSpPr/>
          <p:nvPr/>
        </p:nvSpPr>
        <p:spPr>
          <a:xfrm>
            <a:off x="6446520" y="1965960"/>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589166" y="2108606"/>
            <a:ext cx="263347" cy="263347"/>
          </a:xfrm>
          <a:prstGeom prst="rect">
            <a:avLst/>
          </a:prstGeom>
        </p:spPr>
      </p:pic>
      <p:sp>
        <p:nvSpPr>
          <p:cNvPr id="13" name="Text 9"/>
          <p:cNvSpPr/>
          <p:nvPr/>
        </p:nvSpPr>
        <p:spPr>
          <a:xfrm>
            <a:off x="7178040" y="2084832"/>
            <a:ext cx="548640" cy="365760"/>
          </a:xfrm>
          <a:prstGeom prst="rect">
            <a:avLst/>
          </a:prstGeom>
          <a:noFill/>
          <a:ln/>
        </p:spPr>
        <p:txBody>
          <a:bodyPr wrap="square"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14" name="Text 10"/>
          <p:cNvSpPr/>
          <p:nvPr/>
        </p:nvSpPr>
        <p:spPr>
          <a:xfrm>
            <a:off x="6446520" y="2606040"/>
            <a:ext cx="4846320" cy="45720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Principles Satisfy Scientific Tests</a:t>
            </a:r>
            <a:endParaRPr lang="en-US" sz="1500" dirty="0"/>
          </a:p>
        </p:txBody>
      </p:sp>
      <p:sp>
        <p:nvSpPr>
          <p:cNvPr id="15" name="Text 11"/>
          <p:cNvSpPr/>
          <p:nvPr/>
        </p:nvSpPr>
        <p:spPr>
          <a:xfrm>
            <a:off x="6446520" y="3063240"/>
            <a:ext cx="4846320" cy="1005840"/>
          </a:xfrm>
          <a:prstGeom prst="rect">
            <a:avLst/>
          </a:prstGeom>
          <a:noFill/>
          <a:ln/>
        </p:spPr>
        <p:txBody>
          <a:bodyPr wrap="square" rtlCol="0" anchor="t"/>
          <a:lstStyle/>
          <a:p>
            <a:pPr indent="0" marL="0">
              <a:buNone/>
            </a:pPr>
            <a:r>
              <a:rPr lang="en-US" sz="1250" dirty="0">
                <a:solidFill>
                  <a:srgbClr val="2B2B33"/>
                </a:solidFill>
                <a:latin typeface="Calibri" pitchFamily="34" charset="0"/>
                <a:ea typeface="Calibri" pitchFamily="34" charset="-122"/>
                <a:cs typeface="Calibri" pitchFamily="34" charset="-120"/>
              </a:rPr>
              <a:t>Management often uses scientific methods and techniques to resolve routine problems or exploit business opportunities — with increasing use of computers and mathematical/statistical models.</a:t>
            </a:r>
            <a:endParaRPr lang="en-US" sz="1250" dirty="0"/>
          </a:p>
        </p:txBody>
      </p:sp>
      <p:sp>
        <p:nvSpPr>
          <p:cNvPr id="16" name="Shape 12"/>
          <p:cNvSpPr/>
          <p:nvPr/>
        </p:nvSpPr>
        <p:spPr>
          <a:xfrm>
            <a:off x="548640" y="4343400"/>
            <a:ext cx="11064240" cy="1600200"/>
          </a:xfrm>
          <a:prstGeom prst="roundRect">
            <a:avLst>
              <a:gd name="adj" fmla="val 5143"/>
            </a:avLst>
          </a:prstGeom>
          <a:solidFill>
            <a:srgbClr val="1E2761"/>
          </a:solidFill>
          <a:ln/>
        </p:spPr>
      </p:sp>
      <p:sp>
        <p:nvSpPr>
          <p:cNvPr id="17" name="Text 13"/>
          <p:cNvSpPr/>
          <p:nvPr/>
        </p:nvSpPr>
        <p:spPr>
          <a:xfrm>
            <a:off x="822960" y="4480560"/>
            <a:ext cx="10515600" cy="365760"/>
          </a:xfrm>
          <a:prstGeom prst="rect">
            <a:avLst/>
          </a:prstGeom>
          <a:noFill/>
          <a:ln/>
        </p:spPr>
        <p:txBody>
          <a:bodyPr wrap="square"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(6) Conclusion: Management Satisfies the Criteria of 'Science'</a:t>
            </a:r>
            <a:endParaRPr lang="en-US" sz="1500" dirty="0"/>
          </a:p>
        </p:txBody>
      </p:sp>
      <p:sp>
        <p:nvSpPr>
          <p:cNvPr id="18" name="Text 14"/>
          <p:cNvSpPr/>
          <p:nvPr/>
        </p:nvSpPr>
        <p:spPr>
          <a:xfrm>
            <a:off x="822960" y="4892040"/>
            <a:ext cx="10515600" cy="100584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To paraphrase Luther Gullick: management meets the requirements of a field of knowledge because it has been long studied and organized into a series of theories. These theories may still be too general and subjective, and not satisfy the test of similarity to theories of natural sciences — yet management is undeniably on the way to becoming a science.</a:t>
            </a:r>
            <a:endParaRPr lang="en-US" sz="1250" dirty="0"/>
          </a:p>
        </p:txBody>
      </p:sp>
      <p:sp>
        <p:nvSpPr>
          <p:cNvPr id="19" name="Text 15"/>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1.12 MANAGEMENT AS SCIENCE</a:t>
            </a:r>
            <a:endParaRPr lang="en-US" sz="1100" dirty="0"/>
          </a:p>
        </p:txBody>
      </p:sp>
      <p:sp>
        <p:nvSpPr>
          <p:cNvPr id="20" name="Text 1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411480"/>
            <a:ext cx="1106424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1.13. WHY MANAGEMENT SHOULD BE CALLED AN 'ART'?</a:t>
            </a:r>
            <a:endParaRPr lang="en-US" sz="2200" dirty="0"/>
          </a:p>
        </p:txBody>
      </p:sp>
      <p:sp>
        <p:nvSpPr>
          <p:cNvPr id="3" name="Shape 1"/>
          <p:cNvSpPr/>
          <p:nvPr/>
        </p:nvSpPr>
        <p:spPr>
          <a:xfrm>
            <a:off x="548640" y="1554480"/>
            <a:ext cx="2642616" cy="2011680"/>
          </a:xfrm>
          <a:prstGeom prst="roundRect">
            <a:avLst>
              <a:gd name="adj" fmla="val 4091"/>
            </a:avLst>
          </a:prstGeom>
          <a:solidFill>
            <a:srgbClr val="1E2761"/>
          </a:solidFill>
          <a:ln/>
        </p:spPr>
      </p:sp>
      <p:sp>
        <p:nvSpPr>
          <p:cNvPr id="4" name="Shape 2"/>
          <p:cNvSpPr/>
          <p:nvPr/>
        </p:nvSpPr>
        <p:spPr>
          <a:xfrm>
            <a:off x="731520" y="1737360"/>
            <a:ext cx="502920" cy="50292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62279" y="1868119"/>
            <a:ext cx="241402" cy="241402"/>
          </a:xfrm>
          <a:prstGeom prst="rect">
            <a:avLst/>
          </a:prstGeom>
        </p:spPr>
      </p:pic>
      <p:sp>
        <p:nvSpPr>
          <p:cNvPr id="6" name="Text 3"/>
          <p:cNvSpPr/>
          <p:nvPr/>
        </p:nvSpPr>
        <p:spPr>
          <a:xfrm>
            <a:off x="2596896"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1</a:t>
            </a:r>
            <a:endParaRPr lang="en-US" sz="1700" dirty="0"/>
          </a:p>
        </p:txBody>
      </p:sp>
      <p:sp>
        <p:nvSpPr>
          <p:cNvPr id="7" name="Text 4"/>
          <p:cNvSpPr/>
          <p:nvPr/>
        </p:nvSpPr>
        <p:spPr>
          <a:xfrm>
            <a:off x="731520" y="2331720"/>
            <a:ext cx="2276856"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Relies on own or others' past experience</a:t>
            </a:r>
            <a:endParaRPr lang="en-US" sz="1350" dirty="0"/>
          </a:p>
        </p:txBody>
      </p:sp>
      <p:sp>
        <p:nvSpPr>
          <p:cNvPr id="8" name="Shape 5"/>
          <p:cNvSpPr/>
          <p:nvPr/>
        </p:nvSpPr>
        <p:spPr>
          <a:xfrm>
            <a:off x="3355848" y="1554480"/>
            <a:ext cx="2642616" cy="2011680"/>
          </a:xfrm>
          <a:prstGeom prst="roundRect">
            <a:avLst>
              <a:gd name="adj" fmla="val 4091"/>
            </a:avLst>
          </a:prstGeom>
          <a:solidFill>
            <a:srgbClr val="1E2761"/>
          </a:solidFill>
          <a:ln/>
        </p:spPr>
      </p:sp>
      <p:sp>
        <p:nvSpPr>
          <p:cNvPr id="9" name="Shape 6"/>
          <p:cNvSpPr/>
          <p:nvPr/>
        </p:nvSpPr>
        <p:spPr>
          <a:xfrm>
            <a:off x="3538728" y="1737360"/>
            <a:ext cx="502920" cy="50292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69487" y="1868119"/>
            <a:ext cx="241402" cy="241402"/>
          </a:xfrm>
          <a:prstGeom prst="rect">
            <a:avLst/>
          </a:prstGeom>
        </p:spPr>
      </p:pic>
      <p:sp>
        <p:nvSpPr>
          <p:cNvPr id="11" name="Text 7"/>
          <p:cNvSpPr/>
          <p:nvPr/>
        </p:nvSpPr>
        <p:spPr>
          <a:xfrm>
            <a:off x="540410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2</a:t>
            </a:r>
            <a:endParaRPr lang="en-US" sz="1700" dirty="0"/>
          </a:p>
        </p:txBody>
      </p:sp>
      <p:sp>
        <p:nvSpPr>
          <p:cNvPr id="12" name="Text 8"/>
          <p:cNvSpPr/>
          <p:nvPr/>
        </p:nvSpPr>
        <p:spPr>
          <a:xfrm>
            <a:off x="3538728" y="2331720"/>
            <a:ext cx="2276856"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Applies robust common sense</a:t>
            </a:r>
            <a:endParaRPr lang="en-US" sz="1350" dirty="0"/>
          </a:p>
        </p:txBody>
      </p:sp>
      <p:sp>
        <p:nvSpPr>
          <p:cNvPr id="13" name="Shape 9"/>
          <p:cNvSpPr/>
          <p:nvPr/>
        </p:nvSpPr>
        <p:spPr>
          <a:xfrm>
            <a:off x="6163056" y="1554480"/>
            <a:ext cx="2642616" cy="2011680"/>
          </a:xfrm>
          <a:prstGeom prst="roundRect">
            <a:avLst>
              <a:gd name="adj" fmla="val 4091"/>
            </a:avLst>
          </a:prstGeom>
          <a:solidFill>
            <a:srgbClr val="1E2761"/>
          </a:solidFill>
          <a:ln/>
        </p:spPr>
      </p:sp>
      <p:sp>
        <p:nvSpPr>
          <p:cNvPr id="14" name="Shape 10"/>
          <p:cNvSpPr/>
          <p:nvPr/>
        </p:nvSpPr>
        <p:spPr>
          <a:xfrm>
            <a:off x="6345936" y="1737360"/>
            <a:ext cx="502920" cy="50292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76695" y="1868119"/>
            <a:ext cx="241402" cy="241402"/>
          </a:xfrm>
          <a:prstGeom prst="rect">
            <a:avLst/>
          </a:prstGeom>
        </p:spPr>
      </p:pic>
      <p:sp>
        <p:nvSpPr>
          <p:cNvPr id="16" name="Text 11"/>
          <p:cNvSpPr/>
          <p:nvPr/>
        </p:nvSpPr>
        <p:spPr>
          <a:xfrm>
            <a:off x="8211312"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3</a:t>
            </a:r>
            <a:endParaRPr lang="en-US" sz="1700" dirty="0"/>
          </a:p>
        </p:txBody>
      </p:sp>
      <p:sp>
        <p:nvSpPr>
          <p:cNvPr id="17" name="Text 12"/>
          <p:cNvSpPr/>
          <p:nvPr/>
        </p:nvSpPr>
        <p:spPr>
          <a:xfrm>
            <a:off x="6345936" y="2331720"/>
            <a:ext cx="2276856"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Commands personal skills &amp; techniques</a:t>
            </a:r>
            <a:endParaRPr lang="en-US" sz="1350" dirty="0"/>
          </a:p>
        </p:txBody>
      </p:sp>
      <p:sp>
        <p:nvSpPr>
          <p:cNvPr id="18" name="Shape 13"/>
          <p:cNvSpPr/>
          <p:nvPr/>
        </p:nvSpPr>
        <p:spPr>
          <a:xfrm>
            <a:off x="8970264" y="1554480"/>
            <a:ext cx="2642616" cy="2011680"/>
          </a:xfrm>
          <a:prstGeom prst="roundRect">
            <a:avLst>
              <a:gd name="adj" fmla="val 4091"/>
            </a:avLst>
          </a:prstGeom>
          <a:solidFill>
            <a:srgbClr val="1E2761"/>
          </a:solidFill>
          <a:ln/>
        </p:spPr>
      </p:sp>
      <p:sp>
        <p:nvSpPr>
          <p:cNvPr id="19" name="Shape 14"/>
          <p:cNvSpPr/>
          <p:nvPr/>
        </p:nvSpPr>
        <p:spPr>
          <a:xfrm>
            <a:off x="9153144" y="1737360"/>
            <a:ext cx="502920" cy="50292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83903" y="1868119"/>
            <a:ext cx="241402" cy="241402"/>
          </a:xfrm>
          <a:prstGeom prst="rect">
            <a:avLst/>
          </a:prstGeom>
        </p:spPr>
      </p:pic>
      <p:sp>
        <p:nvSpPr>
          <p:cNvPr id="21" name="Text 15"/>
          <p:cNvSpPr/>
          <p:nvPr/>
        </p:nvSpPr>
        <p:spPr>
          <a:xfrm>
            <a:off x="11018520"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4</a:t>
            </a:r>
            <a:endParaRPr lang="en-US" sz="1700" dirty="0"/>
          </a:p>
        </p:txBody>
      </p:sp>
      <p:sp>
        <p:nvSpPr>
          <p:cNvPr id="22" name="Text 16"/>
          <p:cNvSpPr/>
          <p:nvPr/>
        </p:nvSpPr>
        <p:spPr>
          <a:xfrm>
            <a:off x="9153144" y="2331720"/>
            <a:ext cx="2276856"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Deep understanding of human behavior</a:t>
            </a:r>
            <a:endParaRPr lang="en-US" sz="1350" dirty="0"/>
          </a:p>
        </p:txBody>
      </p:sp>
      <p:sp>
        <p:nvSpPr>
          <p:cNvPr id="23"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1.13. WHY MANAGEMENT SHOULD BE CALLED AN 'ART'?</a:t>
            </a:r>
            <a:endParaRPr lang="en-US" sz="1100" dirty="0"/>
          </a:p>
        </p:txBody>
      </p:sp>
      <p:sp>
        <p:nvSpPr>
          <p:cNvPr id="24"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1.13. WHY MANAGEMENT SHOULD BE CALLED AN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Reasons (1)–(2)</a:t>
            </a:r>
            <a:endParaRPr lang="en-US" sz="2900" dirty="0"/>
          </a:p>
        </p:txBody>
      </p:sp>
      <p:sp>
        <p:nvSpPr>
          <p:cNvPr id="4" name="Shape 2"/>
          <p:cNvSpPr/>
          <p:nvPr/>
        </p:nvSpPr>
        <p:spPr>
          <a:xfrm>
            <a:off x="548640" y="1691640"/>
            <a:ext cx="5463540" cy="4389120"/>
          </a:xfrm>
          <a:prstGeom prst="roundRect">
            <a:avLst>
              <a:gd name="adj" fmla="val 1875"/>
            </a:avLst>
          </a:prstGeom>
          <a:solidFill>
            <a:srgbClr val="EEF3FC"/>
          </a:solidFill>
          <a:ln/>
        </p:spPr>
      </p:sp>
      <p:sp>
        <p:nvSpPr>
          <p:cNvPr id="5" name="Shape 3"/>
          <p:cNvSpPr/>
          <p:nvPr/>
        </p:nvSpPr>
        <p:spPr>
          <a:xfrm>
            <a:off x="299694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44347" y="2067641"/>
            <a:ext cx="272125" cy="272125"/>
          </a:xfrm>
          <a:prstGeom prst="rect">
            <a:avLst/>
          </a:prstGeom>
        </p:spPr>
      </p:pic>
      <p:sp>
        <p:nvSpPr>
          <p:cNvPr id="7" name="Text 4"/>
          <p:cNvSpPr/>
          <p:nvPr/>
        </p:nvSpPr>
        <p:spPr>
          <a:xfrm>
            <a:off x="5486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858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Relies on Past Experience</a:t>
            </a:r>
            <a:endParaRPr lang="en-US" sz="1450" dirty="0"/>
          </a:p>
        </p:txBody>
      </p:sp>
      <p:sp>
        <p:nvSpPr>
          <p:cNvPr id="9" name="Text 6"/>
          <p:cNvSpPr/>
          <p:nvPr/>
        </p:nvSpPr>
        <p:spPr>
          <a:xfrm>
            <a:off x="7132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Management deals with human beings, each of whom is unique in values, education, and socio-economic and cultural background. What works to motivate one worker will not necessarily work for another — the 'science' part is of little avail here; what works is reliance on the manager's own experience, or lessons drawn from others' experiences recorded in books, to understand, predict and control the behavior of subordinates.</a:t>
            </a:r>
            <a:endParaRPr lang="en-US" sz="1150" dirty="0"/>
          </a:p>
        </p:txBody>
      </p:sp>
      <p:sp>
        <p:nvSpPr>
          <p:cNvPr id="10" name="Shape 7"/>
          <p:cNvSpPr/>
          <p:nvPr/>
        </p:nvSpPr>
        <p:spPr>
          <a:xfrm>
            <a:off x="6149340" y="1691640"/>
            <a:ext cx="5463540" cy="4389120"/>
          </a:xfrm>
          <a:prstGeom prst="roundRect">
            <a:avLst>
              <a:gd name="adj" fmla="val 1875"/>
            </a:avLst>
          </a:prstGeom>
          <a:solidFill>
            <a:srgbClr val="EEF3FC"/>
          </a:solidFill>
          <a:ln/>
        </p:spPr>
      </p:sp>
      <p:sp>
        <p:nvSpPr>
          <p:cNvPr id="11" name="Shape 8"/>
          <p:cNvSpPr/>
          <p:nvPr/>
        </p:nvSpPr>
        <p:spPr>
          <a:xfrm>
            <a:off x="859764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45047" y="2067641"/>
            <a:ext cx="272125" cy="272125"/>
          </a:xfrm>
          <a:prstGeom prst="rect">
            <a:avLst/>
          </a:prstGeom>
        </p:spPr>
      </p:pic>
      <p:sp>
        <p:nvSpPr>
          <p:cNvPr id="13" name="Text 9"/>
          <p:cNvSpPr/>
          <p:nvPr/>
        </p:nvSpPr>
        <p:spPr>
          <a:xfrm>
            <a:off x="61493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62865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Applies Robust Common Sense</a:t>
            </a:r>
            <a:endParaRPr lang="en-US" sz="1450" dirty="0"/>
          </a:p>
        </p:txBody>
      </p:sp>
      <p:sp>
        <p:nvSpPr>
          <p:cNvPr id="15" name="Text 11"/>
          <p:cNvSpPr/>
          <p:nvPr/>
        </p:nvSpPr>
        <p:spPr>
          <a:xfrm>
            <a:off x="63139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'Sense' implies ability to judge and decide prudently and intelligently. 'Common' suggests an average degree of such ability without any specialized knowledge. Only a manager gifted with robust common sense can organize lifeless resources and place them at the disposal of human resources to accomplish goals.</a:t>
            </a:r>
            <a:endParaRPr lang="en-US" sz="1150" dirty="0"/>
          </a:p>
        </p:txBody>
      </p:sp>
      <p:sp>
        <p:nvSpPr>
          <p:cNvPr id="16" name="Text 12"/>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1.13. WHY MANAGEMENT SHOULD BE CALLED AN 'ART'?</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1.13. WHY MANAGEMENT SHOULD BE CALLED AN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Reasons (3)–(4) &amp; Conclusion</a:t>
            </a:r>
            <a:endParaRPr lang="en-US" sz="2900" dirty="0"/>
          </a:p>
        </p:txBody>
      </p:sp>
      <p:sp>
        <p:nvSpPr>
          <p:cNvPr id="4" name="Shape 2"/>
          <p:cNvSpPr/>
          <p:nvPr/>
        </p:nvSpPr>
        <p:spPr>
          <a:xfrm>
            <a:off x="548640" y="1737360"/>
            <a:ext cx="5394960" cy="2834640"/>
          </a:xfrm>
          <a:prstGeom prst="roundRect">
            <a:avLst>
              <a:gd name="adj" fmla="val 2903"/>
            </a:avLst>
          </a:prstGeom>
          <a:solidFill>
            <a:srgbClr val="EEF3FC"/>
          </a:solidFill>
          <a:ln/>
        </p:spPr>
      </p:sp>
      <p:sp>
        <p:nvSpPr>
          <p:cNvPr id="5" name="Shape 3"/>
          <p:cNvSpPr/>
          <p:nvPr/>
        </p:nvSpPr>
        <p:spPr>
          <a:xfrm>
            <a:off x="822960" y="196596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65606" y="2108606"/>
            <a:ext cx="263347" cy="263347"/>
          </a:xfrm>
          <a:prstGeom prst="rect">
            <a:avLst/>
          </a:prstGeom>
        </p:spPr>
      </p:pic>
      <p:sp>
        <p:nvSpPr>
          <p:cNvPr id="7" name="Text 4"/>
          <p:cNvSpPr/>
          <p:nvPr/>
        </p:nvSpPr>
        <p:spPr>
          <a:xfrm>
            <a:off x="1554480" y="2084832"/>
            <a:ext cx="548640" cy="365760"/>
          </a:xfrm>
          <a:prstGeom prst="rect">
            <a:avLst/>
          </a:prstGeom>
          <a:noFill/>
          <a:ln/>
        </p:spPr>
        <p:txBody>
          <a:bodyPr wrap="square"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8" name="Text 5"/>
          <p:cNvSpPr/>
          <p:nvPr/>
        </p:nvSpPr>
        <p:spPr>
          <a:xfrm>
            <a:off x="822960" y="2606040"/>
            <a:ext cx="4846320" cy="45720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Commands Personal Skills &amp; Techniques</a:t>
            </a:r>
            <a:endParaRPr lang="en-US" sz="1400" dirty="0"/>
          </a:p>
        </p:txBody>
      </p:sp>
      <p:sp>
        <p:nvSpPr>
          <p:cNvPr id="9" name="Text 6"/>
          <p:cNvSpPr/>
          <p:nvPr/>
        </p:nvSpPr>
        <p:spPr>
          <a:xfrm>
            <a:off x="822960" y="3063240"/>
            <a:ext cx="4846320" cy="146304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Management sets objectives based on intelligent planning and forecasting, arranges and organizes resources, assigns duties, and directs and controls activities. Personal skills refer to how effectively a manager communicates with and motivates subordinates, providing information, advice, and social and emotional support.</a:t>
            </a:r>
            <a:endParaRPr lang="en-US" sz="1150" dirty="0"/>
          </a:p>
        </p:txBody>
      </p:sp>
      <p:sp>
        <p:nvSpPr>
          <p:cNvPr id="10" name="Shape 7"/>
          <p:cNvSpPr/>
          <p:nvPr/>
        </p:nvSpPr>
        <p:spPr>
          <a:xfrm>
            <a:off x="6172200" y="1737360"/>
            <a:ext cx="5394960" cy="2834640"/>
          </a:xfrm>
          <a:prstGeom prst="roundRect">
            <a:avLst>
              <a:gd name="adj" fmla="val 2903"/>
            </a:avLst>
          </a:prstGeom>
          <a:solidFill>
            <a:srgbClr val="EEF3FC"/>
          </a:solidFill>
          <a:ln/>
        </p:spPr>
      </p:sp>
      <p:sp>
        <p:nvSpPr>
          <p:cNvPr id="11" name="Shape 8"/>
          <p:cNvSpPr/>
          <p:nvPr/>
        </p:nvSpPr>
        <p:spPr>
          <a:xfrm>
            <a:off x="6446520" y="1965960"/>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589166" y="2108606"/>
            <a:ext cx="263347" cy="263347"/>
          </a:xfrm>
          <a:prstGeom prst="rect">
            <a:avLst/>
          </a:prstGeom>
        </p:spPr>
      </p:pic>
      <p:sp>
        <p:nvSpPr>
          <p:cNvPr id="13" name="Text 9"/>
          <p:cNvSpPr/>
          <p:nvPr/>
        </p:nvSpPr>
        <p:spPr>
          <a:xfrm>
            <a:off x="7178040" y="2084832"/>
            <a:ext cx="548640" cy="365760"/>
          </a:xfrm>
          <a:prstGeom prst="rect">
            <a:avLst/>
          </a:prstGeom>
          <a:noFill/>
          <a:ln/>
        </p:spPr>
        <p:txBody>
          <a:bodyPr wrap="square"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14" name="Text 10"/>
          <p:cNvSpPr/>
          <p:nvPr/>
        </p:nvSpPr>
        <p:spPr>
          <a:xfrm>
            <a:off x="6446520" y="2606040"/>
            <a:ext cx="4846320" cy="45720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Deep Understanding of Human Behavior</a:t>
            </a:r>
            <a:endParaRPr lang="en-US" sz="1400" dirty="0"/>
          </a:p>
        </p:txBody>
      </p:sp>
      <p:sp>
        <p:nvSpPr>
          <p:cNvPr id="15" name="Text 11"/>
          <p:cNvSpPr/>
          <p:nvPr/>
        </p:nvSpPr>
        <p:spPr>
          <a:xfrm>
            <a:off x="6446520" y="3063240"/>
            <a:ext cx="4846320" cy="146304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Management exercises control over subordinates who mostly have no role in decision-making. The authority to control resources can lead to strict rules that leave no scope for subordinates to modify work-methods, breeding monotony. Trained management takes care of this: prescribing suitable work-breaks, refreshments, and regular meetings to listen to grievances and suggestions.</a:t>
            </a:r>
            <a:endParaRPr lang="en-US" sz="1150" dirty="0"/>
          </a:p>
        </p:txBody>
      </p:sp>
      <p:sp>
        <p:nvSpPr>
          <p:cNvPr id="16" name="Shape 12"/>
          <p:cNvSpPr/>
          <p:nvPr/>
        </p:nvSpPr>
        <p:spPr>
          <a:xfrm>
            <a:off x="548640" y="4709160"/>
            <a:ext cx="11064240" cy="1234440"/>
          </a:xfrm>
          <a:prstGeom prst="roundRect">
            <a:avLst>
              <a:gd name="adj" fmla="val 6667"/>
            </a:avLst>
          </a:prstGeom>
          <a:solidFill>
            <a:srgbClr val="1E2761"/>
          </a:solidFill>
          <a:ln/>
        </p:spPr>
      </p:sp>
      <p:sp>
        <p:nvSpPr>
          <p:cNvPr id="17" name="Text 13"/>
          <p:cNvSpPr/>
          <p:nvPr/>
        </p:nvSpPr>
        <p:spPr>
          <a:xfrm>
            <a:off x="822960" y="4828032"/>
            <a:ext cx="10515600" cy="365760"/>
          </a:xfrm>
          <a:prstGeom prst="rect">
            <a:avLst/>
          </a:prstGeom>
          <a:noFill/>
          <a:ln/>
        </p:spPr>
        <p:txBody>
          <a:bodyPr wrap="square" rtlCol="0" anchor="ctr"/>
          <a:lstStyle/>
          <a:p>
            <a:pPr indent="0" marL="0">
              <a:buNone/>
            </a:pPr>
            <a:r>
              <a:rPr lang="en-US" sz="1400" b="1" dirty="0">
                <a:solidFill>
                  <a:srgbClr val="C9A24B"/>
                </a:solidFill>
                <a:latin typeface="Cambria" pitchFamily="34" charset="0"/>
                <a:ea typeface="Cambria" pitchFamily="34" charset="-122"/>
                <a:cs typeface="Cambria" pitchFamily="34" charset="-120"/>
              </a:rPr>
              <a:t>(5) Conclusion: Management Does Possess Attributes of an Art</a:t>
            </a:r>
            <a:endParaRPr lang="en-US" sz="1400" dirty="0"/>
          </a:p>
        </p:txBody>
      </p:sp>
      <p:sp>
        <p:nvSpPr>
          <p:cNvPr id="18" name="Text 14"/>
          <p:cNvSpPr/>
          <p:nvPr/>
        </p:nvSpPr>
        <p:spPr>
          <a:xfrm>
            <a:off x="822960" y="5166360"/>
            <a:ext cx="10515600" cy="73152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Any art requires vision, complete knowledge of skill and techniques, and expertise in effective communication. Management possesses these characteristics and can rightly be described as an art which seeks to establish order in a disorderly condition.</a:t>
            </a:r>
            <a:endParaRPr lang="en-US" sz="1150" dirty="0"/>
          </a:p>
        </p:txBody>
      </p:sp>
      <p:sp>
        <p:nvSpPr>
          <p:cNvPr id="19" name="Text 15"/>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1.13 MANAGEMENT AS ART</a:t>
            </a:r>
            <a:endParaRPr lang="en-US" sz="1100" dirty="0"/>
          </a:p>
        </p:txBody>
      </p:sp>
      <p:sp>
        <p:nvSpPr>
          <p:cNvPr id="20" name="Text 1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1.14. MANAGEMENT IS BOTH — 'SCIENCE' AS WELL AS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A Perfect Combination of 'Science' and 'Art'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If science enables a person to know, art enables him/her to do. A manager both knows and does: management school has taught the principles of management (science), and brainstorming, management games and role-play sessions have built the ability to act (art).</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So a manager is not a person who drives a car excellently but knows nothing about the engine, nor a person who has read every book on driving but is scared to touch the steering wheel.</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The 'science' part of management — knowledge of principles — equips a manager to identify, analyze and develop alternative courses of action. The 'art' part lies in decision-making: how ably and skillfully the manager decides on, and implements, the ideal course of action from among the alternatives.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Knowing + Doing</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doctor who has memorized every textbook (science) still needs steady hands and judgement in the operating theatre (art) — management works the same way.</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1.14. MANAGEMENT IS BOTH — 'SCIENCE' AS WELL AS 'ART'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1.14. MANAGEMENT IS BOTH — 'SCIENCE' AS WELL AS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(2) Decision-Making is Not an Easy Task</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 decision-maker realizes that implementation of the ideal course of action will carry technical, human and financial implications for all other operations of the organization — calling for careful balancing of resource allocation among departments.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saying 'knowledge is power' is true only when knowledge is applied. Success embraces those who have fixed their destination and start walking the planned path.</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The recent launch of Jio, the 4G-LTE telecom network by Reliance Industries, is an excellent example combining 'science' and 'art'. The company invested ₹5 lakh crore, backed by research and experimentation (science) — and with the lowest tariff and attractive offers (art), Jio attracted many among 120 crore mobile subscribers in India, sending shivers down the spine of its rivals.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Science + Art in Business</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Massive R&amp;D investment (science) paired with an aggressive low-tariff launch strategy (art) — that's how Jio disrupted the Indian telecom market.</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1.14. MANAGEMENT IS BOTH — 'SCIENCE' AS WELL AS 'ART'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1.14. MANAGEMENT IS BOTH — 'SCIENCE' AS WELL AS 'ART'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Distinction Between 'Science' and 'Art'</a:t>
            </a:r>
            <a:endParaRPr lang="en-US" sz="2900" dirty="0"/>
          </a:p>
        </p:txBody>
      </p:sp>
      <p:sp>
        <p:nvSpPr>
          <p:cNvPr id="4" name="Shape 2"/>
          <p:cNvSpPr/>
          <p:nvPr/>
        </p:nvSpPr>
        <p:spPr>
          <a:xfrm>
            <a:off x="548640" y="1691640"/>
            <a:ext cx="5440680" cy="502920"/>
          </a:xfrm>
          <a:prstGeom prst="roundRect">
            <a:avLst>
              <a:gd name="adj" fmla="val 10909"/>
            </a:avLst>
          </a:prstGeom>
          <a:solidFill>
            <a:srgbClr val="1E2761"/>
          </a:solidFill>
          <a:ln/>
        </p:spPr>
      </p:sp>
      <p:sp>
        <p:nvSpPr>
          <p:cNvPr id="5" name="Text 3"/>
          <p:cNvSpPr/>
          <p:nvPr/>
        </p:nvSpPr>
        <p:spPr>
          <a:xfrm>
            <a:off x="548640" y="1691640"/>
            <a:ext cx="544068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SCIENCE</a:t>
            </a:r>
            <a:endParaRPr lang="en-US" sz="1600" dirty="0"/>
          </a:p>
        </p:txBody>
      </p:sp>
      <p:sp>
        <p:nvSpPr>
          <p:cNvPr id="6" name="Shape 4"/>
          <p:cNvSpPr/>
          <p:nvPr/>
        </p:nvSpPr>
        <p:spPr>
          <a:xfrm>
            <a:off x="6172200" y="1691640"/>
            <a:ext cx="5440680" cy="502920"/>
          </a:xfrm>
          <a:prstGeom prst="roundRect">
            <a:avLst>
              <a:gd name="adj" fmla="val 10909"/>
            </a:avLst>
          </a:prstGeom>
          <a:solidFill>
            <a:srgbClr val="C9A24B"/>
          </a:solidFill>
          <a:ln/>
        </p:spPr>
      </p:sp>
      <p:sp>
        <p:nvSpPr>
          <p:cNvPr id="7" name="Text 5"/>
          <p:cNvSpPr/>
          <p:nvPr/>
        </p:nvSpPr>
        <p:spPr>
          <a:xfrm>
            <a:off x="6172200" y="1691640"/>
            <a:ext cx="5440680" cy="502920"/>
          </a:xfrm>
          <a:prstGeom prst="rect">
            <a:avLst/>
          </a:prstGeom>
          <a:noFill/>
          <a:ln/>
        </p:spPr>
        <p:txBody>
          <a:bodyPr wrap="square"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ART</a:t>
            </a:r>
            <a:endParaRPr lang="en-US" sz="1600" dirty="0"/>
          </a:p>
        </p:txBody>
      </p:sp>
      <p:sp>
        <p:nvSpPr>
          <p:cNvPr id="8" name="Shape 6"/>
          <p:cNvSpPr/>
          <p:nvPr/>
        </p:nvSpPr>
        <p:spPr>
          <a:xfrm>
            <a:off x="548640" y="2313432"/>
            <a:ext cx="5440680" cy="694944"/>
          </a:xfrm>
          <a:prstGeom prst="rect">
            <a:avLst/>
          </a:prstGeom>
          <a:solidFill>
            <a:srgbClr val="EEF3FC"/>
          </a:solidFill>
          <a:ln/>
        </p:spPr>
      </p:sp>
      <p:sp>
        <p:nvSpPr>
          <p:cNvPr id="9" name="Text 7"/>
          <p:cNvSpPr/>
          <p:nvPr/>
        </p:nvSpPr>
        <p:spPr>
          <a:xfrm>
            <a:off x="685800" y="2313432"/>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1. It develops by knowledge acquired through observation and experimentation.</a:t>
            </a:r>
            <a:endParaRPr lang="en-US" sz="1200" dirty="0"/>
          </a:p>
        </p:txBody>
      </p:sp>
      <p:sp>
        <p:nvSpPr>
          <p:cNvPr id="10" name="Shape 8"/>
          <p:cNvSpPr/>
          <p:nvPr/>
        </p:nvSpPr>
        <p:spPr>
          <a:xfrm>
            <a:off x="548640" y="3099816"/>
            <a:ext cx="5440680" cy="694944"/>
          </a:xfrm>
          <a:prstGeom prst="rect">
            <a:avLst/>
          </a:prstGeom>
          <a:solidFill>
            <a:srgbClr val="FFFFFF"/>
          </a:solidFill>
          <a:ln/>
        </p:spPr>
      </p:sp>
      <p:sp>
        <p:nvSpPr>
          <p:cNvPr id="11" name="Text 9"/>
          <p:cNvSpPr/>
          <p:nvPr/>
        </p:nvSpPr>
        <p:spPr>
          <a:xfrm>
            <a:off x="685800" y="3099816"/>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2. It explains the cause-effect relationship between various factors.</a:t>
            </a:r>
            <a:endParaRPr lang="en-US" sz="1200" dirty="0"/>
          </a:p>
        </p:txBody>
      </p:sp>
      <p:sp>
        <p:nvSpPr>
          <p:cNvPr id="12" name="Shape 10"/>
          <p:cNvSpPr/>
          <p:nvPr/>
        </p:nvSpPr>
        <p:spPr>
          <a:xfrm>
            <a:off x="548640" y="3886200"/>
            <a:ext cx="5440680" cy="694944"/>
          </a:xfrm>
          <a:prstGeom prst="rect">
            <a:avLst/>
          </a:prstGeom>
          <a:solidFill>
            <a:srgbClr val="EEF3FC"/>
          </a:solidFill>
          <a:ln/>
        </p:spPr>
      </p:sp>
      <p:sp>
        <p:nvSpPr>
          <p:cNvPr id="13" name="Text 11"/>
          <p:cNvSpPr/>
          <p:nvPr/>
        </p:nvSpPr>
        <p:spPr>
          <a:xfrm>
            <a:off x="685800" y="3886200"/>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3. It provides universal principles, which remain valid in all situations.</a:t>
            </a:r>
            <a:endParaRPr lang="en-US" sz="1200" dirty="0"/>
          </a:p>
        </p:txBody>
      </p:sp>
      <p:sp>
        <p:nvSpPr>
          <p:cNvPr id="14" name="Shape 12"/>
          <p:cNvSpPr/>
          <p:nvPr/>
        </p:nvSpPr>
        <p:spPr>
          <a:xfrm>
            <a:off x="548640" y="4672584"/>
            <a:ext cx="5440680" cy="694944"/>
          </a:xfrm>
          <a:prstGeom prst="rect">
            <a:avLst/>
          </a:prstGeom>
          <a:solidFill>
            <a:srgbClr val="FFFFFF"/>
          </a:solidFill>
          <a:ln/>
        </p:spPr>
      </p:sp>
      <p:sp>
        <p:nvSpPr>
          <p:cNvPr id="15" name="Text 13"/>
          <p:cNvSpPr/>
          <p:nvPr/>
        </p:nvSpPr>
        <p:spPr>
          <a:xfrm>
            <a:off x="685800" y="4672584"/>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4. It predicts on the basis of knowledge of relationships between different factors.</a:t>
            </a:r>
            <a:endParaRPr lang="en-US" sz="1200" dirty="0"/>
          </a:p>
        </p:txBody>
      </p:sp>
      <p:sp>
        <p:nvSpPr>
          <p:cNvPr id="16" name="Shape 14"/>
          <p:cNvSpPr/>
          <p:nvPr/>
        </p:nvSpPr>
        <p:spPr>
          <a:xfrm>
            <a:off x="548640" y="5458968"/>
            <a:ext cx="5440680" cy="694944"/>
          </a:xfrm>
          <a:prstGeom prst="rect">
            <a:avLst/>
          </a:prstGeom>
          <a:solidFill>
            <a:srgbClr val="EEF3FC"/>
          </a:solidFill>
          <a:ln/>
        </p:spPr>
      </p:sp>
      <p:sp>
        <p:nvSpPr>
          <p:cNvPr id="17" name="Text 15"/>
          <p:cNvSpPr/>
          <p:nvPr/>
        </p:nvSpPr>
        <p:spPr>
          <a:xfrm>
            <a:off x="685800" y="5458968"/>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5. It is definitive.</a:t>
            </a:r>
            <a:endParaRPr lang="en-US" sz="1200" dirty="0"/>
          </a:p>
        </p:txBody>
      </p:sp>
      <p:sp>
        <p:nvSpPr>
          <p:cNvPr id="18" name="Shape 16"/>
          <p:cNvSpPr/>
          <p:nvPr/>
        </p:nvSpPr>
        <p:spPr>
          <a:xfrm>
            <a:off x="6172200" y="2313432"/>
            <a:ext cx="5440680" cy="694944"/>
          </a:xfrm>
          <a:prstGeom prst="rect">
            <a:avLst/>
          </a:prstGeom>
          <a:solidFill>
            <a:srgbClr val="FBF3E0"/>
          </a:solidFill>
          <a:ln/>
        </p:spPr>
      </p:sp>
      <p:sp>
        <p:nvSpPr>
          <p:cNvPr id="19" name="Text 17"/>
          <p:cNvSpPr/>
          <p:nvPr/>
        </p:nvSpPr>
        <p:spPr>
          <a:xfrm>
            <a:off x="6309360" y="2313432"/>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1. It develops by practice.</a:t>
            </a:r>
            <a:endParaRPr lang="en-US" sz="1200" dirty="0"/>
          </a:p>
        </p:txBody>
      </p:sp>
      <p:sp>
        <p:nvSpPr>
          <p:cNvPr id="20" name="Shape 18"/>
          <p:cNvSpPr/>
          <p:nvPr/>
        </p:nvSpPr>
        <p:spPr>
          <a:xfrm>
            <a:off x="6172200" y="3099816"/>
            <a:ext cx="5440680" cy="694944"/>
          </a:xfrm>
          <a:prstGeom prst="rect">
            <a:avLst/>
          </a:prstGeom>
          <a:solidFill>
            <a:srgbClr val="FFFFFF"/>
          </a:solidFill>
          <a:ln/>
        </p:spPr>
      </p:sp>
      <p:sp>
        <p:nvSpPr>
          <p:cNvPr id="21" name="Text 19"/>
          <p:cNvSpPr/>
          <p:nvPr/>
        </p:nvSpPr>
        <p:spPr>
          <a:xfrm>
            <a:off x="6309360" y="3099816"/>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2. Cause-effect relationships are not always visible, and the explanation/interpretation is subjective.</a:t>
            </a:r>
            <a:endParaRPr lang="en-US" sz="1200" dirty="0"/>
          </a:p>
        </p:txBody>
      </p:sp>
      <p:sp>
        <p:nvSpPr>
          <p:cNvPr id="22" name="Shape 20"/>
          <p:cNvSpPr/>
          <p:nvPr/>
        </p:nvSpPr>
        <p:spPr>
          <a:xfrm>
            <a:off x="6172200" y="3886200"/>
            <a:ext cx="5440680" cy="694944"/>
          </a:xfrm>
          <a:prstGeom prst="rect">
            <a:avLst/>
          </a:prstGeom>
          <a:solidFill>
            <a:srgbClr val="FBF3E0"/>
          </a:solidFill>
          <a:ln/>
        </p:spPr>
      </p:sp>
      <p:sp>
        <p:nvSpPr>
          <p:cNvPr id="23" name="Text 21"/>
          <p:cNvSpPr/>
          <p:nvPr/>
        </p:nvSpPr>
        <p:spPr>
          <a:xfrm>
            <a:off x="6309360" y="3886200"/>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3. The laws and principles are not of universal nature and their validity will differ from situation to situation.</a:t>
            </a:r>
            <a:endParaRPr lang="en-US" sz="1200" dirty="0"/>
          </a:p>
        </p:txBody>
      </p:sp>
      <p:sp>
        <p:nvSpPr>
          <p:cNvPr id="24" name="Shape 22"/>
          <p:cNvSpPr/>
          <p:nvPr/>
        </p:nvSpPr>
        <p:spPr>
          <a:xfrm>
            <a:off x="6172200" y="4672584"/>
            <a:ext cx="5440680" cy="694944"/>
          </a:xfrm>
          <a:prstGeom prst="rect">
            <a:avLst/>
          </a:prstGeom>
          <a:solidFill>
            <a:srgbClr val="FFFFFF"/>
          </a:solidFill>
          <a:ln/>
        </p:spPr>
      </p:sp>
      <p:sp>
        <p:nvSpPr>
          <p:cNvPr id="25" name="Text 23"/>
          <p:cNvSpPr/>
          <p:nvPr/>
        </p:nvSpPr>
        <p:spPr>
          <a:xfrm>
            <a:off x="6309360" y="4672584"/>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4. It is mere guesswork based on subjective understanding of ground realities.</a:t>
            </a:r>
            <a:endParaRPr lang="en-US" sz="1200" dirty="0"/>
          </a:p>
        </p:txBody>
      </p:sp>
      <p:sp>
        <p:nvSpPr>
          <p:cNvPr id="26" name="Shape 24"/>
          <p:cNvSpPr/>
          <p:nvPr/>
        </p:nvSpPr>
        <p:spPr>
          <a:xfrm>
            <a:off x="6172200" y="5458968"/>
            <a:ext cx="5440680" cy="694944"/>
          </a:xfrm>
          <a:prstGeom prst="rect">
            <a:avLst/>
          </a:prstGeom>
          <a:solidFill>
            <a:srgbClr val="FBF3E0"/>
          </a:solidFill>
          <a:ln/>
        </p:spPr>
      </p:sp>
      <p:sp>
        <p:nvSpPr>
          <p:cNvPr id="27" name="Text 25"/>
          <p:cNvSpPr/>
          <p:nvPr/>
        </p:nvSpPr>
        <p:spPr>
          <a:xfrm>
            <a:off x="6309360" y="5458968"/>
            <a:ext cx="5166360" cy="694944"/>
          </a:xfrm>
          <a:prstGeom prst="rect">
            <a:avLst/>
          </a:prstGeom>
          <a:noFill/>
          <a:ln/>
        </p:spPr>
        <p:txBody>
          <a:bodyPr wrap="square" rtlCol="0" anchor="ctr"/>
          <a:lstStyle/>
          <a:p>
            <a:pPr indent="0" marL="0">
              <a:buNone/>
            </a:pPr>
            <a:r>
              <a:rPr lang="en-US" sz="1200" dirty="0">
                <a:solidFill>
                  <a:srgbClr val="2B2B33"/>
                </a:solidFill>
                <a:latin typeface="Calibri" pitchFamily="34" charset="0"/>
                <a:ea typeface="Calibri" pitchFamily="34" charset="-122"/>
                <a:cs typeface="Calibri" pitchFamily="34" charset="-120"/>
              </a:rPr>
              <a:t>5. It is descriptive.</a:t>
            </a:r>
            <a:endParaRPr lang="en-US" sz="1200" dirty="0"/>
          </a:p>
        </p:txBody>
      </p:sp>
      <p:sp>
        <p:nvSpPr>
          <p:cNvPr id="28" name="Text 26"/>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1.14. MANAGEMENT IS BOTH — 'SCIENCE' AS WELL AS 'ART'</a:t>
            </a:r>
            <a:endParaRPr lang="en-US" sz="1100" dirty="0"/>
          </a:p>
        </p:txBody>
      </p:sp>
      <p:sp>
        <p:nvSpPr>
          <p:cNvPr id="29" name="Text 27"/>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C</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1.23 – 1.24</a:t>
            </a:r>
            <a:endParaRPr lang="en-US" sz="34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Levels of Management</a:t>
            </a:r>
            <a:endParaRPr lang="en-US" sz="22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68680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The organizational hierarchy that separates ownership, strategy, coordination and day-to-day supervision.</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1.23.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&amp; (2) Meaning and Factors Determining Levels</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Meaning: Levels of management in an organization represent its hierarchy, or pecking order, or a system in which people or things are put at various levels according to their status or importance.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Factors: The number of levels depends on the organization's size, technology, number and quality of workforce, and range of operations. A large organization needs more levels for efficient planning, organization, direction and control at various work-centers. Complex technology of manufacture, or a large number of diverse products, also demands more levels.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However, in the interest of efficiency and productivity, it is advisable to keep levels to the minimum — unnecessary levels increase costs and create communication and coordination problems between levels, and lack of communication between managerial and operative staff can cause misunderstanding.</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“More Layers, More Delays” — keep levels to the minimum needed.</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Fewer Rungs, Faster Ladder</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lean tech startup with just 'Founder → Team Lead → Engineer' moves faster than a conglomerate with seven layers of approval.</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1.23. LEVELS OF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1.23.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Diagram — Levels of Management (On the Basis of Authority &amp; Responsibility)</a:t>
            </a:r>
            <a:endParaRPr lang="en-US" sz="2900" dirty="0"/>
          </a:p>
        </p:txBody>
      </p:sp>
      <p:sp>
        <p:nvSpPr>
          <p:cNvPr id="4" name="Shape 2"/>
          <p:cNvSpPr/>
          <p:nvPr/>
        </p:nvSpPr>
        <p:spPr>
          <a:xfrm>
            <a:off x="1097280" y="1920240"/>
            <a:ext cx="10058400" cy="0"/>
          </a:xfrm>
          <a:prstGeom prst="line">
            <a:avLst/>
          </a:prstGeom>
          <a:noFill/>
          <a:ln w="25400">
            <a:solidFill>
              <a:srgbClr val="1E2761"/>
            </a:solidFill>
            <a:prstDash val="solid"/>
          </a:ln>
        </p:spPr>
      </p:sp>
      <p:sp>
        <p:nvSpPr>
          <p:cNvPr id="5" name="Shape 3"/>
          <p:cNvSpPr/>
          <p:nvPr/>
        </p:nvSpPr>
        <p:spPr>
          <a:xfrm>
            <a:off x="1508760" y="1920240"/>
            <a:ext cx="0" cy="320040"/>
          </a:xfrm>
          <a:prstGeom prst="line">
            <a:avLst/>
          </a:prstGeom>
          <a:noFill/>
          <a:ln w="25400">
            <a:solidFill>
              <a:srgbClr val="1E2761"/>
            </a:solidFill>
            <a:prstDash val="solid"/>
          </a:ln>
        </p:spPr>
      </p:sp>
      <p:sp>
        <p:nvSpPr>
          <p:cNvPr id="6" name="Shape 4"/>
          <p:cNvSpPr/>
          <p:nvPr/>
        </p:nvSpPr>
        <p:spPr>
          <a:xfrm>
            <a:off x="3931920" y="1920240"/>
            <a:ext cx="0" cy="320040"/>
          </a:xfrm>
          <a:prstGeom prst="line">
            <a:avLst/>
          </a:prstGeom>
          <a:noFill/>
          <a:ln w="25400">
            <a:solidFill>
              <a:srgbClr val="1E2761"/>
            </a:solidFill>
            <a:prstDash val="solid"/>
          </a:ln>
        </p:spPr>
      </p:sp>
      <p:sp>
        <p:nvSpPr>
          <p:cNvPr id="7" name="Shape 5"/>
          <p:cNvSpPr/>
          <p:nvPr/>
        </p:nvSpPr>
        <p:spPr>
          <a:xfrm>
            <a:off x="7040880" y="1920240"/>
            <a:ext cx="0" cy="320040"/>
          </a:xfrm>
          <a:prstGeom prst="line">
            <a:avLst/>
          </a:prstGeom>
          <a:noFill/>
          <a:ln w="25400">
            <a:solidFill>
              <a:srgbClr val="1E2761"/>
            </a:solidFill>
            <a:prstDash val="solid"/>
          </a:ln>
        </p:spPr>
      </p:sp>
      <p:sp>
        <p:nvSpPr>
          <p:cNvPr id="8" name="Shape 6"/>
          <p:cNvSpPr/>
          <p:nvPr/>
        </p:nvSpPr>
        <p:spPr>
          <a:xfrm>
            <a:off x="10264140" y="1920240"/>
            <a:ext cx="0" cy="320040"/>
          </a:xfrm>
          <a:prstGeom prst="line">
            <a:avLst/>
          </a:prstGeom>
          <a:noFill/>
          <a:ln w="25400">
            <a:solidFill>
              <a:srgbClr val="1E2761"/>
            </a:solidFill>
            <a:prstDash val="solid"/>
          </a:ln>
        </p:spPr>
      </p:sp>
      <p:sp>
        <p:nvSpPr>
          <p:cNvPr id="9" name="Shape 7"/>
          <p:cNvSpPr/>
          <p:nvPr/>
        </p:nvSpPr>
        <p:spPr>
          <a:xfrm>
            <a:off x="548640" y="2240280"/>
            <a:ext cx="1920240" cy="1371600"/>
          </a:xfrm>
          <a:prstGeom prst="roundRect">
            <a:avLst>
              <a:gd name="adj" fmla="val 4667"/>
            </a:avLst>
          </a:prstGeom>
          <a:solidFill>
            <a:srgbClr val="141B48"/>
          </a:solidFill>
          <a:ln/>
        </p:spPr>
      </p:sp>
      <p:sp>
        <p:nvSpPr>
          <p:cNvPr id="10" name="Text 8"/>
          <p:cNvSpPr/>
          <p:nvPr/>
        </p:nvSpPr>
        <p:spPr>
          <a:xfrm>
            <a:off x="640080" y="2377440"/>
            <a:ext cx="1737360" cy="1097280"/>
          </a:xfrm>
          <a:prstGeom prst="rect">
            <a:avLst/>
          </a:prstGeom>
          <a:noFill/>
          <a:ln/>
        </p:spPr>
        <p:txBody>
          <a:bodyPr wrap="square"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Ownership</a:t>
            </a:r>
            <a:endParaRPr lang="en-US" sz="1250" dirty="0"/>
          </a:p>
          <a:p>
            <a:pPr algn="ctr" indent="0" marL="0">
              <a:buNone/>
            </a:pPr>
            <a:r>
              <a:rPr lang="en-US" sz="1250" b="1" dirty="0">
                <a:solidFill>
                  <a:srgbClr val="FFFFFF"/>
                </a:solidFill>
                <a:latin typeface="Cambria" pitchFamily="34" charset="0"/>
                <a:ea typeface="Cambria" pitchFamily="34" charset="-122"/>
                <a:cs typeface="Cambria" pitchFamily="34" charset="-120"/>
              </a:rPr>
              <a:t>(Entrepreneurs)</a:t>
            </a:r>
            <a:endParaRPr lang="en-US" sz="1250" dirty="0"/>
          </a:p>
        </p:txBody>
      </p:sp>
      <p:sp>
        <p:nvSpPr>
          <p:cNvPr id="11" name="Shape 9"/>
          <p:cNvSpPr/>
          <p:nvPr/>
        </p:nvSpPr>
        <p:spPr>
          <a:xfrm>
            <a:off x="2697480" y="2240280"/>
            <a:ext cx="2468880" cy="2331720"/>
          </a:xfrm>
          <a:prstGeom prst="roundRect">
            <a:avLst>
              <a:gd name="adj" fmla="val 2745"/>
            </a:avLst>
          </a:prstGeom>
          <a:solidFill>
            <a:srgbClr val="1E2761"/>
          </a:solidFill>
          <a:ln/>
        </p:spPr>
      </p:sp>
      <p:sp>
        <p:nvSpPr>
          <p:cNvPr id="12" name="Text 10"/>
          <p:cNvSpPr/>
          <p:nvPr/>
        </p:nvSpPr>
        <p:spPr>
          <a:xfrm>
            <a:off x="2788920" y="2359152"/>
            <a:ext cx="2286000" cy="365760"/>
          </a:xfrm>
          <a:prstGeom prst="rect">
            <a:avLst/>
          </a:prstGeom>
          <a:noFill/>
          <a:ln/>
        </p:spPr>
        <p:txBody>
          <a:bodyPr wrap="square"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Top Management</a:t>
            </a:r>
            <a:endParaRPr lang="en-US" sz="1300" dirty="0"/>
          </a:p>
        </p:txBody>
      </p:sp>
      <p:sp>
        <p:nvSpPr>
          <p:cNvPr id="13" name="Text 11"/>
          <p:cNvSpPr/>
          <p:nvPr/>
        </p:nvSpPr>
        <p:spPr>
          <a:xfrm>
            <a:off x="2788920" y="2743200"/>
            <a:ext cx="2286000" cy="1737360"/>
          </a:xfrm>
          <a:prstGeom prst="rect">
            <a:avLst/>
          </a:prstGeom>
          <a:noFill/>
          <a:ln/>
        </p:spPr>
        <p:txBody>
          <a:bodyPr wrap="square"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Board of Directors, Chairman of the Board, Chief Executive i.e. Managing Director, General Manager</a:t>
            </a:r>
            <a:endParaRPr lang="en-US" sz="1050" dirty="0"/>
          </a:p>
        </p:txBody>
      </p:sp>
      <p:sp>
        <p:nvSpPr>
          <p:cNvPr id="14" name="Shape 12"/>
          <p:cNvSpPr/>
          <p:nvPr/>
        </p:nvSpPr>
        <p:spPr>
          <a:xfrm>
            <a:off x="5394960" y="2240280"/>
            <a:ext cx="3291840" cy="365760"/>
          </a:xfrm>
          <a:prstGeom prst="roundRect">
            <a:avLst>
              <a:gd name="adj" fmla="val 15000"/>
            </a:avLst>
          </a:prstGeom>
          <a:solidFill>
            <a:srgbClr val="3A4A8C"/>
          </a:solidFill>
          <a:ln/>
        </p:spPr>
      </p:sp>
      <p:sp>
        <p:nvSpPr>
          <p:cNvPr id="15" name="Text 13"/>
          <p:cNvSpPr/>
          <p:nvPr/>
        </p:nvSpPr>
        <p:spPr>
          <a:xfrm>
            <a:off x="5394960" y="2240280"/>
            <a:ext cx="329184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Middle Management</a:t>
            </a:r>
            <a:endParaRPr lang="en-US" sz="1300" dirty="0"/>
          </a:p>
        </p:txBody>
      </p:sp>
      <p:sp>
        <p:nvSpPr>
          <p:cNvPr id="16" name="Shape 14"/>
          <p:cNvSpPr/>
          <p:nvPr/>
        </p:nvSpPr>
        <p:spPr>
          <a:xfrm>
            <a:off x="5394960" y="2697480"/>
            <a:ext cx="1600200" cy="1874520"/>
          </a:xfrm>
          <a:prstGeom prst="roundRect">
            <a:avLst>
              <a:gd name="adj" fmla="val 3429"/>
            </a:avLst>
          </a:prstGeom>
          <a:solidFill>
            <a:srgbClr val="4E5FA0"/>
          </a:solidFill>
          <a:ln/>
        </p:spPr>
      </p:sp>
      <p:sp>
        <p:nvSpPr>
          <p:cNvPr id="17" name="Text 15"/>
          <p:cNvSpPr/>
          <p:nvPr/>
        </p:nvSpPr>
        <p:spPr>
          <a:xfrm>
            <a:off x="5468112" y="2788920"/>
            <a:ext cx="1463040" cy="502920"/>
          </a:xfrm>
          <a:prstGeom prst="rect">
            <a:avLst/>
          </a:prstGeom>
          <a:noFill/>
          <a:ln/>
        </p:spPr>
        <p:txBody>
          <a:bodyPr wrap="square" rtlCol="0" anchor="ctr"/>
          <a:lstStyle/>
          <a:p>
            <a:pPr algn="ctr" indent="0" marL="0">
              <a:buNone/>
            </a:pPr>
            <a:r>
              <a:rPr lang="en-US" sz="1050" b="1" dirty="0">
                <a:solidFill>
                  <a:srgbClr val="C9A24B"/>
                </a:solidFill>
                <a:latin typeface="Cambria" pitchFamily="34" charset="0"/>
                <a:ea typeface="Cambria" pitchFamily="34" charset="-122"/>
                <a:cs typeface="Cambria" pitchFamily="34" charset="-120"/>
              </a:rPr>
              <a:t>Senior Middle Management</a:t>
            </a:r>
            <a:endParaRPr lang="en-US" sz="1050" dirty="0"/>
          </a:p>
        </p:txBody>
      </p:sp>
      <p:sp>
        <p:nvSpPr>
          <p:cNvPr id="18" name="Text 16"/>
          <p:cNvSpPr/>
          <p:nvPr/>
        </p:nvSpPr>
        <p:spPr>
          <a:xfrm>
            <a:off x="5468112" y="3291840"/>
            <a:ext cx="1463040" cy="1234440"/>
          </a:xfrm>
          <a:prstGeom prst="rect">
            <a:avLst/>
          </a:prstGeom>
          <a:noFill/>
          <a:ln/>
        </p:spPr>
        <p:txBody>
          <a:bodyPr wrap="square"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Departmental heads: Marketing, Production, Finance &amp; Personnel Managers</a:t>
            </a:r>
            <a:endParaRPr lang="en-US" sz="950" dirty="0"/>
          </a:p>
        </p:txBody>
      </p:sp>
      <p:sp>
        <p:nvSpPr>
          <p:cNvPr id="19" name="Shape 17"/>
          <p:cNvSpPr/>
          <p:nvPr/>
        </p:nvSpPr>
        <p:spPr>
          <a:xfrm>
            <a:off x="7086600" y="2697480"/>
            <a:ext cx="1600200" cy="1874520"/>
          </a:xfrm>
          <a:prstGeom prst="roundRect">
            <a:avLst>
              <a:gd name="adj" fmla="val 3429"/>
            </a:avLst>
          </a:prstGeom>
          <a:solidFill>
            <a:srgbClr val="4E5FA0"/>
          </a:solidFill>
          <a:ln/>
        </p:spPr>
      </p:sp>
      <p:sp>
        <p:nvSpPr>
          <p:cNvPr id="20" name="Text 18"/>
          <p:cNvSpPr/>
          <p:nvPr/>
        </p:nvSpPr>
        <p:spPr>
          <a:xfrm>
            <a:off x="7159752" y="2788920"/>
            <a:ext cx="1463040" cy="502920"/>
          </a:xfrm>
          <a:prstGeom prst="rect">
            <a:avLst/>
          </a:prstGeom>
          <a:noFill/>
          <a:ln/>
        </p:spPr>
        <p:txBody>
          <a:bodyPr wrap="square" rtlCol="0" anchor="ctr"/>
          <a:lstStyle/>
          <a:p>
            <a:pPr algn="ctr" indent="0" marL="0">
              <a:buNone/>
            </a:pPr>
            <a:r>
              <a:rPr lang="en-US" sz="1050" b="1" dirty="0">
                <a:solidFill>
                  <a:srgbClr val="C9A24B"/>
                </a:solidFill>
                <a:latin typeface="Cambria" pitchFamily="34" charset="0"/>
                <a:ea typeface="Cambria" pitchFamily="34" charset="-122"/>
                <a:cs typeface="Cambria" pitchFamily="34" charset="-120"/>
              </a:rPr>
              <a:t>Junior Middle Management</a:t>
            </a:r>
            <a:endParaRPr lang="en-US" sz="1050" dirty="0"/>
          </a:p>
        </p:txBody>
      </p:sp>
      <p:sp>
        <p:nvSpPr>
          <p:cNvPr id="21" name="Text 19"/>
          <p:cNvSpPr/>
          <p:nvPr/>
        </p:nvSpPr>
        <p:spPr>
          <a:xfrm>
            <a:off x="7159752" y="3291840"/>
            <a:ext cx="1463040" cy="1234440"/>
          </a:xfrm>
          <a:prstGeom prst="rect">
            <a:avLst/>
          </a:prstGeom>
          <a:noFill/>
          <a:ln/>
        </p:spPr>
        <p:txBody>
          <a:bodyPr wrap="square"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Deputy Department Managers, Branch Managers, Works Managers</a:t>
            </a:r>
            <a:endParaRPr lang="en-US" sz="950" dirty="0"/>
          </a:p>
        </p:txBody>
      </p:sp>
      <p:sp>
        <p:nvSpPr>
          <p:cNvPr id="22" name="Shape 20"/>
          <p:cNvSpPr/>
          <p:nvPr/>
        </p:nvSpPr>
        <p:spPr>
          <a:xfrm>
            <a:off x="8915400" y="2240280"/>
            <a:ext cx="2697480" cy="2331720"/>
          </a:xfrm>
          <a:prstGeom prst="roundRect">
            <a:avLst>
              <a:gd name="adj" fmla="val 2745"/>
            </a:avLst>
          </a:prstGeom>
          <a:solidFill>
            <a:srgbClr val="5E71B8"/>
          </a:solidFill>
          <a:ln/>
        </p:spPr>
      </p:sp>
      <p:sp>
        <p:nvSpPr>
          <p:cNvPr id="23" name="Text 21"/>
          <p:cNvSpPr/>
          <p:nvPr/>
        </p:nvSpPr>
        <p:spPr>
          <a:xfrm>
            <a:off x="9006840" y="2359152"/>
            <a:ext cx="2514600" cy="50292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Supervisory Management (First Line)</a:t>
            </a:r>
            <a:endParaRPr lang="en-US" sz="1200" dirty="0"/>
          </a:p>
        </p:txBody>
      </p:sp>
      <p:sp>
        <p:nvSpPr>
          <p:cNvPr id="24" name="Text 22"/>
          <p:cNvSpPr/>
          <p:nvPr/>
        </p:nvSpPr>
        <p:spPr>
          <a:xfrm>
            <a:off x="9006840" y="2926080"/>
            <a:ext cx="2514600" cy="1554480"/>
          </a:xfrm>
          <a:prstGeom prst="rect">
            <a:avLst/>
          </a:prstGeom>
          <a:noFill/>
          <a:ln/>
        </p:spPr>
        <p:txBody>
          <a:bodyPr wrap="square"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Office Managers, Superintendents, General Foremen, Foremen, Chief Clerks, Supervisors</a:t>
            </a:r>
            <a:endParaRPr lang="en-US" sz="1050" dirty="0"/>
          </a:p>
        </p:txBody>
      </p:sp>
      <p:sp>
        <p:nvSpPr>
          <p:cNvPr id="25" name="Text 23"/>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1.23 LEVELS OF MANAGEMENT</a:t>
            </a:r>
            <a:endParaRPr lang="en-US" sz="11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1.24. DIFFERENT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Owners</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In a sole proprietary business, both ownership and management vest in one and the same person. In the case of a partnership firm, its general partners are both owners and managers.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In a joint stock company, however, there is separation of ownership and management, unless it is a 'one person company' or a private limited company having a small number of members, who may both own and manage the affairs of the company.</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In a joint stock company having a large number of members, while ownership vests in shareholders, management of the company's affairs is delegated to the Board of Directors elected by shareholders. The shareholders formulate the goals and objectives, including major policy decisions, and assign the task of implementing them to the Board of Directors.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Owner vs. Manager</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family-run shop: the owner also manages it daily. A public company like TCS: shareholders own it, but the Board and CEO manage it on their behalf.</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DIFFERENT LEVELS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1.24. DIFFERENT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Diagram — Levels of Management (On the Basis of Functions)</a:t>
            </a:r>
            <a:endParaRPr lang="en-US" sz="2900" dirty="0"/>
          </a:p>
        </p:txBody>
      </p:sp>
      <p:sp>
        <p:nvSpPr>
          <p:cNvPr id="4" name="Shape 2"/>
          <p:cNvSpPr/>
          <p:nvPr/>
        </p:nvSpPr>
        <p:spPr>
          <a:xfrm>
            <a:off x="2697480" y="1737360"/>
            <a:ext cx="6766560" cy="0"/>
          </a:xfrm>
          <a:prstGeom prst="line">
            <a:avLst/>
          </a:prstGeom>
          <a:noFill/>
          <a:ln w="25400">
            <a:solidFill>
              <a:srgbClr val="1E2761"/>
            </a:solidFill>
            <a:prstDash val="solid"/>
          </a:ln>
        </p:spPr>
      </p:sp>
      <p:sp>
        <p:nvSpPr>
          <p:cNvPr id="5" name="Shape 3"/>
          <p:cNvSpPr/>
          <p:nvPr/>
        </p:nvSpPr>
        <p:spPr>
          <a:xfrm>
            <a:off x="2697480" y="1737360"/>
            <a:ext cx="0" cy="457200"/>
          </a:xfrm>
          <a:prstGeom prst="line">
            <a:avLst/>
          </a:prstGeom>
          <a:noFill/>
          <a:ln w="25400">
            <a:solidFill>
              <a:srgbClr val="1E2761"/>
            </a:solidFill>
            <a:prstDash val="solid"/>
          </a:ln>
        </p:spPr>
      </p:sp>
      <p:sp>
        <p:nvSpPr>
          <p:cNvPr id="6" name="Shape 4"/>
          <p:cNvSpPr/>
          <p:nvPr/>
        </p:nvSpPr>
        <p:spPr>
          <a:xfrm>
            <a:off x="1188720" y="2194560"/>
            <a:ext cx="3017520" cy="1737360"/>
          </a:xfrm>
          <a:prstGeom prst="roundRect">
            <a:avLst>
              <a:gd name="adj" fmla="val 4211"/>
            </a:avLst>
          </a:prstGeom>
          <a:solidFill>
            <a:srgbClr val="141B48"/>
          </a:solidFill>
          <a:ln/>
        </p:spPr>
      </p:sp>
      <p:sp>
        <p:nvSpPr>
          <p:cNvPr id="7" name="Text 5"/>
          <p:cNvSpPr/>
          <p:nvPr/>
        </p:nvSpPr>
        <p:spPr>
          <a:xfrm>
            <a:off x="1325880" y="2423160"/>
            <a:ext cx="2743200" cy="457200"/>
          </a:xfrm>
          <a:prstGeom prst="rect">
            <a:avLst/>
          </a:prstGeom>
          <a:noFill/>
          <a:ln/>
        </p:spPr>
        <p:txBody>
          <a:bodyPr wrap="square" rtlCol="0" anchor="ctr"/>
          <a:lstStyle/>
          <a:p>
            <a:pPr algn="ctr" indent="0" marL="0">
              <a:buNone/>
            </a:pPr>
            <a:r>
              <a:rPr lang="en-US" sz="1800" b="1" dirty="0">
                <a:solidFill>
                  <a:srgbClr val="C9A24B"/>
                </a:solidFill>
                <a:latin typeface="Cambria" pitchFamily="34" charset="0"/>
                <a:ea typeface="Cambria" pitchFamily="34" charset="-122"/>
                <a:cs typeface="Cambria" pitchFamily="34" charset="-120"/>
              </a:rPr>
              <a:t>Administrative</a:t>
            </a:r>
            <a:endParaRPr lang="en-US" sz="1800" dirty="0"/>
          </a:p>
        </p:txBody>
      </p:sp>
      <p:sp>
        <p:nvSpPr>
          <p:cNvPr id="8" name="Text 6"/>
          <p:cNvSpPr/>
          <p:nvPr/>
        </p:nvSpPr>
        <p:spPr>
          <a:xfrm>
            <a:off x="1371600" y="2926080"/>
            <a:ext cx="2651760" cy="914400"/>
          </a:xfrm>
          <a:prstGeom prst="rect">
            <a:avLst/>
          </a:prstGeom>
          <a:noFill/>
          <a:ln/>
        </p:spPr>
        <p:txBody>
          <a:bodyPr wrap="square"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(Ownership and Top Management)</a:t>
            </a:r>
            <a:endParaRPr lang="en-US" sz="1200" dirty="0"/>
          </a:p>
        </p:txBody>
      </p:sp>
      <p:sp>
        <p:nvSpPr>
          <p:cNvPr id="9" name="Shape 7"/>
          <p:cNvSpPr/>
          <p:nvPr/>
        </p:nvSpPr>
        <p:spPr>
          <a:xfrm>
            <a:off x="6080760" y="1737360"/>
            <a:ext cx="0" cy="457200"/>
          </a:xfrm>
          <a:prstGeom prst="line">
            <a:avLst/>
          </a:prstGeom>
          <a:noFill/>
          <a:ln w="25400">
            <a:solidFill>
              <a:srgbClr val="1E2761"/>
            </a:solidFill>
            <a:prstDash val="solid"/>
          </a:ln>
        </p:spPr>
      </p:sp>
      <p:sp>
        <p:nvSpPr>
          <p:cNvPr id="10" name="Shape 8"/>
          <p:cNvSpPr/>
          <p:nvPr/>
        </p:nvSpPr>
        <p:spPr>
          <a:xfrm>
            <a:off x="4572000" y="2194560"/>
            <a:ext cx="3017520" cy="1737360"/>
          </a:xfrm>
          <a:prstGeom prst="roundRect">
            <a:avLst>
              <a:gd name="adj" fmla="val 4211"/>
            </a:avLst>
          </a:prstGeom>
          <a:solidFill>
            <a:srgbClr val="1E2761"/>
          </a:solidFill>
          <a:ln/>
        </p:spPr>
      </p:sp>
      <p:sp>
        <p:nvSpPr>
          <p:cNvPr id="11" name="Text 9"/>
          <p:cNvSpPr/>
          <p:nvPr/>
        </p:nvSpPr>
        <p:spPr>
          <a:xfrm>
            <a:off x="4709160" y="2423160"/>
            <a:ext cx="2743200" cy="457200"/>
          </a:xfrm>
          <a:prstGeom prst="rect">
            <a:avLst/>
          </a:prstGeom>
          <a:noFill/>
          <a:ln/>
        </p:spPr>
        <p:txBody>
          <a:bodyPr wrap="square" rtlCol="0" anchor="ctr"/>
          <a:lstStyle/>
          <a:p>
            <a:pPr algn="ctr" indent="0" marL="0">
              <a:buNone/>
            </a:pPr>
            <a:r>
              <a:rPr lang="en-US" sz="1800" b="1" dirty="0">
                <a:solidFill>
                  <a:srgbClr val="C9A24B"/>
                </a:solidFill>
                <a:latin typeface="Cambria" pitchFamily="34" charset="0"/>
                <a:ea typeface="Cambria" pitchFamily="34" charset="-122"/>
                <a:cs typeface="Cambria" pitchFamily="34" charset="-120"/>
              </a:rPr>
              <a:t>Executive</a:t>
            </a:r>
            <a:endParaRPr lang="en-US" sz="1800" dirty="0"/>
          </a:p>
        </p:txBody>
      </p:sp>
      <p:sp>
        <p:nvSpPr>
          <p:cNvPr id="12" name="Text 10"/>
          <p:cNvSpPr/>
          <p:nvPr/>
        </p:nvSpPr>
        <p:spPr>
          <a:xfrm>
            <a:off x="4754880" y="2926080"/>
            <a:ext cx="2651760" cy="914400"/>
          </a:xfrm>
          <a:prstGeom prst="rect">
            <a:avLst/>
          </a:prstGeom>
          <a:noFill/>
          <a:ln/>
        </p:spPr>
        <p:txBody>
          <a:bodyPr wrap="square"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(Senior/Junior Middle and Supervisory Management)</a:t>
            </a:r>
            <a:endParaRPr lang="en-US" sz="1200" dirty="0"/>
          </a:p>
        </p:txBody>
      </p:sp>
      <p:sp>
        <p:nvSpPr>
          <p:cNvPr id="13" name="Shape 11"/>
          <p:cNvSpPr/>
          <p:nvPr/>
        </p:nvSpPr>
        <p:spPr>
          <a:xfrm>
            <a:off x="9464040" y="1737360"/>
            <a:ext cx="0" cy="457200"/>
          </a:xfrm>
          <a:prstGeom prst="line">
            <a:avLst/>
          </a:prstGeom>
          <a:noFill/>
          <a:ln w="25400">
            <a:solidFill>
              <a:srgbClr val="1E2761"/>
            </a:solidFill>
            <a:prstDash val="solid"/>
          </a:ln>
        </p:spPr>
      </p:sp>
      <p:sp>
        <p:nvSpPr>
          <p:cNvPr id="14" name="Shape 12"/>
          <p:cNvSpPr/>
          <p:nvPr/>
        </p:nvSpPr>
        <p:spPr>
          <a:xfrm>
            <a:off x="7955280" y="2194560"/>
            <a:ext cx="3017520" cy="1737360"/>
          </a:xfrm>
          <a:prstGeom prst="roundRect">
            <a:avLst>
              <a:gd name="adj" fmla="val 4211"/>
            </a:avLst>
          </a:prstGeom>
          <a:solidFill>
            <a:srgbClr val="3A4A8C"/>
          </a:solidFill>
          <a:ln/>
        </p:spPr>
      </p:sp>
      <p:sp>
        <p:nvSpPr>
          <p:cNvPr id="15" name="Text 13"/>
          <p:cNvSpPr/>
          <p:nvPr/>
        </p:nvSpPr>
        <p:spPr>
          <a:xfrm>
            <a:off x="8092440" y="2423160"/>
            <a:ext cx="2743200" cy="457200"/>
          </a:xfrm>
          <a:prstGeom prst="rect">
            <a:avLst/>
          </a:prstGeom>
          <a:noFill/>
          <a:ln/>
        </p:spPr>
        <p:txBody>
          <a:bodyPr wrap="square" rtlCol="0" anchor="ctr"/>
          <a:lstStyle/>
          <a:p>
            <a:pPr algn="ctr" indent="0" marL="0">
              <a:buNone/>
            </a:pPr>
            <a:r>
              <a:rPr lang="en-US" sz="1800" b="1" dirty="0">
                <a:solidFill>
                  <a:srgbClr val="C9A24B"/>
                </a:solidFill>
                <a:latin typeface="Cambria" pitchFamily="34" charset="0"/>
                <a:ea typeface="Cambria" pitchFamily="34" charset="-122"/>
                <a:cs typeface="Cambria" pitchFamily="34" charset="-120"/>
              </a:rPr>
              <a:t>Advisory</a:t>
            </a:r>
            <a:endParaRPr lang="en-US" sz="1800" dirty="0"/>
          </a:p>
        </p:txBody>
      </p:sp>
      <p:sp>
        <p:nvSpPr>
          <p:cNvPr id="16" name="Text 14"/>
          <p:cNvSpPr/>
          <p:nvPr/>
        </p:nvSpPr>
        <p:spPr>
          <a:xfrm>
            <a:off x="8138160" y="2926080"/>
            <a:ext cx="2651760" cy="914400"/>
          </a:xfrm>
          <a:prstGeom prst="rect">
            <a:avLst/>
          </a:prstGeom>
          <a:noFill/>
          <a:ln/>
        </p:spPr>
        <p:txBody>
          <a:bodyPr wrap="square"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(Chemist, Scientist, Legal Adviser, Personnel Manager, etc.)</a:t>
            </a:r>
            <a:endParaRPr lang="en-US" sz="1200" dirty="0"/>
          </a:p>
        </p:txBody>
      </p:sp>
      <p:sp>
        <p:nvSpPr>
          <p:cNvPr id="17" name="Text 15"/>
          <p:cNvSpPr/>
          <p:nvPr/>
        </p:nvSpPr>
        <p:spPr>
          <a:xfrm>
            <a:off x="548640" y="4206240"/>
            <a:ext cx="11064240" cy="73152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Board / owners set the direction (Administrative); managers at every level execute it (Executive); specialists advise without direct authority (Advisory).</a:t>
            </a:r>
            <a:endParaRPr lang="en-US" sz="1300" dirty="0"/>
          </a:p>
        </p:txBody>
      </p:sp>
      <p:sp>
        <p:nvSpPr>
          <p:cNvPr id="18" name="Text 16"/>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DIFFERENT LEVELS OF MANAGEMENT</a:t>
            </a:r>
            <a:endParaRPr lang="en-US" sz="1100" dirty="0"/>
          </a:p>
        </p:txBody>
      </p:sp>
      <p:sp>
        <p:nvSpPr>
          <p:cNvPr id="19" name="Text 17"/>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1.24. DIFFERENT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(2) Top Management</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800"/>
              </a:spcAft>
              <a:buNone/>
            </a:pPr>
            <a:r>
              <a:rPr lang="en-US" sz="1600" dirty="0">
                <a:solidFill>
                  <a:srgbClr val="2B2B33"/>
                </a:solidFill>
                <a:latin typeface="Calibri" pitchFamily="34" charset="0"/>
                <a:ea typeface="Calibri" pitchFamily="34" charset="-122"/>
                <a:cs typeface="Calibri" pitchFamily="34" charset="-120"/>
              </a:rPr>
              <a:t>It is difficult to give a precise definition of 'top management'. In a technical sense, it means the owners of the organization — sole proprietor, partners of a firm, or shareholders of a company.</a:t>
            </a:r>
            <a:endParaRPr lang="en-US" sz="1600" dirty="0"/>
          </a:p>
          <a:p>
            <a:pPr indent="0" marL="0">
              <a:lnSpc>
                <a:spcPct val="112000"/>
              </a:lnSpc>
              <a:spcAft>
                <a:spcPts val="800"/>
              </a:spcAft>
              <a:buNone/>
            </a:pPr>
            <a:r>
              <a:rPr lang="en-US" sz="1600" dirty="0">
                <a:solidFill>
                  <a:srgbClr val="2B2B33"/>
                </a:solidFill>
                <a:latin typeface="Calibri" pitchFamily="34" charset="0"/>
                <a:ea typeface="Calibri" pitchFamily="34" charset="-122"/>
                <a:cs typeface="Calibri" pitchFamily="34" charset="-120"/>
              </a:rPr>
              <a:t>In a general sense, top management refers to all those who occupy top functional positions and are assigned the task of accomplishing the objectives, policies and procedures determined by the owners — the Board of Directors and CEO (CMD, MD, GM, managing partner, etc).</a:t>
            </a:r>
            <a:endParaRPr lang="en-US" sz="1600" dirty="0"/>
          </a:p>
          <a:p>
            <a:pPr indent="0" marL="0">
              <a:lnSpc>
                <a:spcPct val="112000"/>
              </a:lnSpc>
              <a:spcAft>
                <a:spcPts val="800"/>
              </a:spcAft>
              <a:buNone/>
            </a:pPr>
            <a:r>
              <a:rPr lang="en-US" sz="1600" dirty="0">
                <a:solidFill>
                  <a:srgbClr val="2B2B33"/>
                </a:solidFill>
                <a:latin typeface="Calibri" pitchFamily="34" charset="0"/>
                <a:ea typeface="Calibri" pitchFamily="34" charset="-122"/>
                <a:cs typeface="Calibri" pitchFamily="34" charset="-120"/>
              </a:rPr>
              <a:t>Top management generally performs: 1. Setting out general objectives and policies. 2. Laying guidelines for departmental heads. 3. Organizing the business into sections and departments. 4. Making appointments to top positions. 5. Reviewing the work of executives at different levels.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To sum up, management combines the role of a teacher, disciplinarian, coordinator, tactician, and inspirer of men's work.</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 Organ of Review”</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As Peter Drucker put it, top management is mainly “an organ of review, of appraisal and of appeal.” It is rarely an organ of action, except when a crisis forces it to assume such a role.</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DIFFERENT LEVELS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1.24. DIFFERENT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(3) Chief Executive Officer (CEO)</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The CEO, being himself a part of top management, is tasked with the responsibility of accomplishing the objectives and broad policies determined by top management. He is the conduit, the sole link between top management and the heads of departments — the face and chief spokesperson of top management.</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He performs many important duties: First, issuing clear-cut instructions to departmental and sectional heads, and approving plans recommended by them. Second, coordinating activities and defining authority-responsibility relationships between mid-level managers so they work as a team. Third, monitoring, reviewing and controlling activities of subordinate managers through their reports, on which he bases his own report to top management.</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Lastly, the CEO is required to lead the team to more purposeful action — his success depends on how far he is able to solve the human problems in running the enterprise.</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Link Person</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school Principal who reports to the Governing Board but directs every head of department — exactly the CEO's conduit role between owners and managers.</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DIFFERENT LEVELS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1.24. DIFFERENT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(4) Senior Middle Management — Full Picture of Levels</a:t>
            </a:r>
            <a:endParaRPr lang="en-US" sz="2900" dirty="0"/>
          </a:p>
        </p:txBody>
      </p:sp>
      <p:sp>
        <p:nvSpPr>
          <p:cNvPr id="4" name="Text 2"/>
          <p:cNvSpPr/>
          <p:nvPr/>
        </p:nvSpPr>
        <p:spPr>
          <a:xfrm>
            <a:off x="548640" y="1691640"/>
            <a:ext cx="4206240" cy="4297680"/>
          </a:xfrm>
          <a:prstGeom prst="rect">
            <a:avLst/>
          </a:prstGeom>
          <a:noFill/>
          <a:ln/>
        </p:spPr>
        <p:txBody>
          <a:bodyPr wrap="square" rtlCol="0" anchor="t"/>
          <a:lstStyle/>
          <a:p>
            <a:pPr indent="0" marL="0">
              <a:lnSpc>
                <a:spcPct val="110000"/>
              </a:lnSpc>
              <a:spcAft>
                <a:spcPts val="800"/>
              </a:spcAft>
              <a:buNone/>
            </a:pPr>
            <a:r>
              <a:rPr lang="en-US" sz="1300" dirty="0">
                <a:solidFill>
                  <a:srgbClr val="2B2B33"/>
                </a:solidFill>
                <a:latin typeface="Calibri" pitchFamily="34" charset="0"/>
                <a:ea typeface="Calibri" pitchFamily="34" charset="-122"/>
                <a:cs typeface="Calibri" pitchFamily="34" charset="-120"/>
              </a:rPr>
              <a:t>Departmental heads — production, marketing, finance and personnel managers — constitute senior middle management. They work within the goals set by top management, but focus on short-term rather than long-term goals.</a:t>
            </a:r>
            <a:endParaRPr lang="en-US" sz="1300" dirty="0"/>
          </a:p>
          <a:p>
            <a:pPr indent="0" marL="0">
              <a:lnSpc>
                <a:spcPct val="110000"/>
              </a:lnSpc>
              <a:spcAft>
                <a:spcPts val="800"/>
              </a:spcAft>
              <a:buNone/>
            </a:pPr>
            <a:r>
              <a:rPr lang="en-US" sz="1300" dirty="0">
                <a:solidFill>
                  <a:srgbClr val="2B2B33"/>
                </a:solidFill>
                <a:latin typeface="Calibri" pitchFamily="34" charset="0"/>
                <a:ea typeface="Calibri" pitchFamily="34" charset="-122"/>
                <a:cs typeface="Calibri" pitchFamily="34" charset="-120"/>
              </a:rPr>
              <a:t>Example: top management may set a goal to double profits over time, but the production and sales managers focus on hitting production/sales targets for a month or a quarter.</a:t>
            </a:r>
            <a:endParaRPr lang="en-US" sz="1300" dirty="0"/>
          </a:p>
          <a:p>
            <a:pPr indent="0" marL="0">
              <a:lnSpc>
                <a:spcPct val="110000"/>
              </a:lnSpc>
              <a:buNone/>
            </a:pPr>
            <a:r>
              <a:rPr lang="en-US" sz="1300" dirty="0">
                <a:solidFill>
                  <a:srgbClr val="2B2B33"/>
                </a:solidFill>
                <a:latin typeface="Calibri" pitchFamily="34" charset="0"/>
                <a:ea typeface="Calibri" pitchFamily="34" charset="-122"/>
                <a:cs typeface="Calibri" pitchFamily="34" charset="-120"/>
              </a:rPr>
              <a:t>Senior middle managers enjoy freedom to set targets and rearrange priorities — but decisions must stay within organizational objectives and get the CEO's prior approval.</a:t>
            </a:r>
            <a:endParaRPr lang="en-US" sz="1300" dirty="0"/>
          </a:p>
        </p:txBody>
      </p:sp>
      <p:sp>
        <p:nvSpPr>
          <p:cNvPr id="5" name="Shape 3"/>
          <p:cNvSpPr/>
          <p:nvPr/>
        </p:nvSpPr>
        <p:spPr>
          <a:xfrm>
            <a:off x="4937760" y="1691640"/>
            <a:ext cx="6675120" cy="1234440"/>
          </a:xfrm>
          <a:prstGeom prst="roundRect">
            <a:avLst>
              <a:gd name="adj" fmla="val 5185"/>
            </a:avLst>
          </a:prstGeom>
          <a:solidFill>
            <a:srgbClr val="141B48"/>
          </a:solidFill>
          <a:ln/>
        </p:spPr>
      </p:sp>
      <p:sp>
        <p:nvSpPr>
          <p:cNvPr id="6" name="Text 4"/>
          <p:cNvSpPr/>
          <p:nvPr/>
        </p:nvSpPr>
        <p:spPr>
          <a:xfrm>
            <a:off x="5120640" y="1755648"/>
            <a:ext cx="2651760" cy="320040"/>
          </a:xfrm>
          <a:prstGeom prst="rect">
            <a:avLst/>
          </a:prstGeom>
          <a:noFill/>
          <a:ln/>
        </p:spPr>
        <p:txBody>
          <a:bodyPr wrap="square" rtlCol="0" anchor="ctr"/>
          <a:lstStyle/>
          <a:p>
            <a:pPr indent="0" marL="0">
              <a:buNone/>
            </a:pPr>
            <a:r>
              <a:rPr lang="en-US" sz="1250" b="1" dirty="0">
                <a:solidFill>
                  <a:srgbClr val="C9A24B"/>
                </a:solidFill>
                <a:latin typeface="Cambria" pitchFamily="34" charset="0"/>
                <a:ea typeface="Cambria" pitchFamily="34" charset="-122"/>
                <a:cs typeface="Cambria" pitchFamily="34" charset="-120"/>
              </a:rPr>
              <a:t>Top Management</a:t>
            </a:r>
            <a:endParaRPr lang="en-US" sz="1250" dirty="0"/>
          </a:p>
        </p:txBody>
      </p:sp>
      <p:sp>
        <p:nvSpPr>
          <p:cNvPr id="7" name="Text 5"/>
          <p:cNvSpPr/>
          <p:nvPr/>
        </p:nvSpPr>
        <p:spPr>
          <a:xfrm>
            <a:off x="5120640" y="2075688"/>
            <a:ext cx="2651760" cy="77724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Board of Directors</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Managing Director</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General Manager</a:t>
            </a:r>
            <a:endParaRPr lang="en-US" sz="900" dirty="0"/>
          </a:p>
        </p:txBody>
      </p:sp>
      <p:sp>
        <p:nvSpPr>
          <p:cNvPr id="8" name="Text 6"/>
          <p:cNvSpPr/>
          <p:nvPr/>
        </p:nvSpPr>
        <p:spPr>
          <a:xfrm>
            <a:off x="7863840" y="1755648"/>
            <a:ext cx="1874520" cy="1097280"/>
          </a:xfrm>
          <a:prstGeom prst="rect">
            <a:avLst/>
          </a:prstGeom>
          <a:noFill/>
          <a:ln/>
        </p:spPr>
        <p:txBody>
          <a:bodyPr wrap="square" rtlCol="0" anchor="t"/>
          <a:lstStyle/>
          <a:p>
            <a:pPr indent="0" marL="0">
              <a:buNone/>
            </a:pPr>
            <a:r>
              <a:rPr lang="en-US" sz="870" dirty="0">
                <a:solidFill>
                  <a:srgbClr val="FFFFFF"/>
                </a:solidFill>
                <a:latin typeface="Calibri" pitchFamily="34" charset="0"/>
                <a:ea typeface="Calibri" pitchFamily="34" charset="-122"/>
                <a:cs typeface="Calibri" pitchFamily="34" charset="-120"/>
              </a:rPr>
              <a:t>Development/review of long-range plans. Evaluation of overall performance.</a:t>
            </a:r>
            <a:endParaRPr lang="en-US" sz="870" dirty="0"/>
          </a:p>
        </p:txBody>
      </p:sp>
      <p:sp>
        <p:nvSpPr>
          <p:cNvPr id="9" name="Text 7"/>
          <p:cNvSpPr/>
          <p:nvPr/>
        </p:nvSpPr>
        <p:spPr>
          <a:xfrm>
            <a:off x="9784080" y="1755648"/>
            <a:ext cx="1737360" cy="1097280"/>
          </a:xfrm>
          <a:prstGeom prst="rect">
            <a:avLst/>
          </a:prstGeom>
          <a:noFill/>
          <a:ln/>
        </p:spPr>
        <p:txBody>
          <a:bodyPr wrap="square" rtlCol="0" anchor="t"/>
          <a:lstStyle/>
          <a:p>
            <a:pPr indent="0" marL="0">
              <a:buNone/>
            </a:pPr>
            <a:r>
              <a:rPr lang="en-US" sz="870" dirty="0">
                <a:solidFill>
                  <a:srgbClr val="FFFFFF"/>
                </a:solidFill>
                <a:latin typeface="Calibri" pitchFamily="34" charset="0"/>
                <a:ea typeface="Calibri" pitchFamily="34" charset="-122"/>
                <a:cs typeface="Calibri" pitchFamily="34" charset="-120"/>
              </a:rPr>
              <a:t>Evaluation of leading mgmt personnel. Interaction with subordinate mgmt on general matters.</a:t>
            </a:r>
            <a:endParaRPr lang="en-US" sz="870" dirty="0"/>
          </a:p>
        </p:txBody>
      </p:sp>
      <p:sp>
        <p:nvSpPr>
          <p:cNvPr id="10" name="Shape 8"/>
          <p:cNvSpPr/>
          <p:nvPr/>
        </p:nvSpPr>
        <p:spPr>
          <a:xfrm>
            <a:off x="4937760" y="3017520"/>
            <a:ext cx="6675120" cy="1463040"/>
          </a:xfrm>
          <a:prstGeom prst="roundRect">
            <a:avLst>
              <a:gd name="adj" fmla="val 4375"/>
            </a:avLst>
          </a:prstGeom>
          <a:solidFill>
            <a:srgbClr val="3A4A8C"/>
          </a:solidFill>
          <a:ln/>
        </p:spPr>
      </p:sp>
      <p:sp>
        <p:nvSpPr>
          <p:cNvPr id="11" name="Text 9"/>
          <p:cNvSpPr/>
          <p:nvPr/>
        </p:nvSpPr>
        <p:spPr>
          <a:xfrm>
            <a:off x="5120640" y="3081528"/>
            <a:ext cx="2651760" cy="320040"/>
          </a:xfrm>
          <a:prstGeom prst="rect">
            <a:avLst/>
          </a:prstGeom>
          <a:noFill/>
          <a:ln/>
        </p:spPr>
        <p:txBody>
          <a:bodyPr wrap="square" rtlCol="0" anchor="ctr"/>
          <a:lstStyle/>
          <a:p>
            <a:pPr indent="0" marL="0">
              <a:buNone/>
            </a:pPr>
            <a:r>
              <a:rPr lang="en-US" sz="1250" b="1" dirty="0">
                <a:solidFill>
                  <a:srgbClr val="C9A24B"/>
                </a:solidFill>
                <a:latin typeface="Cambria" pitchFamily="34" charset="0"/>
                <a:ea typeface="Cambria" pitchFamily="34" charset="-122"/>
                <a:cs typeface="Cambria" pitchFamily="34" charset="-120"/>
              </a:rPr>
              <a:t>Middle Management</a:t>
            </a:r>
            <a:endParaRPr lang="en-US" sz="1250" dirty="0"/>
          </a:p>
          <a:p>
            <a:pPr indent="0" marL="0">
              <a:buNone/>
            </a:pPr>
            <a:r>
              <a:rPr lang="en-US" sz="1250" b="1" dirty="0">
                <a:solidFill>
                  <a:srgbClr val="C9A24B"/>
                </a:solidFill>
                <a:latin typeface="Cambria" pitchFamily="34" charset="0"/>
                <a:ea typeface="Cambria" pitchFamily="34" charset="-122"/>
                <a:cs typeface="Cambria" pitchFamily="34" charset="-120"/>
              </a:rPr>
              <a:t>(Senior &amp; Junior)</a:t>
            </a:r>
            <a:endParaRPr lang="en-US" sz="1250" dirty="0"/>
          </a:p>
        </p:txBody>
      </p:sp>
      <p:sp>
        <p:nvSpPr>
          <p:cNvPr id="12" name="Text 10"/>
          <p:cNvSpPr/>
          <p:nvPr/>
        </p:nvSpPr>
        <p:spPr>
          <a:xfrm>
            <a:off x="5120640" y="3401568"/>
            <a:ext cx="2651760" cy="100584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Production Manager</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Marketing Manager</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Finance/Personnel Mgr</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Branch Managers</a:t>
            </a:r>
            <a:endParaRPr lang="en-US" sz="900" dirty="0"/>
          </a:p>
        </p:txBody>
      </p:sp>
      <p:sp>
        <p:nvSpPr>
          <p:cNvPr id="13" name="Text 11"/>
          <p:cNvSpPr/>
          <p:nvPr/>
        </p:nvSpPr>
        <p:spPr>
          <a:xfrm>
            <a:off x="7863840" y="3081528"/>
            <a:ext cx="1874520" cy="1325880"/>
          </a:xfrm>
          <a:prstGeom prst="rect">
            <a:avLst/>
          </a:prstGeom>
          <a:noFill/>
          <a:ln/>
        </p:spPr>
        <p:txBody>
          <a:bodyPr wrap="square" rtlCol="0" anchor="t"/>
          <a:lstStyle/>
          <a:p>
            <a:pPr indent="0" marL="0">
              <a:buNone/>
            </a:pPr>
            <a:r>
              <a:rPr lang="en-US" sz="870" dirty="0">
                <a:solidFill>
                  <a:srgbClr val="FFFFFF"/>
                </a:solidFill>
                <a:latin typeface="Calibri" pitchFamily="34" charset="0"/>
                <a:ea typeface="Calibri" pitchFamily="34" charset="-122"/>
                <a:cs typeface="Calibri" pitchFamily="34" charset="-120"/>
              </a:rPr>
              <a:t>Development of intermediate plans based on top mgmt's long-range plans. Analysis of managerial performance for promotion.</a:t>
            </a:r>
            <a:endParaRPr lang="en-US" sz="870" dirty="0"/>
          </a:p>
        </p:txBody>
      </p:sp>
      <p:sp>
        <p:nvSpPr>
          <p:cNvPr id="14" name="Text 12"/>
          <p:cNvSpPr/>
          <p:nvPr/>
        </p:nvSpPr>
        <p:spPr>
          <a:xfrm>
            <a:off x="9784080" y="3081528"/>
            <a:ext cx="1737360" cy="1325880"/>
          </a:xfrm>
          <a:prstGeom prst="rect">
            <a:avLst/>
          </a:prstGeom>
          <a:noFill/>
          <a:ln/>
        </p:spPr>
        <p:txBody>
          <a:bodyPr wrap="square" rtlCol="0" anchor="t"/>
          <a:lstStyle/>
          <a:p>
            <a:pPr indent="0" marL="0">
              <a:buNone/>
            </a:pPr>
            <a:r>
              <a:rPr lang="en-US" sz="870" dirty="0">
                <a:solidFill>
                  <a:srgbClr val="FFFFFF"/>
                </a:solidFill>
                <a:latin typeface="Calibri" pitchFamily="34" charset="0"/>
                <a:ea typeface="Calibri" pitchFamily="34" charset="-122"/>
                <a:cs typeface="Calibri" pitchFamily="34" charset="-120"/>
              </a:rPr>
              <a:t>Establishment of departmental policies. Review of production/sales performance. Interaction on production/sales/personnel problems.</a:t>
            </a:r>
            <a:endParaRPr lang="en-US" sz="870" dirty="0"/>
          </a:p>
        </p:txBody>
      </p:sp>
      <p:sp>
        <p:nvSpPr>
          <p:cNvPr id="15" name="Shape 13"/>
          <p:cNvSpPr/>
          <p:nvPr/>
        </p:nvSpPr>
        <p:spPr>
          <a:xfrm>
            <a:off x="4937760" y="4572000"/>
            <a:ext cx="6675120" cy="1371600"/>
          </a:xfrm>
          <a:prstGeom prst="roundRect">
            <a:avLst>
              <a:gd name="adj" fmla="val 4667"/>
            </a:avLst>
          </a:prstGeom>
          <a:solidFill>
            <a:srgbClr val="5E71B8"/>
          </a:solidFill>
          <a:ln/>
        </p:spPr>
      </p:sp>
      <p:sp>
        <p:nvSpPr>
          <p:cNvPr id="16" name="Text 14"/>
          <p:cNvSpPr/>
          <p:nvPr/>
        </p:nvSpPr>
        <p:spPr>
          <a:xfrm>
            <a:off x="5120640" y="4636008"/>
            <a:ext cx="2651760" cy="320040"/>
          </a:xfrm>
          <a:prstGeom prst="rect">
            <a:avLst/>
          </a:prstGeom>
          <a:noFill/>
          <a:ln/>
        </p:spPr>
        <p:txBody>
          <a:bodyPr wrap="square" rtlCol="0" anchor="ctr"/>
          <a:lstStyle/>
          <a:p>
            <a:pPr indent="0" marL="0">
              <a:buNone/>
            </a:pPr>
            <a:r>
              <a:rPr lang="en-US" sz="1250" b="1" dirty="0">
                <a:solidFill>
                  <a:srgbClr val="C9A24B"/>
                </a:solidFill>
                <a:latin typeface="Cambria" pitchFamily="34" charset="0"/>
                <a:ea typeface="Cambria" pitchFamily="34" charset="-122"/>
                <a:cs typeface="Cambria" pitchFamily="34" charset="-120"/>
              </a:rPr>
              <a:t>Supervisory Management</a:t>
            </a:r>
            <a:endParaRPr lang="en-US" sz="1250" dirty="0"/>
          </a:p>
        </p:txBody>
      </p:sp>
      <p:sp>
        <p:nvSpPr>
          <p:cNvPr id="17" name="Text 15"/>
          <p:cNvSpPr/>
          <p:nvPr/>
        </p:nvSpPr>
        <p:spPr>
          <a:xfrm>
            <a:off x="5120640" y="4956048"/>
            <a:ext cx="2651760" cy="91440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General Foremen</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Chief Clerks</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Office Managers</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Supervisors</a:t>
            </a:r>
            <a:endParaRPr lang="en-US" sz="900" dirty="0"/>
          </a:p>
        </p:txBody>
      </p:sp>
      <p:sp>
        <p:nvSpPr>
          <p:cNvPr id="18" name="Text 16"/>
          <p:cNvSpPr/>
          <p:nvPr/>
        </p:nvSpPr>
        <p:spPr>
          <a:xfrm>
            <a:off x="7863840" y="4636008"/>
            <a:ext cx="1874520" cy="1234440"/>
          </a:xfrm>
          <a:prstGeom prst="rect">
            <a:avLst/>
          </a:prstGeom>
          <a:noFill/>
          <a:ln/>
        </p:spPr>
        <p:txBody>
          <a:bodyPr wrap="square" rtlCol="0" anchor="t"/>
          <a:lstStyle/>
          <a:p>
            <a:pPr indent="0" marL="0">
              <a:buNone/>
            </a:pPr>
            <a:r>
              <a:rPr lang="en-US" sz="870" dirty="0">
                <a:solidFill>
                  <a:srgbClr val="FFFFFF"/>
                </a:solidFill>
                <a:latin typeface="Calibri" pitchFamily="34" charset="0"/>
                <a:ea typeface="Calibri" pitchFamily="34" charset="-122"/>
                <a:cs typeface="Calibri" pitchFamily="34" charset="-120"/>
              </a:rPr>
              <a:t>Preparation of detailed short-term plans based on intermediate plans. Review of performance of operative &amp; junior supervisory staff.</a:t>
            </a:r>
            <a:endParaRPr lang="en-US" sz="870" dirty="0"/>
          </a:p>
        </p:txBody>
      </p:sp>
      <p:sp>
        <p:nvSpPr>
          <p:cNvPr id="19" name="Text 17"/>
          <p:cNvSpPr/>
          <p:nvPr/>
        </p:nvSpPr>
        <p:spPr>
          <a:xfrm>
            <a:off x="9784080" y="4636008"/>
            <a:ext cx="1737360" cy="1234440"/>
          </a:xfrm>
          <a:prstGeom prst="rect">
            <a:avLst/>
          </a:prstGeom>
          <a:noFill/>
          <a:ln/>
        </p:spPr>
        <p:txBody>
          <a:bodyPr wrap="square" rtlCol="0" anchor="t"/>
          <a:lstStyle/>
          <a:p>
            <a:pPr indent="0" marL="0">
              <a:buNone/>
            </a:pPr>
            <a:r>
              <a:rPr lang="en-US" sz="870" dirty="0">
                <a:solidFill>
                  <a:srgbClr val="FFFFFF"/>
                </a:solidFill>
                <a:latin typeface="Calibri" pitchFamily="34" charset="0"/>
                <a:ea typeface="Calibri" pitchFamily="34" charset="-122"/>
                <a:cs typeface="Calibri" pitchFamily="34" charset="-120"/>
              </a:rPr>
              <a:t>Supervision of day-to-day operations. Allocation of specific tasks. Close interaction with operative workers.</a:t>
            </a:r>
            <a:endParaRPr lang="en-US" sz="87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DIFFERENT LEVELS OF MANAGEMENT</a:t>
            </a:r>
            <a:endParaRPr lang="en-US" sz="11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1.24. DIFFERENT LEVELS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(5) Junior Middle Management</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Managers positioned immediately below the departmental heads constitute the junior middle management — deputy production manager, deputy sales manager, office manager, works manager, transport manager, etc.</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At this level, the nature of responsibility narrows down further. It only involves managing the day-to-day activities of their areas of work. Since these managers are tasked with producing specific results within a short duration of time, they must keep strict vigil on day-to-day activities to ensure they are directed toward achieving those results within the given time-frame.</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Within the framework of decisions made by their respective superiors, junior middle-level managers have the authority to allocate duties among the staff placed under them, and to make necessary short-term plans for achieving the targets set by their superiors.</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Top thinks long-term — Middle plans medium-term — Junior/Supervisory act short-term.</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Closest to the Action</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deputy production manager rearranging today's shift schedule to hit tomorrow's dispatch deadline, within the plan set by the production manager.</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DIFFERENT LEVELS OF MANAGEMENT</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D</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4.1 – 4.2</a:t>
            </a:r>
            <a:endParaRPr lang="en-US" sz="34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Scientific Management — Frederick Winslow Taylor</a:t>
            </a:r>
            <a:endParaRPr lang="en-US" sz="22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68680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The father of Scientific Management, and the five principles built on his work.</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4.1. 'SCIENTIFIC MANAGEMENT' THEORY</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About Frederick Winslow Taylor – I</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Frederick W. Taylor (1856–1915) had initially wanted to become a lawyer. However, due to an eye trouble, he had to settle for an alternative profession.</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He began his apprenticeship as a machinist and turner. His devotion to work earned him promotions in quick succession — within six years, he rose to chief engineer. But his dedication to maximizing efficiency and productivity all around also invited the wrath of his subordinates.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Taylor's ideas about 'Scientific Management' grew out of his years of experience in three companies: Midvale Steel, Simonds Rolling Machine, and Bethlehem Steel. His basic approach was to observe the separate functions and motions that each worker performed while doing the job — then, after careful analysis, redesign the job, cutting down unnecessary motions and prescribing the 'one best way' to perform it.</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Lawyer to Engineer</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An eye ailment redirected a would-be lawyer into a machinist's apprenticeship — and, eventually, into founding the field of Scientific Management.</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4.1. 'SCIENTIFIC MANAGEMENT' THEORY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4.1. 'SCIENTIFIC MANAGEMENT' THEORY</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 About Frederick Winslow Taylor – II</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For success in lathe work, for example, Taylor developed a right combination of 'nine variables' such as speed of the machine, depth of a cut, angle of tool, etc. He also developed a 'slide rule' to calculate the nine variables for any job.</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To take care of delay and interruption in work, he advocated separation of planning from performance, which formed the basis of 'functional foremanship.'</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At Bethlehem Steel Company, which he joined in 1898, he perfected a machine tool that could work even after it became red-hot due to constant working — a tool that caused quite a stir even among the acknowledged leaders in tool-manufacturing.</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During the Congressional investigation of the 'Taylor and Other Systems of Shop Management', following a strike at a naval ordnance factory, Taylor had the opportunity to present his views regarding the concept of 'Scientific Management'.</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Nine Variables, One Slide Rule</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Just as a chef fine-tunes heat, time, and quantity for the perfect dish, Taylor fine-tuned speed, depth-of-cut, and tool angle for the perfect lathe operation.</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4.1. 'SCIENTIFIC MANAGEMENT' THEORY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4.1. 'SCIENTIFIC MANAGEMENT' THEORY</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(2) Contributions to Scientific Management by Others</a:t>
            </a:r>
            <a:endParaRPr lang="en-US" sz="2900" dirty="0"/>
          </a:p>
        </p:txBody>
      </p:sp>
      <p:sp>
        <p:nvSpPr>
          <p:cNvPr id="4" name="Text 2"/>
          <p:cNvSpPr/>
          <p:nvPr/>
        </p:nvSpPr>
        <p:spPr>
          <a:xfrm>
            <a:off x="548640" y="1691640"/>
            <a:ext cx="11064240" cy="640080"/>
          </a:xfrm>
          <a:prstGeom prst="rect">
            <a:avLst/>
          </a:prstGeom>
          <a:noFill/>
          <a:ln/>
        </p:spPr>
        <p:txBody>
          <a:bodyPr wrap="square" rtlCol="0" anchor="t"/>
          <a:lstStyle/>
          <a:p>
            <a:pPr indent="0" marL="0">
              <a:buNone/>
            </a:pPr>
            <a:r>
              <a:rPr lang="en-US" sz="1500" dirty="0">
                <a:solidFill>
                  <a:srgbClr val="2B2B33"/>
                </a:solidFill>
                <a:latin typeface="Calibri" pitchFamily="34" charset="0"/>
                <a:ea typeface="Calibri" pitchFamily="34" charset="-122"/>
                <a:cs typeface="Calibri" pitchFamily="34" charset="-120"/>
              </a:rPr>
              <a:t>Among the other noteworthy contributions to the development of 'Scientific Management' are those of Frank B. Gilbreth and his wife Lillian, Harry L. Gantt, and H. Emerson.</a:t>
            </a:r>
            <a:endParaRPr lang="en-US" sz="1500" dirty="0"/>
          </a:p>
        </p:txBody>
      </p:sp>
      <p:sp>
        <p:nvSpPr>
          <p:cNvPr id="5" name="Shape 3"/>
          <p:cNvSpPr/>
          <p:nvPr/>
        </p:nvSpPr>
        <p:spPr>
          <a:xfrm>
            <a:off x="548640" y="2468880"/>
            <a:ext cx="3566160" cy="3474720"/>
          </a:xfrm>
          <a:prstGeom prst="roundRect">
            <a:avLst>
              <a:gd name="adj" fmla="val 2368"/>
            </a:avLst>
          </a:prstGeom>
          <a:solidFill>
            <a:srgbClr val="EEF3FC"/>
          </a:solidFill>
          <a:ln/>
        </p:spPr>
      </p:sp>
      <p:sp>
        <p:nvSpPr>
          <p:cNvPr id="6" name="Shape 4"/>
          <p:cNvSpPr/>
          <p:nvPr/>
        </p:nvSpPr>
        <p:spPr>
          <a:xfrm>
            <a:off x="777240" y="2697480"/>
            <a:ext cx="548640" cy="54864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919886" y="2840126"/>
            <a:ext cx="263347" cy="263347"/>
          </a:xfrm>
          <a:prstGeom prst="rect">
            <a:avLst/>
          </a:prstGeom>
        </p:spPr>
      </p:pic>
      <p:sp>
        <p:nvSpPr>
          <p:cNvPr id="8" name="Text 5"/>
          <p:cNvSpPr/>
          <p:nvPr/>
        </p:nvSpPr>
        <p:spPr>
          <a:xfrm>
            <a:off x="777240" y="3337560"/>
            <a:ext cx="310896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The Gilbreths</a:t>
            </a:r>
            <a:endParaRPr lang="en-US" sz="1500" dirty="0"/>
          </a:p>
        </p:txBody>
      </p:sp>
      <p:sp>
        <p:nvSpPr>
          <p:cNvPr id="9" name="Text 6"/>
          <p:cNvSpPr/>
          <p:nvPr/>
        </p:nvSpPr>
        <p:spPr>
          <a:xfrm>
            <a:off x="777240" y="3794760"/>
            <a:ext cx="3108960" cy="205740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Made a significant contribution in the field of motion study, fatigue study and work simplification.</a:t>
            </a:r>
            <a:endParaRPr lang="en-US" sz="1150" dirty="0"/>
          </a:p>
        </p:txBody>
      </p:sp>
      <p:sp>
        <p:nvSpPr>
          <p:cNvPr id="10" name="Shape 7"/>
          <p:cNvSpPr/>
          <p:nvPr/>
        </p:nvSpPr>
        <p:spPr>
          <a:xfrm>
            <a:off x="4251960" y="2468880"/>
            <a:ext cx="3566160" cy="3474720"/>
          </a:xfrm>
          <a:prstGeom prst="roundRect">
            <a:avLst>
              <a:gd name="adj" fmla="val 2368"/>
            </a:avLst>
          </a:prstGeom>
          <a:solidFill>
            <a:srgbClr val="EEF3FC"/>
          </a:solidFill>
          <a:ln/>
        </p:spPr>
      </p:sp>
      <p:sp>
        <p:nvSpPr>
          <p:cNvPr id="11" name="Shape 8"/>
          <p:cNvSpPr/>
          <p:nvPr/>
        </p:nvSpPr>
        <p:spPr>
          <a:xfrm>
            <a:off x="4480560" y="2697480"/>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4623206" y="2840126"/>
            <a:ext cx="263347" cy="263347"/>
          </a:xfrm>
          <a:prstGeom prst="rect">
            <a:avLst/>
          </a:prstGeom>
        </p:spPr>
      </p:pic>
      <p:sp>
        <p:nvSpPr>
          <p:cNvPr id="13" name="Text 9"/>
          <p:cNvSpPr/>
          <p:nvPr/>
        </p:nvSpPr>
        <p:spPr>
          <a:xfrm>
            <a:off x="4480560" y="3337560"/>
            <a:ext cx="310896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Harry L. Gantt</a:t>
            </a:r>
            <a:endParaRPr lang="en-US" sz="1500" dirty="0"/>
          </a:p>
        </p:txBody>
      </p:sp>
      <p:sp>
        <p:nvSpPr>
          <p:cNvPr id="14" name="Text 10"/>
          <p:cNvSpPr/>
          <p:nvPr/>
        </p:nvSpPr>
        <p:spPr>
          <a:xfrm>
            <a:off x="4480560" y="3794760"/>
            <a:ext cx="3108960" cy="205740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An associate of Taylor at Midvale and Bethlehem Steel Plants; evolved techniques of work scheduling and control. His famous Gantt chart — a system for control and scheduling of work — is still used in many industries today. He also developed the Task Bonus System, rewarding individual efficiency while assuring standard remuneration to all.</a:t>
            </a:r>
            <a:endParaRPr lang="en-US" sz="1150" dirty="0"/>
          </a:p>
        </p:txBody>
      </p:sp>
      <p:sp>
        <p:nvSpPr>
          <p:cNvPr id="15" name="Shape 11"/>
          <p:cNvSpPr/>
          <p:nvPr/>
        </p:nvSpPr>
        <p:spPr>
          <a:xfrm>
            <a:off x="7955280" y="2468880"/>
            <a:ext cx="3566160" cy="3474720"/>
          </a:xfrm>
          <a:prstGeom prst="roundRect">
            <a:avLst>
              <a:gd name="adj" fmla="val 2368"/>
            </a:avLst>
          </a:prstGeom>
          <a:solidFill>
            <a:srgbClr val="EEF3FC"/>
          </a:solidFill>
          <a:ln/>
        </p:spPr>
      </p:sp>
      <p:sp>
        <p:nvSpPr>
          <p:cNvPr id="16" name="Shape 12"/>
          <p:cNvSpPr/>
          <p:nvPr/>
        </p:nvSpPr>
        <p:spPr>
          <a:xfrm>
            <a:off x="8183880" y="2697480"/>
            <a:ext cx="548640" cy="548640"/>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8326526" y="2840126"/>
            <a:ext cx="263347" cy="263347"/>
          </a:xfrm>
          <a:prstGeom prst="rect">
            <a:avLst/>
          </a:prstGeom>
        </p:spPr>
      </p:pic>
      <p:sp>
        <p:nvSpPr>
          <p:cNvPr id="18" name="Text 13"/>
          <p:cNvSpPr/>
          <p:nvPr/>
        </p:nvSpPr>
        <p:spPr>
          <a:xfrm>
            <a:off x="8183880" y="3337560"/>
            <a:ext cx="310896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H. Emerson</a:t>
            </a:r>
            <a:endParaRPr lang="en-US" sz="1500" dirty="0"/>
          </a:p>
        </p:txBody>
      </p:sp>
      <p:sp>
        <p:nvSpPr>
          <p:cNvPr id="19" name="Text 14"/>
          <p:cNvSpPr/>
          <p:nvPr/>
        </p:nvSpPr>
        <p:spPr>
          <a:xfrm>
            <a:off x="8183880" y="3794760"/>
            <a:ext cx="3108960" cy="205740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Expounded twelve principles for efficient use of organizational resources. Key ones: (a) Proper, fact-based job description (b) Standardization of operations, conditions &amp; schedules (c) Discipline (d) Accurate records &amp; instructions (e) Integration of jobs (f) Rewards for efficiency.</a:t>
            </a:r>
            <a:endParaRPr lang="en-US" sz="1150" dirty="0"/>
          </a:p>
        </p:txBody>
      </p:sp>
      <p:sp>
        <p:nvSpPr>
          <p:cNvPr id="20" name="Text 15"/>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4.1 SCIENTIFIC MANAGEMENT THEORY</a:t>
            </a:r>
            <a:endParaRPr lang="en-US" sz="1100" dirty="0"/>
          </a:p>
        </p:txBody>
      </p:sp>
      <p:sp>
        <p:nvSpPr>
          <p:cNvPr id="21" name="Text 1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411480"/>
            <a:ext cx="1106424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4.2. CONCEPT OF 'SCIENTIFIC MANAGEMENT' — FIVE PRINCIPLES</a:t>
            </a:r>
            <a:endParaRPr lang="en-US" sz="2200" dirty="0"/>
          </a:p>
        </p:txBody>
      </p:sp>
      <p:sp>
        <p:nvSpPr>
          <p:cNvPr id="3" name="Shape 1"/>
          <p:cNvSpPr/>
          <p:nvPr/>
        </p:nvSpPr>
        <p:spPr>
          <a:xfrm>
            <a:off x="548640" y="1554480"/>
            <a:ext cx="2081174" cy="2011680"/>
          </a:xfrm>
          <a:prstGeom prst="roundRect">
            <a:avLst>
              <a:gd name="adj" fmla="val 4091"/>
            </a:avLst>
          </a:prstGeom>
          <a:solidFill>
            <a:srgbClr val="1E2761"/>
          </a:solidFill>
          <a:ln/>
        </p:spPr>
      </p:sp>
      <p:sp>
        <p:nvSpPr>
          <p:cNvPr id="4" name="Shape 2"/>
          <p:cNvSpPr/>
          <p:nvPr/>
        </p:nvSpPr>
        <p:spPr>
          <a:xfrm>
            <a:off x="731520" y="1737360"/>
            <a:ext cx="502920" cy="50292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62279" y="1868119"/>
            <a:ext cx="241402" cy="241402"/>
          </a:xfrm>
          <a:prstGeom prst="rect">
            <a:avLst/>
          </a:prstGeom>
        </p:spPr>
      </p:pic>
      <p:sp>
        <p:nvSpPr>
          <p:cNvPr id="6" name="Text 3"/>
          <p:cNvSpPr/>
          <p:nvPr/>
        </p:nvSpPr>
        <p:spPr>
          <a:xfrm>
            <a:off x="203545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1</a:t>
            </a:r>
            <a:endParaRPr lang="en-US" sz="1700" dirty="0"/>
          </a:p>
        </p:txBody>
      </p:sp>
      <p:sp>
        <p:nvSpPr>
          <p:cNvPr id="7" name="Text 4"/>
          <p:cNvSpPr/>
          <p:nvPr/>
        </p:nvSpPr>
        <p:spPr>
          <a:xfrm>
            <a:off x="731520"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Science, not rule of thumb</a:t>
            </a:r>
            <a:endParaRPr lang="en-US" sz="1350" dirty="0"/>
          </a:p>
        </p:txBody>
      </p:sp>
      <p:sp>
        <p:nvSpPr>
          <p:cNvPr id="8" name="Shape 5"/>
          <p:cNvSpPr/>
          <p:nvPr/>
        </p:nvSpPr>
        <p:spPr>
          <a:xfrm>
            <a:off x="2794406" y="1554480"/>
            <a:ext cx="2081174" cy="2011680"/>
          </a:xfrm>
          <a:prstGeom prst="roundRect">
            <a:avLst>
              <a:gd name="adj" fmla="val 4091"/>
            </a:avLst>
          </a:prstGeom>
          <a:solidFill>
            <a:srgbClr val="1E2761"/>
          </a:solidFill>
          <a:ln/>
        </p:spPr>
      </p:sp>
      <p:sp>
        <p:nvSpPr>
          <p:cNvPr id="9" name="Shape 6"/>
          <p:cNvSpPr/>
          <p:nvPr/>
        </p:nvSpPr>
        <p:spPr>
          <a:xfrm>
            <a:off x="2977286" y="1737360"/>
            <a:ext cx="502920" cy="50292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108046" y="1868119"/>
            <a:ext cx="241402" cy="241402"/>
          </a:xfrm>
          <a:prstGeom prst="rect">
            <a:avLst/>
          </a:prstGeom>
        </p:spPr>
      </p:pic>
      <p:sp>
        <p:nvSpPr>
          <p:cNvPr id="11" name="Text 7"/>
          <p:cNvSpPr/>
          <p:nvPr/>
        </p:nvSpPr>
        <p:spPr>
          <a:xfrm>
            <a:off x="4281221"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2</a:t>
            </a:r>
            <a:endParaRPr lang="en-US" sz="1700" dirty="0"/>
          </a:p>
        </p:txBody>
      </p:sp>
      <p:sp>
        <p:nvSpPr>
          <p:cNvPr id="12" name="Text 8"/>
          <p:cNvSpPr/>
          <p:nvPr/>
        </p:nvSpPr>
        <p:spPr>
          <a:xfrm>
            <a:off x="2977286"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Harmony, not discord</a:t>
            </a:r>
            <a:endParaRPr lang="en-US" sz="1350" dirty="0"/>
          </a:p>
        </p:txBody>
      </p:sp>
      <p:sp>
        <p:nvSpPr>
          <p:cNvPr id="13" name="Shape 9"/>
          <p:cNvSpPr/>
          <p:nvPr/>
        </p:nvSpPr>
        <p:spPr>
          <a:xfrm>
            <a:off x="5040173" y="1554480"/>
            <a:ext cx="2081174" cy="2011680"/>
          </a:xfrm>
          <a:prstGeom prst="roundRect">
            <a:avLst>
              <a:gd name="adj" fmla="val 4091"/>
            </a:avLst>
          </a:prstGeom>
          <a:solidFill>
            <a:srgbClr val="1E2761"/>
          </a:solidFill>
          <a:ln/>
        </p:spPr>
      </p:sp>
      <p:sp>
        <p:nvSpPr>
          <p:cNvPr id="14" name="Shape 10"/>
          <p:cNvSpPr/>
          <p:nvPr/>
        </p:nvSpPr>
        <p:spPr>
          <a:xfrm>
            <a:off x="5223053" y="1737360"/>
            <a:ext cx="502920" cy="50292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5353812" y="1868119"/>
            <a:ext cx="241402" cy="241402"/>
          </a:xfrm>
          <a:prstGeom prst="rect">
            <a:avLst/>
          </a:prstGeom>
        </p:spPr>
      </p:pic>
      <p:sp>
        <p:nvSpPr>
          <p:cNvPr id="16" name="Text 11"/>
          <p:cNvSpPr/>
          <p:nvPr/>
        </p:nvSpPr>
        <p:spPr>
          <a:xfrm>
            <a:off x="6526987"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3</a:t>
            </a:r>
            <a:endParaRPr lang="en-US" sz="1700" dirty="0"/>
          </a:p>
        </p:txBody>
      </p:sp>
      <p:sp>
        <p:nvSpPr>
          <p:cNvPr id="17" name="Text 12"/>
          <p:cNvSpPr/>
          <p:nvPr/>
        </p:nvSpPr>
        <p:spPr>
          <a:xfrm>
            <a:off x="5223053"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Co-operation, not individualism</a:t>
            </a:r>
            <a:endParaRPr lang="en-US" sz="1350" dirty="0"/>
          </a:p>
        </p:txBody>
      </p:sp>
      <p:sp>
        <p:nvSpPr>
          <p:cNvPr id="18" name="Shape 13"/>
          <p:cNvSpPr/>
          <p:nvPr/>
        </p:nvSpPr>
        <p:spPr>
          <a:xfrm>
            <a:off x="7285939" y="1554480"/>
            <a:ext cx="2081174" cy="2011680"/>
          </a:xfrm>
          <a:prstGeom prst="roundRect">
            <a:avLst>
              <a:gd name="adj" fmla="val 4091"/>
            </a:avLst>
          </a:prstGeom>
          <a:solidFill>
            <a:srgbClr val="1E2761"/>
          </a:solidFill>
          <a:ln/>
        </p:spPr>
      </p:sp>
      <p:sp>
        <p:nvSpPr>
          <p:cNvPr id="19" name="Shape 14"/>
          <p:cNvSpPr/>
          <p:nvPr/>
        </p:nvSpPr>
        <p:spPr>
          <a:xfrm>
            <a:off x="7468819" y="1737360"/>
            <a:ext cx="502920" cy="50292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7599578" y="1868119"/>
            <a:ext cx="241402" cy="241402"/>
          </a:xfrm>
          <a:prstGeom prst="rect">
            <a:avLst/>
          </a:prstGeom>
        </p:spPr>
      </p:pic>
      <p:sp>
        <p:nvSpPr>
          <p:cNvPr id="21" name="Text 15"/>
          <p:cNvSpPr/>
          <p:nvPr/>
        </p:nvSpPr>
        <p:spPr>
          <a:xfrm>
            <a:off x="8772754"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4</a:t>
            </a:r>
            <a:endParaRPr lang="en-US" sz="1700" dirty="0"/>
          </a:p>
        </p:txBody>
      </p:sp>
      <p:sp>
        <p:nvSpPr>
          <p:cNvPr id="22" name="Text 16"/>
          <p:cNvSpPr/>
          <p:nvPr/>
        </p:nvSpPr>
        <p:spPr>
          <a:xfrm>
            <a:off x="7468819"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Maximum output, not restricted output</a:t>
            </a:r>
            <a:endParaRPr lang="en-US" sz="1350" dirty="0"/>
          </a:p>
        </p:txBody>
      </p:sp>
      <p:sp>
        <p:nvSpPr>
          <p:cNvPr id="23" name="Shape 17"/>
          <p:cNvSpPr/>
          <p:nvPr/>
        </p:nvSpPr>
        <p:spPr>
          <a:xfrm>
            <a:off x="9531706" y="1554480"/>
            <a:ext cx="2081174" cy="2011680"/>
          </a:xfrm>
          <a:prstGeom prst="roundRect">
            <a:avLst>
              <a:gd name="adj" fmla="val 4091"/>
            </a:avLst>
          </a:prstGeom>
          <a:solidFill>
            <a:srgbClr val="1E2761"/>
          </a:solidFill>
          <a:ln/>
        </p:spPr>
      </p:sp>
      <p:sp>
        <p:nvSpPr>
          <p:cNvPr id="24" name="Shape 18"/>
          <p:cNvSpPr/>
          <p:nvPr/>
        </p:nvSpPr>
        <p:spPr>
          <a:xfrm>
            <a:off x="9714586" y="1737360"/>
            <a:ext cx="502920" cy="50292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9845345" y="1868119"/>
            <a:ext cx="241402" cy="241402"/>
          </a:xfrm>
          <a:prstGeom prst="rect">
            <a:avLst/>
          </a:prstGeom>
        </p:spPr>
      </p:pic>
      <p:sp>
        <p:nvSpPr>
          <p:cNvPr id="26" name="Text 19"/>
          <p:cNvSpPr/>
          <p:nvPr/>
        </p:nvSpPr>
        <p:spPr>
          <a:xfrm>
            <a:off x="11018520" y="1682496"/>
            <a:ext cx="457200" cy="365760"/>
          </a:xfrm>
          <a:prstGeom prst="rect">
            <a:avLst/>
          </a:prstGeom>
          <a:noFill/>
          <a:ln/>
        </p:spPr>
        <p:txBody>
          <a:bodyPr wrap="square" lIns="0" tIns="0" rIns="0" bIns="0" rtlCol="0" anchor="ctr"/>
          <a:lstStyle/>
          <a:p>
            <a:pPr algn="r" indent="0" marL="0">
              <a:buNone/>
            </a:pPr>
            <a:r>
              <a:rPr lang="en-US" sz="1700" b="1" dirty="0">
                <a:solidFill>
                  <a:srgbClr val="C9A24B"/>
                </a:solidFill>
                <a:latin typeface="Cambria" pitchFamily="34" charset="0"/>
                <a:ea typeface="Cambria" pitchFamily="34" charset="-122"/>
                <a:cs typeface="Cambria" pitchFamily="34" charset="-120"/>
              </a:rPr>
              <a:t>5</a:t>
            </a:r>
            <a:endParaRPr lang="en-US" sz="1700" dirty="0"/>
          </a:p>
        </p:txBody>
      </p:sp>
      <p:sp>
        <p:nvSpPr>
          <p:cNvPr id="27" name="Text 20"/>
          <p:cNvSpPr/>
          <p:nvPr/>
        </p:nvSpPr>
        <p:spPr>
          <a:xfrm>
            <a:off x="9714586" y="2331720"/>
            <a:ext cx="1715414" cy="1143000"/>
          </a:xfrm>
          <a:prstGeom prst="rect">
            <a:avLst/>
          </a:prstGeom>
          <a:noFill/>
          <a:ln/>
        </p:spPr>
        <p:txBody>
          <a:bodyPr wrap="square"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Development of each man to his greatest efficiency</a:t>
            </a:r>
            <a:endParaRPr lang="en-US" sz="1350" dirty="0"/>
          </a:p>
        </p:txBody>
      </p:sp>
      <p:sp>
        <p:nvSpPr>
          <p:cNvPr id="28" name="Text 2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4.2. CONCEPT OF 'SCIENTIFIC MANAGEMENT' — FIVE PRINCIPLES</a:t>
            </a:r>
            <a:endParaRPr lang="en-US" sz="1100" dirty="0"/>
          </a:p>
        </p:txBody>
      </p:sp>
      <p:sp>
        <p:nvSpPr>
          <p:cNvPr id="29" name="Text 2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4.2. CONCEPT OF 'SCIENTIFIC MANAGEMENT' — FIVE PRINCIPLES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(1)–(2) Science &amp; Harmony</a:t>
            </a:r>
            <a:endParaRPr lang="en-US" sz="2900" dirty="0"/>
          </a:p>
        </p:txBody>
      </p:sp>
      <p:sp>
        <p:nvSpPr>
          <p:cNvPr id="4" name="Shape 2"/>
          <p:cNvSpPr/>
          <p:nvPr/>
        </p:nvSpPr>
        <p:spPr>
          <a:xfrm>
            <a:off x="548640" y="1691640"/>
            <a:ext cx="5463540" cy="4389120"/>
          </a:xfrm>
          <a:prstGeom prst="roundRect">
            <a:avLst>
              <a:gd name="adj" fmla="val 1875"/>
            </a:avLst>
          </a:prstGeom>
          <a:solidFill>
            <a:srgbClr val="EEF3FC"/>
          </a:solidFill>
          <a:ln/>
        </p:spPr>
      </p:sp>
      <p:sp>
        <p:nvSpPr>
          <p:cNvPr id="5" name="Shape 3"/>
          <p:cNvSpPr/>
          <p:nvPr/>
        </p:nvSpPr>
        <p:spPr>
          <a:xfrm>
            <a:off x="299694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44347" y="2067641"/>
            <a:ext cx="272125" cy="272125"/>
          </a:xfrm>
          <a:prstGeom prst="rect">
            <a:avLst/>
          </a:prstGeom>
        </p:spPr>
      </p:pic>
      <p:sp>
        <p:nvSpPr>
          <p:cNvPr id="7" name="Text 4"/>
          <p:cNvSpPr/>
          <p:nvPr/>
        </p:nvSpPr>
        <p:spPr>
          <a:xfrm>
            <a:off x="5486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858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Science, Not Rule of Thumb</a:t>
            </a:r>
            <a:endParaRPr lang="en-US" sz="1450" dirty="0"/>
          </a:p>
        </p:txBody>
      </p:sp>
      <p:sp>
        <p:nvSpPr>
          <p:cNvPr id="9" name="Text 6"/>
          <p:cNvSpPr/>
          <p:nvPr/>
        </p:nvSpPr>
        <p:spPr>
          <a:xfrm>
            <a:off x="7132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Each element of a job and its motions are scientifically analyzed to fix the standard time and method with maximum efficiency — using a stop-watch and micro-filming of motions. Tools and working conditions are also arranged scientifically. There is absolutely no hit-or-miss approach.</a:t>
            </a:r>
            <a:endParaRPr lang="en-US" sz="1150" dirty="0"/>
          </a:p>
        </p:txBody>
      </p:sp>
      <p:sp>
        <p:nvSpPr>
          <p:cNvPr id="10" name="Shape 7"/>
          <p:cNvSpPr/>
          <p:nvPr/>
        </p:nvSpPr>
        <p:spPr>
          <a:xfrm>
            <a:off x="6149340" y="1691640"/>
            <a:ext cx="5463540" cy="4389120"/>
          </a:xfrm>
          <a:prstGeom prst="roundRect">
            <a:avLst>
              <a:gd name="adj" fmla="val 1875"/>
            </a:avLst>
          </a:prstGeom>
          <a:solidFill>
            <a:srgbClr val="EEF3FC"/>
          </a:solidFill>
          <a:ln/>
        </p:spPr>
      </p:sp>
      <p:sp>
        <p:nvSpPr>
          <p:cNvPr id="11" name="Shape 8"/>
          <p:cNvSpPr/>
          <p:nvPr/>
        </p:nvSpPr>
        <p:spPr>
          <a:xfrm>
            <a:off x="859764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45047" y="2067641"/>
            <a:ext cx="272125" cy="272125"/>
          </a:xfrm>
          <a:prstGeom prst="rect">
            <a:avLst/>
          </a:prstGeom>
        </p:spPr>
      </p:pic>
      <p:sp>
        <p:nvSpPr>
          <p:cNvPr id="13" name="Text 9"/>
          <p:cNvSpPr/>
          <p:nvPr/>
        </p:nvSpPr>
        <p:spPr>
          <a:xfrm>
            <a:off x="61493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62865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Harmony, Not Discord</a:t>
            </a:r>
            <a:endParaRPr lang="en-US" sz="1450" dirty="0"/>
          </a:p>
        </p:txBody>
      </p:sp>
      <p:sp>
        <p:nvSpPr>
          <p:cNvPr id="15" name="Text 11"/>
          <p:cNvSpPr/>
          <p:nvPr/>
        </p:nvSpPr>
        <p:spPr>
          <a:xfrm>
            <a:off x="63139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'Scientific Management' provides adequate remuneration to workers to produce more. Since management gains from increased productivity, it readily pays higher wages — creating complete harmony of interests between workers and management.</a:t>
            </a:r>
            <a:endParaRPr lang="en-US" sz="1150" dirty="0"/>
          </a:p>
        </p:txBody>
      </p:sp>
      <p:sp>
        <p:nvSpPr>
          <p:cNvPr id="16" name="Text 12"/>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4.2. CONCEPT OF 'SCIENTIFIC MANAGEMENT' — FIVE PRINCIPLES</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4.2. CONCEPT OF 'SCIENTIFIC MANAGEMENT' — FIVE PRINCIPLES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(3)–(4) Co-operation &amp; Maximum Output</a:t>
            </a:r>
            <a:endParaRPr lang="en-US" sz="2900" dirty="0"/>
          </a:p>
        </p:txBody>
      </p:sp>
      <p:sp>
        <p:nvSpPr>
          <p:cNvPr id="4" name="Shape 2"/>
          <p:cNvSpPr/>
          <p:nvPr/>
        </p:nvSpPr>
        <p:spPr>
          <a:xfrm>
            <a:off x="548640" y="1691640"/>
            <a:ext cx="5463540" cy="4389120"/>
          </a:xfrm>
          <a:prstGeom prst="roundRect">
            <a:avLst>
              <a:gd name="adj" fmla="val 1875"/>
            </a:avLst>
          </a:prstGeom>
          <a:solidFill>
            <a:srgbClr val="EEF3FC"/>
          </a:solidFill>
          <a:ln/>
        </p:spPr>
      </p:sp>
      <p:sp>
        <p:nvSpPr>
          <p:cNvPr id="5" name="Shape 3"/>
          <p:cNvSpPr/>
          <p:nvPr/>
        </p:nvSpPr>
        <p:spPr>
          <a:xfrm>
            <a:off x="299694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44347" y="2067641"/>
            <a:ext cx="272125" cy="272125"/>
          </a:xfrm>
          <a:prstGeom prst="rect">
            <a:avLst/>
          </a:prstGeom>
        </p:spPr>
      </p:pic>
      <p:sp>
        <p:nvSpPr>
          <p:cNvPr id="7" name="Text 4"/>
          <p:cNvSpPr/>
          <p:nvPr/>
        </p:nvSpPr>
        <p:spPr>
          <a:xfrm>
            <a:off x="5486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(3)</a:t>
            </a:r>
            <a:endParaRPr lang="en-US" sz="1300" dirty="0"/>
          </a:p>
        </p:txBody>
      </p:sp>
      <p:sp>
        <p:nvSpPr>
          <p:cNvPr id="8" name="Text 5"/>
          <p:cNvSpPr/>
          <p:nvPr/>
        </p:nvSpPr>
        <p:spPr>
          <a:xfrm>
            <a:off x="6858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Co-operation, Not Individualism</a:t>
            </a:r>
            <a:endParaRPr lang="en-US" sz="1450" dirty="0"/>
          </a:p>
        </p:txBody>
      </p:sp>
      <p:sp>
        <p:nvSpPr>
          <p:cNvPr id="9" name="Text 6"/>
          <p:cNvSpPr/>
          <p:nvPr/>
        </p:nvSpPr>
        <p:spPr>
          <a:xfrm>
            <a:off x="7132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Management can look forward to larger profits only if workers perform with maximum efficiency. Workers can expect higher wages if management adopts an enlightened attitude and provides standard materials, tools and training. If either side seeks all the gains alone, both lose.</a:t>
            </a:r>
            <a:endParaRPr lang="en-US" sz="1150" dirty="0"/>
          </a:p>
        </p:txBody>
      </p:sp>
      <p:sp>
        <p:nvSpPr>
          <p:cNvPr id="10" name="Shape 7"/>
          <p:cNvSpPr/>
          <p:nvPr/>
        </p:nvSpPr>
        <p:spPr>
          <a:xfrm>
            <a:off x="6149340" y="1691640"/>
            <a:ext cx="5463540" cy="4389120"/>
          </a:xfrm>
          <a:prstGeom prst="roundRect">
            <a:avLst>
              <a:gd name="adj" fmla="val 1875"/>
            </a:avLst>
          </a:prstGeom>
          <a:solidFill>
            <a:srgbClr val="EEF3FC"/>
          </a:solidFill>
          <a:ln/>
        </p:spPr>
      </p:sp>
      <p:sp>
        <p:nvSpPr>
          <p:cNvPr id="11" name="Shape 8"/>
          <p:cNvSpPr/>
          <p:nvPr/>
        </p:nvSpPr>
        <p:spPr>
          <a:xfrm>
            <a:off x="859764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45047" y="2067641"/>
            <a:ext cx="272125" cy="272125"/>
          </a:xfrm>
          <a:prstGeom prst="rect">
            <a:avLst/>
          </a:prstGeom>
        </p:spPr>
      </p:pic>
      <p:sp>
        <p:nvSpPr>
          <p:cNvPr id="13" name="Text 9"/>
          <p:cNvSpPr/>
          <p:nvPr/>
        </p:nvSpPr>
        <p:spPr>
          <a:xfrm>
            <a:off x="61493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(4)</a:t>
            </a:r>
            <a:endParaRPr lang="en-US" sz="1300" dirty="0"/>
          </a:p>
        </p:txBody>
      </p:sp>
      <p:sp>
        <p:nvSpPr>
          <p:cNvPr id="14" name="Text 10"/>
          <p:cNvSpPr/>
          <p:nvPr/>
        </p:nvSpPr>
        <p:spPr>
          <a:xfrm>
            <a:off x="62865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Maximum Output, Not Restricted Output</a:t>
            </a:r>
            <a:endParaRPr lang="en-US" sz="1450" dirty="0"/>
          </a:p>
        </p:txBody>
      </p:sp>
      <p:sp>
        <p:nvSpPr>
          <p:cNvPr id="15" name="Text 11"/>
          <p:cNvSpPr/>
          <p:nvPr/>
        </p:nvSpPr>
        <p:spPr>
          <a:xfrm>
            <a:off x="63139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Management and workers are equally interested in maximum output — management gains increased profits, workers gain higher wages and bonus. Management provides standard materials, tools and conditions; workers perform their jobs efficiently.</a:t>
            </a:r>
            <a:endParaRPr lang="en-US" sz="1150" dirty="0"/>
          </a:p>
        </p:txBody>
      </p:sp>
      <p:sp>
        <p:nvSpPr>
          <p:cNvPr id="16" name="Text 12"/>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4.2. CONCEPT OF 'SCIENTIFIC MANAGEMENT' — FIVE PRINCIPLES</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4.2. CONCEPT OF 'SCIENTIFIC MANAGEMENT' — FIVE PRINCIPLES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(5) Development of Each Man to His Greatest Efficiency &amp; Prosperity</a:t>
            </a:r>
            <a:endParaRPr lang="en-US" sz="2900" dirty="0"/>
          </a:p>
        </p:txBody>
      </p:sp>
      <p:sp>
        <p:nvSpPr>
          <p:cNvPr id="4" name="Text 2"/>
          <p:cNvSpPr/>
          <p:nvPr/>
        </p:nvSpPr>
        <p:spPr>
          <a:xfrm>
            <a:off x="548640" y="1691640"/>
            <a:ext cx="6858000" cy="356616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Under 'Scientific Management', workers are selected and trained in accordance with the requirements of the jobs to be performed by them. The requirements of each job are clearly specified, and the person most suitable for the job is selected. Workers are also systematically trained to become more proficient and up-to-date.</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Taylor's emphasis on (a) scientific observation of each element of a job, (b) job specialization, (c) proper selection, training and development, (d) planning and scheduling of work, (e) standardization of time and methods, and (f) wage incentives, led to an astounding increase in productivity as well as wages for workers.</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However, his scientific approach made his methods suspect in the eyes of workers and trade unions, who feared the Taylor system might eventually exhaust available work and cause retrenchment. Nevertheless, Taylor's methods of analysis served as the foundation for the development of time and motion study and the formulation of management theory.</a:t>
            </a:r>
            <a:endParaRPr lang="en-US" sz="1600" dirty="0"/>
          </a:p>
        </p:txBody>
      </p:sp>
      <p:sp>
        <p:nvSpPr>
          <p:cNvPr id="5" name="Shape 3"/>
          <p:cNvSpPr/>
          <p:nvPr/>
        </p:nvSpPr>
        <p:spPr>
          <a:xfrm>
            <a:off x="548640" y="5349240"/>
            <a:ext cx="6858000" cy="868680"/>
          </a:xfrm>
          <a:prstGeom prst="roundRect">
            <a:avLst>
              <a:gd name="adj" fmla="val 8421"/>
            </a:avLst>
          </a:prstGeom>
          <a:solidFill>
            <a:srgbClr val="FFF6E0"/>
          </a:solidFill>
          <a:ln w="12700">
            <a:solidFill>
              <a:srgbClr val="C9A24B"/>
            </a:solidFill>
            <a:prstDash val="solid"/>
          </a:ln>
        </p:spPr>
      </p:sp>
      <p:sp>
        <p:nvSpPr>
          <p:cNvPr id="6" name="Text 4"/>
          <p:cNvSpPr/>
          <p:nvPr/>
        </p:nvSpPr>
        <p:spPr>
          <a:xfrm>
            <a:off x="731520" y="5422392"/>
            <a:ext cx="6492240" cy="274320"/>
          </a:xfrm>
          <a:prstGeom prst="rect">
            <a:avLst/>
          </a:prstGeom>
          <a:noFill/>
          <a:ln/>
        </p:spPr>
        <p:txBody>
          <a:bodyPr wrap="square" rtlCol="0" anchor="ctr"/>
          <a:lstStyle/>
          <a:p>
            <a:pPr indent="0" marL="0">
              <a:buNone/>
            </a:pPr>
            <a:r>
              <a:rPr lang="en-US" sz="1100" b="1" spc="100" kern="0" dirty="0">
                <a:solidFill>
                  <a:srgbClr val="8A6D1D"/>
                </a:solidFill>
                <a:latin typeface="Calibri" pitchFamily="34" charset="0"/>
                <a:ea typeface="Calibri" pitchFamily="34" charset="-122"/>
                <a:cs typeface="Calibri" pitchFamily="34" charset="-120"/>
              </a:rPr>
              <a:t>🧠  MNEMONIC</a:t>
            </a:r>
            <a:endParaRPr lang="en-US" sz="1100" dirty="0"/>
          </a:p>
        </p:txBody>
      </p:sp>
      <p:sp>
        <p:nvSpPr>
          <p:cNvPr id="7" name="Text 5"/>
          <p:cNvSpPr/>
          <p:nvPr/>
        </p:nvSpPr>
        <p:spPr>
          <a:xfrm>
            <a:off x="731520" y="5696712"/>
            <a:ext cx="6492240" cy="45720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“Sam Helps Coach Many Devotees” — Science, Harmony, Cooperation, Maximum output, Development.</a:t>
            </a:r>
            <a:endParaRPr lang="en-US" sz="1250" dirty="0"/>
          </a:p>
        </p:txBody>
      </p:sp>
      <p:sp>
        <p:nvSpPr>
          <p:cNvPr id="8" name="Shape 6"/>
          <p:cNvSpPr/>
          <p:nvPr/>
        </p:nvSpPr>
        <p:spPr>
          <a:xfrm>
            <a:off x="7680960" y="1691640"/>
            <a:ext cx="3977640" cy="4251960"/>
          </a:xfrm>
          <a:prstGeom prst="roundRect">
            <a:avLst>
              <a:gd name="adj" fmla="val 2299"/>
            </a:avLst>
          </a:prstGeom>
          <a:solidFill>
            <a:srgbClr val="1E2761"/>
          </a:solidFill>
          <a:ln/>
        </p:spPr>
      </p:sp>
      <p:sp>
        <p:nvSpPr>
          <p:cNvPr id="9" name="Shape 7"/>
          <p:cNvSpPr/>
          <p:nvPr/>
        </p:nvSpPr>
        <p:spPr>
          <a:xfrm>
            <a:off x="8001000" y="1965960"/>
            <a:ext cx="640080" cy="640080"/>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11" name="Text 8"/>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12" name="Text 9"/>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Right Person, Right Training</a:t>
            </a:r>
            <a:endParaRPr lang="en-US" sz="1600" dirty="0"/>
          </a:p>
        </p:txBody>
      </p:sp>
      <p:sp>
        <p:nvSpPr>
          <p:cNvPr id="13" name="Text 10"/>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A call-centre hiring only candidates who test well on communication skills, then training them continuously — matching Taylor's selection-plus-training principle.</a:t>
            </a:r>
            <a:endParaRPr lang="en-US" sz="13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4.2. CONCEPT OF 'SCIENTIFIC MANAGEMENT' — FIVE PRINCIPLES</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105156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301191"/>
            <a:ext cx="460858" cy="460858"/>
          </a:xfrm>
          <a:prstGeom prst="rect">
            <a:avLst/>
          </a:prstGeom>
        </p:spPr>
      </p:pic>
      <p:sp>
        <p:nvSpPr>
          <p:cNvPr id="6" name="Text 3"/>
          <p:cNvSpPr/>
          <p:nvPr/>
        </p:nvSpPr>
        <p:spPr>
          <a:xfrm>
            <a:off x="822960" y="2148840"/>
            <a:ext cx="73152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E</a:t>
            </a:r>
            <a:endParaRPr lang="en-US" sz="1600" dirty="0"/>
          </a:p>
        </p:txBody>
      </p:sp>
      <p:sp>
        <p:nvSpPr>
          <p:cNvPr id="7" name="Text 4"/>
          <p:cNvSpPr/>
          <p:nvPr/>
        </p:nvSpPr>
        <p:spPr>
          <a:xfrm>
            <a:off x="822960" y="2514600"/>
            <a:ext cx="96012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5.1 – 5.4</a:t>
            </a:r>
            <a:endParaRPr lang="en-US" sz="3400" dirty="0"/>
          </a:p>
        </p:txBody>
      </p:sp>
      <p:sp>
        <p:nvSpPr>
          <p:cNvPr id="8" name="Text 5"/>
          <p:cNvSpPr/>
          <p:nvPr/>
        </p:nvSpPr>
        <p:spPr>
          <a:xfrm>
            <a:off x="822960" y="3246120"/>
            <a:ext cx="9601200" cy="73152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Fayol's Theory of Management</a:t>
            </a:r>
            <a:endParaRPr lang="en-US" sz="22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8686800" cy="109728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Henry Fayol's general theory of administration and his celebrated 14 Principles of Management.</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5.1. ABOUT HENRY FAYOL</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(1)–(2) Filling the Gaps &amp; a General Theory</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Henry Fayol (1841–1925) was rather late in making his presence felt on the management theory scene. He came long after Frederick W. Taylor had formulated 'Scientific Management' principles that created waves in American industry. But Taylor's principles had a major limitation — they could only be applied to the production function, keeping other management functions largely out of focus.</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Henry Fayol, a French industrialist, developed a general theory of administration that could be applied to any field of organized activity. His observations, titled Administration Industrielle et Generale, were brought out as a monograph in French in 1916, though the English translation only appeared in 1949.</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But like Taylor, he too only concentrated on the management function, leaving out other equally important functions.</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From Shop-Floor to Boardroom</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Taylor perfected the factory floor; Fayol zoomed out to ask how the whole organization — any organization — should be administered.</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5.1. ABOUT HENRY FAYOL</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5.2. CLASSIFICATION OF BUSINESS ACTIVITIES</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(1)–(2) Six Groups &amp; Emphasis on Managerial Activities</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800"/>
              </a:spcAft>
              <a:buNone/>
            </a:pPr>
            <a:r>
              <a:rPr lang="en-US" sz="1600" dirty="0">
                <a:solidFill>
                  <a:srgbClr val="2B2B33"/>
                </a:solidFill>
                <a:latin typeface="Calibri" pitchFamily="34" charset="0"/>
                <a:ea typeface="Calibri" pitchFamily="34" charset="-122"/>
                <a:cs typeface="Calibri" pitchFamily="34" charset="-120"/>
              </a:rPr>
              <a:t>Fayol divides activities of all industrial concerns, regardless of their size, nature or complexity of operations, into six groups, namely:</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(a) Technical — Production function</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(b) Commercial — Buying, selling and exchange</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(c) Financial — Search for, and making optimum use of, capital</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(d) Security — Protection of property and persons</a:t>
            </a:r>
            <a:endParaRPr lang="en-US" sz="1600" dirty="0"/>
          </a:p>
          <a:p>
            <a:pPr marL="342900" indent="-342900">
              <a:lnSpc>
                <a:spcPct val="112000"/>
              </a:lnSpc>
              <a:spcAft>
                <a:spcPts val="400"/>
              </a:spcAft>
              <a:buSzPct val="100000"/>
              <a:buChar char="•"/>
            </a:pPr>
            <a:r>
              <a:rPr lang="en-US" sz="1600" dirty="0">
                <a:solidFill>
                  <a:srgbClr val="2B2B33"/>
                </a:solidFill>
                <a:latin typeface="Calibri" pitchFamily="34" charset="0"/>
                <a:ea typeface="Calibri" pitchFamily="34" charset="-122"/>
                <a:cs typeface="Calibri" pitchFamily="34" charset="-120"/>
              </a:rPr>
              <a:t>(e) Accounting, including statistics</a:t>
            </a:r>
            <a:endParaRPr lang="en-US" sz="1600" dirty="0"/>
          </a:p>
          <a:p>
            <a:pPr marL="342900" indent="-342900">
              <a:lnSpc>
                <a:spcPct val="112000"/>
              </a:lnSpc>
              <a:spcAft>
                <a:spcPts val="800"/>
              </a:spcAft>
              <a:buSzPct val="100000"/>
              <a:buChar char="•"/>
            </a:pPr>
            <a:r>
              <a:rPr lang="en-US" sz="1600" dirty="0">
                <a:solidFill>
                  <a:srgbClr val="2B2B33"/>
                </a:solidFill>
                <a:latin typeface="Calibri" pitchFamily="34" charset="0"/>
                <a:ea typeface="Calibri" pitchFamily="34" charset="-122"/>
                <a:cs typeface="Calibri" pitchFamily="34" charset="-120"/>
              </a:rPr>
              <a:t>(f) Managerial — Planning, Organization, Command, Coordination and Control</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Of these six, Fayol concentrated only on the sixth, managerial activity — the rest, according to him, being already well-discussed.</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TCFSAM</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“Tom Cooks Food, Sam Ate Meat” — Technical, Commercial, Financial, Security, Accounting, Managerial (the 6 groups).</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5.2. CLASSIFICATION OF BUSINESS ACTIVITIES</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5.3. PRINCIPLES AND ELEMENTS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(1)–(2) Three Parts of Fayol's Theory &amp; Managerial Qualities</a:t>
            </a:r>
            <a:endParaRPr lang="en-US" sz="2900" dirty="0"/>
          </a:p>
        </p:txBody>
      </p:sp>
      <p:sp>
        <p:nvSpPr>
          <p:cNvPr id="4" name="Text 2"/>
          <p:cNvSpPr/>
          <p:nvPr/>
        </p:nvSpPr>
        <p:spPr>
          <a:xfrm>
            <a:off x="548640" y="1691640"/>
            <a:ext cx="6858000" cy="4297680"/>
          </a:xfrm>
          <a:prstGeom prst="rect">
            <a:avLst/>
          </a:prstGeom>
          <a:noFill/>
          <a:ln/>
        </p:spPr>
        <p:txBody>
          <a:bodyPr wrap="square" rtlCol="0" anchor="t"/>
          <a:lstStyle/>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Fayol's monographs may be divided into three parts — Managerial Qualities and Training, General Principles of Management, and Elements of Management. Principles provide the rules and guidelines; Elements describe the functions of management.</a:t>
            </a:r>
            <a:endParaRPr lang="en-US" sz="1600" dirty="0"/>
          </a:p>
          <a:p>
            <a:pPr indent="0" marL="0">
              <a:lnSpc>
                <a:spcPct val="112000"/>
              </a:lnSpc>
              <a:spcAft>
                <a:spcPts val="1000"/>
              </a:spcAft>
              <a:buNone/>
            </a:pPr>
            <a:r>
              <a:rPr lang="en-US" sz="1600" dirty="0">
                <a:solidFill>
                  <a:srgbClr val="2B2B33"/>
                </a:solidFill>
                <a:latin typeface="Calibri" pitchFamily="34" charset="0"/>
                <a:ea typeface="Calibri" pitchFamily="34" charset="-122"/>
                <a:cs typeface="Calibri" pitchFamily="34" charset="-120"/>
              </a:rPr>
              <a:t>Fayol prescribes a number of qualities for a manager: physique (health and vigor) and mental ability (judgment, mental vigor, adaptability). Among normal qualities, he lists: (a) Energy (b) Firmness and Willingness to Accept Responsibility (c) Initiative (d) Loyalty (e) Tact (f) Dignity.</a:t>
            </a:r>
            <a:endParaRPr lang="en-US" sz="1600" dirty="0"/>
          </a:p>
          <a:p>
            <a:pPr indent="0" marL="0">
              <a:lnSpc>
                <a:spcPct val="112000"/>
              </a:lnSpc>
              <a:buNone/>
            </a:pPr>
            <a:r>
              <a:rPr lang="en-US" sz="1600" dirty="0">
                <a:solidFill>
                  <a:srgbClr val="2B2B33"/>
                </a:solidFill>
                <a:latin typeface="Calibri" pitchFamily="34" charset="0"/>
                <a:ea typeface="Calibri" pitchFamily="34" charset="-122"/>
                <a:cs typeface="Calibri" pitchFamily="34" charset="-120"/>
              </a:rPr>
              <a:t>Technical qualities are essential at lower levels but become less important as a manager climbs the ladder; at higher levels, managerial ability matters most. Fayol recommends the school and the workshop as the places to acquire this ability.</a:t>
            </a:r>
            <a:endParaRPr lang="en-US" sz="1600" dirty="0"/>
          </a:p>
        </p:txBody>
      </p:sp>
      <p:sp>
        <p:nvSpPr>
          <p:cNvPr id="5" name="Shape 3"/>
          <p:cNvSpPr/>
          <p:nvPr/>
        </p:nvSpPr>
        <p:spPr>
          <a:xfrm>
            <a:off x="7680960" y="1691640"/>
            <a:ext cx="3977640" cy="4251960"/>
          </a:xfrm>
          <a:prstGeom prst="roundRect">
            <a:avLst>
              <a:gd name="adj" fmla="val 2299"/>
            </a:avLst>
          </a:prstGeom>
          <a:solidFill>
            <a:srgbClr val="1E2761"/>
          </a:solidFill>
          <a:ln/>
        </p:spPr>
      </p:sp>
      <p:sp>
        <p:nvSpPr>
          <p:cNvPr id="6" name="Shape 4"/>
          <p:cNvSpPr/>
          <p:nvPr/>
        </p:nvSpPr>
        <p:spPr>
          <a:xfrm>
            <a:off x="8001000" y="1965960"/>
            <a:ext cx="640080" cy="640080"/>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7421" y="2132381"/>
            <a:ext cx="307238" cy="307238"/>
          </a:xfrm>
          <a:prstGeom prst="rect">
            <a:avLst/>
          </a:prstGeom>
        </p:spPr>
      </p:pic>
      <p:sp>
        <p:nvSpPr>
          <p:cNvPr id="8" name="Text 5"/>
          <p:cNvSpPr/>
          <p:nvPr/>
        </p:nvSpPr>
        <p:spPr>
          <a:xfrm>
            <a:off x="8001000" y="2697480"/>
            <a:ext cx="3383280" cy="320040"/>
          </a:xfrm>
          <a:prstGeom prst="rect">
            <a:avLst/>
          </a:prstGeom>
          <a:noFill/>
          <a:ln/>
        </p:spPr>
        <p:txBody>
          <a:bodyPr wrap="square" rtlCol="0" anchor="ctr"/>
          <a:lstStyle/>
          <a:p>
            <a:pPr indent="0" marL="0">
              <a:buNone/>
            </a:pPr>
            <a:r>
              <a:rPr lang="en-US" sz="1200" b="1" spc="200" kern="0" dirty="0">
                <a:solidFill>
                  <a:srgbClr val="C9A24B"/>
                </a:solidFill>
                <a:latin typeface="Calibri" pitchFamily="34" charset="0"/>
                <a:ea typeface="Calibri" pitchFamily="34" charset="-122"/>
                <a:cs typeface="Calibri" pitchFamily="34" charset="-120"/>
              </a:rPr>
              <a:t>EXAMPLE</a:t>
            </a:r>
            <a:endParaRPr lang="en-US" sz="1200" dirty="0"/>
          </a:p>
        </p:txBody>
      </p:sp>
      <p:sp>
        <p:nvSpPr>
          <p:cNvPr id="9" name="Text 6"/>
          <p:cNvSpPr/>
          <p:nvPr/>
        </p:nvSpPr>
        <p:spPr>
          <a:xfrm>
            <a:off x="8001000" y="3017520"/>
            <a:ext cx="338328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EFILTD</a:t>
            </a:r>
            <a:endParaRPr lang="en-US" sz="1600" dirty="0"/>
          </a:p>
        </p:txBody>
      </p:sp>
      <p:sp>
        <p:nvSpPr>
          <p:cNvPr id="10" name="Text 7"/>
          <p:cNvSpPr/>
          <p:nvPr/>
        </p:nvSpPr>
        <p:spPr>
          <a:xfrm>
            <a:off x="8001000" y="3566160"/>
            <a:ext cx="3383280" cy="22860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“Every Fine Leader Is Tactful &amp; Dignified” — Energy, Firmness, Initiative, Loyalty, Tact, Dignity.</a:t>
            </a:r>
            <a:endParaRPr lang="en-US" sz="13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5.3. PRINCIPLES AND ELEMENTS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5.4. GENERAL PRINCIPLES OF MANAGEMENT — 14, IN ALL</a:t>
            </a:r>
            <a:endParaRPr lang="en-US" sz="2200" dirty="0"/>
          </a:p>
        </p:txBody>
      </p:sp>
      <p:sp>
        <p:nvSpPr>
          <p:cNvPr id="3" name="Shape 1"/>
          <p:cNvSpPr/>
          <p:nvPr/>
        </p:nvSpPr>
        <p:spPr>
          <a:xfrm>
            <a:off x="365760" y="1143000"/>
            <a:ext cx="3246120" cy="594360"/>
          </a:xfrm>
          <a:prstGeom prst="roundRect">
            <a:avLst>
              <a:gd name="adj" fmla="val 9231"/>
            </a:avLst>
          </a:prstGeom>
          <a:solidFill>
            <a:srgbClr val="1E2761"/>
          </a:solidFill>
          <a:ln/>
        </p:spPr>
      </p:sp>
      <p:sp>
        <p:nvSpPr>
          <p:cNvPr id="4" name="Text 2"/>
          <p:cNvSpPr/>
          <p:nvPr/>
        </p:nvSpPr>
        <p:spPr>
          <a:xfrm>
            <a:off x="457200" y="1143000"/>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 Division of work</a:t>
            </a:r>
            <a:endParaRPr lang="en-US" sz="1050" dirty="0"/>
          </a:p>
        </p:txBody>
      </p:sp>
      <p:sp>
        <p:nvSpPr>
          <p:cNvPr id="5" name="Shape 3"/>
          <p:cNvSpPr/>
          <p:nvPr/>
        </p:nvSpPr>
        <p:spPr>
          <a:xfrm>
            <a:off x="3611880" y="1435608"/>
            <a:ext cx="1280160" cy="0"/>
          </a:xfrm>
          <a:prstGeom prst="line">
            <a:avLst/>
          </a:prstGeom>
          <a:noFill/>
          <a:ln w="9525">
            <a:solidFill>
              <a:srgbClr val="C9A24B"/>
            </a:solidFill>
            <a:prstDash val="solid"/>
          </a:ln>
        </p:spPr>
      </p:sp>
      <p:sp>
        <p:nvSpPr>
          <p:cNvPr id="6" name="Shape 4"/>
          <p:cNvSpPr/>
          <p:nvPr/>
        </p:nvSpPr>
        <p:spPr>
          <a:xfrm>
            <a:off x="365760" y="1856232"/>
            <a:ext cx="3246120" cy="594360"/>
          </a:xfrm>
          <a:prstGeom prst="roundRect">
            <a:avLst>
              <a:gd name="adj" fmla="val 9231"/>
            </a:avLst>
          </a:prstGeom>
          <a:solidFill>
            <a:srgbClr val="1E2761"/>
          </a:solidFill>
          <a:ln/>
        </p:spPr>
      </p:sp>
      <p:sp>
        <p:nvSpPr>
          <p:cNvPr id="7" name="Text 5"/>
          <p:cNvSpPr/>
          <p:nvPr/>
        </p:nvSpPr>
        <p:spPr>
          <a:xfrm>
            <a:off x="457200" y="1856232"/>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2. Authority &amp; responsibility</a:t>
            </a:r>
            <a:endParaRPr lang="en-US" sz="1050" dirty="0"/>
          </a:p>
        </p:txBody>
      </p:sp>
      <p:sp>
        <p:nvSpPr>
          <p:cNvPr id="8" name="Shape 6"/>
          <p:cNvSpPr/>
          <p:nvPr/>
        </p:nvSpPr>
        <p:spPr>
          <a:xfrm>
            <a:off x="3611880" y="2148840"/>
            <a:ext cx="1280160" cy="0"/>
          </a:xfrm>
          <a:prstGeom prst="line">
            <a:avLst/>
          </a:prstGeom>
          <a:noFill/>
          <a:ln w="9525">
            <a:solidFill>
              <a:srgbClr val="C9A24B"/>
            </a:solidFill>
            <a:prstDash val="solid"/>
          </a:ln>
        </p:spPr>
      </p:sp>
      <p:sp>
        <p:nvSpPr>
          <p:cNvPr id="9" name="Shape 7"/>
          <p:cNvSpPr/>
          <p:nvPr/>
        </p:nvSpPr>
        <p:spPr>
          <a:xfrm>
            <a:off x="365760" y="2569464"/>
            <a:ext cx="3246120" cy="594360"/>
          </a:xfrm>
          <a:prstGeom prst="roundRect">
            <a:avLst>
              <a:gd name="adj" fmla="val 9231"/>
            </a:avLst>
          </a:prstGeom>
          <a:solidFill>
            <a:srgbClr val="1E2761"/>
          </a:solidFill>
          <a:ln/>
        </p:spPr>
      </p:sp>
      <p:sp>
        <p:nvSpPr>
          <p:cNvPr id="10" name="Text 8"/>
          <p:cNvSpPr/>
          <p:nvPr/>
        </p:nvSpPr>
        <p:spPr>
          <a:xfrm>
            <a:off x="457200" y="2569464"/>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3. Discipline</a:t>
            </a:r>
            <a:endParaRPr lang="en-US" sz="1050" dirty="0"/>
          </a:p>
        </p:txBody>
      </p:sp>
      <p:sp>
        <p:nvSpPr>
          <p:cNvPr id="11" name="Shape 9"/>
          <p:cNvSpPr/>
          <p:nvPr/>
        </p:nvSpPr>
        <p:spPr>
          <a:xfrm>
            <a:off x="3611880" y="2862072"/>
            <a:ext cx="1280160" cy="0"/>
          </a:xfrm>
          <a:prstGeom prst="line">
            <a:avLst/>
          </a:prstGeom>
          <a:noFill/>
          <a:ln w="9525">
            <a:solidFill>
              <a:srgbClr val="C9A24B"/>
            </a:solidFill>
            <a:prstDash val="solid"/>
          </a:ln>
        </p:spPr>
      </p:sp>
      <p:sp>
        <p:nvSpPr>
          <p:cNvPr id="12" name="Shape 10"/>
          <p:cNvSpPr/>
          <p:nvPr/>
        </p:nvSpPr>
        <p:spPr>
          <a:xfrm>
            <a:off x="365760" y="3282696"/>
            <a:ext cx="3246120" cy="594360"/>
          </a:xfrm>
          <a:prstGeom prst="roundRect">
            <a:avLst>
              <a:gd name="adj" fmla="val 9231"/>
            </a:avLst>
          </a:prstGeom>
          <a:solidFill>
            <a:srgbClr val="1E2761"/>
          </a:solidFill>
          <a:ln/>
        </p:spPr>
      </p:sp>
      <p:sp>
        <p:nvSpPr>
          <p:cNvPr id="13" name="Text 11"/>
          <p:cNvSpPr/>
          <p:nvPr/>
        </p:nvSpPr>
        <p:spPr>
          <a:xfrm>
            <a:off x="457200" y="3282696"/>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4. Unity of command</a:t>
            </a:r>
            <a:endParaRPr lang="en-US" sz="1050" dirty="0"/>
          </a:p>
        </p:txBody>
      </p:sp>
      <p:sp>
        <p:nvSpPr>
          <p:cNvPr id="14" name="Shape 12"/>
          <p:cNvSpPr/>
          <p:nvPr/>
        </p:nvSpPr>
        <p:spPr>
          <a:xfrm>
            <a:off x="3611880" y="3575304"/>
            <a:ext cx="1280160" cy="0"/>
          </a:xfrm>
          <a:prstGeom prst="line">
            <a:avLst/>
          </a:prstGeom>
          <a:noFill/>
          <a:ln w="9525">
            <a:solidFill>
              <a:srgbClr val="C9A24B"/>
            </a:solidFill>
            <a:prstDash val="solid"/>
          </a:ln>
        </p:spPr>
      </p:sp>
      <p:sp>
        <p:nvSpPr>
          <p:cNvPr id="15" name="Shape 13"/>
          <p:cNvSpPr/>
          <p:nvPr/>
        </p:nvSpPr>
        <p:spPr>
          <a:xfrm>
            <a:off x="365760" y="3995928"/>
            <a:ext cx="3246120" cy="594360"/>
          </a:xfrm>
          <a:prstGeom prst="roundRect">
            <a:avLst>
              <a:gd name="adj" fmla="val 9231"/>
            </a:avLst>
          </a:prstGeom>
          <a:solidFill>
            <a:srgbClr val="1E2761"/>
          </a:solidFill>
          <a:ln/>
        </p:spPr>
      </p:sp>
      <p:sp>
        <p:nvSpPr>
          <p:cNvPr id="16" name="Text 14"/>
          <p:cNvSpPr/>
          <p:nvPr/>
        </p:nvSpPr>
        <p:spPr>
          <a:xfrm>
            <a:off x="457200" y="3995928"/>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5. Unity of direction</a:t>
            </a:r>
            <a:endParaRPr lang="en-US" sz="1050" dirty="0"/>
          </a:p>
        </p:txBody>
      </p:sp>
      <p:sp>
        <p:nvSpPr>
          <p:cNvPr id="17" name="Shape 15"/>
          <p:cNvSpPr/>
          <p:nvPr/>
        </p:nvSpPr>
        <p:spPr>
          <a:xfrm>
            <a:off x="3611880" y="4288536"/>
            <a:ext cx="1280160" cy="0"/>
          </a:xfrm>
          <a:prstGeom prst="line">
            <a:avLst/>
          </a:prstGeom>
          <a:noFill/>
          <a:ln w="9525">
            <a:solidFill>
              <a:srgbClr val="C9A24B"/>
            </a:solidFill>
            <a:prstDash val="solid"/>
          </a:ln>
        </p:spPr>
      </p:sp>
      <p:sp>
        <p:nvSpPr>
          <p:cNvPr id="18" name="Shape 16"/>
          <p:cNvSpPr/>
          <p:nvPr/>
        </p:nvSpPr>
        <p:spPr>
          <a:xfrm>
            <a:off x="365760" y="4709160"/>
            <a:ext cx="3246120" cy="594360"/>
          </a:xfrm>
          <a:prstGeom prst="roundRect">
            <a:avLst>
              <a:gd name="adj" fmla="val 9231"/>
            </a:avLst>
          </a:prstGeom>
          <a:solidFill>
            <a:srgbClr val="1E2761"/>
          </a:solidFill>
          <a:ln/>
        </p:spPr>
      </p:sp>
      <p:sp>
        <p:nvSpPr>
          <p:cNvPr id="19" name="Text 17"/>
          <p:cNvSpPr/>
          <p:nvPr/>
        </p:nvSpPr>
        <p:spPr>
          <a:xfrm>
            <a:off x="457200" y="4709160"/>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6. Subordination of individual interest to group interest</a:t>
            </a:r>
            <a:endParaRPr lang="en-US" sz="1050" dirty="0"/>
          </a:p>
        </p:txBody>
      </p:sp>
      <p:sp>
        <p:nvSpPr>
          <p:cNvPr id="20" name="Shape 18"/>
          <p:cNvSpPr/>
          <p:nvPr/>
        </p:nvSpPr>
        <p:spPr>
          <a:xfrm>
            <a:off x="3611880" y="5001768"/>
            <a:ext cx="1280160" cy="0"/>
          </a:xfrm>
          <a:prstGeom prst="line">
            <a:avLst/>
          </a:prstGeom>
          <a:noFill/>
          <a:ln w="9525">
            <a:solidFill>
              <a:srgbClr val="C9A24B"/>
            </a:solidFill>
            <a:prstDash val="solid"/>
          </a:ln>
        </p:spPr>
      </p:sp>
      <p:sp>
        <p:nvSpPr>
          <p:cNvPr id="21" name="Shape 19"/>
          <p:cNvSpPr/>
          <p:nvPr/>
        </p:nvSpPr>
        <p:spPr>
          <a:xfrm>
            <a:off x="365760" y="5422392"/>
            <a:ext cx="3246120" cy="594360"/>
          </a:xfrm>
          <a:prstGeom prst="roundRect">
            <a:avLst>
              <a:gd name="adj" fmla="val 9231"/>
            </a:avLst>
          </a:prstGeom>
          <a:solidFill>
            <a:srgbClr val="1E2761"/>
          </a:solidFill>
          <a:ln/>
        </p:spPr>
      </p:sp>
      <p:sp>
        <p:nvSpPr>
          <p:cNvPr id="22" name="Text 20"/>
          <p:cNvSpPr/>
          <p:nvPr/>
        </p:nvSpPr>
        <p:spPr>
          <a:xfrm>
            <a:off x="457200" y="5422392"/>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7. Remuneration of personnel</a:t>
            </a:r>
            <a:endParaRPr lang="en-US" sz="1050" dirty="0"/>
          </a:p>
        </p:txBody>
      </p:sp>
      <p:sp>
        <p:nvSpPr>
          <p:cNvPr id="23" name="Shape 21"/>
          <p:cNvSpPr/>
          <p:nvPr/>
        </p:nvSpPr>
        <p:spPr>
          <a:xfrm>
            <a:off x="3611880" y="5715000"/>
            <a:ext cx="1280160" cy="0"/>
          </a:xfrm>
          <a:prstGeom prst="line">
            <a:avLst/>
          </a:prstGeom>
          <a:noFill/>
          <a:ln w="9525">
            <a:solidFill>
              <a:srgbClr val="C9A24B"/>
            </a:solidFill>
            <a:prstDash val="solid"/>
          </a:ln>
        </p:spPr>
      </p:sp>
      <p:sp>
        <p:nvSpPr>
          <p:cNvPr id="24" name="Shape 22"/>
          <p:cNvSpPr/>
          <p:nvPr/>
        </p:nvSpPr>
        <p:spPr>
          <a:xfrm>
            <a:off x="8595360" y="1143000"/>
            <a:ext cx="3246120" cy="594360"/>
          </a:xfrm>
          <a:prstGeom prst="roundRect">
            <a:avLst>
              <a:gd name="adj" fmla="val 9231"/>
            </a:avLst>
          </a:prstGeom>
          <a:solidFill>
            <a:srgbClr val="1E2761"/>
          </a:solidFill>
          <a:ln/>
        </p:spPr>
      </p:sp>
      <p:sp>
        <p:nvSpPr>
          <p:cNvPr id="25" name="Text 23"/>
          <p:cNvSpPr/>
          <p:nvPr/>
        </p:nvSpPr>
        <p:spPr>
          <a:xfrm>
            <a:off x="8686800" y="1143000"/>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8. Centralization</a:t>
            </a:r>
            <a:endParaRPr lang="en-US" sz="1050" dirty="0"/>
          </a:p>
        </p:txBody>
      </p:sp>
      <p:sp>
        <p:nvSpPr>
          <p:cNvPr id="26" name="Shape 24"/>
          <p:cNvSpPr/>
          <p:nvPr/>
        </p:nvSpPr>
        <p:spPr>
          <a:xfrm>
            <a:off x="8595360" y="1856232"/>
            <a:ext cx="3246120" cy="594360"/>
          </a:xfrm>
          <a:prstGeom prst="roundRect">
            <a:avLst>
              <a:gd name="adj" fmla="val 9231"/>
            </a:avLst>
          </a:prstGeom>
          <a:solidFill>
            <a:srgbClr val="1E2761"/>
          </a:solidFill>
          <a:ln/>
        </p:spPr>
      </p:sp>
      <p:sp>
        <p:nvSpPr>
          <p:cNvPr id="27" name="Text 25"/>
          <p:cNvSpPr/>
          <p:nvPr/>
        </p:nvSpPr>
        <p:spPr>
          <a:xfrm>
            <a:off x="8686800" y="1856232"/>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9. Scalar chain</a:t>
            </a:r>
            <a:endParaRPr lang="en-US" sz="1050" dirty="0"/>
          </a:p>
        </p:txBody>
      </p:sp>
      <p:sp>
        <p:nvSpPr>
          <p:cNvPr id="28" name="Shape 26"/>
          <p:cNvSpPr/>
          <p:nvPr/>
        </p:nvSpPr>
        <p:spPr>
          <a:xfrm>
            <a:off x="8595360" y="2569464"/>
            <a:ext cx="3246120" cy="594360"/>
          </a:xfrm>
          <a:prstGeom prst="roundRect">
            <a:avLst>
              <a:gd name="adj" fmla="val 9231"/>
            </a:avLst>
          </a:prstGeom>
          <a:solidFill>
            <a:srgbClr val="1E2761"/>
          </a:solidFill>
          <a:ln/>
        </p:spPr>
      </p:sp>
      <p:sp>
        <p:nvSpPr>
          <p:cNvPr id="29" name="Text 27"/>
          <p:cNvSpPr/>
          <p:nvPr/>
        </p:nvSpPr>
        <p:spPr>
          <a:xfrm>
            <a:off x="8686800" y="2569464"/>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10. Order</a:t>
            </a:r>
            <a:endParaRPr lang="en-US" sz="1050" dirty="0"/>
          </a:p>
        </p:txBody>
      </p:sp>
      <p:sp>
        <p:nvSpPr>
          <p:cNvPr id="30" name="Shape 28"/>
          <p:cNvSpPr/>
          <p:nvPr/>
        </p:nvSpPr>
        <p:spPr>
          <a:xfrm>
            <a:off x="8595360" y="3282696"/>
            <a:ext cx="3246120" cy="594360"/>
          </a:xfrm>
          <a:prstGeom prst="roundRect">
            <a:avLst>
              <a:gd name="adj" fmla="val 9231"/>
            </a:avLst>
          </a:prstGeom>
          <a:solidFill>
            <a:srgbClr val="1E2761"/>
          </a:solidFill>
          <a:ln/>
        </p:spPr>
      </p:sp>
      <p:sp>
        <p:nvSpPr>
          <p:cNvPr id="31" name="Text 29"/>
          <p:cNvSpPr/>
          <p:nvPr/>
        </p:nvSpPr>
        <p:spPr>
          <a:xfrm>
            <a:off x="8686800" y="3282696"/>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11. Equity</a:t>
            </a:r>
            <a:endParaRPr lang="en-US" sz="1050" dirty="0"/>
          </a:p>
        </p:txBody>
      </p:sp>
      <p:sp>
        <p:nvSpPr>
          <p:cNvPr id="32" name="Shape 30"/>
          <p:cNvSpPr/>
          <p:nvPr/>
        </p:nvSpPr>
        <p:spPr>
          <a:xfrm>
            <a:off x="8595360" y="3995928"/>
            <a:ext cx="3246120" cy="594360"/>
          </a:xfrm>
          <a:prstGeom prst="roundRect">
            <a:avLst>
              <a:gd name="adj" fmla="val 9231"/>
            </a:avLst>
          </a:prstGeom>
          <a:solidFill>
            <a:srgbClr val="1E2761"/>
          </a:solidFill>
          <a:ln/>
        </p:spPr>
      </p:sp>
      <p:sp>
        <p:nvSpPr>
          <p:cNvPr id="33" name="Text 31"/>
          <p:cNvSpPr/>
          <p:nvPr/>
        </p:nvSpPr>
        <p:spPr>
          <a:xfrm>
            <a:off x="8686800" y="3995928"/>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12. Stability of tenure of personnel</a:t>
            </a:r>
            <a:endParaRPr lang="en-US" sz="1050" dirty="0"/>
          </a:p>
        </p:txBody>
      </p:sp>
      <p:sp>
        <p:nvSpPr>
          <p:cNvPr id="34" name="Shape 32"/>
          <p:cNvSpPr/>
          <p:nvPr/>
        </p:nvSpPr>
        <p:spPr>
          <a:xfrm>
            <a:off x="8595360" y="4709160"/>
            <a:ext cx="3246120" cy="594360"/>
          </a:xfrm>
          <a:prstGeom prst="roundRect">
            <a:avLst>
              <a:gd name="adj" fmla="val 9231"/>
            </a:avLst>
          </a:prstGeom>
          <a:solidFill>
            <a:srgbClr val="1E2761"/>
          </a:solidFill>
          <a:ln/>
        </p:spPr>
      </p:sp>
      <p:sp>
        <p:nvSpPr>
          <p:cNvPr id="35" name="Text 33"/>
          <p:cNvSpPr/>
          <p:nvPr/>
        </p:nvSpPr>
        <p:spPr>
          <a:xfrm>
            <a:off x="8686800" y="4709160"/>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13. Initiative</a:t>
            </a:r>
            <a:endParaRPr lang="en-US" sz="1050" dirty="0"/>
          </a:p>
        </p:txBody>
      </p:sp>
      <p:sp>
        <p:nvSpPr>
          <p:cNvPr id="36" name="Shape 34"/>
          <p:cNvSpPr/>
          <p:nvPr/>
        </p:nvSpPr>
        <p:spPr>
          <a:xfrm>
            <a:off x="8595360" y="5422392"/>
            <a:ext cx="3246120" cy="594360"/>
          </a:xfrm>
          <a:prstGeom prst="roundRect">
            <a:avLst>
              <a:gd name="adj" fmla="val 9231"/>
            </a:avLst>
          </a:prstGeom>
          <a:solidFill>
            <a:srgbClr val="1E2761"/>
          </a:solidFill>
          <a:ln/>
        </p:spPr>
      </p:sp>
      <p:sp>
        <p:nvSpPr>
          <p:cNvPr id="37" name="Text 35"/>
          <p:cNvSpPr/>
          <p:nvPr/>
        </p:nvSpPr>
        <p:spPr>
          <a:xfrm>
            <a:off x="8686800" y="5422392"/>
            <a:ext cx="31089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14. Esprit de corps</a:t>
            </a:r>
            <a:endParaRPr lang="en-US" sz="1050" dirty="0"/>
          </a:p>
        </p:txBody>
      </p:sp>
      <p:sp>
        <p:nvSpPr>
          <p:cNvPr id="38" name="Shape 36"/>
          <p:cNvSpPr/>
          <p:nvPr/>
        </p:nvSpPr>
        <p:spPr>
          <a:xfrm>
            <a:off x="4892040" y="3177540"/>
            <a:ext cx="2377440" cy="1234440"/>
          </a:xfrm>
          <a:prstGeom prst="ellipse">
            <a:avLst/>
          </a:prstGeom>
          <a:solidFill>
            <a:srgbClr val="C9A24B"/>
          </a:solidFill>
          <a:ln/>
        </p:spPr>
      </p:sp>
      <p:sp>
        <p:nvSpPr>
          <p:cNvPr id="39" name="Text 37"/>
          <p:cNvSpPr/>
          <p:nvPr/>
        </p:nvSpPr>
        <p:spPr>
          <a:xfrm>
            <a:off x="4892040" y="3177540"/>
            <a:ext cx="2377440" cy="1234440"/>
          </a:xfrm>
          <a:prstGeom prst="rect">
            <a:avLst/>
          </a:prstGeom>
          <a:noFill/>
          <a:ln/>
        </p:spPr>
        <p:txBody>
          <a:bodyPr wrap="square" rtlCol="0" anchor="ctr"/>
          <a:lstStyle/>
          <a:p>
            <a:pPr algn="ctr" indent="0" marL="0">
              <a:buNone/>
            </a:pPr>
            <a:r>
              <a:rPr lang="en-US" sz="1300" b="1" dirty="0">
                <a:solidFill>
                  <a:srgbClr val="141B48"/>
                </a:solidFill>
                <a:latin typeface="Cambria" pitchFamily="34" charset="0"/>
                <a:ea typeface="Cambria" pitchFamily="34" charset="-122"/>
                <a:cs typeface="Cambria" pitchFamily="34" charset="-120"/>
              </a:rPr>
              <a:t>Fayol's</a:t>
            </a:r>
            <a:endParaRPr lang="en-US" sz="1300" dirty="0"/>
          </a:p>
          <a:p>
            <a:pPr algn="ctr" indent="0" marL="0">
              <a:buNone/>
            </a:pPr>
            <a:r>
              <a:rPr lang="en-US" sz="1300" b="1" dirty="0">
                <a:solidFill>
                  <a:srgbClr val="141B48"/>
                </a:solidFill>
                <a:latin typeface="Cambria" pitchFamily="34" charset="0"/>
                <a:ea typeface="Cambria" pitchFamily="34" charset="-122"/>
                <a:cs typeface="Cambria" pitchFamily="34" charset="-120"/>
              </a:rPr>
              <a:t>Principles of</a:t>
            </a:r>
            <a:endParaRPr lang="en-US" sz="1300" dirty="0"/>
          </a:p>
          <a:p>
            <a:pPr algn="ctr" indent="0" marL="0">
              <a:buNone/>
            </a:pPr>
            <a:r>
              <a:rPr lang="en-US" sz="1300" b="1" dirty="0">
                <a:solidFill>
                  <a:srgbClr val="141B48"/>
                </a:solidFill>
                <a:latin typeface="Cambria" pitchFamily="34" charset="0"/>
                <a:ea typeface="Cambria" pitchFamily="34" charset="-122"/>
                <a:cs typeface="Cambria" pitchFamily="34" charset="-120"/>
              </a:rPr>
              <a:t>Management</a:t>
            </a:r>
            <a:endParaRPr lang="en-US" sz="1300" dirty="0"/>
          </a:p>
        </p:txBody>
      </p:sp>
      <p:sp>
        <p:nvSpPr>
          <p:cNvPr id="40" name="Text 38"/>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GENERAL PRINCIPLES OF MANAGEMENT</a:t>
            </a:r>
            <a:endParaRPr lang="en-US" sz="1100" dirty="0"/>
          </a:p>
        </p:txBody>
      </p:sp>
      <p:sp>
        <p:nvSpPr>
          <p:cNvPr id="41" name="Text 3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5.4. GENERAL PRINCIPLES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(1)–(3) Division of Work, Authority, Discipline</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Division of Work — To Each According to His Ability</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Specializing in a single operation builds skill, sureness and accuracy, and avoids wasted time switching tasks. Applies to technical as well as managerial work.</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Authority &amp; Responsibility — Power to Order, Willingness to Accept Responsibility</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Authority may be official (from position) or personal (from ability). Responsibility without authority is ineffective; authority without responsibility can turn dictatorial.</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(3)</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Discipline — Abide by Agreed Norms</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Means obedience, energy, and outward respect for agreements. Requires able superiors, fair agreements, and judicial use of punishment — not one-sided.</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GENERAL PRINCIPLES OF MANAGEMENT</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5.4. GENERAL PRINCIPLES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(4)–(6) Unity of Command, Direction &amp; Subordination</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(4)</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Unity of Command — One Employee, One Boss</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Each employee should have only one superior giving orders. Two+ superiors over the same employee creates confusion and challenges to authority.</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(5)</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Unity of Direction — All Working for Same Objectives</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'One head, one plan' for any group of activities with the same objective. Distinct from unity of command — direction is about focus, command is about reporting lines.</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(6)</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Subordination of Individual Interest to Group Interest</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Group interest must be prioritized over individual interest. Reconciliation needs firm, exemplary superiors, fair agreements, and constant monitoring.</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GENERAL PRINCIPLES OF MANAGEMENT</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5.4. GENERAL PRINCIPLES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(7)–(9) Remuneration, Centralization &amp; Scalar Chain</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(7)</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Remuneration — Pay Them What They Deserve</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Should be fair to both sides, considering cost of living, replacement availability, and the organization's financial condition — rewarding efficiency without over-burdening finances.</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(8)</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Centralization — A Question of Proportion</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Everything that increases delegation of decision-making is decentralization; everything that decreases it is centralization. The right degree depends on the manager's ability and the size of business.</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(9)</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Scalar Chain — The Chain Through Which Communications Travel</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The chain of superiors from ultimate authority down to the lowest ranks. Communication should normally follow this chain — though it can cause delay (see next slide).</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GENERAL PRINCIPLES OF MANAGEMENT</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5.4. GENERAL PRINCIPLES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(9) Scalar Chain — the Ladder 'G-A-Q'</a:t>
            </a:r>
            <a:endParaRPr lang="en-US" sz="2900" dirty="0"/>
          </a:p>
        </p:txBody>
      </p:sp>
      <p:sp>
        <p:nvSpPr>
          <p:cNvPr id="4" name="Text 2"/>
          <p:cNvSpPr/>
          <p:nvPr/>
        </p:nvSpPr>
        <p:spPr>
          <a:xfrm>
            <a:off x="548640" y="1691640"/>
            <a:ext cx="5394960" cy="2377440"/>
          </a:xfrm>
          <a:prstGeom prst="rect">
            <a:avLst/>
          </a:prstGeom>
          <a:noFill/>
          <a:ln/>
        </p:spPr>
        <p:txBody>
          <a:bodyPr wrap="square" rtlCol="0" anchor="t"/>
          <a:lstStyle/>
          <a:p>
            <a:pPr indent="0" marL="0">
              <a:lnSpc>
                <a:spcPct val="110000"/>
              </a:lnSpc>
              <a:buNone/>
            </a:pPr>
            <a:r>
              <a:rPr lang="en-US" sz="1300" dirty="0">
                <a:solidFill>
                  <a:srgbClr val="2B2B33"/>
                </a:solidFill>
                <a:latin typeface="Calibri" pitchFamily="34" charset="0"/>
                <a:ea typeface="Calibri" pitchFamily="34" charset="-122"/>
                <a:cs typeface="Calibri" pitchFamily="34" charset="-120"/>
              </a:rPr>
              <a:t>Fayol illustrates the scalar chain as a double ladder. Suppose F needs to communicate with P: strictly by the line of authority, the message must travel up through E-D-C-B to A, then down through L-M-N-O to P — a journey through nine persons that risks delay or distortion.</a:t>
            </a:r>
            <a:endParaRPr lang="en-US" sz="1300" dirty="0"/>
          </a:p>
        </p:txBody>
      </p:sp>
      <p:sp>
        <p:nvSpPr>
          <p:cNvPr id="5" name="Shape 3"/>
          <p:cNvSpPr/>
          <p:nvPr/>
        </p:nvSpPr>
        <p:spPr>
          <a:xfrm flipH="1">
            <a:off x="6217920" y="1783080"/>
            <a:ext cx="2286000" cy="4206240"/>
          </a:xfrm>
          <a:prstGeom prst="line">
            <a:avLst/>
          </a:prstGeom>
          <a:noFill/>
          <a:ln w="25400">
            <a:solidFill>
              <a:srgbClr val="1E2761"/>
            </a:solidFill>
            <a:prstDash val="solid"/>
          </a:ln>
        </p:spPr>
      </p:sp>
      <p:sp>
        <p:nvSpPr>
          <p:cNvPr id="6" name="Shape 4"/>
          <p:cNvSpPr/>
          <p:nvPr/>
        </p:nvSpPr>
        <p:spPr>
          <a:xfrm>
            <a:off x="8503920" y="1783080"/>
            <a:ext cx="2286000" cy="4206240"/>
          </a:xfrm>
          <a:prstGeom prst="line">
            <a:avLst/>
          </a:prstGeom>
          <a:noFill/>
          <a:ln w="25400">
            <a:solidFill>
              <a:srgbClr val="1E2761"/>
            </a:solidFill>
            <a:prstDash val="solid"/>
          </a:ln>
        </p:spPr>
      </p:sp>
      <p:sp>
        <p:nvSpPr>
          <p:cNvPr id="7" name="Shape 5"/>
          <p:cNvSpPr/>
          <p:nvPr/>
        </p:nvSpPr>
        <p:spPr>
          <a:xfrm>
            <a:off x="8357616" y="1636776"/>
            <a:ext cx="292608" cy="292608"/>
          </a:xfrm>
          <a:prstGeom prst="ellipse">
            <a:avLst/>
          </a:prstGeom>
          <a:solidFill>
            <a:srgbClr val="1E2761"/>
          </a:solidFill>
          <a:ln/>
        </p:spPr>
      </p:sp>
      <p:sp>
        <p:nvSpPr>
          <p:cNvPr id="8" name="Text 6"/>
          <p:cNvSpPr/>
          <p:nvPr/>
        </p:nvSpPr>
        <p:spPr>
          <a:xfrm>
            <a:off x="8357616" y="163677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a:t>
            </a:r>
            <a:endParaRPr lang="en-US" sz="1000" dirty="0"/>
          </a:p>
        </p:txBody>
      </p:sp>
      <p:sp>
        <p:nvSpPr>
          <p:cNvPr id="9" name="Shape 7"/>
          <p:cNvSpPr/>
          <p:nvPr/>
        </p:nvSpPr>
        <p:spPr>
          <a:xfrm>
            <a:off x="7976616" y="2337816"/>
            <a:ext cx="292608" cy="292608"/>
          </a:xfrm>
          <a:prstGeom prst="ellipse">
            <a:avLst/>
          </a:prstGeom>
          <a:solidFill>
            <a:srgbClr val="1E2761"/>
          </a:solidFill>
          <a:ln/>
        </p:spPr>
      </p:sp>
      <p:sp>
        <p:nvSpPr>
          <p:cNvPr id="10" name="Text 8"/>
          <p:cNvSpPr/>
          <p:nvPr/>
        </p:nvSpPr>
        <p:spPr>
          <a:xfrm>
            <a:off x="7976616" y="23378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B</a:t>
            </a:r>
            <a:endParaRPr lang="en-US" sz="1000" dirty="0"/>
          </a:p>
        </p:txBody>
      </p:sp>
      <p:sp>
        <p:nvSpPr>
          <p:cNvPr id="11" name="Shape 9"/>
          <p:cNvSpPr/>
          <p:nvPr/>
        </p:nvSpPr>
        <p:spPr>
          <a:xfrm>
            <a:off x="8738616" y="2337816"/>
            <a:ext cx="292608" cy="292608"/>
          </a:xfrm>
          <a:prstGeom prst="ellipse">
            <a:avLst/>
          </a:prstGeom>
          <a:solidFill>
            <a:srgbClr val="1E2761"/>
          </a:solidFill>
          <a:ln/>
        </p:spPr>
      </p:sp>
      <p:sp>
        <p:nvSpPr>
          <p:cNvPr id="12" name="Text 10"/>
          <p:cNvSpPr/>
          <p:nvPr/>
        </p:nvSpPr>
        <p:spPr>
          <a:xfrm>
            <a:off x="8738616" y="23378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L</a:t>
            </a:r>
            <a:endParaRPr lang="en-US" sz="1000" dirty="0"/>
          </a:p>
        </p:txBody>
      </p:sp>
      <p:sp>
        <p:nvSpPr>
          <p:cNvPr id="13" name="Shape 11"/>
          <p:cNvSpPr/>
          <p:nvPr/>
        </p:nvSpPr>
        <p:spPr>
          <a:xfrm>
            <a:off x="7595616" y="3038856"/>
            <a:ext cx="292608" cy="292608"/>
          </a:xfrm>
          <a:prstGeom prst="ellipse">
            <a:avLst/>
          </a:prstGeom>
          <a:solidFill>
            <a:srgbClr val="1E2761"/>
          </a:solidFill>
          <a:ln/>
        </p:spPr>
      </p:sp>
      <p:sp>
        <p:nvSpPr>
          <p:cNvPr id="14" name="Text 12"/>
          <p:cNvSpPr/>
          <p:nvPr/>
        </p:nvSpPr>
        <p:spPr>
          <a:xfrm>
            <a:off x="7595616" y="30388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a:t>
            </a:r>
            <a:endParaRPr lang="en-US" sz="1000" dirty="0"/>
          </a:p>
        </p:txBody>
      </p:sp>
      <p:sp>
        <p:nvSpPr>
          <p:cNvPr id="15" name="Shape 13"/>
          <p:cNvSpPr/>
          <p:nvPr/>
        </p:nvSpPr>
        <p:spPr>
          <a:xfrm>
            <a:off x="9119616" y="3038856"/>
            <a:ext cx="292608" cy="292608"/>
          </a:xfrm>
          <a:prstGeom prst="ellipse">
            <a:avLst/>
          </a:prstGeom>
          <a:solidFill>
            <a:srgbClr val="1E2761"/>
          </a:solidFill>
          <a:ln/>
        </p:spPr>
      </p:sp>
      <p:sp>
        <p:nvSpPr>
          <p:cNvPr id="16" name="Text 14"/>
          <p:cNvSpPr/>
          <p:nvPr/>
        </p:nvSpPr>
        <p:spPr>
          <a:xfrm>
            <a:off x="9119616" y="30388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M</a:t>
            </a:r>
            <a:endParaRPr lang="en-US" sz="1000" dirty="0"/>
          </a:p>
        </p:txBody>
      </p:sp>
      <p:sp>
        <p:nvSpPr>
          <p:cNvPr id="17" name="Shape 15"/>
          <p:cNvSpPr/>
          <p:nvPr/>
        </p:nvSpPr>
        <p:spPr>
          <a:xfrm>
            <a:off x="7214616" y="3739896"/>
            <a:ext cx="292608" cy="292608"/>
          </a:xfrm>
          <a:prstGeom prst="ellipse">
            <a:avLst/>
          </a:prstGeom>
          <a:solidFill>
            <a:srgbClr val="1E2761"/>
          </a:solidFill>
          <a:ln/>
        </p:spPr>
      </p:sp>
      <p:sp>
        <p:nvSpPr>
          <p:cNvPr id="18" name="Text 16"/>
          <p:cNvSpPr/>
          <p:nvPr/>
        </p:nvSpPr>
        <p:spPr>
          <a:xfrm>
            <a:off x="7214616" y="3739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D</a:t>
            </a:r>
            <a:endParaRPr lang="en-US" sz="1000" dirty="0"/>
          </a:p>
        </p:txBody>
      </p:sp>
      <p:sp>
        <p:nvSpPr>
          <p:cNvPr id="19" name="Shape 17"/>
          <p:cNvSpPr/>
          <p:nvPr/>
        </p:nvSpPr>
        <p:spPr>
          <a:xfrm>
            <a:off x="9500616" y="3739896"/>
            <a:ext cx="292608" cy="292608"/>
          </a:xfrm>
          <a:prstGeom prst="ellipse">
            <a:avLst/>
          </a:prstGeom>
          <a:solidFill>
            <a:srgbClr val="1E2761"/>
          </a:solidFill>
          <a:ln/>
        </p:spPr>
      </p:sp>
      <p:sp>
        <p:nvSpPr>
          <p:cNvPr id="20" name="Text 18"/>
          <p:cNvSpPr/>
          <p:nvPr/>
        </p:nvSpPr>
        <p:spPr>
          <a:xfrm>
            <a:off x="9500616" y="3739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N</a:t>
            </a:r>
            <a:endParaRPr lang="en-US" sz="1000" dirty="0"/>
          </a:p>
        </p:txBody>
      </p:sp>
      <p:sp>
        <p:nvSpPr>
          <p:cNvPr id="21" name="Shape 19"/>
          <p:cNvSpPr/>
          <p:nvPr/>
        </p:nvSpPr>
        <p:spPr>
          <a:xfrm>
            <a:off x="6833616" y="4440936"/>
            <a:ext cx="292608" cy="292608"/>
          </a:xfrm>
          <a:prstGeom prst="ellipse">
            <a:avLst/>
          </a:prstGeom>
          <a:solidFill>
            <a:srgbClr val="1E2761"/>
          </a:solidFill>
          <a:ln/>
        </p:spPr>
      </p:sp>
      <p:sp>
        <p:nvSpPr>
          <p:cNvPr id="22" name="Text 20"/>
          <p:cNvSpPr/>
          <p:nvPr/>
        </p:nvSpPr>
        <p:spPr>
          <a:xfrm>
            <a:off x="6833616" y="44409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E</a:t>
            </a:r>
            <a:endParaRPr lang="en-US" sz="1000" dirty="0"/>
          </a:p>
        </p:txBody>
      </p:sp>
      <p:sp>
        <p:nvSpPr>
          <p:cNvPr id="23" name="Shape 21"/>
          <p:cNvSpPr/>
          <p:nvPr/>
        </p:nvSpPr>
        <p:spPr>
          <a:xfrm>
            <a:off x="9881616" y="4440936"/>
            <a:ext cx="292608" cy="292608"/>
          </a:xfrm>
          <a:prstGeom prst="ellipse">
            <a:avLst/>
          </a:prstGeom>
          <a:solidFill>
            <a:srgbClr val="1E2761"/>
          </a:solidFill>
          <a:ln/>
        </p:spPr>
      </p:sp>
      <p:sp>
        <p:nvSpPr>
          <p:cNvPr id="24" name="Text 22"/>
          <p:cNvSpPr/>
          <p:nvPr/>
        </p:nvSpPr>
        <p:spPr>
          <a:xfrm>
            <a:off x="9881616" y="44409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O</a:t>
            </a:r>
            <a:endParaRPr lang="en-US" sz="1000" dirty="0"/>
          </a:p>
        </p:txBody>
      </p:sp>
      <p:sp>
        <p:nvSpPr>
          <p:cNvPr id="25" name="Shape 23"/>
          <p:cNvSpPr/>
          <p:nvPr/>
        </p:nvSpPr>
        <p:spPr>
          <a:xfrm>
            <a:off x="6452616" y="5141976"/>
            <a:ext cx="292608" cy="292608"/>
          </a:xfrm>
          <a:prstGeom prst="ellipse">
            <a:avLst/>
          </a:prstGeom>
          <a:solidFill>
            <a:srgbClr val="C9A24B"/>
          </a:solidFill>
          <a:ln/>
        </p:spPr>
      </p:sp>
      <p:sp>
        <p:nvSpPr>
          <p:cNvPr id="26" name="Text 24"/>
          <p:cNvSpPr/>
          <p:nvPr/>
        </p:nvSpPr>
        <p:spPr>
          <a:xfrm>
            <a:off x="6452616" y="5141976"/>
            <a:ext cx="292608" cy="292608"/>
          </a:xfrm>
          <a:prstGeom prst="rect">
            <a:avLst/>
          </a:prstGeom>
          <a:noFill/>
          <a:ln/>
        </p:spPr>
        <p:txBody>
          <a:bodyPr wrap="square" lIns="0" tIns="0" rIns="0" bIns="0" rtlCol="0" anchor="ctr"/>
          <a:lstStyle/>
          <a:p>
            <a:pPr algn="ctr" indent="0" marL="0">
              <a:buNone/>
            </a:pPr>
            <a:r>
              <a:rPr lang="en-US" sz="1000" b="1" dirty="0">
                <a:solidFill>
                  <a:srgbClr val="141B48"/>
                </a:solidFill>
                <a:latin typeface="Cambria" pitchFamily="34" charset="0"/>
                <a:ea typeface="Cambria" pitchFamily="34" charset="-122"/>
                <a:cs typeface="Cambria" pitchFamily="34" charset="-120"/>
              </a:rPr>
              <a:t>F</a:t>
            </a:r>
            <a:endParaRPr lang="en-US" sz="1000" dirty="0"/>
          </a:p>
        </p:txBody>
      </p:sp>
      <p:sp>
        <p:nvSpPr>
          <p:cNvPr id="27" name="Shape 25"/>
          <p:cNvSpPr/>
          <p:nvPr/>
        </p:nvSpPr>
        <p:spPr>
          <a:xfrm>
            <a:off x="10262616" y="5141976"/>
            <a:ext cx="292608" cy="292608"/>
          </a:xfrm>
          <a:prstGeom prst="ellipse">
            <a:avLst/>
          </a:prstGeom>
          <a:solidFill>
            <a:srgbClr val="C9A24B"/>
          </a:solidFill>
          <a:ln/>
        </p:spPr>
      </p:sp>
      <p:sp>
        <p:nvSpPr>
          <p:cNvPr id="28" name="Text 26"/>
          <p:cNvSpPr/>
          <p:nvPr/>
        </p:nvSpPr>
        <p:spPr>
          <a:xfrm>
            <a:off x="10262616" y="5141976"/>
            <a:ext cx="292608" cy="292608"/>
          </a:xfrm>
          <a:prstGeom prst="rect">
            <a:avLst/>
          </a:prstGeom>
          <a:noFill/>
          <a:ln/>
        </p:spPr>
        <p:txBody>
          <a:bodyPr wrap="square" lIns="0" tIns="0" rIns="0" bIns="0" rtlCol="0" anchor="ctr"/>
          <a:lstStyle/>
          <a:p>
            <a:pPr algn="ctr" indent="0" marL="0">
              <a:buNone/>
            </a:pPr>
            <a:r>
              <a:rPr lang="en-US" sz="1000" b="1" dirty="0">
                <a:solidFill>
                  <a:srgbClr val="141B48"/>
                </a:solidFill>
                <a:latin typeface="Cambria" pitchFamily="34" charset="0"/>
                <a:ea typeface="Cambria" pitchFamily="34" charset="-122"/>
                <a:cs typeface="Cambria" pitchFamily="34" charset="-120"/>
              </a:rPr>
              <a:t>P</a:t>
            </a:r>
            <a:endParaRPr lang="en-US" sz="1000" dirty="0"/>
          </a:p>
        </p:txBody>
      </p:sp>
      <p:sp>
        <p:nvSpPr>
          <p:cNvPr id="29" name="Shape 27"/>
          <p:cNvSpPr/>
          <p:nvPr/>
        </p:nvSpPr>
        <p:spPr>
          <a:xfrm>
            <a:off x="6071616" y="5843016"/>
            <a:ext cx="292608" cy="292608"/>
          </a:xfrm>
          <a:prstGeom prst="ellipse">
            <a:avLst/>
          </a:prstGeom>
          <a:solidFill>
            <a:srgbClr val="1E2761"/>
          </a:solidFill>
          <a:ln/>
        </p:spPr>
      </p:sp>
      <p:sp>
        <p:nvSpPr>
          <p:cNvPr id="30" name="Text 28"/>
          <p:cNvSpPr/>
          <p:nvPr/>
        </p:nvSpPr>
        <p:spPr>
          <a:xfrm>
            <a:off x="6071616" y="5843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G</a:t>
            </a:r>
            <a:endParaRPr lang="en-US" sz="1000" dirty="0"/>
          </a:p>
        </p:txBody>
      </p:sp>
      <p:sp>
        <p:nvSpPr>
          <p:cNvPr id="31" name="Shape 29"/>
          <p:cNvSpPr/>
          <p:nvPr/>
        </p:nvSpPr>
        <p:spPr>
          <a:xfrm>
            <a:off x="10643616" y="5843016"/>
            <a:ext cx="292608" cy="292608"/>
          </a:xfrm>
          <a:prstGeom prst="ellipse">
            <a:avLst/>
          </a:prstGeom>
          <a:solidFill>
            <a:srgbClr val="1E2761"/>
          </a:solidFill>
          <a:ln/>
        </p:spPr>
      </p:sp>
      <p:sp>
        <p:nvSpPr>
          <p:cNvPr id="32" name="Text 30"/>
          <p:cNvSpPr/>
          <p:nvPr/>
        </p:nvSpPr>
        <p:spPr>
          <a:xfrm>
            <a:off x="10643616" y="5843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a:t>
            </a:r>
            <a:endParaRPr lang="en-US" sz="1000" dirty="0"/>
          </a:p>
        </p:txBody>
      </p:sp>
      <p:sp>
        <p:nvSpPr>
          <p:cNvPr id="33" name="Shape 31"/>
          <p:cNvSpPr/>
          <p:nvPr/>
        </p:nvSpPr>
        <p:spPr>
          <a:xfrm>
            <a:off x="6598920" y="5288280"/>
            <a:ext cx="3810000" cy="0"/>
          </a:xfrm>
          <a:prstGeom prst="line">
            <a:avLst/>
          </a:prstGeom>
          <a:noFill/>
          <a:ln w="25400">
            <a:solidFill>
              <a:srgbClr val="2E7D46"/>
            </a:solidFill>
            <a:prstDash val="dash"/>
          </a:ln>
        </p:spPr>
      </p:sp>
      <p:sp>
        <p:nvSpPr>
          <p:cNvPr id="34" name="Text 32"/>
          <p:cNvSpPr/>
          <p:nvPr/>
        </p:nvSpPr>
        <p:spPr>
          <a:xfrm>
            <a:off x="7498080" y="5425440"/>
            <a:ext cx="2011680" cy="274320"/>
          </a:xfrm>
          <a:prstGeom prst="rect">
            <a:avLst/>
          </a:prstGeom>
          <a:noFill/>
          <a:ln/>
        </p:spPr>
        <p:txBody>
          <a:bodyPr wrap="square" rtlCol="0" anchor="ctr"/>
          <a:lstStyle/>
          <a:p>
            <a:pPr algn="ctr" indent="0" marL="0">
              <a:buNone/>
            </a:pPr>
            <a:r>
              <a:rPr lang="en-US" sz="950" i="1" dirty="0">
                <a:solidFill>
                  <a:srgbClr val="2E7D46"/>
                </a:solidFill>
                <a:latin typeface="Calibri" pitchFamily="34" charset="0"/>
                <a:ea typeface="Calibri" pitchFamily="34" charset="-122"/>
                <a:cs typeface="Calibri" pitchFamily="34" charset="-120"/>
              </a:rPr>
              <a:t>“gang plank” — direct contact</a:t>
            </a:r>
            <a:endParaRPr lang="en-US" sz="950" dirty="0"/>
          </a:p>
        </p:txBody>
      </p:sp>
      <p:sp>
        <p:nvSpPr>
          <p:cNvPr id="35" name="Text 33"/>
          <p:cNvSpPr/>
          <p:nvPr/>
        </p:nvSpPr>
        <p:spPr>
          <a:xfrm>
            <a:off x="548640" y="4297680"/>
            <a:ext cx="5394960" cy="1737360"/>
          </a:xfrm>
          <a:prstGeom prst="rect">
            <a:avLst/>
          </a:prstGeom>
          <a:noFill/>
          <a:ln/>
        </p:spPr>
        <p:txBody>
          <a:bodyPr wrap="square"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Fayol calls direct contact between officials at the same level a 'gang plank'. It doesn't abandon the line of authority — F and P simply inform their immediate superiors (E and O) before and after contacting each other directly.</a:t>
            </a:r>
            <a:endParaRPr lang="en-US" sz="1200" dirty="0"/>
          </a:p>
        </p:txBody>
      </p:sp>
      <p:sp>
        <p:nvSpPr>
          <p:cNvPr id="36" name="Text 34"/>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SCALAR CHAIN</a:t>
            </a:r>
            <a:endParaRPr lang="en-US" sz="1100" dirty="0"/>
          </a:p>
        </p:txBody>
      </p:sp>
      <p:sp>
        <p:nvSpPr>
          <p:cNvPr id="37" name="Text 3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5.4. GENERAL PRINCIPLES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(10)–(12) Order, Equity &amp; Stability of Tenure</a:t>
            </a:r>
            <a:endParaRPr lang="en-US" sz="2900" dirty="0"/>
          </a:p>
        </p:txBody>
      </p:sp>
      <p:sp>
        <p:nvSpPr>
          <p:cNvPr id="4" name="Shape 2"/>
          <p:cNvSpPr/>
          <p:nvPr/>
        </p:nvSpPr>
        <p:spPr>
          <a:xfrm>
            <a:off x="548640" y="1691640"/>
            <a:ext cx="3596640" cy="4389120"/>
          </a:xfrm>
          <a:prstGeom prst="roundRect">
            <a:avLst>
              <a:gd name="adj" fmla="val 2288"/>
            </a:avLst>
          </a:prstGeom>
          <a:solidFill>
            <a:srgbClr val="EEF3FC"/>
          </a:solidFill>
          <a:ln/>
        </p:spPr>
      </p:sp>
      <p:sp>
        <p:nvSpPr>
          <p:cNvPr id="5" name="Shape 3"/>
          <p:cNvSpPr/>
          <p:nvPr/>
        </p:nvSpPr>
        <p:spPr>
          <a:xfrm>
            <a:off x="206349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10897" y="2067641"/>
            <a:ext cx="272125" cy="272125"/>
          </a:xfrm>
          <a:prstGeom prst="rect">
            <a:avLst/>
          </a:prstGeom>
        </p:spPr>
      </p:pic>
      <p:sp>
        <p:nvSpPr>
          <p:cNvPr id="7" name="Text 4"/>
          <p:cNvSpPr/>
          <p:nvPr/>
        </p:nvSpPr>
        <p:spPr>
          <a:xfrm>
            <a:off x="5486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(10)</a:t>
            </a:r>
            <a:endParaRPr lang="en-US" sz="1300" dirty="0"/>
          </a:p>
        </p:txBody>
      </p:sp>
      <p:sp>
        <p:nvSpPr>
          <p:cNvPr id="8" name="Text 5"/>
          <p:cNvSpPr/>
          <p:nvPr/>
        </p:nvSpPr>
        <p:spPr>
          <a:xfrm>
            <a:off x="6858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Order — Right Persons and Things at Right Place</a:t>
            </a:r>
            <a:endParaRPr lang="en-US" sz="1450" dirty="0"/>
          </a:p>
        </p:txBody>
      </p:sp>
      <p:sp>
        <p:nvSpPr>
          <p:cNvPr id="9" name="Text 6"/>
          <p:cNvSpPr/>
          <p:nvPr/>
        </p:nvSpPr>
        <p:spPr>
          <a:xfrm>
            <a:off x="7132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Material order: 'a place for everything and everything in its place.' Social order: 'a place for everyone and everyone in his place' — the right man in the right place.</a:t>
            </a:r>
            <a:endParaRPr lang="en-US" sz="1150" dirty="0"/>
          </a:p>
        </p:txBody>
      </p:sp>
      <p:sp>
        <p:nvSpPr>
          <p:cNvPr id="10" name="Shape 7"/>
          <p:cNvSpPr/>
          <p:nvPr/>
        </p:nvSpPr>
        <p:spPr>
          <a:xfrm>
            <a:off x="4282440" y="1691640"/>
            <a:ext cx="3596640" cy="4389120"/>
          </a:xfrm>
          <a:prstGeom prst="roundRect">
            <a:avLst>
              <a:gd name="adj" fmla="val 2288"/>
            </a:avLst>
          </a:prstGeom>
          <a:solidFill>
            <a:srgbClr val="EEF3FC"/>
          </a:solidFill>
          <a:ln/>
        </p:spPr>
      </p:sp>
      <p:sp>
        <p:nvSpPr>
          <p:cNvPr id="11" name="Shape 8"/>
          <p:cNvSpPr/>
          <p:nvPr/>
        </p:nvSpPr>
        <p:spPr>
          <a:xfrm>
            <a:off x="579729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44697" y="2067641"/>
            <a:ext cx="272125" cy="272125"/>
          </a:xfrm>
          <a:prstGeom prst="rect">
            <a:avLst/>
          </a:prstGeom>
        </p:spPr>
      </p:pic>
      <p:sp>
        <p:nvSpPr>
          <p:cNvPr id="13" name="Text 9"/>
          <p:cNvSpPr/>
          <p:nvPr/>
        </p:nvSpPr>
        <p:spPr>
          <a:xfrm>
            <a:off x="42824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(11)</a:t>
            </a:r>
            <a:endParaRPr lang="en-US" sz="1300" dirty="0"/>
          </a:p>
        </p:txBody>
      </p:sp>
      <p:sp>
        <p:nvSpPr>
          <p:cNvPr id="14" name="Text 10"/>
          <p:cNvSpPr/>
          <p:nvPr/>
        </p:nvSpPr>
        <p:spPr>
          <a:xfrm>
            <a:off x="44196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Equity — Ensuring Justice and Equality</a:t>
            </a:r>
            <a:endParaRPr lang="en-US" sz="1450" dirty="0"/>
          </a:p>
        </p:txBody>
      </p:sp>
      <p:sp>
        <p:nvSpPr>
          <p:cNvPr id="15" name="Text 11"/>
          <p:cNvSpPr/>
          <p:nvPr/>
        </p:nvSpPr>
        <p:spPr>
          <a:xfrm>
            <a:off x="44470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Impartiality, justice and fairness — applied by every manager, not only the CEO, with good nature, fair judgment and experience.</a:t>
            </a:r>
            <a:endParaRPr lang="en-US" sz="1150" dirty="0"/>
          </a:p>
        </p:txBody>
      </p:sp>
      <p:sp>
        <p:nvSpPr>
          <p:cNvPr id="16" name="Shape 12"/>
          <p:cNvSpPr/>
          <p:nvPr/>
        </p:nvSpPr>
        <p:spPr>
          <a:xfrm>
            <a:off x="8016240" y="1691640"/>
            <a:ext cx="3596640" cy="4389120"/>
          </a:xfrm>
          <a:prstGeom prst="roundRect">
            <a:avLst>
              <a:gd name="adj" fmla="val 2288"/>
            </a:avLst>
          </a:prstGeom>
          <a:solidFill>
            <a:srgbClr val="EEF3FC"/>
          </a:solidFill>
          <a:ln/>
        </p:spPr>
      </p:sp>
      <p:sp>
        <p:nvSpPr>
          <p:cNvPr id="17" name="Shape 13"/>
          <p:cNvSpPr/>
          <p:nvPr/>
        </p:nvSpPr>
        <p:spPr>
          <a:xfrm>
            <a:off x="9531096" y="1920240"/>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78497" y="2067641"/>
            <a:ext cx="272125" cy="272125"/>
          </a:xfrm>
          <a:prstGeom prst="rect">
            <a:avLst/>
          </a:prstGeom>
        </p:spPr>
      </p:pic>
      <p:sp>
        <p:nvSpPr>
          <p:cNvPr id="19" name="Text 14"/>
          <p:cNvSpPr/>
          <p:nvPr/>
        </p:nvSpPr>
        <p:spPr>
          <a:xfrm>
            <a:off x="8016240" y="2606040"/>
            <a:ext cx="35966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(12)</a:t>
            </a:r>
            <a:endParaRPr lang="en-US" sz="1300" dirty="0"/>
          </a:p>
        </p:txBody>
      </p:sp>
      <p:sp>
        <p:nvSpPr>
          <p:cNvPr id="20" name="Text 15"/>
          <p:cNvSpPr/>
          <p:nvPr/>
        </p:nvSpPr>
        <p:spPr>
          <a:xfrm>
            <a:off x="8153400" y="2880360"/>
            <a:ext cx="33223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Stability of Tenure — Allow Time to Settle &amp; Learn the Ropes</a:t>
            </a:r>
            <a:endParaRPr lang="en-US" sz="1450" dirty="0"/>
          </a:p>
        </p:txBody>
      </p:sp>
      <p:sp>
        <p:nvSpPr>
          <p:cNvPr id="21" name="Text 16"/>
          <p:cNvSpPr/>
          <p:nvPr/>
        </p:nvSpPr>
        <p:spPr>
          <a:xfrm>
            <a:off x="8180832" y="3520440"/>
            <a:ext cx="32674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Frequent transfers prevent employees from mastering their work. Fayol: 'a mediocre manager who stays is infinitely preferable to outstanding managers who merely come and go.'</a:t>
            </a:r>
            <a:endParaRPr lang="en-US" sz="1150" dirty="0"/>
          </a:p>
        </p:txBody>
      </p:sp>
      <p:sp>
        <p:nvSpPr>
          <p:cNvPr id="22" name="Text 1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GENERAL PRINCIPLES OF MANAGEMENT</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5.4. GENERAL PRINCIPLES OF MANAGEMENT</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(13)–(14) Initiative &amp; Esprit de Corps</a:t>
            </a:r>
            <a:endParaRPr lang="en-US" sz="2900" dirty="0"/>
          </a:p>
        </p:txBody>
      </p:sp>
      <p:sp>
        <p:nvSpPr>
          <p:cNvPr id="4" name="Shape 2"/>
          <p:cNvSpPr/>
          <p:nvPr/>
        </p:nvSpPr>
        <p:spPr>
          <a:xfrm>
            <a:off x="548640" y="1691640"/>
            <a:ext cx="5463540" cy="4389120"/>
          </a:xfrm>
          <a:prstGeom prst="roundRect">
            <a:avLst>
              <a:gd name="adj" fmla="val 1875"/>
            </a:avLst>
          </a:prstGeom>
          <a:solidFill>
            <a:srgbClr val="EEF3FC"/>
          </a:solidFill>
          <a:ln/>
        </p:spPr>
      </p:sp>
      <p:sp>
        <p:nvSpPr>
          <p:cNvPr id="5" name="Shape 3"/>
          <p:cNvSpPr/>
          <p:nvPr/>
        </p:nvSpPr>
        <p:spPr>
          <a:xfrm>
            <a:off x="2996946" y="1920240"/>
            <a:ext cx="566928" cy="56692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44347" y="2067641"/>
            <a:ext cx="272125" cy="272125"/>
          </a:xfrm>
          <a:prstGeom prst="rect">
            <a:avLst/>
          </a:prstGeom>
        </p:spPr>
      </p:pic>
      <p:sp>
        <p:nvSpPr>
          <p:cNvPr id="7" name="Text 4"/>
          <p:cNvSpPr/>
          <p:nvPr/>
        </p:nvSpPr>
        <p:spPr>
          <a:xfrm>
            <a:off x="5486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(13)</a:t>
            </a:r>
            <a:endParaRPr lang="en-US" sz="1300" dirty="0"/>
          </a:p>
        </p:txBody>
      </p:sp>
      <p:sp>
        <p:nvSpPr>
          <p:cNvPr id="8" name="Text 5"/>
          <p:cNvSpPr/>
          <p:nvPr/>
        </p:nvSpPr>
        <p:spPr>
          <a:xfrm>
            <a:off x="6858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Initiative — Ability to Think Differently</a:t>
            </a:r>
            <a:endParaRPr lang="en-US" sz="1450" dirty="0"/>
          </a:p>
        </p:txBody>
      </p:sp>
      <p:sp>
        <p:nvSpPr>
          <p:cNvPr id="9" name="Text 6"/>
          <p:cNvSpPr/>
          <p:nvPr/>
        </p:nvSpPr>
        <p:spPr>
          <a:xfrm>
            <a:off x="7132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The power of thinking — conceiving a plan and translating it into reality. A manager who encourages subordinates' initiative succeeds more than one who insists 'only listen, don't think.'</a:t>
            </a:r>
            <a:endParaRPr lang="en-US" sz="1150" dirty="0"/>
          </a:p>
        </p:txBody>
      </p:sp>
      <p:sp>
        <p:nvSpPr>
          <p:cNvPr id="10" name="Shape 7"/>
          <p:cNvSpPr/>
          <p:nvPr/>
        </p:nvSpPr>
        <p:spPr>
          <a:xfrm>
            <a:off x="6149340" y="1691640"/>
            <a:ext cx="5463540" cy="4389120"/>
          </a:xfrm>
          <a:prstGeom prst="roundRect">
            <a:avLst>
              <a:gd name="adj" fmla="val 1875"/>
            </a:avLst>
          </a:prstGeom>
          <a:solidFill>
            <a:srgbClr val="EEF3FC"/>
          </a:solidFill>
          <a:ln/>
        </p:spPr>
      </p:sp>
      <p:sp>
        <p:nvSpPr>
          <p:cNvPr id="11" name="Shape 8"/>
          <p:cNvSpPr/>
          <p:nvPr/>
        </p:nvSpPr>
        <p:spPr>
          <a:xfrm>
            <a:off x="8597646" y="1920240"/>
            <a:ext cx="566928" cy="566928"/>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45047" y="2067641"/>
            <a:ext cx="272125" cy="272125"/>
          </a:xfrm>
          <a:prstGeom prst="rect">
            <a:avLst/>
          </a:prstGeom>
        </p:spPr>
      </p:pic>
      <p:sp>
        <p:nvSpPr>
          <p:cNvPr id="13" name="Text 9"/>
          <p:cNvSpPr/>
          <p:nvPr/>
        </p:nvSpPr>
        <p:spPr>
          <a:xfrm>
            <a:off x="6149340" y="2606040"/>
            <a:ext cx="5463540" cy="274320"/>
          </a:xfrm>
          <a:prstGeom prst="rect">
            <a:avLst/>
          </a:prstGeom>
          <a:noFill/>
          <a:ln/>
        </p:spPr>
        <p:txBody>
          <a:bodyPr wrap="square" lIns="0" tIns="0" rIns="0" bIns="0" rtlCol="0" anchor="ctr"/>
          <a:lstStyle/>
          <a:p>
            <a:pPr algn="ctr" indent="0" marL="0">
              <a:buNone/>
            </a:pPr>
            <a:r>
              <a:rPr lang="en-US" sz="1300" b="1" dirty="0">
                <a:solidFill>
                  <a:srgbClr val="C9A24B"/>
                </a:solidFill>
                <a:latin typeface="Cambria" pitchFamily="34" charset="0"/>
                <a:ea typeface="Cambria" pitchFamily="34" charset="-122"/>
                <a:cs typeface="Cambria" pitchFamily="34" charset="-120"/>
              </a:rPr>
              <a:t>(14)</a:t>
            </a:r>
            <a:endParaRPr lang="en-US" sz="1300" dirty="0"/>
          </a:p>
        </p:txBody>
      </p:sp>
      <p:sp>
        <p:nvSpPr>
          <p:cNvPr id="14" name="Text 10"/>
          <p:cNvSpPr/>
          <p:nvPr/>
        </p:nvSpPr>
        <p:spPr>
          <a:xfrm>
            <a:off x="6286500" y="2880360"/>
            <a:ext cx="5189220" cy="64008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Esprit de Corps — Union is Strength</a:t>
            </a:r>
            <a:endParaRPr lang="en-US" sz="1450" dirty="0"/>
          </a:p>
        </p:txBody>
      </p:sp>
      <p:sp>
        <p:nvSpPr>
          <p:cNvPr id="15" name="Text 11"/>
          <p:cNvSpPr/>
          <p:nvPr/>
        </p:nvSpPr>
        <p:spPr>
          <a:xfrm>
            <a:off x="6313932" y="3520440"/>
            <a:ext cx="5134356" cy="246888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The spirit of loyalty and 'sense of belonging' that unites a group. Built through coordination, informal relationships, motivation, fair reward, and face-to-face communication — never 'divide and rule.'</a:t>
            </a:r>
            <a:endParaRPr lang="en-US" sz="1150" dirty="0"/>
          </a:p>
        </p:txBody>
      </p:sp>
      <p:sp>
        <p:nvSpPr>
          <p:cNvPr id="16" name="Text 12"/>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5.4. GENERAL PRINCIPLES OF MANAGEMENT</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RECALL — PART 1</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Recall Questions — Part 1</a:t>
            </a:r>
            <a:endParaRPr lang="en-US" sz="2900" dirty="0"/>
          </a:p>
        </p:txBody>
      </p:sp>
      <p:sp>
        <p:nvSpPr>
          <p:cNvPr id="4" name="Text 2"/>
          <p:cNvSpPr/>
          <p:nvPr/>
        </p:nvSpPr>
        <p:spPr>
          <a:xfrm>
            <a:off x="548640" y="1417320"/>
            <a:ext cx="1097280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Test yourself before checking the notes.</a:t>
            </a:r>
            <a:endParaRPr lang="en-US" sz="1400" dirty="0"/>
          </a:p>
        </p:txBody>
      </p:sp>
      <p:sp>
        <p:nvSpPr>
          <p:cNvPr id="5" name="Shape 3"/>
          <p:cNvSpPr/>
          <p:nvPr/>
        </p:nvSpPr>
        <p:spPr>
          <a:xfrm>
            <a:off x="548640" y="2005149"/>
            <a:ext cx="457200" cy="457200"/>
          </a:xfrm>
          <a:prstGeom prst="ellipse">
            <a:avLst/>
          </a:prstGeom>
          <a:solidFill>
            <a:srgbClr val="1E2761"/>
          </a:solidFill>
          <a:ln/>
        </p:spPr>
      </p:sp>
      <p:sp>
        <p:nvSpPr>
          <p:cNvPr id="6" name="Text 4"/>
          <p:cNvSpPr/>
          <p:nvPr/>
        </p:nvSpPr>
        <p:spPr>
          <a:xfrm>
            <a:off x="548640" y="2005149"/>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34440" y="1920240"/>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Business management is said to consist of how many important functions, and what are they?</a:t>
            </a:r>
            <a:endParaRPr lang="en-US" sz="1450" dirty="0"/>
          </a:p>
        </p:txBody>
      </p:sp>
      <p:sp>
        <p:nvSpPr>
          <p:cNvPr id="8" name="Shape 6"/>
          <p:cNvSpPr/>
          <p:nvPr/>
        </p:nvSpPr>
        <p:spPr>
          <a:xfrm>
            <a:off x="548640" y="2632166"/>
            <a:ext cx="457200" cy="457200"/>
          </a:xfrm>
          <a:prstGeom prst="ellipse">
            <a:avLst/>
          </a:prstGeom>
          <a:solidFill>
            <a:srgbClr val="1E2761"/>
          </a:solidFill>
          <a:ln/>
        </p:spPr>
      </p:sp>
      <p:sp>
        <p:nvSpPr>
          <p:cNvPr id="9" name="Text 7"/>
          <p:cNvSpPr/>
          <p:nvPr/>
        </p:nvSpPr>
        <p:spPr>
          <a:xfrm>
            <a:off x="548640" y="2632166"/>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234440" y="2547257"/>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Name the four main functional areas of management described in the chapter.</a:t>
            </a:r>
            <a:endParaRPr lang="en-US" sz="1450" dirty="0"/>
          </a:p>
        </p:txBody>
      </p:sp>
      <p:sp>
        <p:nvSpPr>
          <p:cNvPr id="11" name="Shape 9"/>
          <p:cNvSpPr/>
          <p:nvPr/>
        </p:nvSpPr>
        <p:spPr>
          <a:xfrm>
            <a:off x="548640" y="3259183"/>
            <a:ext cx="457200" cy="457200"/>
          </a:xfrm>
          <a:prstGeom prst="ellipse">
            <a:avLst/>
          </a:prstGeom>
          <a:solidFill>
            <a:srgbClr val="1E2761"/>
          </a:solidFill>
          <a:ln/>
        </p:spPr>
      </p:sp>
      <p:sp>
        <p:nvSpPr>
          <p:cNvPr id="12" name="Text 10"/>
          <p:cNvSpPr/>
          <p:nvPr/>
        </p:nvSpPr>
        <p:spPr>
          <a:xfrm>
            <a:off x="548640" y="3259183"/>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1234440" y="3174274"/>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List the five activities involved in production management.</a:t>
            </a:r>
            <a:endParaRPr lang="en-US" sz="1450" dirty="0"/>
          </a:p>
        </p:txBody>
      </p:sp>
      <p:sp>
        <p:nvSpPr>
          <p:cNvPr id="14" name="Shape 12"/>
          <p:cNvSpPr/>
          <p:nvPr/>
        </p:nvSpPr>
        <p:spPr>
          <a:xfrm>
            <a:off x="548640" y="3886200"/>
            <a:ext cx="457200" cy="457200"/>
          </a:xfrm>
          <a:prstGeom prst="ellipse">
            <a:avLst/>
          </a:prstGeom>
          <a:solidFill>
            <a:srgbClr val="1E2761"/>
          </a:solidFill>
          <a:ln/>
        </p:spPr>
      </p:sp>
      <p:sp>
        <p:nvSpPr>
          <p:cNvPr id="15" name="Text 13"/>
          <p:cNvSpPr/>
          <p:nvPr/>
        </p:nvSpPr>
        <p:spPr>
          <a:xfrm>
            <a:off x="548640" y="388620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234440" y="3801291"/>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Why is marketing management said to be becoming 'more and more complex'?</a:t>
            </a:r>
            <a:endParaRPr lang="en-US" sz="1450" dirty="0"/>
          </a:p>
        </p:txBody>
      </p:sp>
      <p:sp>
        <p:nvSpPr>
          <p:cNvPr id="17" name="Shape 15"/>
          <p:cNvSpPr/>
          <p:nvPr/>
        </p:nvSpPr>
        <p:spPr>
          <a:xfrm>
            <a:off x="548640" y="4513217"/>
            <a:ext cx="457200" cy="457200"/>
          </a:xfrm>
          <a:prstGeom prst="ellipse">
            <a:avLst/>
          </a:prstGeom>
          <a:solidFill>
            <a:srgbClr val="1E2761"/>
          </a:solidFill>
          <a:ln/>
        </p:spPr>
      </p:sp>
      <p:sp>
        <p:nvSpPr>
          <p:cNvPr id="18" name="Text 16"/>
          <p:cNvSpPr/>
          <p:nvPr/>
        </p:nvSpPr>
        <p:spPr>
          <a:xfrm>
            <a:off x="548640" y="4513217"/>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5</a:t>
            </a:r>
            <a:endParaRPr lang="en-US" sz="1400" dirty="0"/>
          </a:p>
        </p:txBody>
      </p:sp>
      <p:sp>
        <p:nvSpPr>
          <p:cNvPr id="19" name="Text 17"/>
          <p:cNvSpPr/>
          <p:nvPr/>
        </p:nvSpPr>
        <p:spPr>
          <a:xfrm>
            <a:off x="1234440" y="4428309"/>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State any four objectives of financial management.</a:t>
            </a:r>
            <a:endParaRPr lang="en-US" sz="1450" dirty="0"/>
          </a:p>
        </p:txBody>
      </p:sp>
      <p:sp>
        <p:nvSpPr>
          <p:cNvPr id="20" name="Shape 18"/>
          <p:cNvSpPr/>
          <p:nvPr/>
        </p:nvSpPr>
        <p:spPr>
          <a:xfrm>
            <a:off x="548640" y="5140234"/>
            <a:ext cx="457200" cy="457200"/>
          </a:xfrm>
          <a:prstGeom prst="ellipse">
            <a:avLst/>
          </a:prstGeom>
          <a:solidFill>
            <a:srgbClr val="1E2761"/>
          </a:solidFill>
          <a:ln/>
        </p:spPr>
      </p:sp>
      <p:sp>
        <p:nvSpPr>
          <p:cNvPr id="21" name="Text 19"/>
          <p:cNvSpPr/>
          <p:nvPr/>
        </p:nvSpPr>
        <p:spPr>
          <a:xfrm>
            <a:off x="548640" y="5140234"/>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6</a:t>
            </a:r>
            <a:endParaRPr lang="en-US" sz="1400" dirty="0"/>
          </a:p>
        </p:txBody>
      </p:sp>
      <p:sp>
        <p:nvSpPr>
          <p:cNvPr id="22" name="Text 20"/>
          <p:cNvSpPr/>
          <p:nvPr/>
        </p:nvSpPr>
        <p:spPr>
          <a:xfrm>
            <a:off x="1234440" y="5055326"/>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is the main concern of personnel management?</a:t>
            </a:r>
            <a:endParaRPr lang="en-US" sz="1450" dirty="0"/>
          </a:p>
        </p:txBody>
      </p:sp>
      <p:sp>
        <p:nvSpPr>
          <p:cNvPr id="23" name="Shape 21"/>
          <p:cNvSpPr/>
          <p:nvPr/>
        </p:nvSpPr>
        <p:spPr>
          <a:xfrm>
            <a:off x="548640" y="5767251"/>
            <a:ext cx="457200" cy="457200"/>
          </a:xfrm>
          <a:prstGeom prst="ellipse">
            <a:avLst/>
          </a:prstGeom>
          <a:solidFill>
            <a:srgbClr val="1E2761"/>
          </a:solidFill>
          <a:ln/>
        </p:spPr>
      </p:sp>
      <p:sp>
        <p:nvSpPr>
          <p:cNvPr id="24" name="Text 22"/>
          <p:cNvSpPr/>
          <p:nvPr/>
        </p:nvSpPr>
        <p:spPr>
          <a:xfrm>
            <a:off x="548640" y="5767251"/>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7</a:t>
            </a:r>
            <a:endParaRPr lang="en-US" sz="1400" dirty="0"/>
          </a:p>
        </p:txBody>
      </p:sp>
      <p:sp>
        <p:nvSpPr>
          <p:cNvPr id="25" name="Text 23"/>
          <p:cNvSpPr/>
          <p:nvPr/>
        </p:nvSpPr>
        <p:spPr>
          <a:xfrm>
            <a:off x="1234440" y="5682343"/>
            <a:ext cx="10424160" cy="627017"/>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Who are the two experts on opposite sides of the 'science vs. art' debate?</a:t>
            </a:r>
            <a:endParaRPr lang="en-US" sz="145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32004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RECALL — PART 2</a:t>
            </a:r>
            <a:endParaRPr lang="en-US" sz="1400" dirty="0"/>
          </a:p>
        </p:txBody>
      </p:sp>
      <p:sp>
        <p:nvSpPr>
          <p:cNvPr id="3" name="Text 1"/>
          <p:cNvSpPr/>
          <p:nvPr/>
        </p:nvSpPr>
        <p:spPr>
          <a:xfrm>
            <a:off x="548640" y="594360"/>
            <a:ext cx="11091672" cy="868680"/>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Recall Questions — Part 2</a:t>
            </a:r>
            <a:endParaRPr lang="en-US" sz="2900" dirty="0"/>
          </a:p>
        </p:txBody>
      </p:sp>
      <p:sp>
        <p:nvSpPr>
          <p:cNvPr id="4" name="Text 2"/>
          <p:cNvSpPr/>
          <p:nvPr/>
        </p:nvSpPr>
        <p:spPr>
          <a:xfrm>
            <a:off x="548640" y="1417320"/>
            <a:ext cx="1097280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Test yourself before checking the notes.</a:t>
            </a:r>
            <a:endParaRPr lang="en-US" sz="1400" dirty="0"/>
          </a:p>
        </p:txBody>
      </p:sp>
      <p:sp>
        <p:nvSpPr>
          <p:cNvPr id="5" name="Shape 3"/>
          <p:cNvSpPr/>
          <p:nvPr/>
        </p:nvSpPr>
        <p:spPr>
          <a:xfrm>
            <a:off x="548640" y="1965960"/>
            <a:ext cx="457200" cy="457200"/>
          </a:xfrm>
          <a:prstGeom prst="ellipse">
            <a:avLst/>
          </a:prstGeom>
          <a:solidFill>
            <a:srgbClr val="1E2761"/>
          </a:solidFill>
          <a:ln/>
        </p:spPr>
      </p:sp>
      <p:sp>
        <p:nvSpPr>
          <p:cNvPr id="6" name="Text 4"/>
          <p:cNvSpPr/>
          <p:nvPr/>
        </p:nvSpPr>
        <p:spPr>
          <a:xfrm>
            <a:off x="548640" y="196596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34440" y="192024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Give any three reasons why management is called a 'science'.</a:t>
            </a:r>
            <a:endParaRPr lang="en-US" sz="1450" dirty="0"/>
          </a:p>
        </p:txBody>
      </p:sp>
      <p:sp>
        <p:nvSpPr>
          <p:cNvPr id="8" name="Shape 6"/>
          <p:cNvSpPr/>
          <p:nvPr/>
        </p:nvSpPr>
        <p:spPr>
          <a:xfrm>
            <a:off x="548640" y="2514600"/>
            <a:ext cx="457200" cy="457200"/>
          </a:xfrm>
          <a:prstGeom prst="ellipse">
            <a:avLst/>
          </a:prstGeom>
          <a:solidFill>
            <a:srgbClr val="1E2761"/>
          </a:solidFill>
          <a:ln/>
        </p:spPr>
      </p:sp>
      <p:sp>
        <p:nvSpPr>
          <p:cNvPr id="9" name="Text 7"/>
          <p:cNvSpPr/>
          <p:nvPr/>
        </p:nvSpPr>
        <p:spPr>
          <a:xfrm>
            <a:off x="548640" y="251460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234440" y="246888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Give any two reasons why management is called an 'art'.</a:t>
            </a:r>
            <a:endParaRPr lang="en-US" sz="1450" dirty="0"/>
          </a:p>
        </p:txBody>
      </p:sp>
      <p:sp>
        <p:nvSpPr>
          <p:cNvPr id="11" name="Shape 9"/>
          <p:cNvSpPr/>
          <p:nvPr/>
        </p:nvSpPr>
        <p:spPr>
          <a:xfrm>
            <a:off x="548640" y="3063240"/>
            <a:ext cx="457200" cy="457200"/>
          </a:xfrm>
          <a:prstGeom prst="ellipse">
            <a:avLst/>
          </a:prstGeom>
          <a:solidFill>
            <a:srgbClr val="1E2761"/>
          </a:solidFill>
          <a:ln/>
        </p:spPr>
      </p:sp>
      <p:sp>
        <p:nvSpPr>
          <p:cNvPr id="12" name="Text 10"/>
          <p:cNvSpPr/>
          <p:nvPr/>
        </p:nvSpPr>
        <p:spPr>
          <a:xfrm>
            <a:off x="548640" y="306324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1234440" y="301752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single example shows management combining both 'science' and 'art'?</a:t>
            </a:r>
            <a:endParaRPr lang="en-US" sz="1450" dirty="0"/>
          </a:p>
        </p:txBody>
      </p:sp>
      <p:sp>
        <p:nvSpPr>
          <p:cNvPr id="14" name="Shape 12"/>
          <p:cNvSpPr/>
          <p:nvPr/>
        </p:nvSpPr>
        <p:spPr>
          <a:xfrm>
            <a:off x="548640" y="3611880"/>
            <a:ext cx="457200" cy="457200"/>
          </a:xfrm>
          <a:prstGeom prst="ellipse">
            <a:avLst/>
          </a:prstGeom>
          <a:solidFill>
            <a:srgbClr val="1E2761"/>
          </a:solidFill>
          <a:ln/>
        </p:spPr>
      </p:sp>
      <p:sp>
        <p:nvSpPr>
          <p:cNvPr id="15" name="Text 13"/>
          <p:cNvSpPr/>
          <p:nvPr/>
        </p:nvSpPr>
        <p:spPr>
          <a:xfrm>
            <a:off x="548640" y="361188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234440" y="356616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factors determine the number of levels of management in an organization?</a:t>
            </a:r>
            <a:endParaRPr lang="en-US" sz="1450" dirty="0"/>
          </a:p>
        </p:txBody>
      </p:sp>
      <p:sp>
        <p:nvSpPr>
          <p:cNvPr id="17" name="Shape 15"/>
          <p:cNvSpPr/>
          <p:nvPr/>
        </p:nvSpPr>
        <p:spPr>
          <a:xfrm>
            <a:off x="548640" y="4160520"/>
            <a:ext cx="457200" cy="457200"/>
          </a:xfrm>
          <a:prstGeom prst="ellipse">
            <a:avLst/>
          </a:prstGeom>
          <a:solidFill>
            <a:srgbClr val="1E2761"/>
          </a:solidFill>
          <a:ln/>
        </p:spPr>
      </p:sp>
      <p:sp>
        <p:nvSpPr>
          <p:cNvPr id="18" name="Text 16"/>
          <p:cNvSpPr/>
          <p:nvPr/>
        </p:nvSpPr>
        <p:spPr>
          <a:xfrm>
            <a:off x="548640" y="416052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5</a:t>
            </a:r>
            <a:endParaRPr lang="en-US" sz="1400" dirty="0"/>
          </a:p>
        </p:txBody>
      </p:sp>
      <p:sp>
        <p:nvSpPr>
          <p:cNvPr id="19" name="Text 17"/>
          <p:cNvSpPr/>
          <p:nvPr/>
        </p:nvSpPr>
        <p:spPr>
          <a:xfrm>
            <a:off x="1234440" y="411480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Name the three levels shown in the 'basis of functions' diagram.</a:t>
            </a:r>
            <a:endParaRPr lang="en-US" sz="1450" dirty="0"/>
          </a:p>
        </p:txBody>
      </p:sp>
      <p:sp>
        <p:nvSpPr>
          <p:cNvPr id="20" name="Shape 18"/>
          <p:cNvSpPr/>
          <p:nvPr/>
        </p:nvSpPr>
        <p:spPr>
          <a:xfrm>
            <a:off x="548640" y="4709160"/>
            <a:ext cx="457200" cy="457200"/>
          </a:xfrm>
          <a:prstGeom prst="ellipse">
            <a:avLst/>
          </a:prstGeom>
          <a:solidFill>
            <a:srgbClr val="1E2761"/>
          </a:solidFill>
          <a:ln/>
        </p:spPr>
      </p:sp>
      <p:sp>
        <p:nvSpPr>
          <p:cNvPr id="21" name="Text 19"/>
          <p:cNvSpPr/>
          <p:nvPr/>
        </p:nvSpPr>
        <p:spPr>
          <a:xfrm>
            <a:off x="548640" y="470916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6</a:t>
            </a:r>
            <a:endParaRPr lang="en-US" sz="1400" dirty="0"/>
          </a:p>
        </p:txBody>
      </p:sp>
      <p:sp>
        <p:nvSpPr>
          <p:cNvPr id="22" name="Text 20"/>
          <p:cNvSpPr/>
          <p:nvPr/>
        </p:nvSpPr>
        <p:spPr>
          <a:xfrm>
            <a:off x="1234440" y="466344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What company did Taylor join in 1898, and what did he invent there?</a:t>
            </a:r>
            <a:endParaRPr lang="en-US" sz="1450" dirty="0"/>
          </a:p>
        </p:txBody>
      </p:sp>
      <p:sp>
        <p:nvSpPr>
          <p:cNvPr id="23" name="Shape 21"/>
          <p:cNvSpPr/>
          <p:nvPr/>
        </p:nvSpPr>
        <p:spPr>
          <a:xfrm>
            <a:off x="548640" y="5257800"/>
            <a:ext cx="457200" cy="457200"/>
          </a:xfrm>
          <a:prstGeom prst="ellipse">
            <a:avLst/>
          </a:prstGeom>
          <a:solidFill>
            <a:srgbClr val="1E2761"/>
          </a:solidFill>
          <a:ln/>
        </p:spPr>
      </p:sp>
      <p:sp>
        <p:nvSpPr>
          <p:cNvPr id="24" name="Text 22"/>
          <p:cNvSpPr/>
          <p:nvPr/>
        </p:nvSpPr>
        <p:spPr>
          <a:xfrm>
            <a:off x="548640" y="525780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7</a:t>
            </a:r>
            <a:endParaRPr lang="en-US" sz="1400" dirty="0"/>
          </a:p>
        </p:txBody>
      </p:sp>
      <p:sp>
        <p:nvSpPr>
          <p:cNvPr id="25" name="Text 23"/>
          <p:cNvSpPr/>
          <p:nvPr/>
        </p:nvSpPr>
        <p:spPr>
          <a:xfrm>
            <a:off x="1234440" y="521208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Who developed the famous Gantt chart, and what does it do?</a:t>
            </a:r>
            <a:endParaRPr lang="en-US" sz="1450" dirty="0"/>
          </a:p>
        </p:txBody>
      </p:sp>
      <p:sp>
        <p:nvSpPr>
          <p:cNvPr id="26" name="Shape 24"/>
          <p:cNvSpPr/>
          <p:nvPr/>
        </p:nvSpPr>
        <p:spPr>
          <a:xfrm>
            <a:off x="548640" y="5806440"/>
            <a:ext cx="457200" cy="457200"/>
          </a:xfrm>
          <a:prstGeom prst="ellipse">
            <a:avLst/>
          </a:prstGeom>
          <a:solidFill>
            <a:srgbClr val="1E2761"/>
          </a:solidFill>
          <a:ln/>
        </p:spPr>
      </p:sp>
      <p:sp>
        <p:nvSpPr>
          <p:cNvPr id="27" name="Text 25"/>
          <p:cNvSpPr/>
          <p:nvPr/>
        </p:nvSpPr>
        <p:spPr>
          <a:xfrm>
            <a:off x="548640" y="5806440"/>
            <a:ext cx="457200" cy="457200"/>
          </a:xfrm>
          <a:prstGeom prst="rect">
            <a:avLst/>
          </a:prstGeom>
          <a:noFill/>
          <a:ln/>
        </p:spPr>
        <p:txBody>
          <a:bodyPr wrap="square" lIns="0" tIns="0" rIns="0" bIns="0" rtlCol="0" anchor="ctr"/>
          <a:lstStyle/>
          <a:p>
            <a:pPr algn="ctr" indent="0" marL="0">
              <a:buNone/>
            </a:pPr>
            <a:r>
              <a:rPr lang="en-US" sz="1400" b="1" dirty="0">
                <a:solidFill>
                  <a:srgbClr val="C9A24B"/>
                </a:solidFill>
                <a:latin typeface="Cambria" pitchFamily="34" charset="0"/>
                <a:ea typeface="Cambria" pitchFamily="34" charset="-122"/>
                <a:cs typeface="Cambria" pitchFamily="34" charset="-120"/>
              </a:rPr>
              <a:t>8</a:t>
            </a:r>
            <a:endParaRPr lang="en-US" sz="1400" dirty="0"/>
          </a:p>
        </p:txBody>
      </p:sp>
      <p:sp>
        <p:nvSpPr>
          <p:cNvPr id="28" name="Text 26"/>
          <p:cNvSpPr/>
          <p:nvPr/>
        </p:nvSpPr>
        <p:spPr>
          <a:xfrm>
            <a:off x="1234440" y="5760720"/>
            <a:ext cx="10424160" cy="548640"/>
          </a:xfrm>
          <a:prstGeom prst="rect">
            <a:avLst/>
          </a:prstGeom>
          <a:noFill/>
          <a:ln/>
        </p:spPr>
        <p:txBody>
          <a:bodyPr wrap="square" rtlCol="0" anchor="ctr"/>
          <a:lstStyle/>
          <a:p>
            <a:pPr indent="0" marL="0">
              <a:buNone/>
            </a:pPr>
            <a:r>
              <a:rPr lang="en-US" sz="1450" dirty="0">
                <a:solidFill>
                  <a:srgbClr val="2B2B33"/>
                </a:solidFill>
                <a:latin typeface="Calibri" pitchFamily="34" charset="0"/>
                <a:ea typeface="Calibri" pitchFamily="34" charset="-122"/>
                <a:cs typeface="Calibri" pitchFamily="34" charset="-120"/>
              </a:rPr>
              <a:t>State any three of Fayol's 14 Principles of Management, in your own words.</a:t>
            </a:r>
            <a:endParaRPr lang="en-US" sz="1450" dirty="0"/>
          </a:p>
        </p:txBody>
      </p:sp>
      <p:sp>
        <p:nvSpPr>
          <p:cNvPr id="29" name="Text 2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30" name="Text 2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591556" y="1920240"/>
            <a:ext cx="1005840" cy="100584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5853074" y="2181758"/>
            <a:ext cx="482803" cy="482803"/>
          </a:xfrm>
          <a:prstGeom prst="rect">
            <a:avLst/>
          </a:prstGeom>
        </p:spPr>
      </p:pic>
      <p:sp>
        <p:nvSpPr>
          <p:cNvPr id="4" name="Text 1"/>
          <p:cNvSpPr/>
          <p:nvPr/>
        </p:nvSpPr>
        <p:spPr>
          <a:xfrm>
            <a:off x="548640" y="3200400"/>
            <a:ext cx="11064240" cy="5486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MULTIPLE CHOICE QUIZ</a:t>
            </a:r>
            <a:endParaRPr lang="en-US" sz="2600" dirty="0"/>
          </a:p>
        </p:txBody>
      </p:sp>
      <p:sp>
        <p:nvSpPr>
          <p:cNvPr id="5" name="Text 2"/>
          <p:cNvSpPr/>
          <p:nvPr/>
        </p:nvSpPr>
        <p:spPr>
          <a:xfrm>
            <a:off x="548640" y="3794760"/>
            <a:ext cx="11064240" cy="457200"/>
          </a:xfrm>
          <a:prstGeom prst="rect">
            <a:avLst/>
          </a:prstGeom>
          <a:noFill/>
          <a:ln/>
        </p:spPr>
        <p:txBody>
          <a:bodyPr wrap="square"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8 quick questions — click / press a key on each slide to reveal the correct answer.</a:t>
            </a:r>
            <a:endParaRPr lang="en-US" sz="1500" dirty="0"/>
          </a:p>
        </p:txBody>
      </p:sp>
      <p:sp>
        <p:nvSpPr>
          <p:cNvPr id="6" name="Text 3"/>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MULTIPLE CHOICE QUIZ</a:t>
            </a:r>
            <a:endParaRPr lang="en-US" sz="11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Which of these is NOT one of the functional areas of management named in the chapter?</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Production management</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Marketing management</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Legal management</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Personnel management</a:t>
            </a:r>
            <a:endParaRPr lang="en-US" sz="1500" dirty="0"/>
          </a:p>
        </p:txBody>
      </p:sp>
      <p:sp>
        <p:nvSpPr>
          <p:cNvPr id="22" name="ans_1"/>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1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Legal management</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2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In Fayol's classification of business activities, which group covers 'search for, and making optimum use of, capital'?</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Technical</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Commercial</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Financial</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Security</a:t>
            </a:r>
            <a:endParaRPr lang="en-US" sz="1500" dirty="0"/>
          </a:p>
        </p:txBody>
      </p:sp>
      <p:sp>
        <p:nvSpPr>
          <p:cNvPr id="22" name="ans_2"/>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2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Financial</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3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according to the chapter, represents the view that management is essentially an 'art'?</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Frederick Taylor</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Luther Gullick</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Mary Parker Follet</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Henry Fayol</a:t>
            </a:r>
            <a:endParaRPr lang="en-US" sz="1500" dirty="0"/>
          </a:p>
        </p:txBody>
      </p:sp>
      <p:sp>
        <p:nvSpPr>
          <p:cNvPr id="22" name="ans_3"/>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3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Mary Parker Follet</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4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Which level of management does Peter Drucker describe as mainly 'an organ of review, of appraisal and of appeal'?</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Top management</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Senior middle management</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Junior middle management</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Supervisory management</a:t>
            </a:r>
            <a:endParaRPr lang="en-US" sz="1500" dirty="0"/>
          </a:p>
        </p:txBody>
      </p:sp>
      <p:sp>
        <p:nvSpPr>
          <p:cNvPr id="22" name="ans_4"/>
          <p:cNvSpPr/>
          <p:nvPr/>
        </p:nvSpPr>
        <p:spPr>
          <a:xfrm>
            <a:off x="548640" y="2423160"/>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4_b"/>
          <p:cNvSpPr/>
          <p:nvPr/>
        </p:nvSpPr>
        <p:spPr>
          <a:xfrm>
            <a:off x="777240" y="2638044"/>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2683764"/>
            <a:ext cx="411480" cy="411480"/>
          </a:xfrm>
          <a:prstGeom prst="rect">
            <a:avLst/>
          </a:prstGeom>
        </p:spPr>
      </p:pic>
      <p:sp>
        <p:nvSpPr>
          <p:cNvPr id="25" name="Text 21"/>
          <p:cNvSpPr/>
          <p:nvPr/>
        </p:nvSpPr>
        <p:spPr>
          <a:xfrm>
            <a:off x="1508760" y="2423160"/>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Top management</a:t>
            </a:r>
            <a:endParaRPr lang="en-US" sz="1500" dirty="0"/>
          </a:p>
        </p:txBody>
      </p:sp>
      <p:sp>
        <p:nvSpPr>
          <p:cNvPr id="26" name="Text 22"/>
          <p:cNvSpPr/>
          <p:nvPr/>
        </p:nvSpPr>
        <p:spPr>
          <a:xfrm>
            <a:off x="10332720" y="2423160"/>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5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At which three companies did Frederick Winslow Taylor gain the experience that shaped 'Scientific Management'?</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Midvale Steel, Simonds Rolling Machine, Bethlehem Steel</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Tata Steel, Bethlehem Steel, US Steel</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Ford Motors, General Electric, Midvale Steel</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Bethlehem Steel, Reliance Industries, Simonds Rolling Machine</a:t>
            </a:r>
            <a:endParaRPr lang="en-US" sz="1500" dirty="0"/>
          </a:p>
        </p:txBody>
      </p:sp>
      <p:sp>
        <p:nvSpPr>
          <p:cNvPr id="22" name="ans_5"/>
          <p:cNvSpPr/>
          <p:nvPr/>
        </p:nvSpPr>
        <p:spPr>
          <a:xfrm>
            <a:off x="548640" y="2423160"/>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5_b"/>
          <p:cNvSpPr/>
          <p:nvPr/>
        </p:nvSpPr>
        <p:spPr>
          <a:xfrm>
            <a:off x="777240" y="2638044"/>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2683764"/>
            <a:ext cx="411480" cy="411480"/>
          </a:xfrm>
          <a:prstGeom prst="rect">
            <a:avLst/>
          </a:prstGeom>
        </p:spPr>
      </p:pic>
      <p:sp>
        <p:nvSpPr>
          <p:cNvPr id="25" name="Text 21"/>
          <p:cNvSpPr/>
          <p:nvPr/>
        </p:nvSpPr>
        <p:spPr>
          <a:xfrm>
            <a:off x="1508760" y="2423160"/>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Midvale Steel, Simonds Rolling Machine, Bethlehem Steel</a:t>
            </a:r>
            <a:endParaRPr lang="en-US" sz="1500" dirty="0"/>
          </a:p>
        </p:txBody>
      </p:sp>
      <p:sp>
        <p:nvSpPr>
          <p:cNvPr id="26" name="Text 22"/>
          <p:cNvSpPr/>
          <p:nvPr/>
        </p:nvSpPr>
        <p:spPr>
          <a:xfrm>
            <a:off x="10332720" y="2423160"/>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6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developed the famous 'Gantt chart' for control and scheduling of work?</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Frank Gilbreth</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H. Emerson</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Harry L. Gantt</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Henry Fayol</a:t>
            </a:r>
            <a:endParaRPr lang="en-US" sz="1500" dirty="0"/>
          </a:p>
        </p:txBody>
      </p:sp>
      <p:sp>
        <p:nvSpPr>
          <p:cNvPr id="22" name="ans_6"/>
          <p:cNvSpPr/>
          <p:nvPr/>
        </p:nvSpPr>
        <p:spPr>
          <a:xfrm>
            <a:off x="548640" y="4581144"/>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6_b"/>
          <p:cNvSpPr/>
          <p:nvPr/>
        </p:nvSpPr>
        <p:spPr>
          <a:xfrm>
            <a:off x="777240" y="4796028"/>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841748"/>
            <a:ext cx="411480" cy="411480"/>
          </a:xfrm>
          <a:prstGeom prst="rect">
            <a:avLst/>
          </a:prstGeom>
        </p:spPr>
      </p:pic>
      <p:sp>
        <p:nvSpPr>
          <p:cNvPr id="25" name="Text 21"/>
          <p:cNvSpPr/>
          <p:nvPr/>
        </p:nvSpPr>
        <p:spPr>
          <a:xfrm>
            <a:off x="1508760" y="4581144"/>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Harry L. Gantt</a:t>
            </a:r>
            <a:endParaRPr lang="en-US" sz="1500" dirty="0"/>
          </a:p>
        </p:txBody>
      </p:sp>
      <p:sp>
        <p:nvSpPr>
          <p:cNvPr id="26" name="Text 22"/>
          <p:cNvSpPr/>
          <p:nvPr/>
        </p:nvSpPr>
        <p:spPr>
          <a:xfrm>
            <a:off x="10332720" y="4581144"/>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7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In Fayol's Scalar Chain example, what does he call direct contact between two officials at the same level?</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Unity of command</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Gang plank</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Esprit de corps</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Scalar bridge</a:t>
            </a:r>
            <a:endParaRPr lang="en-US" sz="1500" dirty="0"/>
          </a:p>
        </p:txBody>
      </p:sp>
      <p:sp>
        <p:nvSpPr>
          <p:cNvPr id="22" name="ans_7"/>
          <p:cNvSpPr/>
          <p:nvPr/>
        </p:nvSpPr>
        <p:spPr>
          <a:xfrm>
            <a:off x="548640" y="3502152"/>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7_b"/>
          <p:cNvSpPr/>
          <p:nvPr/>
        </p:nvSpPr>
        <p:spPr>
          <a:xfrm>
            <a:off x="777240" y="3717036"/>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762756"/>
            <a:ext cx="411480" cy="411480"/>
          </a:xfrm>
          <a:prstGeom prst="rect">
            <a:avLst/>
          </a:prstGeom>
        </p:spPr>
      </p:pic>
      <p:sp>
        <p:nvSpPr>
          <p:cNvPr id="25" name="Text 21"/>
          <p:cNvSpPr/>
          <p:nvPr/>
        </p:nvSpPr>
        <p:spPr>
          <a:xfrm>
            <a:off x="1508760" y="3502152"/>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Gang plank</a:t>
            </a:r>
            <a:endParaRPr lang="en-US" sz="1500" dirty="0"/>
          </a:p>
        </p:txBody>
      </p:sp>
      <p:sp>
        <p:nvSpPr>
          <p:cNvPr id="26" name="Text 22"/>
          <p:cNvSpPr/>
          <p:nvPr/>
        </p:nvSpPr>
        <p:spPr>
          <a:xfrm>
            <a:off x="10332720" y="3502152"/>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8 OF 8</a:t>
            </a:r>
            <a:endParaRPr lang="en-US" sz="1300" dirty="0"/>
          </a:p>
        </p:txBody>
      </p:sp>
      <p:sp>
        <p:nvSpPr>
          <p:cNvPr id="5" name="Text 2"/>
          <p:cNvSpPr/>
          <p:nvPr/>
        </p:nvSpPr>
        <p:spPr>
          <a:xfrm>
            <a:off x="548640" y="1143000"/>
            <a:ext cx="11064240" cy="1051560"/>
          </a:xfrm>
          <a:prstGeom prst="rect">
            <a:avLst/>
          </a:prstGeom>
          <a:noFill/>
          <a:ln/>
        </p:spPr>
        <p:txBody>
          <a:bodyPr wrap="square"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How many General Principles of Management did Henry Fayol propose in all?</a:t>
            </a:r>
            <a:endParaRPr lang="en-US" sz="2100" dirty="0"/>
          </a:p>
        </p:txBody>
      </p:sp>
      <p:sp>
        <p:nvSpPr>
          <p:cNvPr id="6" name="Shape 3"/>
          <p:cNvSpPr/>
          <p:nvPr/>
        </p:nvSpPr>
        <p:spPr>
          <a:xfrm>
            <a:off x="548640" y="2423160"/>
            <a:ext cx="11064240" cy="932688"/>
          </a:xfrm>
          <a:prstGeom prst="roundRect">
            <a:avLst>
              <a:gd name="adj" fmla="val 7843"/>
            </a:avLst>
          </a:prstGeom>
          <a:solidFill>
            <a:srgbClr val="1E2761"/>
          </a:solidFill>
          <a:ln/>
        </p:spPr>
      </p:sp>
      <p:sp>
        <p:nvSpPr>
          <p:cNvPr id="7" name="Shape 4"/>
          <p:cNvSpPr/>
          <p:nvPr/>
        </p:nvSpPr>
        <p:spPr>
          <a:xfrm>
            <a:off x="777240" y="2638044"/>
            <a:ext cx="502920" cy="502920"/>
          </a:xfrm>
          <a:prstGeom prst="ellipse">
            <a:avLst/>
          </a:prstGeom>
          <a:solidFill>
            <a:srgbClr val="C9A24B"/>
          </a:solidFill>
          <a:ln/>
        </p:spPr>
      </p:sp>
      <p:sp>
        <p:nvSpPr>
          <p:cNvPr id="8" name="Text 5"/>
          <p:cNvSpPr/>
          <p:nvPr/>
        </p:nvSpPr>
        <p:spPr>
          <a:xfrm>
            <a:off x="777240" y="2638044"/>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423160"/>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5</a:t>
            </a:r>
            <a:endParaRPr lang="en-US" sz="1500" dirty="0"/>
          </a:p>
        </p:txBody>
      </p:sp>
      <p:sp>
        <p:nvSpPr>
          <p:cNvPr id="10" name="Shape 7"/>
          <p:cNvSpPr/>
          <p:nvPr/>
        </p:nvSpPr>
        <p:spPr>
          <a:xfrm>
            <a:off x="548640" y="3502152"/>
            <a:ext cx="11064240" cy="932688"/>
          </a:xfrm>
          <a:prstGeom prst="roundRect">
            <a:avLst>
              <a:gd name="adj" fmla="val 7843"/>
            </a:avLst>
          </a:prstGeom>
          <a:solidFill>
            <a:srgbClr val="1E2761"/>
          </a:solidFill>
          <a:ln/>
        </p:spPr>
      </p:sp>
      <p:sp>
        <p:nvSpPr>
          <p:cNvPr id="11" name="Shape 8"/>
          <p:cNvSpPr/>
          <p:nvPr/>
        </p:nvSpPr>
        <p:spPr>
          <a:xfrm>
            <a:off x="777240" y="3717036"/>
            <a:ext cx="502920" cy="502920"/>
          </a:xfrm>
          <a:prstGeom prst="ellipse">
            <a:avLst/>
          </a:prstGeom>
          <a:solidFill>
            <a:srgbClr val="C9A24B"/>
          </a:solidFill>
          <a:ln/>
        </p:spPr>
      </p:sp>
      <p:sp>
        <p:nvSpPr>
          <p:cNvPr id="12" name="Text 9"/>
          <p:cNvSpPr/>
          <p:nvPr/>
        </p:nvSpPr>
        <p:spPr>
          <a:xfrm>
            <a:off x="777240" y="3717036"/>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502152"/>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6</a:t>
            </a:r>
            <a:endParaRPr lang="en-US" sz="1500" dirty="0"/>
          </a:p>
        </p:txBody>
      </p:sp>
      <p:sp>
        <p:nvSpPr>
          <p:cNvPr id="14" name="Shape 11"/>
          <p:cNvSpPr/>
          <p:nvPr/>
        </p:nvSpPr>
        <p:spPr>
          <a:xfrm>
            <a:off x="548640" y="4581144"/>
            <a:ext cx="11064240" cy="932688"/>
          </a:xfrm>
          <a:prstGeom prst="roundRect">
            <a:avLst>
              <a:gd name="adj" fmla="val 7843"/>
            </a:avLst>
          </a:prstGeom>
          <a:solidFill>
            <a:srgbClr val="1E2761"/>
          </a:solidFill>
          <a:ln/>
        </p:spPr>
      </p:sp>
      <p:sp>
        <p:nvSpPr>
          <p:cNvPr id="15" name="Shape 12"/>
          <p:cNvSpPr/>
          <p:nvPr/>
        </p:nvSpPr>
        <p:spPr>
          <a:xfrm>
            <a:off x="777240" y="4796028"/>
            <a:ext cx="502920" cy="502920"/>
          </a:xfrm>
          <a:prstGeom prst="ellipse">
            <a:avLst/>
          </a:prstGeom>
          <a:solidFill>
            <a:srgbClr val="C9A24B"/>
          </a:solidFill>
          <a:ln/>
        </p:spPr>
      </p:sp>
      <p:sp>
        <p:nvSpPr>
          <p:cNvPr id="16" name="Text 13"/>
          <p:cNvSpPr/>
          <p:nvPr/>
        </p:nvSpPr>
        <p:spPr>
          <a:xfrm>
            <a:off x="777240" y="4796028"/>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581144"/>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12</a:t>
            </a:r>
            <a:endParaRPr lang="en-US" sz="1500" dirty="0"/>
          </a:p>
        </p:txBody>
      </p:sp>
      <p:sp>
        <p:nvSpPr>
          <p:cNvPr id="18" name="Shape 15"/>
          <p:cNvSpPr/>
          <p:nvPr/>
        </p:nvSpPr>
        <p:spPr>
          <a:xfrm>
            <a:off x="548640" y="5660136"/>
            <a:ext cx="11064240" cy="932688"/>
          </a:xfrm>
          <a:prstGeom prst="roundRect">
            <a:avLst>
              <a:gd name="adj" fmla="val 7843"/>
            </a:avLst>
          </a:prstGeom>
          <a:solidFill>
            <a:srgbClr val="1E2761"/>
          </a:solidFill>
          <a:ln/>
        </p:spPr>
      </p:sp>
      <p:sp>
        <p:nvSpPr>
          <p:cNvPr id="19" name="Shape 16"/>
          <p:cNvSpPr/>
          <p:nvPr/>
        </p:nvSpPr>
        <p:spPr>
          <a:xfrm>
            <a:off x="777240" y="5875020"/>
            <a:ext cx="502920" cy="502920"/>
          </a:xfrm>
          <a:prstGeom prst="ellipse">
            <a:avLst/>
          </a:prstGeom>
          <a:solidFill>
            <a:srgbClr val="C9A24B"/>
          </a:solidFill>
          <a:ln/>
        </p:spPr>
      </p:sp>
      <p:sp>
        <p:nvSpPr>
          <p:cNvPr id="20" name="Text 17"/>
          <p:cNvSpPr/>
          <p:nvPr/>
        </p:nvSpPr>
        <p:spPr>
          <a:xfrm>
            <a:off x="777240" y="5875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660136"/>
            <a:ext cx="9875520" cy="932688"/>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14</a:t>
            </a:r>
            <a:endParaRPr lang="en-US" sz="1500" dirty="0"/>
          </a:p>
        </p:txBody>
      </p:sp>
      <p:sp>
        <p:nvSpPr>
          <p:cNvPr id="22" name="ans_8"/>
          <p:cNvSpPr/>
          <p:nvPr/>
        </p:nvSpPr>
        <p:spPr>
          <a:xfrm>
            <a:off x="548640" y="5660136"/>
            <a:ext cx="11064240" cy="932688"/>
          </a:xfrm>
          <a:prstGeom prst="roundRect">
            <a:avLst>
              <a:gd name="adj" fmla="val 7843"/>
            </a:avLst>
          </a:prstGeom>
          <a:solidFill>
            <a:srgbClr val="2E7D46">
              <a:alpha val="92000"/>
            </a:srgbClr>
          </a:solidFill>
          <a:ln w="25400">
            <a:solidFill>
              <a:srgbClr val="FFFFFF"/>
            </a:solidFill>
            <a:prstDash val="solid"/>
          </a:ln>
        </p:spPr>
      </p:sp>
      <p:sp>
        <p:nvSpPr>
          <p:cNvPr id="23" name="ans_8_b"/>
          <p:cNvSpPr/>
          <p:nvPr/>
        </p:nvSpPr>
        <p:spPr>
          <a:xfrm>
            <a:off x="777240" y="5875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5920740"/>
            <a:ext cx="411480" cy="411480"/>
          </a:xfrm>
          <a:prstGeom prst="rect">
            <a:avLst/>
          </a:prstGeom>
        </p:spPr>
      </p:pic>
      <p:sp>
        <p:nvSpPr>
          <p:cNvPr id="25" name="Text 21"/>
          <p:cNvSpPr/>
          <p:nvPr/>
        </p:nvSpPr>
        <p:spPr>
          <a:xfrm>
            <a:off x="1508760" y="5660136"/>
            <a:ext cx="8778240" cy="93268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26" name="Text 22"/>
          <p:cNvSpPr/>
          <p:nvPr/>
        </p:nvSpPr>
        <p:spPr>
          <a:xfrm>
            <a:off x="10332720" y="5660136"/>
            <a:ext cx="1280160" cy="9326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100584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Recap of Today's Lecture</a:t>
            </a:r>
            <a:endParaRPr lang="en-US" sz="3200" dirty="0"/>
          </a:p>
        </p:txBody>
      </p:sp>
      <p:sp>
        <p:nvSpPr>
          <p:cNvPr id="5" name="Text 3"/>
          <p:cNvSpPr/>
          <p:nvPr/>
        </p:nvSpPr>
        <p:spPr>
          <a:xfrm>
            <a:off x="822960" y="196596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Functions: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Six functions of management (Planning, Organization, Staffing, Coordination, Control) map onto four functional areas: Production, Marketing, Finance and Personnel.</a:t>
            </a:r>
            <a:endParaRPr lang="en-US" sz="1500" dirty="0"/>
          </a:p>
        </p:txBody>
      </p:sp>
      <p:sp>
        <p:nvSpPr>
          <p:cNvPr id="6" name="Text 4"/>
          <p:cNvSpPr/>
          <p:nvPr/>
        </p:nvSpPr>
        <p:spPr>
          <a:xfrm>
            <a:off x="822960" y="306324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Science or Art: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Management is defensibly both — a science through its tested principles, and an art through the skillful judgment needed to apply them.</a:t>
            </a:r>
            <a:endParaRPr lang="en-US" sz="1500" dirty="0"/>
          </a:p>
        </p:txBody>
      </p:sp>
      <p:sp>
        <p:nvSpPr>
          <p:cNvPr id="7" name="Text 5"/>
          <p:cNvSpPr/>
          <p:nvPr/>
        </p:nvSpPr>
        <p:spPr>
          <a:xfrm>
            <a:off x="822960" y="416052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Levels: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Top, Middle (Senior/Junior) and Supervisory Management form the hierarchy that turns long-range plans into daily action.</a:t>
            </a:r>
            <a:endParaRPr lang="en-US" sz="1500" dirty="0"/>
          </a:p>
        </p:txBody>
      </p:sp>
      <p:sp>
        <p:nvSpPr>
          <p:cNvPr id="8" name="Text 6"/>
          <p:cNvSpPr/>
          <p:nvPr/>
        </p:nvSpPr>
        <p:spPr>
          <a:xfrm>
            <a:off x="822960" y="5257800"/>
            <a:ext cx="10515600" cy="960120"/>
          </a:xfrm>
          <a:prstGeom prst="rect">
            <a:avLst/>
          </a:prstGeom>
          <a:noFill/>
          <a:ln/>
        </p:spPr>
        <p:txBody>
          <a:bodyPr wrap="square" rtlCol="0" anchor="t"/>
          <a:lstStyle/>
          <a:p>
            <a:pPr indent="0" marL="0">
              <a:lnSpc>
                <a:spcPct val="110000"/>
              </a:lnSpc>
              <a:buNone/>
            </a:pPr>
            <a:r>
              <a:rPr lang="en-US" sz="1500" b="1" dirty="0">
                <a:solidFill>
                  <a:srgbClr val="C9A24B"/>
                </a:solidFill>
                <a:latin typeface="Calibri" pitchFamily="34" charset="0"/>
                <a:ea typeface="Calibri" pitchFamily="34" charset="-122"/>
                <a:cs typeface="Calibri" pitchFamily="34" charset="-120"/>
              </a:rPr>
              <a:t>Taylor &amp; Fayol: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Taylor's five principles perfected the shop floor; Fayol's fourteen principles built a general theory for administering any organization.</a:t>
            </a:r>
            <a:endParaRPr lang="en-US" sz="1500" dirty="0"/>
          </a:p>
        </p:txBody>
      </p:sp>
      <p:sp>
        <p:nvSpPr>
          <p:cNvPr id="9" name="Text 7"/>
          <p:cNvSpPr/>
          <p:nvPr/>
        </p:nvSpPr>
        <p:spPr>
          <a:xfrm>
            <a:off x="457200" y="6473952"/>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 - Part II</dc:title>
  <dc:subject>PptxGenJS Presentation</dc:subject>
  <dc:creator>Dr. Rajakrishnan Manivel</dc:creator>
  <cp:lastModifiedBy>Dr. Rajakrishnan Manivel</cp:lastModifiedBy>
  <cp:revision>1</cp:revision>
  <dcterms:created xsi:type="dcterms:W3CDTF">2026-07-14T22:24:23Z</dcterms:created>
  <dcterms:modified xsi:type="dcterms:W3CDTF">2026-07-14T22:24:23Z</dcterms:modified>
</cp:coreProperties>
</file>