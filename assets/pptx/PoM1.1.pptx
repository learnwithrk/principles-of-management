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417320"/>
            <a:ext cx="54864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UNIT 1</a:t>
            </a:r>
            <a:endParaRPr lang="en-US" sz="1500" dirty="0"/>
          </a:p>
        </p:txBody>
      </p:sp>
      <p:sp>
        <p:nvSpPr>
          <p:cNvPr id="5" name="Text 3"/>
          <p:cNvSpPr/>
          <p:nvPr/>
        </p:nvSpPr>
        <p:spPr>
          <a:xfrm>
            <a:off x="822960" y="1783080"/>
            <a:ext cx="96012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Principles of Management</a:t>
            </a:r>
            <a:endParaRPr lang="en-US" sz="4600" dirty="0"/>
          </a:p>
        </p:txBody>
      </p:sp>
      <p:sp>
        <p:nvSpPr>
          <p:cNvPr id="6" name="Text 4"/>
          <p:cNvSpPr/>
          <p:nvPr/>
        </p:nvSpPr>
        <p:spPr>
          <a:xfrm>
            <a:off x="822960" y="2788920"/>
            <a:ext cx="9144000" cy="502920"/>
          </a:xfrm>
          <a:prstGeom prst="rect">
            <a:avLst/>
          </a:prstGeom>
          <a:noFill/>
          <a:ln/>
        </p:spPr>
        <p:txBody>
          <a:bodyPr wrap="square"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Meaning • Nature • Importance • Administration vs. Management</a:t>
            </a:r>
            <a:endParaRPr lang="en-US" sz="1900" dirty="0"/>
          </a:p>
        </p:txBody>
      </p:sp>
      <p:sp>
        <p:nvSpPr>
          <p:cNvPr id="7" name="Shape 5"/>
          <p:cNvSpPr/>
          <p:nvPr/>
        </p:nvSpPr>
        <p:spPr>
          <a:xfrm>
            <a:off x="868680" y="3429000"/>
            <a:ext cx="2011680" cy="0"/>
          </a:xfrm>
          <a:prstGeom prst="line">
            <a:avLst/>
          </a:prstGeom>
          <a:noFill/>
          <a:ln w="25400">
            <a:solidFill>
              <a:srgbClr val="C9A24B"/>
            </a:solidFill>
            <a:prstDash val="solid"/>
          </a:ln>
        </p:spPr>
      </p:sp>
      <p:sp>
        <p:nvSpPr>
          <p:cNvPr id="8" name="Text 6"/>
          <p:cNvSpPr/>
          <p:nvPr/>
        </p:nvSpPr>
        <p:spPr>
          <a:xfrm>
            <a:off x="822960" y="580644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LECTURE ROADMAP</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 Will Cover Today</a:t>
            </a:r>
            <a:endParaRPr lang="en-US" sz="3000" dirty="0"/>
          </a:p>
        </p:txBody>
      </p:sp>
      <p:sp>
        <p:nvSpPr>
          <p:cNvPr id="4" name="Shape 2"/>
          <p:cNvSpPr/>
          <p:nvPr/>
        </p:nvSpPr>
        <p:spPr>
          <a:xfrm>
            <a:off x="548640" y="1691640"/>
            <a:ext cx="11064240" cy="1051560"/>
          </a:xfrm>
          <a:prstGeom prst="roundRect">
            <a:avLst>
              <a:gd name="adj" fmla="val 6957"/>
            </a:avLst>
          </a:prstGeom>
          <a:solidFill>
            <a:srgbClr val="EEF3FC"/>
          </a:solidFill>
          <a:ln/>
          <a:effectLst>
            <a:outerShdw sx="100000" sy="100000" kx="0" ky="0" algn="bl" rotWithShape="0" blurRad="101600" dist="25400" dir="5400000">
              <a:srgbClr val="1E2761">
                <a:alpha val="8000"/>
              </a:srgbClr>
            </a:outerShdw>
          </a:effectLst>
        </p:spPr>
      </p:sp>
      <p:sp>
        <p:nvSpPr>
          <p:cNvPr id="5" name="Shape 3"/>
          <p:cNvSpPr/>
          <p:nvPr/>
        </p:nvSpPr>
        <p:spPr>
          <a:xfrm>
            <a:off x="822960" y="1911096"/>
            <a:ext cx="621792" cy="62179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84626" y="2072762"/>
            <a:ext cx="298460" cy="298460"/>
          </a:xfrm>
          <a:prstGeom prst="rect">
            <a:avLst/>
          </a:prstGeom>
        </p:spPr>
      </p:pic>
      <p:sp>
        <p:nvSpPr>
          <p:cNvPr id="7" name="Text 4"/>
          <p:cNvSpPr/>
          <p:nvPr/>
        </p:nvSpPr>
        <p:spPr>
          <a:xfrm>
            <a:off x="1737360" y="1819656"/>
            <a:ext cx="914400" cy="36576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1.2</a:t>
            </a:r>
            <a:endParaRPr lang="en-US" sz="1600" dirty="0"/>
          </a:p>
        </p:txBody>
      </p:sp>
      <p:sp>
        <p:nvSpPr>
          <p:cNvPr id="8" name="Text 5"/>
          <p:cNvSpPr/>
          <p:nvPr/>
        </p:nvSpPr>
        <p:spPr>
          <a:xfrm>
            <a:off x="2606040" y="1783080"/>
            <a:ext cx="8778240" cy="384048"/>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Meaning of Management</a:t>
            </a:r>
            <a:endParaRPr lang="en-US" sz="1800" dirty="0"/>
          </a:p>
        </p:txBody>
      </p:sp>
      <p:sp>
        <p:nvSpPr>
          <p:cNvPr id="9" name="Text 6"/>
          <p:cNvSpPr/>
          <p:nvPr/>
        </p:nvSpPr>
        <p:spPr>
          <a:xfrm>
            <a:off x="2606040" y="2194560"/>
            <a:ext cx="877824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Definitions by leading thinkers &amp; a working summary</a:t>
            </a:r>
            <a:endParaRPr lang="en-US" sz="1300" dirty="0"/>
          </a:p>
        </p:txBody>
      </p:sp>
      <p:sp>
        <p:nvSpPr>
          <p:cNvPr id="10" name="Shape 7"/>
          <p:cNvSpPr/>
          <p:nvPr/>
        </p:nvSpPr>
        <p:spPr>
          <a:xfrm>
            <a:off x="548640" y="2898648"/>
            <a:ext cx="11064240" cy="1051560"/>
          </a:xfrm>
          <a:prstGeom prst="roundRect">
            <a:avLst>
              <a:gd name="adj" fmla="val 6957"/>
            </a:avLst>
          </a:prstGeom>
          <a:solidFill>
            <a:srgbClr val="EEF3FC"/>
          </a:solidFill>
          <a:ln/>
          <a:effectLst>
            <a:outerShdw sx="100000" sy="100000" kx="0" ky="0" algn="bl" rotWithShape="0" blurRad="101600" dist="25400" dir="5400000">
              <a:srgbClr val="1E2761">
                <a:alpha val="8000"/>
              </a:srgbClr>
            </a:outerShdw>
          </a:effectLst>
        </p:spPr>
      </p:sp>
      <p:sp>
        <p:nvSpPr>
          <p:cNvPr id="11" name="Shape 8"/>
          <p:cNvSpPr/>
          <p:nvPr/>
        </p:nvSpPr>
        <p:spPr>
          <a:xfrm>
            <a:off x="822960" y="3118104"/>
            <a:ext cx="621792" cy="62179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984626" y="3279770"/>
            <a:ext cx="298460" cy="298460"/>
          </a:xfrm>
          <a:prstGeom prst="rect">
            <a:avLst/>
          </a:prstGeom>
        </p:spPr>
      </p:pic>
      <p:sp>
        <p:nvSpPr>
          <p:cNvPr id="13" name="Text 9"/>
          <p:cNvSpPr/>
          <p:nvPr/>
        </p:nvSpPr>
        <p:spPr>
          <a:xfrm>
            <a:off x="1737360" y="3026664"/>
            <a:ext cx="914400" cy="36576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1.9</a:t>
            </a:r>
            <a:endParaRPr lang="en-US" sz="1600" dirty="0"/>
          </a:p>
        </p:txBody>
      </p:sp>
      <p:sp>
        <p:nvSpPr>
          <p:cNvPr id="14" name="Text 10"/>
          <p:cNvSpPr/>
          <p:nvPr/>
        </p:nvSpPr>
        <p:spPr>
          <a:xfrm>
            <a:off x="2606040" y="2990088"/>
            <a:ext cx="8778240" cy="384048"/>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Nature / Characteristics of Management</a:t>
            </a:r>
            <a:endParaRPr lang="en-US" sz="1800" dirty="0"/>
          </a:p>
        </p:txBody>
      </p:sp>
      <p:sp>
        <p:nvSpPr>
          <p:cNvPr id="15" name="Text 11"/>
          <p:cNvSpPr/>
          <p:nvPr/>
        </p:nvSpPr>
        <p:spPr>
          <a:xfrm>
            <a:off x="2606040" y="3401568"/>
            <a:ext cx="877824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Seven defining features of management as a discipline</a:t>
            </a:r>
            <a:endParaRPr lang="en-US" sz="1300" dirty="0"/>
          </a:p>
        </p:txBody>
      </p:sp>
      <p:sp>
        <p:nvSpPr>
          <p:cNvPr id="16" name="Shape 12"/>
          <p:cNvSpPr/>
          <p:nvPr/>
        </p:nvSpPr>
        <p:spPr>
          <a:xfrm>
            <a:off x="548640" y="4105656"/>
            <a:ext cx="11064240" cy="1051560"/>
          </a:xfrm>
          <a:prstGeom prst="roundRect">
            <a:avLst>
              <a:gd name="adj" fmla="val 6957"/>
            </a:avLst>
          </a:prstGeom>
          <a:solidFill>
            <a:srgbClr val="EEF3FC"/>
          </a:solidFill>
          <a:ln/>
          <a:effectLst>
            <a:outerShdw sx="100000" sy="100000" kx="0" ky="0" algn="bl" rotWithShape="0" blurRad="101600" dist="25400" dir="5400000">
              <a:srgbClr val="1E2761">
                <a:alpha val="8000"/>
              </a:srgbClr>
            </a:outerShdw>
          </a:effectLst>
        </p:spPr>
      </p:sp>
      <p:sp>
        <p:nvSpPr>
          <p:cNvPr id="17" name="Shape 13"/>
          <p:cNvSpPr/>
          <p:nvPr/>
        </p:nvSpPr>
        <p:spPr>
          <a:xfrm>
            <a:off x="822960" y="4325112"/>
            <a:ext cx="621792" cy="62179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84626" y="4486778"/>
            <a:ext cx="298460" cy="298460"/>
          </a:xfrm>
          <a:prstGeom prst="rect">
            <a:avLst/>
          </a:prstGeom>
        </p:spPr>
      </p:pic>
      <p:sp>
        <p:nvSpPr>
          <p:cNvPr id="19" name="Text 14"/>
          <p:cNvSpPr/>
          <p:nvPr/>
        </p:nvSpPr>
        <p:spPr>
          <a:xfrm>
            <a:off x="1737360" y="4233672"/>
            <a:ext cx="914400" cy="36576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1.16</a:t>
            </a:r>
            <a:endParaRPr lang="en-US" sz="1600" dirty="0"/>
          </a:p>
        </p:txBody>
      </p:sp>
      <p:sp>
        <p:nvSpPr>
          <p:cNvPr id="20" name="Text 15"/>
          <p:cNvSpPr/>
          <p:nvPr/>
        </p:nvSpPr>
        <p:spPr>
          <a:xfrm>
            <a:off x="2606040" y="4197096"/>
            <a:ext cx="8778240" cy="384048"/>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Importance of Management</a:t>
            </a:r>
            <a:endParaRPr lang="en-US" sz="1800" dirty="0"/>
          </a:p>
        </p:txBody>
      </p:sp>
      <p:sp>
        <p:nvSpPr>
          <p:cNvPr id="21" name="Text 16"/>
          <p:cNvSpPr/>
          <p:nvPr/>
        </p:nvSpPr>
        <p:spPr>
          <a:xfrm>
            <a:off x="2606040" y="4608576"/>
            <a:ext cx="877824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Why management matters to every organization</a:t>
            </a:r>
            <a:endParaRPr lang="en-US" sz="1300" dirty="0"/>
          </a:p>
        </p:txBody>
      </p:sp>
      <p:sp>
        <p:nvSpPr>
          <p:cNvPr id="22" name="Shape 17"/>
          <p:cNvSpPr/>
          <p:nvPr/>
        </p:nvSpPr>
        <p:spPr>
          <a:xfrm>
            <a:off x="548640" y="5312664"/>
            <a:ext cx="11064240" cy="1051560"/>
          </a:xfrm>
          <a:prstGeom prst="roundRect">
            <a:avLst>
              <a:gd name="adj" fmla="val 6957"/>
            </a:avLst>
          </a:prstGeom>
          <a:solidFill>
            <a:srgbClr val="EEF3FC"/>
          </a:solidFill>
          <a:ln/>
          <a:effectLst>
            <a:outerShdw sx="100000" sy="100000" kx="0" ky="0" algn="bl" rotWithShape="0" blurRad="101600" dist="25400" dir="5400000">
              <a:srgbClr val="1E2761">
                <a:alpha val="8000"/>
              </a:srgbClr>
            </a:outerShdw>
          </a:effectLst>
        </p:spPr>
      </p:sp>
      <p:sp>
        <p:nvSpPr>
          <p:cNvPr id="23" name="Shape 18"/>
          <p:cNvSpPr/>
          <p:nvPr/>
        </p:nvSpPr>
        <p:spPr>
          <a:xfrm>
            <a:off x="822960" y="5532120"/>
            <a:ext cx="621792" cy="621792"/>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984626" y="5693786"/>
            <a:ext cx="298460" cy="298460"/>
          </a:xfrm>
          <a:prstGeom prst="rect">
            <a:avLst/>
          </a:prstGeom>
        </p:spPr>
      </p:pic>
      <p:sp>
        <p:nvSpPr>
          <p:cNvPr id="25" name="Text 19"/>
          <p:cNvSpPr/>
          <p:nvPr/>
        </p:nvSpPr>
        <p:spPr>
          <a:xfrm>
            <a:off x="1737360" y="5440680"/>
            <a:ext cx="914400" cy="36576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1.17</a:t>
            </a:r>
            <a:endParaRPr lang="en-US" sz="1600" dirty="0"/>
          </a:p>
        </p:txBody>
      </p:sp>
      <p:sp>
        <p:nvSpPr>
          <p:cNvPr id="26" name="Text 20"/>
          <p:cNvSpPr/>
          <p:nvPr/>
        </p:nvSpPr>
        <p:spPr>
          <a:xfrm>
            <a:off x="2606040" y="5404104"/>
            <a:ext cx="8778240" cy="384048"/>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Administration vs. Management</a:t>
            </a:r>
            <a:endParaRPr lang="en-US" sz="1800" dirty="0"/>
          </a:p>
        </p:txBody>
      </p:sp>
      <p:sp>
        <p:nvSpPr>
          <p:cNvPr id="27" name="Text 21"/>
          <p:cNvSpPr/>
          <p:nvPr/>
        </p:nvSpPr>
        <p:spPr>
          <a:xfrm>
            <a:off x="2606040" y="5815584"/>
            <a:ext cx="877824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Two viewpoints on how the terms relate</a:t>
            </a:r>
            <a:endParaRPr lang="en-US" sz="1300" dirty="0"/>
          </a:p>
        </p:txBody>
      </p:sp>
      <p:sp>
        <p:nvSpPr>
          <p:cNvPr id="28" name="Text 22"/>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PRINCIPLES OF MANAGEMENT</a:t>
            </a:r>
            <a:endParaRPr lang="en-US" sz="1000" dirty="0"/>
          </a:p>
        </p:txBody>
      </p:sp>
      <p:sp>
        <p:nvSpPr>
          <p:cNvPr id="29" name="Text 23"/>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1.2. MEANING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 Various Definitions of “Management”</a:t>
            </a:r>
            <a:endParaRPr lang="en-US" sz="3000" dirty="0"/>
          </a:p>
        </p:txBody>
      </p:sp>
      <p:sp>
        <p:nvSpPr>
          <p:cNvPr id="4" name="Shape 2"/>
          <p:cNvSpPr/>
          <p:nvPr/>
        </p:nvSpPr>
        <p:spPr>
          <a:xfrm>
            <a:off x="548640" y="1691640"/>
            <a:ext cx="7040880" cy="4206240"/>
          </a:xfrm>
          <a:prstGeom prst="roundRect">
            <a:avLst>
              <a:gd name="adj" fmla="val 2174"/>
            </a:avLst>
          </a:prstGeom>
          <a:solidFill>
            <a:srgbClr val="EEF3FC"/>
          </a:solidFill>
          <a:ln/>
        </p:spPr>
      </p:sp>
      <p:sp>
        <p:nvSpPr>
          <p:cNvPr id="5" name="Text 3"/>
          <p:cNvSpPr/>
          <p:nvPr/>
        </p:nvSpPr>
        <p:spPr>
          <a:xfrm>
            <a:off x="868680" y="1965960"/>
            <a:ext cx="6400800" cy="3749040"/>
          </a:xfrm>
          <a:prstGeom prst="rect">
            <a:avLst/>
          </a:prstGeom>
          <a:noFill/>
          <a:ln/>
        </p:spPr>
        <p:txBody>
          <a:bodyPr wrap="square" rtlCol="0" anchor="t"/>
          <a:lstStyle/>
          <a:p>
            <a:pPr indent="0" marL="0">
              <a:spcAft>
                <a:spcPts val="1400"/>
              </a:spcAft>
              <a:buNone/>
            </a:pPr>
            <a:r>
              <a:rPr lang="en-US" sz="1600" dirty="0">
                <a:solidFill>
                  <a:srgbClr val="2B2B33"/>
                </a:solidFill>
                <a:latin typeface="Calibri" pitchFamily="34" charset="0"/>
                <a:ea typeface="Calibri" pitchFamily="34" charset="-122"/>
                <a:cs typeface="Calibri" pitchFamily="34" charset="-120"/>
              </a:rPr>
              <a:t>“Management” carries different meanings depending on the context in which it is used.</a:t>
            </a:r>
            <a:endParaRPr lang="en-US" sz="1600" dirty="0"/>
          </a:p>
          <a:p>
            <a:pPr indent="0" marL="0">
              <a:spcAft>
                <a:spcPts val="1000"/>
              </a:spcAft>
              <a:buNone/>
            </a:pPr>
            <a:r>
              <a:rPr lang="en-US" sz="1600" b="1" dirty="0">
                <a:solidFill>
                  <a:srgbClr val="2B2B33"/>
                </a:solidFill>
                <a:latin typeface="Calibri" pitchFamily="34" charset="0"/>
                <a:ea typeface="Calibri" pitchFamily="34" charset="-122"/>
                <a:cs typeface="Calibri" pitchFamily="34" charset="-120"/>
              </a:rPr>
              <a:t>It is variously described as:</a:t>
            </a:r>
            <a:endParaRPr lang="en-US" sz="1600" dirty="0"/>
          </a:p>
          <a:p>
            <a:pPr marL="342900" indent="-342900">
              <a:spcAft>
                <a:spcPts val="800"/>
              </a:spcAft>
              <a:buSzPct val="100000"/>
              <a:buChar char="•"/>
            </a:pPr>
            <a:r>
              <a:rPr lang="en-US" sz="1600" dirty="0">
                <a:solidFill>
                  <a:srgbClr val="2B2B33"/>
                </a:solidFill>
                <a:latin typeface="Calibri" pitchFamily="34" charset="0"/>
                <a:ea typeface="Calibri" pitchFamily="34" charset="-122"/>
                <a:cs typeface="Calibri" pitchFamily="34" charset="-120"/>
              </a:rPr>
              <a:t>an “activity”</a:t>
            </a:r>
            <a:endParaRPr lang="en-US" sz="1600" dirty="0"/>
          </a:p>
          <a:p>
            <a:pPr marL="342900" indent="-342900">
              <a:spcAft>
                <a:spcPts val="800"/>
              </a:spcAft>
              <a:buSzPct val="100000"/>
              <a:buChar char="•"/>
            </a:pPr>
            <a:r>
              <a:rPr lang="en-US" sz="1600" dirty="0">
                <a:solidFill>
                  <a:srgbClr val="2B2B33"/>
                </a:solidFill>
                <a:latin typeface="Calibri" pitchFamily="34" charset="0"/>
                <a:ea typeface="Calibri" pitchFamily="34" charset="-122"/>
                <a:cs typeface="Calibri" pitchFamily="34" charset="-120"/>
              </a:rPr>
              <a:t>a “process”</a:t>
            </a:r>
            <a:endParaRPr lang="en-US" sz="1600" dirty="0"/>
          </a:p>
          <a:p>
            <a:pPr marL="342900" indent="-342900">
              <a:spcAft>
                <a:spcPts val="1400"/>
              </a:spcAft>
              <a:buSzPct val="100000"/>
              <a:buChar char="•"/>
            </a:pPr>
            <a:r>
              <a:rPr lang="en-US" sz="1600" dirty="0">
                <a:solidFill>
                  <a:srgbClr val="2B2B33"/>
                </a:solidFill>
                <a:latin typeface="Calibri" pitchFamily="34" charset="0"/>
                <a:ea typeface="Calibri" pitchFamily="34" charset="-122"/>
                <a:cs typeface="Calibri" pitchFamily="34" charset="-120"/>
              </a:rPr>
              <a:t>a “group of people” vested with authority to make decisions</a:t>
            </a:r>
            <a:endParaRPr lang="en-US" sz="1600" dirty="0"/>
          </a:p>
          <a:p>
            <a:pPr indent="0" marL="0">
              <a:buNone/>
            </a:pPr>
            <a:r>
              <a:rPr lang="en-US" sz="1600" i="1" dirty="0">
                <a:solidFill>
                  <a:srgbClr val="2B2B33"/>
                </a:solidFill>
                <a:latin typeface="Calibri" pitchFamily="34" charset="0"/>
                <a:ea typeface="Calibri" pitchFamily="34" charset="-122"/>
                <a:cs typeface="Calibri" pitchFamily="34" charset="-120"/>
              </a:rPr>
              <a:t>Why, sometimes it is also used in the sense of trickery.</a:t>
            </a:r>
            <a:endParaRPr lang="en-US" sz="1600" dirty="0"/>
          </a:p>
        </p:txBody>
      </p:sp>
      <p:sp>
        <p:nvSpPr>
          <p:cNvPr id="6" name="Shape 4"/>
          <p:cNvSpPr/>
          <p:nvPr/>
        </p:nvSpPr>
        <p:spPr>
          <a:xfrm>
            <a:off x="7818120" y="1691640"/>
            <a:ext cx="3840480" cy="4206240"/>
          </a:xfrm>
          <a:prstGeom prst="roundRect">
            <a:avLst>
              <a:gd name="adj" fmla="val 2381"/>
            </a:avLst>
          </a:prstGeom>
          <a:solidFill>
            <a:srgbClr val="1E2761"/>
          </a:solidFill>
          <a:ln/>
        </p:spPr>
      </p:sp>
      <p:sp>
        <p:nvSpPr>
          <p:cNvPr id="7" name="Shape 5"/>
          <p:cNvSpPr/>
          <p:nvPr/>
        </p:nvSpPr>
        <p:spPr>
          <a:xfrm>
            <a:off x="8138160" y="1965960"/>
            <a:ext cx="548640" cy="548640"/>
          </a:xfrm>
          <a:prstGeom prst="ellipse">
            <a:avLst/>
          </a:prstGeom>
          <a:solidFill>
            <a:srgbClr val="C9A24B"/>
          </a:solidFill>
          <a:ln/>
        </p:spPr>
      </p:sp>
      <p:pic>
        <p:nvPicPr>
          <p:cNvPr id="8" name="Image 0" descr="preencoded.png">    </p:cNvPr>
          <p:cNvPicPr>
            <a:picLocks noChangeAspect="1"/>
          </p:cNvPicPr>
          <p:nvPr/>
        </p:nvPicPr>
        <p:blipFill>
          <a:blip r:embed="rId1"/>
          <a:stretch>
            <a:fillRect/>
          </a:stretch>
        </p:blipFill>
        <p:spPr>
          <a:xfrm>
            <a:off x="8280806" y="2108606"/>
            <a:ext cx="263347" cy="263347"/>
          </a:xfrm>
          <a:prstGeom prst="rect">
            <a:avLst/>
          </a:prstGeom>
        </p:spPr>
      </p:pic>
      <p:sp>
        <p:nvSpPr>
          <p:cNvPr id="9" name="Text 6"/>
          <p:cNvSpPr/>
          <p:nvPr/>
        </p:nvSpPr>
        <p:spPr>
          <a:xfrm>
            <a:off x="8138160" y="2651760"/>
            <a:ext cx="32004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 Everyday Use</a:t>
            </a:r>
            <a:endParaRPr lang="en-US" sz="1500" dirty="0"/>
          </a:p>
        </p:txBody>
      </p:sp>
      <p:sp>
        <p:nvSpPr>
          <p:cNvPr id="10" name="Text 7"/>
          <p:cNvSpPr/>
          <p:nvPr/>
        </p:nvSpPr>
        <p:spPr>
          <a:xfrm>
            <a:off x="8138160" y="3063240"/>
            <a:ext cx="3291840" cy="2743200"/>
          </a:xfrm>
          <a:prstGeom prst="rect">
            <a:avLst/>
          </a:prstGeom>
          <a:noFill/>
          <a:ln/>
        </p:spPr>
        <p:txBody>
          <a:bodyPr wrap="square" rtlCol="0" anchor="ctr"/>
          <a:lstStyle/>
          <a:p>
            <a:pPr indent="0" marL="0">
              <a:buNone/>
            </a:pPr>
            <a:r>
              <a:rPr lang="en-US" sz="1250" b="1" dirty="0">
                <a:solidFill>
                  <a:srgbClr val="C9A24B"/>
                </a:solidFill>
                <a:latin typeface="Calibri" pitchFamily="34" charset="0"/>
                <a:ea typeface="Calibri" pitchFamily="34" charset="-122"/>
                <a:cs typeface="Calibri" pitchFamily="34" charset="-120"/>
              </a:rPr>
              <a:t>Activity: </a:t>
            </a:r>
            <a:endParaRPr lang="en-US" sz="1250" dirty="0"/>
          </a:p>
          <a:p>
            <a:pPr indent="0" marL="0">
              <a:spcAft>
                <a:spcPts val="1000"/>
              </a:spcAft>
              <a:buNone/>
            </a:pPr>
            <a:r>
              <a:rPr lang="en-US" sz="1250" dirty="0">
                <a:solidFill>
                  <a:srgbClr val="CADCFC"/>
                </a:solidFill>
                <a:latin typeface="Calibri" pitchFamily="34" charset="0"/>
                <a:ea typeface="Calibri" pitchFamily="34" charset="-122"/>
                <a:cs typeface="Calibri" pitchFamily="34" charset="-120"/>
              </a:rPr>
              <a:t>“Managing a household”</a:t>
            </a:r>
            <a:endParaRPr lang="en-US" sz="1250" dirty="0"/>
          </a:p>
          <a:p>
            <a:pPr indent="0" marL="0">
              <a:buNone/>
            </a:pPr>
            <a:r>
              <a:rPr lang="en-US" sz="1250" b="1" dirty="0">
                <a:solidFill>
                  <a:srgbClr val="C9A24B"/>
                </a:solidFill>
                <a:latin typeface="Calibri" pitchFamily="34" charset="0"/>
                <a:ea typeface="Calibri" pitchFamily="34" charset="-122"/>
                <a:cs typeface="Calibri" pitchFamily="34" charset="-120"/>
              </a:rPr>
              <a:t>Process: </a:t>
            </a:r>
            <a:endParaRPr lang="en-US" sz="1250" dirty="0"/>
          </a:p>
          <a:p>
            <a:pPr indent="0" marL="0">
              <a:spcAft>
                <a:spcPts val="1000"/>
              </a:spcAft>
              <a:buNone/>
            </a:pPr>
            <a:r>
              <a:rPr lang="en-US" sz="1250" dirty="0">
                <a:solidFill>
                  <a:srgbClr val="CADCFC"/>
                </a:solidFill>
                <a:latin typeface="Calibri" pitchFamily="34" charset="0"/>
                <a:ea typeface="Calibri" pitchFamily="34" charset="-122"/>
                <a:cs typeface="Calibri" pitchFamily="34" charset="-120"/>
              </a:rPr>
              <a:t>“Management involves planning and control”</a:t>
            </a:r>
            <a:endParaRPr lang="en-US" sz="1250" dirty="0"/>
          </a:p>
          <a:p>
            <a:pPr indent="0" marL="0">
              <a:buNone/>
            </a:pPr>
            <a:r>
              <a:rPr lang="en-US" sz="1250" b="1" dirty="0">
                <a:solidFill>
                  <a:srgbClr val="C9A24B"/>
                </a:solidFill>
                <a:latin typeface="Calibri" pitchFamily="34" charset="0"/>
                <a:ea typeface="Calibri" pitchFamily="34" charset="-122"/>
                <a:cs typeface="Calibri" pitchFamily="34" charset="-120"/>
              </a:rPr>
              <a:t>Group of people: </a:t>
            </a:r>
            <a:endParaRPr lang="en-US" sz="1250" dirty="0"/>
          </a:p>
          <a:p>
            <a:pPr indent="0" marL="0">
              <a:buNone/>
            </a:pPr>
            <a:r>
              <a:rPr lang="en-US" sz="1250" dirty="0">
                <a:solidFill>
                  <a:srgbClr val="CADCFC"/>
                </a:solidFill>
                <a:latin typeface="Calibri" pitchFamily="34" charset="0"/>
                <a:ea typeface="Calibri" pitchFamily="34" charset="-122"/>
                <a:cs typeface="Calibri" pitchFamily="34" charset="-120"/>
              </a:rPr>
              <a:t>“Management has approved the budget”</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1.2 MEANING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1.2. MEANING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(2) Some Important Definitions – I</a:t>
            </a:r>
            <a:endParaRPr lang="en-US" sz="3000" dirty="0"/>
          </a:p>
        </p:txBody>
      </p:sp>
      <p:sp>
        <p:nvSpPr>
          <p:cNvPr id="4" name="Shape 2"/>
          <p:cNvSpPr/>
          <p:nvPr/>
        </p:nvSpPr>
        <p:spPr>
          <a:xfrm>
            <a:off x="548640" y="1737360"/>
            <a:ext cx="5440680" cy="4160520"/>
          </a:xfrm>
          <a:prstGeom prst="roundRect">
            <a:avLst>
              <a:gd name="adj" fmla="val 2198"/>
            </a:avLst>
          </a:prstGeom>
          <a:solidFill>
            <a:srgbClr val="EEF3FC"/>
          </a:solidFill>
          <a:ln/>
          <a:effectLst>
            <a:outerShdw sx="100000" sy="100000" kx="0" ky="0" algn="bl" rotWithShape="0" blurRad="101600" dist="25400" dir="5400000">
              <a:srgbClr val="1E2761">
                <a:alpha val="8000"/>
              </a:srgbClr>
            </a:outerShdw>
          </a:effectLst>
        </p:spPr>
      </p:sp>
      <p:sp>
        <p:nvSpPr>
          <p:cNvPr id="5" name="Shape 3"/>
          <p:cNvSpPr/>
          <p:nvPr/>
        </p:nvSpPr>
        <p:spPr>
          <a:xfrm>
            <a:off x="868680" y="201168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11326" y="2154326"/>
            <a:ext cx="263347" cy="263347"/>
          </a:xfrm>
          <a:prstGeom prst="rect">
            <a:avLst/>
          </a:prstGeom>
        </p:spPr>
      </p:pic>
      <p:sp>
        <p:nvSpPr>
          <p:cNvPr id="7" name="Text 4"/>
          <p:cNvSpPr/>
          <p:nvPr/>
        </p:nvSpPr>
        <p:spPr>
          <a:xfrm>
            <a:off x="868680" y="2697480"/>
            <a:ext cx="4754880" cy="411480"/>
          </a:xfrm>
          <a:prstGeom prst="rect">
            <a:avLst/>
          </a:prstGeom>
          <a:noFill/>
          <a:ln/>
        </p:spPr>
        <p:txBody>
          <a:bodyPr wrap="square" lIns="0" tIns="0" rIns="0" bIns="0" rtlCol="0" anchor="ctr"/>
          <a:lstStyle/>
          <a:p>
            <a:pPr indent="0" marL="0">
              <a:buNone/>
            </a:pPr>
            <a:r>
              <a:rPr lang="en-US" sz="1700" b="1" i="1" dirty="0">
                <a:solidFill>
                  <a:srgbClr val="1E2761"/>
                </a:solidFill>
                <a:latin typeface="Cambria" pitchFamily="34" charset="0"/>
                <a:ea typeface="Cambria" pitchFamily="34" charset="-122"/>
                <a:cs typeface="Cambria" pitchFamily="34" charset="-120"/>
              </a:rPr>
              <a:t>Henry Fayol</a:t>
            </a:r>
            <a:endParaRPr lang="en-US" sz="1700" dirty="0"/>
          </a:p>
        </p:txBody>
      </p:sp>
      <p:sp>
        <p:nvSpPr>
          <p:cNvPr id="8" name="Text 5"/>
          <p:cNvSpPr/>
          <p:nvPr/>
        </p:nvSpPr>
        <p:spPr>
          <a:xfrm>
            <a:off x="868680" y="3200400"/>
            <a:ext cx="4846320" cy="2514600"/>
          </a:xfrm>
          <a:prstGeom prst="rect">
            <a:avLst/>
          </a:prstGeom>
          <a:noFill/>
          <a:ln/>
        </p:spPr>
        <p:txBody>
          <a:bodyPr wrap="square" rtlCol="0" anchor="t"/>
          <a:lstStyle/>
          <a:p>
            <a:pPr indent="0" marL="0">
              <a:buNone/>
            </a:pPr>
            <a:r>
              <a:rPr lang="en-US" sz="1450" dirty="0">
                <a:solidFill>
                  <a:srgbClr val="2B2B33"/>
                </a:solidFill>
                <a:latin typeface="Calibri" pitchFamily="34" charset="0"/>
                <a:ea typeface="Calibri" pitchFamily="34" charset="-122"/>
                <a:cs typeface="Calibri" pitchFamily="34" charset="-120"/>
              </a:rPr>
              <a:t>Management is “to forecast and plan, to organize, to command, to coordinate, and to control.”</a:t>
            </a:r>
            <a:endParaRPr lang="en-US" sz="1450" dirty="0"/>
          </a:p>
        </p:txBody>
      </p:sp>
      <p:sp>
        <p:nvSpPr>
          <p:cNvPr id="9" name="Shape 6"/>
          <p:cNvSpPr/>
          <p:nvPr/>
        </p:nvSpPr>
        <p:spPr>
          <a:xfrm>
            <a:off x="6172200" y="1737360"/>
            <a:ext cx="5440680" cy="4160520"/>
          </a:xfrm>
          <a:prstGeom prst="roundRect">
            <a:avLst>
              <a:gd name="adj" fmla="val 2198"/>
            </a:avLst>
          </a:prstGeom>
          <a:solidFill>
            <a:srgbClr val="EEF3FC"/>
          </a:solidFill>
          <a:ln/>
          <a:effectLst>
            <a:outerShdw sx="100000" sy="100000" kx="0" ky="0" algn="bl" rotWithShape="0" blurRad="101600" dist="25400" dir="5400000">
              <a:srgbClr val="1E2761">
                <a:alpha val="8000"/>
              </a:srgbClr>
            </a:outerShdw>
          </a:effectLst>
        </p:spPr>
      </p:sp>
      <p:sp>
        <p:nvSpPr>
          <p:cNvPr id="10" name="Shape 7"/>
          <p:cNvSpPr/>
          <p:nvPr/>
        </p:nvSpPr>
        <p:spPr>
          <a:xfrm>
            <a:off x="6492240" y="2011680"/>
            <a:ext cx="548640" cy="54864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634886" y="2154326"/>
            <a:ext cx="263347" cy="263347"/>
          </a:xfrm>
          <a:prstGeom prst="rect">
            <a:avLst/>
          </a:prstGeom>
        </p:spPr>
      </p:pic>
      <p:sp>
        <p:nvSpPr>
          <p:cNvPr id="12" name="Text 8"/>
          <p:cNvSpPr/>
          <p:nvPr/>
        </p:nvSpPr>
        <p:spPr>
          <a:xfrm>
            <a:off x="6492240" y="2697480"/>
            <a:ext cx="4754880" cy="411480"/>
          </a:xfrm>
          <a:prstGeom prst="rect">
            <a:avLst/>
          </a:prstGeom>
          <a:noFill/>
          <a:ln/>
        </p:spPr>
        <p:txBody>
          <a:bodyPr wrap="square" lIns="0" tIns="0" rIns="0" bIns="0" rtlCol="0" anchor="ctr"/>
          <a:lstStyle/>
          <a:p>
            <a:pPr indent="0" marL="0">
              <a:buNone/>
            </a:pPr>
            <a:r>
              <a:rPr lang="en-US" sz="1700" b="1" i="1" dirty="0">
                <a:solidFill>
                  <a:srgbClr val="1E2761"/>
                </a:solidFill>
                <a:latin typeface="Cambria" pitchFamily="34" charset="0"/>
                <a:ea typeface="Cambria" pitchFamily="34" charset="-122"/>
                <a:cs typeface="Cambria" pitchFamily="34" charset="-120"/>
              </a:rPr>
              <a:t>Sir Charles Reynold</a:t>
            </a:r>
            <a:endParaRPr lang="en-US" sz="1700" dirty="0"/>
          </a:p>
        </p:txBody>
      </p:sp>
      <p:sp>
        <p:nvSpPr>
          <p:cNvPr id="13" name="Text 9"/>
          <p:cNvSpPr/>
          <p:nvPr/>
        </p:nvSpPr>
        <p:spPr>
          <a:xfrm>
            <a:off x="6492240" y="3200400"/>
            <a:ext cx="4846320" cy="2514600"/>
          </a:xfrm>
          <a:prstGeom prst="rect">
            <a:avLst/>
          </a:prstGeom>
          <a:noFill/>
          <a:ln/>
        </p:spPr>
        <p:txBody>
          <a:bodyPr wrap="square" rtlCol="0" anchor="t"/>
          <a:lstStyle/>
          <a:p>
            <a:pPr indent="0" marL="0">
              <a:buNone/>
            </a:pPr>
            <a:r>
              <a:rPr lang="en-US" sz="1450" dirty="0">
                <a:solidFill>
                  <a:srgbClr val="2B2B33"/>
                </a:solidFill>
                <a:latin typeface="Calibri" pitchFamily="34" charset="0"/>
                <a:ea typeface="Calibri" pitchFamily="34" charset="-122"/>
                <a:cs typeface="Calibri" pitchFamily="34" charset="-120"/>
              </a:rPr>
              <a:t>Management is “the process of getting things done through the agency of a community, aimed at fulfilling the purposes for which it exists.”</a:t>
            </a:r>
            <a:endParaRPr lang="en-US" sz="1450" dirty="0"/>
          </a:p>
        </p:txBody>
      </p:sp>
      <p:sp>
        <p:nvSpPr>
          <p:cNvPr id="14" name="Text 10"/>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1.2 MEANING OF MANAGEMENT</a:t>
            </a:r>
            <a:endParaRPr lang="en-US" sz="1000" dirty="0"/>
          </a:p>
        </p:txBody>
      </p:sp>
      <p:sp>
        <p:nvSpPr>
          <p:cNvPr id="15" name="Text 11"/>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1.2. MEANING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(2) Some Important Definitions – II</a:t>
            </a:r>
            <a:endParaRPr lang="en-US" sz="3000" dirty="0"/>
          </a:p>
        </p:txBody>
      </p:sp>
      <p:sp>
        <p:nvSpPr>
          <p:cNvPr id="4" name="Shape 2"/>
          <p:cNvSpPr/>
          <p:nvPr/>
        </p:nvSpPr>
        <p:spPr>
          <a:xfrm>
            <a:off x="548640" y="1737360"/>
            <a:ext cx="5440680" cy="2011680"/>
          </a:xfrm>
          <a:prstGeom prst="roundRect">
            <a:avLst>
              <a:gd name="adj" fmla="val 3636"/>
            </a:avLst>
          </a:prstGeom>
          <a:solidFill>
            <a:srgbClr val="EEF3FC"/>
          </a:solidFill>
          <a:ln/>
        </p:spPr>
      </p:sp>
      <p:sp>
        <p:nvSpPr>
          <p:cNvPr id="5" name="Text 3"/>
          <p:cNvSpPr/>
          <p:nvPr/>
        </p:nvSpPr>
        <p:spPr>
          <a:xfrm>
            <a:off x="822960" y="1901952"/>
            <a:ext cx="4892040" cy="320040"/>
          </a:xfrm>
          <a:prstGeom prst="rect">
            <a:avLst/>
          </a:prstGeom>
          <a:noFill/>
          <a:ln/>
        </p:spPr>
        <p:txBody>
          <a:bodyPr wrap="square" lIns="0" tIns="0" rIns="0" bIns="0" rtlCol="0" anchor="ctr"/>
          <a:lstStyle/>
          <a:p>
            <a:pPr indent="0" marL="0">
              <a:buNone/>
            </a:pPr>
            <a:r>
              <a:rPr lang="en-US" sz="1500" b="1" i="1" dirty="0">
                <a:solidFill>
                  <a:srgbClr val="1E2761"/>
                </a:solidFill>
                <a:latin typeface="Cambria" pitchFamily="34" charset="0"/>
                <a:ea typeface="Cambria" pitchFamily="34" charset="-122"/>
                <a:cs typeface="Cambria" pitchFamily="34" charset="-120"/>
              </a:rPr>
              <a:t>Mary Cushing Niles</a:t>
            </a:r>
            <a:endParaRPr lang="en-US" sz="1500" dirty="0"/>
          </a:p>
        </p:txBody>
      </p:sp>
      <p:sp>
        <p:nvSpPr>
          <p:cNvPr id="6" name="Text 4"/>
          <p:cNvSpPr/>
          <p:nvPr/>
        </p:nvSpPr>
        <p:spPr>
          <a:xfrm>
            <a:off x="822960" y="2267712"/>
            <a:ext cx="4892040" cy="1371600"/>
          </a:xfrm>
          <a:prstGeom prst="rect">
            <a:avLst/>
          </a:prstGeom>
          <a:noFill/>
          <a:ln/>
        </p:spPr>
        <p:txBody>
          <a:bodyPr wrap="square" rtlCol="0" anchor="t"/>
          <a:lstStyle/>
          <a:p>
            <a:pPr indent="0" marL="0">
              <a:buNone/>
            </a:pPr>
            <a:r>
              <a:rPr lang="en-US" sz="1250" dirty="0">
                <a:solidFill>
                  <a:srgbClr val="2B2B33"/>
                </a:solidFill>
                <a:latin typeface="Calibri" pitchFamily="34" charset="0"/>
                <a:ea typeface="Calibri" pitchFamily="34" charset="-122"/>
                <a:cs typeface="Calibri" pitchFamily="34" charset="-120"/>
              </a:rPr>
              <a:t>“Good management, or ‘Scientific Management’, achieves a social objective with the best use of human and material energy and time, and with satisfaction for the participants and the public.”</a:t>
            </a:r>
            <a:endParaRPr lang="en-US" sz="1250" dirty="0"/>
          </a:p>
        </p:txBody>
      </p:sp>
      <p:sp>
        <p:nvSpPr>
          <p:cNvPr id="7" name="Shape 5"/>
          <p:cNvSpPr/>
          <p:nvPr/>
        </p:nvSpPr>
        <p:spPr>
          <a:xfrm>
            <a:off x="6172200" y="1737360"/>
            <a:ext cx="5440680" cy="2011680"/>
          </a:xfrm>
          <a:prstGeom prst="roundRect">
            <a:avLst>
              <a:gd name="adj" fmla="val 3636"/>
            </a:avLst>
          </a:prstGeom>
          <a:solidFill>
            <a:srgbClr val="EEF3FC"/>
          </a:solidFill>
          <a:ln/>
        </p:spPr>
      </p:sp>
      <p:sp>
        <p:nvSpPr>
          <p:cNvPr id="8" name="Text 6"/>
          <p:cNvSpPr/>
          <p:nvPr/>
        </p:nvSpPr>
        <p:spPr>
          <a:xfrm>
            <a:off x="6446520" y="1901952"/>
            <a:ext cx="4892040" cy="320040"/>
          </a:xfrm>
          <a:prstGeom prst="rect">
            <a:avLst/>
          </a:prstGeom>
          <a:noFill/>
          <a:ln/>
        </p:spPr>
        <p:txBody>
          <a:bodyPr wrap="square" lIns="0" tIns="0" rIns="0" bIns="0" rtlCol="0" anchor="ctr"/>
          <a:lstStyle/>
          <a:p>
            <a:pPr indent="0" marL="0">
              <a:buNone/>
            </a:pPr>
            <a:r>
              <a:rPr lang="en-US" sz="1500" b="1" i="1" dirty="0">
                <a:solidFill>
                  <a:srgbClr val="1E2761"/>
                </a:solidFill>
                <a:latin typeface="Cambria" pitchFamily="34" charset="0"/>
                <a:ea typeface="Cambria" pitchFamily="34" charset="-122"/>
                <a:cs typeface="Cambria" pitchFamily="34" charset="-120"/>
              </a:rPr>
              <a:t>John F. Mee</a:t>
            </a:r>
            <a:endParaRPr lang="en-US" sz="1500" dirty="0"/>
          </a:p>
        </p:txBody>
      </p:sp>
      <p:sp>
        <p:nvSpPr>
          <p:cNvPr id="9" name="Text 7"/>
          <p:cNvSpPr/>
          <p:nvPr/>
        </p:nvSpPr>
        <p:spPr>
          <a:xfrm>
            <a:off x="6446520" y="2267712"/>
            <a:ext cx="4892040" cy="1371600"/>
          </a:xfrm>
          <a:prstGeom prst="rect">
            <a:avLst/>
          </a:prstGeom>
          <a:noFill/>
          <a:ln/>
        </p:spPr>
        <p:txBody>
          <a:bodyPr wrap="square" rtlCol="0" anchor="t"/>
          <a:lstStyle/>
          <a:p>
            <a:pPr indent="0" marL="0">
              <a:buNone/>
            </a:pPr>
            <a:r>
              <a:rPr lang="en-US" sz="1250" dirty="0">
                <a:solidFill>
                  <a:srgbClr val="2B2B33"/>
                </a:solidFill>
                <a:latin typeface="Calibri" pitchFamily="34" charset="0"/>
                <a:ea typeface="Calibri" pitchFamily="34" charset="-122"/>
                <a:cs typeface="Calibri" pitchFamily="34" charset="-120"/>
              </a:rPr>
              <a:t>Management is the “art of securing maximum result with minimum of effort so as to secure maximum prosperity for the employer and employee, and give the public the best possible service.”</a:t>
            </a:r>
            <a:endParaRPr lang="en-US" sz="1250" dirty="0"/>
          </a:p>
        </p:txBody>
      </p:sp>
      <p:sp>
        <p:nvSpPr>
          <p:cNvPr id="10" name="Shape 8"/>
          <p:cNvSpPr/>
          <p:nvPr/>
        </p:nvSpPr>
        <p:spPr>
          <a:xfrm>
            <a:off x="548640" y="3977640"/>
            <a:ext cx="11064240" cy="1920240"/>
          </a:xfrm>
          <a:prstGeom prst="roundRect">
            <a:avLst>
              <a:gd name="adj" fmla="val 3810"/>
            </a:avLst>
          </a:prstGeom>
          <a:solidFill>
            <a:srgbClr val="1E2761"/>
          </a:solidFill>
          <a:ln/>
        </p:spPr>
      </p:sp>
      <p:sp>
        <p:nvSpPr>
          <p:cNvPr id="11" name="Text 9"/>
          <p:cNvSpPr/>
          <p:nvPr/>
        </p:nvSpPr>
        <p:spPr>
          <a:xfrm>
            <a:off x="822960" y="4142232"/>
            <a:ext cx="5486400" cy="320040"/>
          </a:xfrm>
          <a:prstGeom prst="rect">
            <a:avLst/>
          </a:prstGeom>
          <a:noFill/>
          <a:ln/>
        </p:spPr>
        <p:txBody>
          <a:bodyPr wrap="square" lIns="0" tIns="0" rIns="0" bIns="0" rtlCol="0" anchor="ctr"/>
          <a:lstStyle/>
          <a:p>
            <a:pPr indent="0" marL="0">
              <a:buNone/>
            </a:pPr>
            <a:r>
              <a:rPr lang="en-US" sz="1500" b="1" i="1" dirty="0">
                <a:solidFill>
                  <a:srgbClr val="C9A24B"/>
                </a:solidFill>
                <a:latin typeface="Cambria" pitchFamily="34" charset="0"/>
                <a:ea typeface="Cambria" pitchFamily="34" charset="-122"/>
                <a:cs typeface="Cambria" pitchFamily="34" charset="-120"/>
              </a:rPr>
              <a:t>Koontz and O'Donnel</a:t>
            </a:r>
            <a:endParaRPr lang="en-US" sz="1500" dirty="0"/>
          </a:p>
        </p:txBody>
      </p:sp>
      <p:sp>
        <p:nvSpPr>
          <p:cNvPr id="12" name="Text 10"/>
          <p:cNvSpPr/>
          <p:nvPr/>
        </p:nvSpPr>
        <p:spPr>
          <a:xfrm>
            <a:off x="822960" y="4526280"/>
            <a:ext cx="10515600" cy="128016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Management is the “creation and maintenance of an internal environment in an enterprise where individuals, working in groups, can perform efficiently and effectively towards the attainment of group goals. It is the art of getting the work done with and through people in formally organized groups.”</a:t>
            </a:r>
            <a:endParaRPr lang="en-US" sz="1350" dirty="0"/>
          </a:p>
        </p:txBody>
      </p:sp>
      <p:sp>
        <p:nvSpPr>
          <p:cNvPr id="13" name="Text 11"/>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1.2 MEANING OF MANAGEMENT</a:t>
            </a:r>
            <a:endParaRPr lang="en-US" sz="1000" dirty="0"/>
          </a:p>
        </p:txBody>
      </p:sp>
      <p:sp>
        <p:nvSpPr>
          <p:cNvPr id="14" name="Text 12"/>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1.2. MEANING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(3) Summing Up</a:t>
            </a:r>
            <a:endParaRPr lang="en-US" sz="3000" dirty="0"/>
          </a:p>
        </p:txBody>
      </p:sp>
      <p:sp>
        <p:nvSpPr>
          <p:cNvPr id="4" name="Text 2"/>
          <p:cNvSpPr/>
          <p:nvPr/>
        </p:nvSpPr>
        <p:spPr>
          <a:xfrm>
            <a:off x="548640" y="1691640"/>
            <a:ext cx="10972800" cy="457200"/>
          </a:xfrm>
          <a:prstGeom prst="rect">
            <a:avLst/>
          </a:prstGeom>
          <a:noFill/>
          <a:ln/>
        </p:spPr>
        <p:txBody>
          <a:bodyPr wrap="square" rtlCol="0" anchor="ctr"/>
          <a:lstStyle/>
          <a:p>
            <a:pPr indent="0" marL="0">
              <a:buNone/>
            </a:pPr>
            <a:r>
              <a:rPr lang="en-US" sz="1600" i="1" dirty="0">
                <a:solidFill>
                  <a:srgbClr val="2B2B33"/>
                </a:solidFill>
                <a:latin typeface="Calibri" pitchFamily="34" charset="0"/>
                <a:ea typeface="Calibri" pitchFamily="34" charset="-122"/>
                <a:cs typeface="Calibri" pitchFamily="34" charset="-120"/>
              </a:rPr>
              <a:t>Management refers to all those activities which are concerned with:</a:t>
            </a:r>
            <a:endParaRPr lang="en-US" sz="1600" dirty="0"/>
          </a:p>
        </p:txBody>
      </p:sp>
      <p:sp>
        <p:nvSpPr>
          <p:cNvPr id="5" name="Shape 3"/>
          <p:cNvSpPr/>
          <p:nvPr/>
        </p:nvSpPr>
        <p:spPr>
          <a:xfrm>
            <a:off x="548640" y="2331720"/>
            <a:ext cx="3566160" cy="3474720"/>
          </a:xfrm>
          <a:prstGeom prst="roundRect">
            <a:avLst>
              <a:gd name="adj" fmla="val 2632"/>
            </a:avLst>
          </a:prstGeom>
          <a:solidFill>
            <a:srgbClr val="EEF3FC"/>
          </a:solidFill>
          <a:ln/>
          <a:effectLst>
            <a:outerShdw sx="100000" sy="100000" kx="0" ky="0" algn="bl" rotWithShape="0" blurRad="101600" dist="25400" dir="5400000">
              <a:srgbClr val="1E2761">
                <a:alpha val="8000"/>
              </a:srgbClr>
            </a:outerShdw>
          </a:effectLst>
        </p:spPr>
      </p:sp>
      <p:sp>
        <p:nvSpPr>
          <p:cNvPr id="6" name="Shape 4"/>
          <p:cNvSpPr/>
          <p:nvPr/>
        </p:nvSpPr>
        <p:spPr>
          <a:xfrm>
            <a:off x="822960" y="2606040"/>
            <a:ext cx="640080" cy="64008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989381" y="2772461"/>
            <a:ext cx="307238" cy="307238"/>
          </a:xfrm>
          <a:prstGeom prst="rect">
            <a:avLst/>
          </a:prstGeom>
        </p:spPr>
      </p:pic>
      <p:sp>
        <p:nvSpPr>
          <p:cNvPr id="8" name="Text 5"/>
          <p:cNvSpPr/>
          <p:nvPr/>
        </p:nvSpPr>
        <p:spPr>
          <a:xfrm>
            <a:off x="1645920" y="2724912"/>
            <a:ext cx="731520" cy="457200"/>
          </a:xfrm>
          <a:prstGeom prst="rect">
            <a:avLst/>
          </a:prstGeom>
          <a:noFill/>
          <a:ln/>
        </p:spPr>
        <p:txBody>
          <a:bodyPr wrap="square" lIns="0" tIns="0" rIns="0" bIns="0"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(a)</a:t>
            </a:r>
            <a:endParaRPr lang="en-US" sz="2200" dirty="0"/>
          </a:p>
        </p:txBody>
      </p:sp>
      <p:sp>
        <p:nvSpPr>
          <p:cNvPr id="9" name="Text 6"/>
          <p:cNvSpPr/>
          <p:nvPr/>
        </p:nvSpPr>
        <p:spPr>
          <a:xfrm>
            <a:off x="822960" y="3429000"/>
            <a:ext cx="3017520" cy="1371600"/>
          </a:xfrm>
          <a:prstGeom prst="rect">
            <a:avLst/>
          </a:prstGeom>
          <a:noFill/>
          <a:ln/>
        </p:spPr>
        <p:txBody>
          <a:bodyPr wrap="square" rtlCol="0" anchor="t"/>
          <a:lstStyle/>
          <a:p>
            <a:pPr indent="0" marL="0">
              <a:buNone/>
            </a:pPr>
            <a:r>
              <a:rPr lang="en-US" sz="1450" b="1" dirty="0">
                <a:solidFill>
                  <a:srgbClr val="1E2761"/>
                </a:solidFill>
                <a:latin typeface="Cambria" pitchFamily="34" charset="0"/>
                <a:ea typeface="Cambria" pitchFamily="34" charset="-122"/>
                <a:cs typeface="Cambria" pitchFamily="34" charset="-120"/>
              </a:rPr>
              <a:t>Formulation of objectives, plans and policies</a:t>
            </a:r>
            <a:endParaRPr lang="en-US" sz="1450" dirty="0"/>
          </a:p>
        </p:txBody>
      </p:sp>
      <p:sp>
        <p:nvSpPr>
          <p:cNvPr id="10" name="Text 7"/>
          <p:cNvSpPr/>
          <p:nvPr/>
        </p:nvSpPr>
        <p:spPr>
          <a:xfrm>
            <a:off x="822960" y="4892040"/>
            <a:ext cx="3017520" cy="73152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of the collective enterprise</a:t>
            </a:r>
            <a:endParaRPr lang="en-US" sz="1200" dirty="0"/>
          </a:p>
        </p:txBody>
      </p:sp>
      <p:sp>
        <p:nvSpPr>
          <p:cNvPr id="11" name="Shape 8"/>
          <p:cNvSpPr/>
          <p:nvPr/>
        </p:nvSpPr>
        <p:spPr>
          <a:xfrm>
            <a:off x="4343400" y="2331720"/>
            <a:ext cx="3566160" cy="3474720"/>
          </a:xfrm>
          <a:prstGeom prst="roundRect">
            <a:avLst>
              <a:gd name="adj" fmla="val 2632"/>
            </a:avLst>
          </a:prstGeom>
          <a:solidFill>
            <a:srgbClr val="EEF3FC"/>
          </a:solidFill>
          <a:ln/>
          <a:effectLst>
            <a:outerShdw sx="100000" sy="100000" kx="0" ky="0" algn="bl" rotWithShape="0" blurRad="101600" dist="25400" dir="5400000">
              <a:srgbClr val="1E2761">
                <a:alpha val="8000"/>
              </a:srgbClr>
            </a:outerShdw>
          </a:effectLst>
        </p:spPr>
      </p:sp>
      <p:sp>
        <p:nvSpPr>
          <p:cNvPr id="12" name="Shape 9"/>
          <p:cNvSpPr/>
          <p:nvPr/>
        </p:nvSpPr>
        <p:spPr>
          <a:xfrm>
            <a:off x="4617720" y="2606040"/>
            <a:ext cx="640080" cy="64008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784141" y="2772461"/>
            <a:ext cx="307238" cy="307238"/>
          </a:xfrm>
          <a:prstGeom prst="rect">
            <a:avLst/>
          </a:prstGeom>
        </p:spPr>
      </p:pic>
      <p:sp>
        <p:nvSpPr>
          <p:cNvPr id="14" name="Text 10"/>
          <p:cNvSpPr/>
          <p:nvPr/>
        </p:nvSpPr>
        <p:spPr>
          <a:xfrm>
            <a:off x="5440680" y="2724912"/>
            <a:ext cx="731520" cy="457200"/>
          </a:xfrm>
          <a:prstGeom prst="rect">
            <a:avLst/>
          </a:prstGeom>
          <a:noFill/>
          <a:ln/>
        </p:spPr>
        <p:txBody>
          <a:bodyPr wrap="square" lIns="0" tIns="0" rIns="0" bIns="0"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(b)</a:t>
            </a:r>
            <a:endParaRPr lang="en-US" sz="2200" dirty="0"/>
          </a:p>
        </p:txBody>
      </p:sp>
      <p:sp>
        <p:nvSpPr>
          <p:cNvPr id="15" name="Text 11"/>
          <p:cNvSpPr/>
          <p:nvPr/>
        </p:nvSpPr>
        <p:spPr>
          <a:xfrm>
            <a:off x="4617720" y="3429000"/>
            <a:ext cx="3017520" cy="1371600"/>
          </a:xfrm>
          <a:prstGeom prst="rect">
            <a:avLst/>
          </a:prstGeom>
          <a:noFill/>
          <a:ln/>
        </p:spPr>
        <p:txBody>
          <a:bodyPr wrap="square" rtlCol="0" anchor="t"/>
          <a:lstStyle/>
          <a:p>
            <a:pPr indent="0" marL="0">
              <a:buNone/>
            </a:pPr>
            <a:r>
              <a:rPr lang="en-US" sz="1450" b="1" dirty="0">
                <a:solidFill>
                  <a:srgbClr val="1E2761"/>
                </a:solidFill>
                <a:latin typeface="Cambria" pitchFamily="34" charset="0"/>
                <a:ea typeface="Cambria" pitchFamily="34" charset="-122"/>
                <a:cs typeface="Cambria" pitchFamily="34" charset="-120"/>
              </a:rPr>
              <a:t>Assembling men, money, materials, machines and methods</a:t>
            </a:r>
            <a:endParaRPr lang="en-US" sz="1450" dirty="0"/>
          </a:p>
        </p:txBody>
      </p:sp>
      <p:sp>
        <p:nvSpPr>
          <p:cNvPr id="16" name="Text 12"/>
          <p:cNvSpPr/>
          <p:nvPr/>
        </p:nvSpPr>
        <p:spPr>
          <a:xfrm>
            <a:off x="4617720" y="4892040"/>
            <a:ext cx="3017520" cy="73152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for their accomplishment</a:t>
            </a:r>
            <a:endParaRPr lang="en-US" sz="1200" dirty="0"/>
          </a:p>
        </p:txBody>
      </p:sp>
      <p:sp>
        <p:nvSpPr>
          <p:cNvPr id="17" name="Shape 13"/>
          <p:cNvSpPr/>
          <p:nvPr/>
        </p:nvSpPr>
        <p:spPr>
          <a:xfrm>
            <a:off x="8138160" y="2331720"/>
            <a:ext cx="3566160" cy="3474720"/>
          </a:xfrm>
          <a:prstGeom prst="roundRect">
            <a:avLst>
              <a:gd name="adj" fmla="val 2632"/>
            </a:avLst>
          </a:prstGeom>
          <a:solidFill>
            <a:srgbClr val="EEF3FC"/>
          </a:solidFill>
          <a:ln/>
          <a:effectLst>
            <a:outerShdw sx="100000" sy="100000" kx="0" ky="0" algn="bl" rotWithShape="0" blurRad="101600" dist="25400" dir="5400000">
              <a:srgbClr val="1E2761">
                <a:alpha val="8000"/>
              </a:srgbClr>
            </a:outerShdw>
          </a:effectLst>
        </p:spPr>
      </p:sp>
      <p:sp>
        <p:nvSpPr>
          <p:cNvPr id="18" name="Shape 14"/>
          <p:cNvSpPr/>
          <p:nvPr/>
        </p:nvSpPr>
        <p:spPr>
          <a:xfrm>
            <a:off x="8412480" y="2606040"/>
            <a:ext cx="640080" cy="640080"/>
          </a:xfrm>
          <a:prstGeom prst="ellipse">
            <a:avLst/>
          </a:prstGeom>
          <a:solidFill>
            <a:srgbClr val="1E2761"/>
          </a:solidFill>
          <a:ln/>
        </p:spPr>
      </p:sp>
      <p:pic>
        <p:nvPicPr>
          <p:cNvPr id="19" name="Image 2" descr="preencoded.png">    </p:cNvPr>
          <p:cNvPicPr>
            <a:picLocks noChangeAspect="1"/>
          </p:cNvPicPr>
          <p:nvPr/>
        </p:nvPicPr>
        <p:blipFill>
          <a:blip r:embed="rId3"/>
          <a:stretch>
            <a:fillRect/>
          </a:stretch>
        </p:blipFill>
        <p:spPr>
          <a:xfrm>
            <a:off x="8578901" y="2772461"/>
            <a:ext cx="307238" cy="307238"/>
          </a:xfrm>
          <a:prstGeom prst="rect">
            <a:avLst/>
          </a:prstGeom>
        </p:spPr>
      </p:pic>
      <p:sp>
        <p:nvSpPr>
          <p:cNvPr id="20" name="Text 15"/>
          <p:cNvSpPr/>
          <p:nvPr/>
        </p:nvSpPr>
        <p:spPr>
          <a:xfrm>
            <a:off x="9235440" y="2724912"/>
            <a:ext cx="731520" cy="457200"/>
          </a:xfrm>
          <a:prstGeom prst="rect">
            <a:avLst/>
          </a:prstGeom>
          <a:noFill/>
          <a:ln/>
        </p:spPr>
        <p:txBody>
          <a:bodyPr wrap="square" lIns="0" tIns="0" rIns="0" bIns="0"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(c)</a:t>
            </a:r>
            <a:endParaRPr lang="en-US" sz="2200" dirty="0"/>
          </a:p>
        </p:txBody>
      </p:sp>
      <p:sp>
        <p:nvSpPr>
          <p:cNvPr id="21" name="Text 16"/>
          <p:cNvSpPr/>
          <p:nvPr/>
        </p:nvSpPr>
        <p:spPr>
          <a:xfrm>
            <a:off x="8412480" y="3429000"/>
            <a:ext cx="3017520" cy="1371600"/>
          </a:xfrm>
          <a:prstGeom prst="rect">
            <a:avLst/>
          </a:prstGeom>
          <a:noFill/>
          <a:ln/>
        </p:spPr>
        <p:txBody>
          <a:bodyPr wrap="square" rtlCol="0" anchor="t"/>
          <a:lstStyle/>
          <a:p>
            <a:pPr indent="0" marL="0">
              <a:buNone/>
            </a:pPr>
            <a:r>
              <a:rPr lang="en-US" sz="1450" b="1" dirty="0">
                <a:solidFill>
                  <a:srgbClr val="1E2761"/>
                </a:solidFill>
                <a:latin typeface="Cambria" pitchFamily="34" charset="0"/>
                <a:ea typeface="Cambria" pitchFamily="34" charset="-122"/>
                <a:cs typeface="Cambria" pitchFamily="34" charset="-120"/>
              </a:rPr>
              <a:t>Directing and motivating the men at work</a:t>
            </a:r>
            <a:endParaRPr lang="en-US" sz="1450" dirty="0"/>
          </a:p>
        </p:txBody>
      </p:sp>
      <p:sp>
        <p:nvSpPr>
          <p:cNvPr id="22" name="Text 17"/>
          <p:cNvSpPr/>
          <p:nvPr/>
        </p:nvSpPr>
        <p:spPr>
          <a:xfrm>
            <a:off x="8412480" y="4892040"/>
            <a:ext cx="3017520" cy="73152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to achieve the desired results</a:t>
            </a:r>
            <a:endParaRPr lang="en-US" sz="1200" dirty="0"/>
          </a:p>
        </p:txBody>
      </p:sp>
      <p:sp>
        <p:nvSpPr>
          <p:cNvPr id="23" name="Text 1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1.2 MEANING OF MANAGEMENT</a:t>
            </a:r>
            <a:endParaRPr lang="en-US" sz="1000" dirty="0"/>
          </a:p>
        </p:txBody>
      </p:sp>
      <p:sp>
        <p:nvSpPr>
          <p:cNvPr id="24" name="Text 1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1.9. NATURE OR CHARACTERISTICS OF MANAGEMENT</a:t>
            </a:r>
            <a:endParaRPr lang="en-US" sz="2400" dirty="0"/>
          </a:p>
        </p:txBody>
      </p:sp>
      <p:sp>
        <p:nvSpPr>
          <p:cNvPr id="3" name="Text 1"/>
          <p:cNvSpPr/>
          <p:nvPr/>
        </p:nvSpPr>
        <p:spPr>
          <a:xfrm>
            <a:off x="548640" y="960120"/>
            <a:ext cx="10972800" cy="36576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Seven features that define management as a field of study and practice</a:t>
            </a:r>
            <a:endParaRPr lang="en-US" sz="1400" dirty="0"/>
          </a:p>
        </p:txBody>
      </p:sp>
      <p:sp>
        <p:nvSpPr>
          <p:cNvPr id="4" name="Shape 2"/>
          <p:cNvSpPr/>
          <p:nvPr/>
        </p:nvSpPr>
        <p:spPr>
          <a:xfrm>
            <a:off x="548640" y="1554480"/>
            <a:ext cx="2606040" cy="1965960"/>
          </a:xfrm>
          <a:prstGeom prst="roundRect">
            <a:avLst>
              <a:gd name="adj" fmla="val 4186"/>
            </a:avLst>
          </a:prstGeom>
          <a:solidFill>
            <a:srgbClr val="1E2761"/>
          </a:solidFill>
          <a:ln/>
        </p:spPr>
      </p:sp>
      <p:sp>
        <p:nvSpPr>
          <p:cNvPr id="5" name="Shape 3"/>
          <p:cNvSpPr/>
          <p:nvPr/>
        </p:nvSpPr>
        <p:spPr>
          <a:xfrm>
            <a:off x="749808" y="1755648"/>
            <a:ext cx="502920" cy="502920"/>
          </a:xfrm>
          <a:prstGeom prst="ellipse">
            <a:avLst/>
          </a:prstGeom>
          <a:solidFill>
            <a:srgbClr val="C9A24B"/>
          </a:solidFill>
          <a:ln/>
        </p:spPr>
      </p:sp>
      <p:pic>
        <p:nvPicPr>
          <p:cNvPr id="6" name="Image 0" descr="preencoded.png">    </p:cNvPr>
          <p:cNvPicPr>
            <a:picLocks noChangeAspect="1"/>
          </p:cNvPicPr>
          <p:nvPr/>
        </p:nvPicPr>
        <p:blipFill>
          <a:blip r:embed="rId1"/>
          <a:stretch>
            <a:fillRect/>
          </a:stretch>
        </p:blipFill>
        <p:spPr>
          <a:xfrm>
            <a:off x="880567" y="1886407"/>
            <a:ext cx="241402" cy="241402"/>
          </a:xfrm>
          <a:prstGeom prst="rect">
            <a:avLst/>
          </a:prstGeom>
        </p:spPr>
      </p:pic>
      <p:sp>
        <p:nvSpPr>
          <p:cNvPr id="7" name="Text 4"/>
          <p:cNvSpPr/>
          <p:nvPr/>
        </p:nvSpPr>
        <p:spPr>
          <a:xfrm>
            <a:off x="2560320" y="168249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1</a:t>
            </a:r>
            <a:endParaRPr lang="en-US" sz="1800" dirty="0"/>
          </a:p>
        </p:txBody>
      </p:sp>
      <p:sp>
        <p:nvSpPr>
          <p:cNvPr id="8" name="Text 5"/>
          <p:cNvSpPr/>
          <p:nvPr/>
        </p:nvSpPr>
        <p:spPr>
          <a:xfrm>
            <a:off x="749808" y="242316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As old as human civilization</a:t>
            </a:r>
            <a:endParaRPr lang="en-US" sz="1250" dirty="0"/>
          </a:p>
        </p:txBody>
      </p:sp>
      <p:sp>
        <p:nvSpPr>
          <p:cNvPr id="9" name="Shape 6"/>
          <p:cNvSpPr/>
          <p:nvPr/>
        </p:nvSpPr>
        <p:spPr>
          <a:xfrm>
            <a:off x="3319272" y="1554480"/>
            <a:ext cx="2606040" cy="1965960"/>
          </a:xfrm>
          <a:prstGeom prst="roundRect">
            <a:avLst>
              <a:gd name="adj" fmla="val 4186"/>
            </a:avLst>
          </a:prstGeom>
          <a:solidFill>
            <a:srgbClr val="1E2761"/>
          </a:solidFill>
          <a:ln/>
        </p:spPr>
      </p:sp>
      <p:sp>
        <p:nvSpPr>
          <p:cNvPr id="10" name="Shape 7"/>
          <p:cNvSpPr/>
          <p:nvPr/>
        </p:nvSpPr>
        <p:spPr>
          <a:xfrm>
            <a:off x="3520440" y="1755648"/>
            <a:ext cx="502920" cy="502920"/>
          </a:xfrm>
          <a:prstGeom prst="ellipse">
            <a:avLst/>
          </a:prstGeom>
          <a:solidFill>
            <a:srgbClr val="C9A24B"/>
          </a:solidFill>
          <a:ln/>
        </p:spPr>
      </p:sp>
      <p:pic>
        <p:nvPicPr>
          <p:cNvPr id="11" name="Image 1" descr="preencoded.png">    </p:cNvPr>
          <p:cNvPicPr>
            <a:picLocks noChangeAspect="1"/>
          </p:cNvPicPr>
          <p:nvPr/>
        </p:nvPicPr>
        <p:blipFill>
          <a:blip r:embed="rId2"/>
          <a:stretch>
            <a:fillRect/>
          </a:stretch>
        </p:blipFill>
        <p:spPr>
          <a:xfrm>
            <a:off x="3651199" y="1886407"/>
            <a:ext cx="241402" cy="241402"/>
          </a:xfrm>
          <a:prstGeom prst="rect">
            <a:avLst/>
          </a:prstGeom>
        </p:spPr>
      </p:pic>
      <p:sp>
        <p:nvSpPr>
          <p:cNvPr id="12" name="Text 8"/>
          <p:cNvSpPr/>
          <p:nvPr/>
        </p:nvSpPr>
        <p:spPr>
          <a:xfrm>
            <a:off x="5330952" y="168249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2</a:t>
            </a:r>
            <a:endParaRPr lang="en-US" sz="1800" dirty="0"/>
          </a:p>
        </p:txBody>
      </p:sp>
      <p:sp>
        <p:nvSpPr>
          <p:cNvPr id="13" name="Text 9"/>
          <p:cNvSpPr/>
          <p:nvPr/>
        </p:nvSpPr>
        <p:spPr>
          <a:xfrm>
            <a:off x="3520440" y="242316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 universal process</a:t>
            </a:r>
            <a:endParaRPr lang="en-US" sz="1250" dirty="0"/>
          </a:p>
        </p:txBody>
      </p:sp>
      <p:sp>
        <p:nvSpPr>
          <p:cNvPr id="14" name="Shape 10"/>
          <p:cNvSpPr/>
          <p:nvPr/>
        </p:nvSpPr>
        <p:spPr>
          <a:xfrm>
            <a:off x="6089904" y="1554480"/>
            <a:ext cx="2606040" cy="1965960"/>
          </a:xfrm>
          <a:prstGeom prst="roundRect">
            <a:avLst>
              <a:gd name="adj" fmla="val 4186"/>
            </a:avLst>
          </a:prstGeom>
          <a:solidFill>
            <a:srgbClr val="1E2761"/>
          </a:solidFill>
          <a:ln/>
        </p:spPr>
      </p:sp>
      <p:sp>
        <p:nvSpPr>
          <p:cNvPr id="15" name="Shape 11"/>
          <p:cNvSpPr/>
          <p:nvPr/>
        </p:nvSpPr>
        <p:spPr>
          <a:xfrm>
            <a:off x="6291072" y="1755648"/>
            <a:ext cx="502920" cy="502920"/>
          </a:xfrm>
          <a:prstGeom prst="ellipse">
            <a:avLst/>
          </a:prstGeom>
          <a:solidFill>
            <a:srgbClr val="C9A24B"/>
          </a:solidFill>
          <a:ln/>
        </p:spPr>
      </p:sp>
      <p:pic>
        <p:nvPicPr>
          <p:cNvPr id="16" name="Image 2" descr="preencoded.png">    </p:cNvPr>
          <p:cNvPicPr>
            <a:picLocks noChangeAspect="1"/>
          </p:cNvPicPr>
          <p:nvPr/>
        </p:nvPicPr>
        <p:blipFill>
          <a:blip r:embed="rId3"/>
          <a:stretch>
            <a:fillRect/>
          </a:stretch>
        </p:blipFill>
        <p:spPr>
          <a:xfrm>
            <a:off x="6421831" y="1886407"/>
            <a:ext cx="241402" cy="241402"/>
          </a:xfrm>
          <a:prstGeom prst="rect">
            <a:avLst/>
          </a:prstGeom>
        </p:spPr>
      </p:pic>
      <p:sp>
        <p:nvSpPr>
          <p:cNvPr id="17" name="Text 12"/>
          <p:cNvSpPr/>
          <p:nvPr/>
        </p:nvSpPr>
        <p:spPr>
          <a:xfrm>
            <a:off x="8101584" y="168249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3</a:t>
            </a:r>
            <a:endParaRPr lang="en-US" sz="1800" dirty="0"/>
          </a:p>
        </p:txBody>
      </p:sp>
      <p:sp>
        <p:nvSpPr>
          <p:cNvPr id="18" name="Text 13"/>
          <p:cNvSpPr/>
          <p:nvPr/>
        </p:nvSpPr>
        <p:spPr>
          <a:xfrm>
            <a:off x="6291072" y="242316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Purposive, goal-oriented</a:t>
            </a:r>
            <a:endParaRPr lang="en-US" sz="1250" dirty="0"/>
          </a:p>
        </p:txBody>
      </p:sp>
      <p:sp>
        <p:nvSpPr>
          <p:cNvPr id="19" name="Shape 14"/>
          <p:cNvSpPr/>
          <p:nvPr/>
        </p:nvSpPr>
        <p:spPr>
          <a:xfrm>
            <a:off x="8860536" y="1554480"/>
            <a:ext cx="2606040" cy="1965960"/>
          </a:xfrm>
          <a:prstGeom prst="roundRect">
            <a:avLst>
              <a:gd name="adj" fmla="val 4186"/>
            </a:avLst>
          </a:prstGeom>
          <a:solidFill>
            <a:srgbClr val="1E2761"/>
          </a:solidFill>
          <a:ln/>
        </p:spPr>
      </p:sp>
      <p:sp>
        <p:nvSpPr>
          <p:cNvPr id="20" name="Shape 15"/>
          <p:cNvSpPr/>
          <p:nvPr/>
        </p:nvSpPr>
        <p:spPr>
          <a:xfrm>
            <a:off x="9061704" y="1755648"/>
            <a:ext cx="502920" cy="502920"/>
          </a:xfrm>
          <a:prstGeom prst="ellipse">
            <a:avLst/>
          </a:prstGeom>
          <a:solidFill>
            <a:srgbClr val="C9A24B"/>
          </a:solidFill>
          <a:ln/>
        </p:spPr>
      </p:sp>
      <p:pic>
        <p:nvPicPr>
          <p:cNvPr id="21" name="Image 3" descr="preencoded.png">    </p:cNvPr>
          <p:cNvPicPr>
            <a:picLocks noChangeAspect="1"/>
          </p:cNvPicPr>
          <p:nvPr/>
        </p:nvPicPr>
        <p:blipFill>
          <a:blip r:embed="rId4"/>
          <a:stretch>
            <a:fillRect/>
          </a:stretch>
        </p:blipFill>
        <p:spPr>
          <a:xfrm>
            <a:off x="9192463" y="1886407"/>
            <a:ext cx="241402" cy="241402"/>
          </a:xfrm>
          <a:prstGeom prst="rect">
            <a:avLst/>
          </a:prstGeom>
        </p:spPr>
      </p:pic>
      <p:sp>
        <p:nvSpPr>
          <p:cNvPr id="22" name="Text 16"/>
          <p:cNvSpPr/>
          <p:nvPr/>
        </p:nvSpPr>
        <p:spPr>
          <a:xfrm>
            <a:off x="10872216" y="168249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4</a:t>
            </a:r>
            <a:endParaRPr lang="en-US" sz="1800" dirty="0"/>
          </a:p>
        </p:txBody>
      </p:sp>
      <p:sp>
        <p:nvSpPr>
          <p:cNvPr id="23" name="Text 17"/>
          <p:cNvSpPr/>
          <p:nvPr/>
        </p:nvSpPr>
        <p:spPr>
          <a:xfrm>
            <a:off x="9061704" y="242316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An abstraction, but managers are real beings</a:t>
            </a:r>
            <a:endParaRPr lang="en-US" sz="1250" dirty="0"/>
          </a:p>
        </p:txBody>
      </p:sp>
      <p:sp>
        <p:nvSpPr>
          <p:cNvPr id="24" name="Shape 18"/>
          <p:cNvSpPr/>
          <p:nvPr/>
        </p:nvSpPr>
        <p:spPr>
          <a:xfrm>
            <a:off x="548640" y="3749040"/>
            <a:ext cx="2606040" cy="1965960"/>
          </a:xfrm>
          <a:prstGeom prst="roundRect">
            <a:avLst>
              <a:gd name="adj" fmla="val 4186"/>
            </a:avLst>
          </a:prstGeom>
          <a:solidFill>
            <a:srgbClr val="1E2761"/>
          </a:solidFill>
          <a:ln/>
        </p:spPr>
      </p:sp>
      <p:sp>
        <p:nvSpPr>
          <p:cNvPr id="25" name="Shape 19"/>
          <p:cNvSpPr/>
          <p:nvPr/>
        </p:nvSpPr>
        <p:spPr>
          <a:xfrm>
            <a:off x="749808" y="3950208"/>
            <a:ext cx="502920" cy="502920"/>
          </a:xfrm>
          <a:prstGeom prst="ellipse">
            <a:avLst/>
          </a:prstGeom>
          <a:solidFill>
            <a:srgbClr val="C9A24B"/>
          </a:solidFill>
          <a:ln/>
        </p:spPr>
      </p:sp>
      <p:pic>
        <p:nvPicPr>
          <p:cNvPr id="26" name="Image 4" descr="preencoded.png">    </p:cNvPr>
          <p:cNvPicPr>
            <a:picLocks noChangeAspect="1"/>
          </p:cNvPicPr>
          <p:nvPr/>
        </p:nvPicPr>
        <p:blipFill>
          <a:blip r:embed="rId5"/>
          <a:stretch>
            <a:fillRect/>
          </a:stretch>
        </p:blipFill>
        <p:spPr>
          <a:xfrm>
            <a:off x="880567" y="4080967"/>
            <a:ext cx="241402" cy="241402"/>
          </a:xfrm>
          <a:prstGeom prst="rect">
            <a:avLst/>
          </a:prstGeom>
        </p:spPr>
      </p:pic>
      <p:sp>
        <p:nvSpPr>
          <p:cNvPr id="27" name="Text 20"/>
          <p:cNvSpPr/>
          <p:nvPr/>
        </p:nvSpPr>
        <p:spPr>
          <a:xfrm>
            <a:off x="2560320" y="387705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5</a:t>
            </a:r>
            <a:endParaRPr lang="en-US" sz="1800" dirty="0"/>
          </a:p>
        </p:txBody>
      </p:sp>
      <p:sp>
        <p:nvSpPr>
          <p:cNvPr id="28" name="Text 21"/>
          <p:cNvSpPr/>
          <p:nvPr/>
        </p:nvSpPr>
        <p:spPr>
          <a:xfrm>
            <a:off x="749808" y="461772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Multi-disciplinary</a:t>
            </a:r>
            <a:endParaRPr lang="en-US" sz="1250" dirty="0"/>
          </a:p>
        </p:txBody>
      </p:sp>
      <p:sp>
        <p:nvSpPr>
          <p:cNvPr id="29" name="Shape 22"/>
          <p:cNvSpPr/>
          <p:nvPr/>
        </p:nvSpPr>
        <p:spPr>
          <a:xfrm>
            <a:off x="3319272" y="3749040"/>
            <a:ext cx="2606040" cy="1965960"/>
          </a:xfrm>
          <a:prstGeom prst="roundRect">
            <a:avLst>
              <a:gd name="adj" fmla="val 4186"/>
            </a:avLst>
          </a:prstGeom>
          <a:solidFill>
            <a:srgbClr val="1E2761"/>
          </a:solidFill>
          <a:ln/>
        </p:spPr>
      </p:sp>
      <p:sp>
        <p:nvSpPr>
          <p:cNvPr id="30" name="Shape 23"/>
          <p:cNvSpPr/>
          <p:nvPr/>
        </p:nvSpPr>
        <p:spPr>
          <a:xfrm>
            <a:off x="3520440" y="3950208"/>
            <a:ext cx="502920" cy="502920"/>
          </a:xfrm>
          <a:prstGeom prst="ellipse">
            <a:avLst/>
          </a:prstGeom>
          <a:solidFill>
            <a:srgbClr val="C9A24B"/>
          </a:solidFill>
          <a:ln/>
        </p:spPr>
      </p:sp>
      <p:pic>
        <p:nvPicPr>
          <p:cNvPr id="31" name="Image 5" descr="preencoded.png">    </p:cNvPr>
          <p:cNvPicPr>
            <a:picLocks noChangeAspect="1"/>
          </p:cNvPicPr>
          <p:nvPr/>
        </p:nvPicPr>
        <p:blipFill>
          <a:blip r:embed="rId6"/>
          <a:stretch>
            <a:fillRect/>
          </a:stretch>
        </p:blipFill>
        <p:spPr>
          <a:xfrm>
            <a:off x="3651199" y="4080967"/>
            <a:ext cx="241402" cy="241402"/>
          </a:xfrm>
          <a:prstGeom prst="rect">
            <a:avLst/>
          </a:prstGeom>
        </p:spPr>
      </p:pic>
      <p:sp>
        <p:nvSpPr>
          <p:cNvPr id="32" name="Text 24"/>
          <p:cNvSpPr/>
          <p:nvPr/>
        </p:nvSpPr>
        <p:spPr>
          <a:xfrm>
            <a:off x="5330952" y="387705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6</a:t>
            </a:r>
            <a:endParaRPr lang="en-US" sz="1800" dirty="0"/>
          </a:p>
        </p:txBody>
      </p:sp>
      <p:sp>
        <p:nvSpPr>
          <p:cNvPr id="33" name="Text 25"/>
          <p:cNvSpPr/>
          <p:nvPr/>
        </p:nvSpPr>
        <p:spPr>
          <a:xfrm>
            <a:off x="3520440" y="461772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Dynamic principles</a:t>
            </a:r>
            <a:endParaRPr lang="en-US" sz="1250" dirty="0"/>
          </a:p>
        </p:txBody>
      </p:sp>
      <p:sp>
        <p:nvSpPr>
          <p:cNvPr id="34" name="Shape 26"/>
          <p:cNvSpPr/>
          <p:nvPr/>
        </p:nvSpPr>
        <p:spPr>
          <a:xfrm>
            <a:off x="6089904" y="3749040"/>
            <a:ext cx="2606040" cy="1965960"/>
          </a:xfrm>
          <a:prstGeom prst="roundRect">
            <a:avLst>
              <a:gd name="adj" fmla="val 4186"/>
            </a:avLst>
          </a:prstGeom>
          <a:solidFill>
            <a:srgbClr val="1E2761"/>
          </a:solidFill>
          <a:ln/>
        </p:spPr>
      </p:sp>
      <p:sp>
        <p:nvSpPr>
          <p:cNvPr id="35" name="Shape 27"/>
          <p:cNvSpPr/>
          <p:nvPr/>
        </p:nvSpPr>
        <p:spPr>
          <a:xfrm>
            <a:off x="6291072" y="3950208"/>
            <a:ext cx="502920" cy="502920"/>
          </a:xfrm>
          <a:prstGeom prst="ellipse">
            <a:avLst/>
          </a:prstGeom>
          <a:solidFill>
            <a:srgbClr val="C9A24B"/>
          </a:solidFill>
          <a:ln/>
        </p:spPr>
      </p:sp>
      <p:pic>
        <p:nvPicPr>
          <p:cNvPr id="36" name="Image 6" descr="preencoded.png">    </p:cNvPr>
          <p:cNvPicPr>
            <a:picLocks noChangeAspect="1"/>
          </p:cNvPicPr>
          <p:nvPr/>
        </p:nvPicPr>
        <p:blipFill>
          <a:blip r:embed="rId7"/>
          <a:stretch>
            <a:fillRect/>
          </a:stretch>
        </p:blipFill>
        <p:spPr>
          <a:xfrm>
            <a:off x="6421831" y="4080967"/>
            <a:ext cx="241402" cy="241402"/>
          </a:xfrm>
          <a:prstGeom prst="rect">
            <a:avLst/>
          </a:prstGeom>
        </p:spPr>
      </p:pic>
      <p:sp>
        <p:nvSpPr>
          <p:cNvPr id="37" name="Text 28"/>
          <p:cNvSpPr/>
          <p:nvPr/>
        </p:nvSpPr>
        <p:spPr>
          <a:xfrm>
            <a:off x="8101584" y="3877056"/>
            <a:ext cx="457200" cy="365760"/>
          </a:xfrm>
          <a:prstGeom prst="rect">
            <a:avLst/>
          </a:prstGeom>
          <a:noFill/>
          <a:ln/>
        </p:spPr>
        <p:txBody>
          <a:bodyPr wrap="square" lIns="0" tIns="0" rIns="0" bIns="0" rtlCol="0" anchor="ctr"/>
          <a:lstStyle/>
          <a:p>
            <a:pPr algn="r" indent="0" marL="0">
              <a:buNone/>
            </a:pPr>
            <a:r>
              <a:rPr lang="en-US" sz="1800" b="1" dirty="0">
                <a:solidFill>
                  <a:srgbClr val="C9A24B"/>
                </a:solidFill>
                <a:latin typeface="Cambria" pitchFamily="34" charset="0"/>
                <a:ea typeface="Cambria" pitchFamily="34" charset="-122"/>
                <a:cs typeface="Cambria" pitchFamily="34" charset="-120"/>
              </a:rPr>
              <a:t>7</a:t>
            </a:r>
            <a:endParaRPr lang="en-US" sz="1800" dirty="0"/>
          </a:p>
        </p:txBody>
      </p:sp>
      <p:sp>
        <p:nvSpPr>
          <p:cNvPr id="38" name="Text 29"/>
          <p:cNvSpPr/>
          <p:nvPr/>
        </p:nvSpPr>
        <p:spPr>
          <a:xfrm>
            <a:off x="6291072" y="4617720"/>
            <a:ext cx="2203704" cy="96012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Relative, not absolute</a:t>
            </a:r>
            <a:endParaRPr lang="en-US" sz="1250" dirty="0"/>
          </a:p>
        </p:txBody>
      </p:sp>
      <p:sp>
        <p:nvSpPr>
          <p:cNvPr id="39" name="Text 30"/>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40" name="Text 31"/>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 Management is as Old as Human Civilization</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Management has been in practice ever since human beings realized the need and importance of working in groups.</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Its development as a formal body of knowledge is of a recent origin.</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However, over the years, the theory and application of management techniques has transformed the very nature of management.</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Ancient Organization</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Building the pyramids of Egypt or running early trade caravans required planning, division of labour, and supervision — management in practice, long before it became a formal subject.</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(2) Management is a Universal Process</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Management basically means coordination of human and material resources to accomplish organizational objectives.</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In essence, it is a mental exercise, concerned with thinking, feeling, and intuiting.</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Wherever there is human activity — individual or joint — there is management. The basic characteristics remain the same whether the organization is a family, club, trade union, charitable or religious trust, municipality, a business entity, or the government.</a:t>
            </a:r>
            <a:endParaRPr lang="en-US" sz="1450" dirty="0"/>
          </a:p>
          <a:p>
            <a:pPr indent="0" marL="0">
              <a:lnSpc>
                <a:spcPct val="115000"/>
              </a:lnSpc>
              <a:buNone/>
            </a:pPr>
            <a:r>
              <a:rPr lang="en-US" sz="1450" i="1" dirty="0">
                <a:solidFill>
                  <a:srgbClr val="2B2B33"/>
                </a:solidFill>
                <a:latin typeface="Calibri" pitchFamily="34" charset="0"/>
                <a:ea typeface="Calibri" pitchFamily="34" charset="-122"/>
                <a:cs typeface="Calibri" pitchFamily="34" charset="-120"/>
              </a:rPr>
              <a:t>As Socrates put it: a person will be a good leader if he knows what he needs and is able to provide it — whether leading a chorus, a family, a city, or an army.</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Same Process, Different Settings</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family head planning the monthly budget and a company CEO planning the annual budget are both forecasting, organizing, and controlling — the same managerial process at different scales.</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(3) Management is Purposive, Goal-Oriented</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The objectives sought to be accomplished are those of the organization, determined by the people who create it, and manage and control its affairs to accomplish them.</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Organizational goals may relate to: (a) maximization of profit or minimization of loss; (b) achieving an awe-inspiring market standing; (c) improving worker productivity; (d) production of new products and services; (e) acquisition of physical and financial resources; (f) delivering superior managerial performance; and (g) discharge of community obligations and social responsibility.</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This requires setting standards, measuring actual performance against them, decision-making, and taking corrective action.</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Goal in Action</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retail company setting a target of ‘20% sales growth this year’ and directing every department toward that single number illustrates purposive, goal-oriented management.</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(4) Management is an Abstraction, but Managers are Real Beings</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Management is only a word, an idea — it is non-existent. It is an abstraction, just as any institution, including government, is an abstraction.</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It is meant to make effective and efficient use of men, money, material, machines and methods. One cannot feel the process of management itself, though one can see and judge the people occupying management positions.</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The people in charge of management, however, are real human beings — a special kind who possess the rare ability to lead and motivate subordinates. They are catalysts who transform human and material resources into a powerful engine that accomplishes organizational objectives.</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Idea vs. People</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You cannot touch ‘management’, but you can shake hands with the production manager or marketing manager who practises it every day.</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(5) Management is Multi-Disciplinary</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Management emerged as an essential institution to integrate human and material resources of an organization, but it did not receive concerted attention until the end of the nineteenth century.</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Over a relatively short period, several authors and management experts have made significant contributions to enrich the theory and practice of management, positioning it as a discipline in its own right.</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Since business management operates in the context of diverse organizations and objectives, its theory has necessarily to be broad-based. It has heavily drawn on theories and practices of several relevant disciplines: Sociology, Psychology, Anthropology, Economics, Political Science, Philosophy and Mathematics.</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Researches in various disciplines provide a theoretical base; experience gained in practice also modifies or redefines management theory.</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Borrowed Foundations</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manager uses Psychology to motivate staff, Economics to price a product, and Mathematics to build a budget — one job, many disciplines.</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(6) Management Principles are Dynamic Principles</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Practitioners of management were the first to formulate the principles of management, based on their own experience, making important contributions to managerial theory and practice.</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People engaged in other disciplines have also concentrated attention on the problems of organizations in society, contributing to the development of management theory.</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However, the principles of management are not rigid — they are flexible and liable to change with any significant change in the environment.</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For example, management theorists once believed workers would work only under fear of wage-cuts or dismissal. Over the years, researchers found that treating workers with due consideration could also motivate them to put in greater effort.</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Theory that Evolves</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The shift from ‘fear of dismissal’ to ‘employee motivation and consideration’ shows how a management principle changed as understanding of human behaviour improved.</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1.9. NATURE / CHARACTERISTICS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(7) Management Principles are Relative, Not Absolute</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The principles of management cannot be blindly applied to all situations.</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Every person or organization has certain features which may not be found in others. This may be due to time, place, socio-cultural factors, and so on.</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Thus, while application of a particular principle in one situation may produce the desired result, in a different situation it may produce an altogether opposite outcome.</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Context Matters</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strict, top-down supervision style may work well on a factory floor but could demotivate a team of creative software designers — the same principle, opposite results.</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1.9 NATURE / CHARACTERISTICS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1.16. IMPORTANCE OF MANAGEMENT</a:t>
            </a:r>
            <a:endParaRPr lang="en-US" sz="2600" dirty="0"/>
          </a:p>
        </p:txBody>
      </p:sp>
      <p:sp>
        <p:nvSpPr>
          <p:cNvPr id="3" name="Text 1"/>
          <p:cNvSpPr/>
          <p:nvPr/>
        </p:nvSpPr>
        <p:spPr>
          <a:xfrm>
            <a:off x="548640" y="1005840"/>
            <a:ext cx="10972800" cy="36576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Why organizations cannot function effectively without management</a:t>
            </a:r>
            <a:endParaRPr lang="en-US" sz="1400" dirty="0"/>
          </a:p>
        </p:txBody>
      </p:sp>
      <p:sp>
        <p:nvSpPr>
          <p:cNvPr id="4" name="Shape 2"/>
          <p:cNvSpPr/>
          <p:nvPr/>
        </p:nvSpPr>
        <p:spPr>
          <a:xfrm>
            <a:off x="548640" y="1874520"/>
            <a:ext cx="11064240" cy="960120"/>
          </a:xfrm>
          <a:prstGeom prst="roundRect">
            <a:avLst>
              <a:gd name="adj" fmla="val 8571"/>
            </a:avLst>
          </a:prstGeom>
          <a:solidFill>
            <a:srgbClr val="1E2761"/>
          </a:solidFill>
          <a:ln/>
        </p:spPr>
      </p:sp>
      <p:sp>
        <p:nvSpPr>
          <p:cNvPr id="5" name="Shape 3"/>
          <p:cNvSpPr/>
          <p:nvPr/>
        </p:nvSpPr>
        <p:spPr>
          <a:xfrm>
            <a:off x="822960" y="2057400"/>
            <a:ext cx="594360" cy="594360"/>
          </a:xfrm>
          <a:prstGeom prst="ellipse">
            <a:avLst/>
          </a:prstGeom>
          <a:solidFill>
            <a:srgbClr val="C9A24B"/>
          </a:solidFill>
          <a:ln/>
        </p:spPr>
      </p:sp>
      <p:pic>
        <p:nvPicPr>
          <p:cNvPr id="6" name="Image 0" descr="preencoded.png">    </p:cNvPr>
          <p:cNvPicPr>
            <a:picLocks noChangeAspect="1"/>
          </p:cNvPicPr>
          <p:nvPr/>
        </p:nvPicPr>
        <p:blipFill>
          <a:blip r:embed="rId1"/>
          <a:stretch>
            <a:fillRect/>
          </a:stretch>
        </p:blipFill>
        <p:spPr>
          <a:xfrm>
            <a:off x="977494" y="2211934"/>
            <a:ext cx="285293" cy="285293"/>
          </a:xfrm>
          <a:prstGeom prst="rect">
            <a:avLst/>
          </a:prstGeom>
        </p:spPr>
      </p:pic>
      <p:sp>
        <p:nvSpPr>
          <p:cNvPr id="7" name="Text 4"/>
          <p:cNvSpPr/>
          <p:nvPr/>
        </p:nvSpPr>
        <p:spPr>
          <a:xfrm>
            <a:off x="1691640" y="1965960"/>
            <a:ext cx="548640" cy="777240"/>
          </a:xfrm>
          <a:prstGeom prst="rect">
            <a:avLst/>
          </a:prstGeom>
          <a:noFill/>
          <a:ln/>
        </p:spPr>
        <p:txBody>
          <a:bodyPr wrap="square" lIns="0" tIns="0" rIns="0" bIns="0" rtlCol="0" anchor="ctr"/>
          <a:lstStyle/>
          <a:p>
            <a:pPr indent="0" marL="0">
              <a:buNone/>
            </a:pPr>
            <a:r>
              <a:rPr lang="en-US" sz="2600" b="1" dirty="0">
                <a:solidFill>
                  <a:srgbClr val="C9A24B"/>
                </a:solidFill>
                <a:latin typeface="Cambria" pitchFamily="34" charset="0"/>
                <a:ea typeface="Cambria" pitchFamily="34" charset="-122"/>
                <a:cs typeface="Cambria" pitchFamily="34" charset="-120"/>
              </a:rPr>
              <a:t>1</a:t>
            </a:r>
            <a:endParaRPr lang="en-US" sz="2600" dirty="0"/>
          </a:p>
        </p:txBody>
      </p:sp>
      <p:sp>
        <p:nvSpPr>
          <p:cNvPr id="8" name="Text 5"/>
          <p:cNvSpPr/>
          <p:nvPr/>
        </p:nvSpPr>
        <p:spPr>
          <a:xfrm>
            <a:off x="2286000" y="1965960"/>
            <a:ext cx="896112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Turns organization resources into production engine</a:t>
            </a:r>
            <a:endParaRPr lang="en-US" sz="1700" dirty="0"/>
          </a:p>
        </p:txBody>
      </p:sp>
      <p:sp>
        <p:nvSpPr>
          <p:cNvPr id="9" name="Shape 6"/>
          <p:cNvSpPr/>
          <p:nvPr/>
        </p:nvSpPr>
        <p:spPr>
          <a:xfrm>
            <a:off x="548640" y="2990088"/>
            <a:ext cx="11064240" cy="960120"/>
          </a:xfrm>
          <a:prstGeom prst="roundRect">
            <a:avLst>
              <a:gd name="adj" fmla="val 8571"/>
            </a:avLst>
          </a:prstGeom>
          <a:solidFill>
            <a:srgbClr val="1E2761"/>
          </a:solidFill>
          <a:ln/>
        </p:spPr>
      </p:sp>
      <p:sp>
        <p:nvSpPr>
          <p:cNvPr id="10" name="Shape 7"/>
          <p:cNvSpPr/>
          <p:nvPr/>
        </p:nvSpPr>
        <p:spPr>
          <a:xfrm>
            <a:off x="822960" y="3172968"/>
            <a:ext cx="594360" cy="594360"/>
          </a:xfrm>
          <a:prstGeom prst="ellipse">
            <a:avLst/>
          </a:prstGeom>
          <a:solidFill>
            <a:srgbClr val="C9A24B"/>
          </a:solidFill>
          <a:ln/>
        </p:spPr>
      </p:sp>
      <p:pic>
        <p:nvPicPr>
          <p:cNvPr id="11" name="Image 1" descr="preencoded.png">    </p:cNvPr>
          <p:cNvPicPr>
            <a:picLocks noChangeAspect="1"/>
          </p:cNvPicPr>
          <p:nvPr/>
        </p:nvPicPr>
        <p:blipFill>
          <a:blip r:embed="rId2"/>
          <a:stretch>
            <a:fillRect/>
          </a:stretch>
        </p:blipFill>
        <p:spPr>
          <a:xfrm>
            <a:off x="977494" y="3327502"/>
            <a:ext cx="285293" cy="285293"/>
          </a:xfrm>
          <a:prstGeom prst="rect">
            <a:avLst/>
          </a:prstGeom>
        </p:spPr>
      </p:pic>
      <p:sp>
        <p:nvSpPr>
          <p:cNvPr id="12" name="Text 8"/>
          <p:cNvSpPr/>
          <p:nvPr/>
        </p:nvSpPr>
        <p:spPr>
          <a:xfrm>
            <a:off x="1691640" y="3081528"/>
            <a:ext cx="548640" cy="777240"/>
          </a:xfrm>
          <a:prstGeom prst="rect">
            <a:avLst/>
          </a:prstGeom>
          <a:noFill/>
          <a:ln/>
        </p:spPr>
        <p:txBody>
          <a:bodyPr wrap="square" lIns="0" tIns="0" rIns="0" bIns="0" rtlCol="0" anchor="ctr"/>
          <a:lstStyle/>
          <a:p>
            <a:pPr indent="0" marL="0">
              <a:buNone/>
            </a:pPr>
            <a:r>
              <a:rPr lang="en-US" sz="2600" b="1" dirty="0">
                <a:solidFill>
                  <a:srgbClr val="C9A24B"/>
                </a:solidFill>
                <a:latin typeface="Cambria" pitchFamily="34" charset="0"/>
                <a:ea typeface="Cambria" pitchFamily="34" charset="-122"/>
                <a:cs typeface="Cambria" pitchFamily="34" charset="-120"/>
              </a:rPr>
              <a:t>2</a:t>
            </a:r>
            <a:endParaRPr lang="en-US" sz="2600" dirty="0"/>
          </a:p>
        </p:txBody>
      </p:sp>
      <p:sp>
        <p:nvSpPr>
          <p:cNvPr id="13" name="Text 9"/>
          <p:cNvSpPr/>
          <p:nvPr/>
        </p:nvSpPr>
        <p:spPr>
          <a:xfrm>
            <a:off x="2286000" y="3081528"/>
            <a:ext cx="896112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Helps create sound organization structure</a:t>
            </a:r>
            <a:endParaRPr lang="en-US" sz="1700" dirty="0"/>
          </a:p>
        </p:txBody>
      </p:sp>
      <p:sp>
        <p:nvSpPr>
          <p:cNvPr id="14" name="Shape 10"/>
          <p:cNvSpPr/>
          <p:nvPr/>
        </p:nvSpPr>
        <p:spPr>
          <a:xfrm>
            <a:off x="548640" y="4105656"/>
            <a:ext cx="11064240" cy="960120"/>
          </a:xfrm>
          <a:prstGeom prst="roundRect">
            <a:avLst>
              <a:gd name="adj" fmla="val 8571"/>
            </a:avLst>
          </a:prstGeom>
          <a:solidFill>
            <a:srgbClr val="1E2761"/>
          </a:solidFill>
          <a:ln/>
        </p:spPr>
      </p:sp>
      <p:sp>
        <p:nvSpPr>
          <p:cNvPr id="15" name="Shape 11"/>
          <p:cNvSpPr/>
          <p:nvPr/>
        </p:nvSpPr>
        <p:spPr>
          <a:xfrm>
            <a:off x="822960" y="4288536"/>
            <a:ext cx="594360" cy="594360"/>
          </a:xfrm>
          <a:prstGeom prst="ellipse">
            <a:avLst/>
          </a:prstGeom>
          <a:solidFill>
            <a:srgbClr val="C9A24B"/>
          </a:solidFill>
          <a:ln/>
        </p:spPr>
      </p:sp>
      <p:pic>
        <p:nvPicPr>
          <p:cNvPr id="16" name="Image 2" descr="preencoded.png">    </p:cNvPr>
          <p:cNvPicPr>
            <a:picLocks noChangeAspect="1"/>
          </p:cNvPicPr>
          <p:nvPr/>
        </p:nvPicPr>
        <p:blipFill>
          <a:blip r:embed="rId3"/>
          <a:stretch>
            <a:fillRect/>
          </a:stretch>
        </p:blipFill>
        <p:spPr>
          <a:xfrm>
            <a:off x="977494" y="4443070"/>
            <a:ext cx="285293" cy="285293"/>
          </a:xfrm>
          <a:prstGeom prst="rect">
            <a:avLst/>
          </a:prstGeom>
        </p:spPr>
      </p:pic>
      <p:sp>
        <p:nvSpPr>
          <p:cNvPr id="17" name="Text 12"/>
          <p:cNvSpPr/>
          <p:nvPr/>
        </p:nvSpPr>
        <p:spPr>
          <a:xfrm>
            <a:off x="1691640" y="4197096"/>
            <a:ext cx="548640" cy="777240"/>
          </a:xfrm>
          <a:prstGeom prst="rect">
            <a:avLst/>
          </a:prstGeom>
          <a:noFill/>
          <a:ln/>
        </p:spPr>
        <p:txBody>
          <a:bodyPr wrap="square" lIns="0" tIns="0" rIns="0" bIns="0" rtlCol="0" anchor="ctr"/>
          <a:lstStyle/>
          <a:p>
            <a:pPr indent="0" marL="0">
              <a:buNone/>
            </a:pPr>
            <a:r>
              <a:rPr lang="en-US" sz="2600" b="1" dirty="0">
                <a:solidFill>
                  <a:srgbClr val="C9A24B"/>
                </a:solidFill>
                <a:latin typeface="Cambria" pitchFamily="34" charset="0"/>
                <a:ea typeface="Cambria" pitchFamily="34" charset="-122"/>
                <a:cs typeface="Cambria" pitchFamily="34" charset="-120"/>
              </a:rPr>
              <a:t>3</a:t>
            </a:r>
            <a:endParaRPr lang="en-US" sz="2600" dirty="0"/>
          </a:p>
        </p:txBody>
      </p:sp>
      <p:sp>
        <p:nvSpPr>
          <p:cNvPr id="18" name="Text 13"/>
          <p:cNvSpPr/>
          <p:nvPr/>
        </p:nvSpPr>
        <p:spPr>
          <a:xfrm>
            <a:off x="2286000" y="4197096"/>
            <a:ext cx="896112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Helps accomplishment of group goals</a:t>
            </a:r>
            <a:endParaRPr lang="en-US" sz="1700" dirty="0"/>
          </a:p>
        </p:txBody>
      </p:sp>
      <p:sp>
        <p:nvSpPr>
          <p:cNvPr id="19" name="Shape 14"/>
          <p:cNvSpPr/>
          <p:nvPr/>
        </p:nvSpPr>
        <p:spPr>
          <a:xfrm>
            <a:off x="548640" y="5221224"/>
            <a:ext cx="11064240" cy="960120"/>
          </a:xfrm>
          <a:prstGeom prst="roundRect">
            <a:avLst>
              <a:gd name="adj" fmla="val 8571"/>
            </a:avLst>
          </a:prstGeom>
          <a:solidFill>
            <a:srgbClr val="1E2761"/>
          </a:solidFill>
          <a:ln/>
        </p:spPr>
      </p:sp>
      <p:sp>
        <p:nvSpPr>
          <p:cNvPr id="20" name="Shape 15"/>
          <p:cNvSpPr/>
          <p:nvPr/>
        </p:nvSpPr>
        <p:spPr>
          <a:xfrm>
            <a:off x="822960" y="5404104"/>
            <a:ext cx="594360" cy="594360"/>
          </a:xfrm>
          <a:prstGeom prst="ellipse">
            <a:avLst/>
          </a:prstGeom>
          <a:solidFill>
            <a:srgbClr val="C9A24B"/>
          </a:solidFill>
          <a:ln/>
        </p:spPr>
      </p:sp>
      <p:pic>
        <p:nvPicPr>
          <p:cNvPr id="21" name="Image 3" descr="preencoded.png">    </p:cNvPr>
          <p:cNvPicPr>
            <a:picLocks noChangeAspect="1"/>
          </p:cNvPicPr>
          <p:nvPr/>
        </p:nvPicPr>
        <p:blipFill>
          <a:blip r:embed="rId4"/>
          <a:stretch>
            <a:fillRect/>
          </a:stretch>
        </p:blipFill>
        <p:spPr>
          <a:xfrm>
            <a:off x="977494" y="5558638"/>
            <a:ext cx="285293" cy="285293"/>
          </a:xfrm>
          <a:prstGeom prst="rect">
            <a:avLst/>
          </a:prstGeom>
        </p:spPr>
      </p:pic>
      <p:sp>
        <p:nvSpPr>
          <p:cNvPr id="22" name="Text 16"/>
          <p:cNvSpPr/>
          <p:nvPr/>
        </p:nvSpPr>
        <p:spPr>
          <a:xfrm>
            <a:off x="1691640" y="5312664"/>
            <a:ext cx="548640" cy="777240"/>
          </a:xfrm>
          <a:prstGeom prst="rect">
            <a:avLst/>
          </a:prstGeom>
          <a:noFill/>
          <a:ln/>
        </p:spPr>
        <p:txBody>
          <a:bodyPr wrap="square" lIns="0" tIns="0" rIns="0" bIns="0" rtlCol="0" anchor="ctr"/>
          <a:lstStyle/>
          <a:p>
            <a:pPr indent="0" marL="0">
              <a:buNone/>
            </a:pPr>
            <a:r>
              <a:rPr lang="en-US" sz="2600" b="1" dirty="0">
                <a:solidFill>
                  <a:srgbClr val="C9A24B"/>
                </a:solidFill>
                <a:latin typeface="Cambria" pitchFamily="34" charset="0"/>
                <a:ea typeface="Cambria" pitchFamily="34" charset="-122"/>
                <a:cs typeface="Cambria" pitchFamily="34" charset="-120"/>
              </a:rPr>
              <a:t>4</a:t>
            </a:r>
            <a:endParaRPr lang="en-US" sz="2600" dirty="0"/>
          </a:p>
        </p:txBody>
      </p:sp>
      <p:sp>
        <p:nvSpPr>
          <p:cNvPr id="23" name="Text 17"/>
          <p:cNvSpPr/>
          <p:nvPr/>
        </p:nvSpPr>
        <p:spPr>
          <a:xfrm>
            <a:off x="2286000" y="5312664"/>
            <a:ext cx="896112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Helps efficient performance of operations</a:t>
            </a:r>
            <a:endParaRPr lang="en-US" sz="1700" dirty="0"/>
          </a:p>
        </p:txBody>
      </p:sp>
      <p:sp>
        <p:nvSpPr>
          <p:cNvPr id="24" name="Text 1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1.16 IMPORTANCE OF MANAGEMENT</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1.16. IMPORTANCE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 Management Turns Organization Resources into Production Engine</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No business runs on itself, even on momentum. Every employee of an organization needs continuing stimulus, and it can only be provided by management.</a:t>
            </a:r>
            <a:endParaRPr lang="en-US" sz="1450" dirty="0"/>
          </a:p>
          <a:p>
            <a:pPr indent="0" marL="0">
              <a:lnSpc>
                <a:spcPct val="115000"/>
              </a:lnSpc>
              <a:spcAft>
                <a:spcPts val="1200"/>
              </a:spcAft>
              <a:buNone/>
            </a:pPr>
            <a:r>
              <a:rPr lang="en-US" sz="1450" dirty="0">
                <a:solidFill>
                  <a:srgbClr val="2B2B33"/>
                </a:solidFill>
                <a:latin typeface="Calibri" pitchFamily="34" charset="0"/>
                <a:ea typeface="Calibri" pitchFamily="34" charset="-122"/>
                <a:cs typeface="Calibri" pitchFamily="34" charset="-120"/>
              </a:rPr>
              <a:t>Management motivates the human resources of an organization to make them operate inanimate physical and financial resources, converting these into an engine of growth and development.</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Without it, the resources will merely remain resources and not become production.</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Idle vs. Productive</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Machines, cash, and raw material sitting in a warehouse are just resources. Only when management directs workers to use them does production actually begin.</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1.16 IMPORTANCE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1.16. IMPORTANCE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(2) Management Helps Create Sound Organization Structure</a:t>
            </a:r>
            <a:endParaRPr lang="en-US" sz="3000" dirty="0"/>
          </a:p>
        </p:txBody>
      </p:sp>
      <p:sp>
        <p:nvSpPr>
          <p:cNvPr id="4" name="Text 2"/>
          <p:cNvSpPr/>
          <p:nvPr/>
        </p:nvSpPr>
        <p:spPr>
          <a:xfrm>
            <a:off x="548640" y="1691640"/>
            <a:ext cx="5577840" cy="4297680"/>
          </a:xfrm>
          <a:prstGeom prst="rect">
            <a:avLst/>
          </a:prstGeom>
          <a:noFill/>
          <a:ln/>
        </p:spPr>
        <p:txBody>
          <a:bodyPr wrap="square" rtlCol="0" anchor="t"/>
          <a:lstStyle/>
          <a:p>
            <a:pPr indent="0" marL="0">
              <a:lnSpc>
                <a:spcPct val="110000"/>
              </a:lnSpc>
              <a:spcAft>
                <a:spcPts val="1000"/>
              </a:spcAft>
              <a:buNone/>
            </a:pPr>
            <a:r>
              <a:rPr lang="en-US" sz="1300" dirty="0">
                <a:solidFill>
                  <a:srgbClr val="2B2B33"/>
                </a:solidFill>
                <a:latin typeface="Calibri" pitchFamily="34" charset="0"/>
                <a:ea typeface="Calibri" pitchFamily="34" charset="-122"/>
                <a:cs typeface="Calibri" pitchFamily="34" charset="-120"/>
              </a:rPr>
              <a:t>Management is instrumental in setting up a sound organization structure to help accomplishment of organizational goals and objectives.</a:t>
            </a:r>
            <a:endParaRPr lang="en-US" sz="1300" dirty="0"/>
          </a:p>
          <a:p>
            <a:pPr indent="0" marL="0">
              <a:lnSpc>
                <a:spcPct val="110000"/>
              </a:lnSpc>
              <a:spcAft>
                <a:spcPts val="1000"/>
              </a:spcAft>
              <a:buNone/>
            </a:pPr>
            <a:r>
              <a:rPr lang="en-US" sz="1300" dirty="0">
                <a:solidFill>
                  <a:srgbClr val="2B2B33"/>
                </a:solidFill>
                <a:latin typeface="Calibri" pitchFamily="34" charset="0"/>
                <a:ea typeface="Calibri" pitchFamily="34" charset="-122"/>
                <a:cs typeface="Calibri" pitchFamily="34" charset="-120"/>
              </a:rPr>
              <a:t>It establishes a pattern of authority-responsibility relationships — which position will command and control which resources, and which positions will be accountable for doing what, and when.</a:t>
            </a:r>
            <a:endParaRPr lang="en-US" sz="1300" dirty="0"/>
          </a:p>
          <a:p>
            <a:pPr indent="0" marL="0">
              <a:lnSpc>
                <a:spcPct val="110000"/>
              </a:lnSpc>
              <a:spcAft>
                <a:spcPts val="1000"/>
              </a:spcAft>
              <a:buNone/>
            </a:pPr>
            <a:r>
              <a:rPr lang="en-US" sz="1300" dirty="0">
                <a:solidFill>
                  <a:srgbClr val="2B2B33"/>
                </a:solidFill>
                <a:latin typeface="Calibri" pitchFamily="34" charset="0"/>
                <a:ea typeface="Calibri" pitchFamily="34" charset="-122"/>
                <a:cs typeface="Calibri" pitchFamily="34" charset="-120"/>
              </a:rPr>
              <a:t>It then fills these positions with the right people, properly qualified and trained, and monitors their performance, replacing those not found up to standard.</a:t>
            </a:r>
            <a:endParaRPr lang="en-US" sz="1300" dirty="0"/>
          </a:p>
          <a:p>
            <a:pPr indent="0" marL="0">
              <a:lnSpc>
                <a:spcPct val="110000"/>
              </a:lnSpc>
              <a:buNone/>
            </a:pPr>
            <a:r>
              <a:rPr lang="en-US" sz="1300" dirty="0">
                <a:solidFill>
                  <a:srgbClr val="2B2B33"/>
                </a:solidFill>
                <a:latin typeface="Calibri" pitchFamily="34" charset="0"/>
                <a:ea typeface="Calibri" pitchFamily="34" charset="-122"/>
                <a:cs typeface="Calibri" pitchFamily="34" charset="-120"/>
              </a:rPr>
              <a:t>Even the best structure may remain idle without a proper environment; management provides that environment by encouraging co-operation, fellow-feeling, and mutual understanding among workers.</a:t>
            </a:r>
            <a:endParaRPr lang="en-US" sz="1300" dirty="0"/>
          </a:p>
        </p:txBody>
      </p:sp>
      <p:sp>
        <p:nvSpPr>
          <p:cNvPr id="5" name="Text 3"/>
          <p:cNvSpPr/>
          <p:nvPr/>
        </p:nvSpPr>
        <p:spPr>
          <a:xfrm>
            <a:off x="6446520" y="1691640"/>
            <a:ext cx="5120640" cy="32004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Levels of Management</a:t>
            </a:r>
            <a:endParaRPr lang="en-US" sz="1300" dirty="0"/>
          </a:p>
        </p:txBody>
      </p:sp>
      <p:sp>
        <p:nvSpPr>
          <p:cNvPr id="6" name="Shape 4"/>
          <p:cNvSpPr/>
          <p:nvPr/>
        </p:nvSpPr>
        <p:spPr>
          <a:xfrm>
            <a:off x="6446520" y="2057400"/>
            <a:ext cx="5166360" cy="868680"/>
          </a:xfrm>
          <a:prstGeom prst="roundRect">
            <a:avLst>
              <a:gd name="adj" fmla="val 7368"/>
            </a:avLst>
          </a:prstGeom>
          <a:solidFill>
            <a:srgbClr val="1E2761"/>
          </a:solidFill>
          <a:ln/>
        </p:spPr>
      </p:sp>
      <p:sp>
        <p:nvSpPr>
          <p:cNvPr id="7" name="Text 5"/>
          <p:cNvSpPr/>
          <p:nvPr/>
        </p:nvSpPr>
        <p:spPr>
          <a:xfrm>
            <a:off x="6629400" y="2130552"/>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Top Management</a:t>
            </a:r>
            <a:endParaRPr lang="en-US" sz="1300" dirty="0"/>
          </a:p>
        </p:txBody>
      </p:sp>
      <p:sp>
        <p:nvSpPr>
          <p:cNvPr id="8" name="Text 6"/>
          <p:cNvSpPr/>
          <p:nvPr/>
        </p:nvSpPr>
        <p:spPr>
          <a:xfrm>
            <a:off x="6629400" y="2441448"/>
            <a:ext cx="4754880" cy="411480"/>
          </a:xfrm>
          <a:prstGeom prst="rect">
            <a:avLst/>
          </a:prstGeom>
          <a:noFill/>
          <a:ln/>
        </p:spPr>
        <p:txBody>
          <a:bodyPr wrap="square" rtlCol="0" anchor="t"/>
          <a:lstStyle/>
          <a:p>
            <a:pPr indent="0" marL="0">
              <a:buNone/>
            </a:pPr>
            <a:r>
              <a:rPr lang="en-US" sz="1050" dirty="0">
                <a:solidFill>
                  <a:srgbClr val="CADCFC"/>
                </a:solidFill>
                <a:latin typeface="Calibri" pitchFamily="34" charset="0"/>
                <a:ea typeface="Calibri" pitchFamily="34" charset="-122"/>
                <a:cs typeface="Calibri" pitchFamily="34" charset="-120"/>
              </a:rPr>
              <a:t>Board of Directors · Managing Director · General Manager</a:t>
            </a:r>
            <a:endParaRPr lang="en-US" sz="1050" dirty="0"/>
          </a:p>
        </p:txBody>
      </p:sp>
      <p:sp>
        <p:nvSpPr>
          <p:cNvPr id="9" name="Shape 7"/>
          <p:cNvSpPr/>
          <p:nvPr/>
        </p:nvSpPr>
        <p:spPr>
          <a:xfrm>
            <a:off x="6446520" y="3063240"/>
            <a:ext cx="5166360" cy="868680"/>
          </a:xfrm>
          <a:prstGeom prst="roundRect">
            <a:avLst>
              <a:gd name="adj" fmla="val 7368"/>
            </a:avLst>
          </a:prstGeom>
          <a:solidFill>
            <a:srgbClr val="3A4A8C"/>
          </a:solidFill>
          <a:ln/>
        </p:spPr>
      </p:sp>
      <p:sp>
        <p:nvSpPr>
          <p:cNvPr id="10" name="Text 8"/>
          <p:cNvSpPr/>
          <p:nvPr/>
        </p:nvSpPr>
        <p:spPr>
          <a:xfrm>
            <a:off x="6629400" y="3136392"/>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Middle Management</a:t>
            </a:r>
            <a:endParaRPr lang="en-US" sz="1300" dirty="0"/>
          </a:p>
        </p:txBody>
      </p:sp>
      <p:sp>
        <p:nvSpPr>
          <p:cNvPr id="11" name="Text 9"/>
          <p:cNvSpPr/>
          <p:nvPr/>
        </p:nvSpPr>
        <p:spPr>
          <a:xfrm>
            <a:off x="6629400" y="3447288"/>
            <a:ext cx="4754880" cy="411480"/>
          </a:xfrm>
          <a:prstGeom prst="rect">
            <a:avLst/>
          </a:prstGeom>
          <a:noFill/>
          <a:ln/>
        </p:spPr>
        <p:txBody>
          <a:bodyPr wrap="square" rtlCol="0" anchor="t"/>
          <a:lstStyle/>
          <a:p>
            <a:pPr indent="0" marL="0">
              <a:buNone/>
            </a:pPr>
            <a:r>
              <a:rPr lang="en-US" sz="1050" dirty="0">
                <a:solidFill>
                  <a:srgbClr val="CADCFC"/>
                </a:solidFill>
                <a:latin typeface="Calibri" pitchFamily="34" charset="0"/>
                <a:ea typeface="Calibri" pitchFamily="34" charset="-122"/>
                <a:cs typeface="Calibri" pitchFamily="34" charset="-120"/>
              </a:rPr>
              <a:t>Production / Marketing / Finance / Personnel Managers · Branch Managers</a:t>
            </a:r>
            <a:endParaRPr lang="en-US" sz="1050" dirty="0"/>
          </a:p>
        </p:txBody>
      </p:sp>
      <p:sp>
        <p:nvSpPr>
          <p:cNvPr id="12" name="Shape 10"/>
          <p:cNvSpPr/>
          <p:nvPr/>
        </p:nvSpPr>
        <p:spPr>
          <a:xfrm>
            <a:off x="6446520" y="4069080"/>
            <a:ext cx="5166360" cy="868680"/>
          </a:xfrm>
          <a:prstGeom prst="roundRect">
            <a:avLst>
              <a:gd name="adj" fmla="val 7368"/>
            </a:avLst>
          </a:prstGeom>
          <a:solidFill>
            <a:srgbClr val="5E71B8"/>
          </a:solidFill>
          <a:ln/>
        </p:spPr>
      </p:sp>
      <p:sp>
        <p:nvSpPr>
          <p:cNvPr id="13" name="Text 11"/>
          <p:cNvSpPr/>
          <p:nvPr/>
        </p:nvSpPr>
        <p:spPr>
          <a:xfrm>
            <a:off x="6629400" y="4142232"/>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Supervisory Management</a:t>
            </a:r>
            <a:endParaRPr lang="en-US" sz="1300" dirty="0"/>
          </a:p>
        </p:txBody>
      </p:sp>
      <p:sp>
        <p:nvSpPr>
          <p:cNvPr id="14" name="Text 12"/>
          <p:cNvSpPr/>
          <p:nvPr/>
        </p:nvSpPr>
        <p:spPr>
          <a:xfrm>
            <a:off x="6629400" y="4453128"/>
            <a:ext cx="4754880" cy="411480"/>
          </a:xfrm>
          <a:prstGeom prst="rect">
            <a:avLst/>
          </a:prstGeom>
          <a:noFill/>
          <a:ln/>
        </p:spPr>
        <p:txBody>
          <a:bodyPr wrap="square" rtlCol="0" anchor="t"/>
          <a:lstStyle/>
          <a:p>
            <a:pPr indent="0" marL="0">
              <a:buNone/>
            </a:pPr>
            <a:r>
              <a:rPr lang="en-US" sz="1050" dirty="0">
                <a:solidFill>
                  <a:srgbClr val="CADCFC"/>
                </a:solidFill>
                <a:latin typeface="Calibri" pitchFamily="34" charset="0"/>
                <a:ea typeface="Calibri" pitchFamily="34" charset="-122"/>
                <a:cs typeface="Calibri" pitchFamily="34" charset="-120"/>
              </a:rPr>
              <a:t>General Foremen · Chief Clerk · Office Managers · Supervisors</a:t>
            </a:r>
            <a:endParaRPr lang="en-US" sz="1050" dirty="0"/>
          </a:p>
        </p:txBody>
      </p:sp>
      <p:sp>
        <p:nvSpPr>
          <p:cNvPr id="15" name="Text 13"/>
          <p:cNvSpPr/>
          <p:nvPr/>
        </p:nvSpPr>
        <p:spPr>
          <a:xfrm>
            <a:off x="6446520" y="5074920"/>
            <a:ext cx="5166360" cy="914400"/>
          </a:xfrm>
          <a:prstGeom prst="rect">
            <a:avLst/>
          </a:prstGeom>
          <a:noFill/>
          <a:ln/>
        </p:spPr>
        <p:txBody>
          <a:bodyPr wrap="square"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Example: In a manufacturing firm, the Board sets long-range strategy, the Production Manager translates it into departmental plans, and the Supervisor allocates daily tasks to workers — one structure, three levels of decision-making.</a:t>
            </a:r>
            <a:endParaRPr lang="en-US" sz="1100" dirty="0"/>
          </a:p>
        </p:txBody>
      </p:sp>
      <p:sp>
        <p:nvSpPr>
          <p:cNvPr id="16" name="Text 14"/>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1.16 IMPORTANCE OF MANAGEMENT</a:t>
            </a:r>
            <a:endParaRPr lang="en-US" sz="1000" dirty="0"/>
          </a:p>
        </p:txBody>
      </p:sp>
      <p:sp>
        <p:nvSpPr>
          <p:cNvPr id="17" name="Text 15"/>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1.16. IMPORTANCE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(3) Management Helps Accomplishment of Group Goals</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000"/>
              </a:spcAft>
              <a:buNone/>
            </a:pPr>
            <a:r>
              <a:rPr lang="en-US" sz="1450" dirty="0">
                <a:solidFill>
                  <a:srgbClr val="2B2B33"/>
                </a:solidFill>
                <a:latin typeface="Calibri" pitchFamily="34" charset="0"/>
                <a:ea typeface="Calibri" pitchFamily="34" charset="-122"/>
                <a:cs typeface="Calibri" pitchFamily="34" charset="-120"/>
              </a:rPr>
              <a:t>Management converts diverse resources — workers, materials, machines, money, time and space — into means of production of socially useful goods and services at affordable price.</a:t>
            </a:r>
            <a:endParaRPr lang="en-US" sz="1450" dirty="0"/>
          </a:p>
          <a:p>
            <a:pPr indent="0" marL="0">
              <a:lnSpc>
                <a:spcPct val="115000"/>
              </a:lnSpc>
              <a:spcAft>
                <a:spcPts val="1000"/>
              </a:spcAft>
              <a:buNone/>
            </a:pPr>
            <a:r>
              <a:rPr lang="en-US" sz="1450" dirty="0">
                <a:solidFill>
                  <a:srgbClr val="2B2B33"/>
                </a:solidFill>
                <a:latin typeface="Calibri" pitchFamily="34" charset="0"/>
                <a:ea typeface="Calibri" pitchFamily="34" charset="-122"/>
                <a:cs typeface="Calibri" pitchFamily="34" charset="-120"/>
              </a:rPr>
              <a:t>First, it must do sound resource planning, accurately estimating present and future availability of resources.</a:t>
            </a:r>
            <a:endParaRPr lang="en-US" sz="1450" dirty="0"/>
          </a:p>
          <a:p>
            <a:pPr indent="0" marL="0">
              <a:lnSpc>
                <a:spcPct val="115000"/>
              </a:lnSpc>
              <a:spcAft>
                <a:spcPts val="1000"/>
              </a:spcAft>
              <a:buNone/>
            </a:pPr>
            <a:r>
              <a:rPr lang="en-US" sz="1450" dirty="0">
                <a:solidFill>
                  <a:srgbClr val="2B2B33"/>
                </a:solidFill>
                <a:latin typeface="Calibri" pitchFamily="34" charset="0"/>
                <a:ea typeface="Calibri" pitchFamily="34" charset="-122"/>
                <a:cs typeface="Calibri" pitchFamily="34" charset="-120"/>
              </a:rPr>
              <a:t>Second, it must adjust and adapt to changes in the external environment — as when liberalization and globalization required Indian companies to match the quality, price and after-sale service of foreign competitors.</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Third, management provides effective direction and control of day-to-day activities, ensuring efficiency and enabling quick correction of any shortcoming.</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Adapting to Change</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Where a customer once waited years for a car delivery, today it is just one phone call away — companies adapted their management practices to changing market conditions.</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1.16 IMPORTANCE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1.16. IMPORTANCE OF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(4) Management Helps Efficient Performance of Operations</a:t>
            </a:r>
            <a:endParaRPr lang="en-US" sz="3000" dirty="0"/>
          </a:p>
        </p:txBody>
      </p:sp>
      <p:sp>
        <p:nvSpPr>
          <p:cNvPr id="4" name="Text 2"/>
          <p:cNvSpPr/>
          <p:nvPr/>
        </p:nvSpPr>
        <p:spPr>
          <a:xfrm>
            <a:off x="548640" y="1737360"/>
            <a:ext cx="6858000" cy="4206240"/>
          </a:xfrm>
          <a:prstGeom prst="rect">
            <a:avLst/>
          </a:prstGeom>
          <a:noFill/>
          <a:ln/>
        </p:spPr>
        <p:txBody>
          <a:bodyPr wrap="square" rtlCol="0" anchor="t"/>
          <a:lstStyle/>
          <a:p>
            <a:pPr indent="0" marL="0">
              <a:lnSpc>
                <a:spcPct val="115000"/>
              </a:lnSpc>
              <a:spcAft>
                <a:spcPts val="1000"/>
              </a:spcAft>
              <a:buNone/>
            </a:pPr>
            <a:r>
              <a:rPr lang="en-US" sz="1450" dirty="0">
                <a:solidFill>
                  <a:srgbClr val="2B2B33"/>
                </a:solidFill>
                <a:latin typeface="Calibri" pitchFamily="34" charset="0"/>
                <a:ea typeface="Calibri" pitchFamily="34" charset="-122"/>
                <a:cs typeface="Calibri" pitchFamily="34" charset="-120"/>
              </a:rPr>
              <a:t>Efficiency of an organization depends on alert supervision and attractive incentives to superiors and subordinates at all levels — competitive wages and perks, job security, stability, and growth opportunities.</a:t>
            </a:r>
            <a:endParaRPr lang="en-US" sz="1450" dirty="0"/>
          </a:p>
          <a:p>
            <a:pPr indent="0" marL="0">
              <a:lnSpc>
                <a:spcPct val="115000"/>
              </a:lnSpc>
              <a:spcAft>
                <a:spcPts val="800"/>
              </a:spcAft>
              <a:buNone/>
            </a:pPr>
            <a:r>
              <a:rPr lang="en-US" sz="1450" dirty="0">
                <a:solidFill>
                  <a:srgbClr val="2B2B33"/>
                </a:solidFill>
                <a:latin typeface="Calibri" pitchFamily="34" charset="0"/>
                <a:ea typeface="Calibri" pitchFamily="34" charset="-122"/>
                <a:cs typeface="Calibri" pitchFamily="34" charset="-120"/>
              </a:rPr>
              <a:t>Leadership is the most important function of management at all levels. It means influencing each subordinate's work behaviour and motivating him to efficiently perform assigned tasks by:</a:t>
            </a:r>
            <a:endParaRPr lang="en-US" sz="1450" dirty="0"/>
          </a:p>
          <a:p>
            <a:pPr marL="342900" indent="-342900">
              <a:lnSpc>
                <a:spcPct val="115000"/>
              </a:lnSpc>
              <a:spcAft>
                <a:spcPts val="400"/>
              </a:spcAft>
              <a:buSzPct val="100000"/>
              <a:buChar char="•"/>
            </a:pPr>
            <a:r>
              <a:rPr lang="en-US" sz="1450" dirty="0">
                <a:solidFill>
                  <a:srgbClr val="2B2B33"/>
                </a:solidFill>
                <a:latin typeface="Calibri" pitchFamily="34" charset="0"/>
                <a:ea typeface="Calibri" pitchFamily="34" charset="-122"/>
                <a:cs typeface="Calibri" pitchFamily="34" charset="-120"/>
              </a:rPr>
              <a:t>explaining the purpose behind organizational objectives and why they matter</a:t>
            </a:r>
            <a:endParaRPr lang="en-US" sz="1450" dirty="0"/>
          </a:p>
          <a:p>
            <a:pPr marL="342900" indent="-342900">
              <a:lnSpc>
                <a:spcPct val="115000"/>
              </a:lnSpc>
              <a:spcAft>
                <a:spcPts val="400"/>
              </a:spcAft>
              <a:buSzPct val="100000"/>
              <a:buChar char="•"/>
            </a:pPr>
            <a:r>
              <a:rPr lang="en-US" sz="1450" dirty="0">
                <a:solidFill>
                  <a:srgbClr val="2B2B33"/>
                </a:solidFill>
                <a:latin typeface="Calibri" pitchFamily="34" charset="0"/>
                <a:ea typeface="Calibri" pitchFamily="34" charset="-122"/>
                <a:cs typeface="Calibri" pitchFamily="34" charset="-120"/>
              </a:rPr>
              <a:t>clarifying the duties assigned to him</a:t>
            </a:r>
            <a:endParaRPr lang="en-US" sz="1450" dirty="0"/>
          </a:p>
          <a:p>
            <a:pPr marL="342900" indent="-342900">
              <a:lnSpc>
                <a:spcPct val="115000"/>
              </a:lnSpc>
              <a:spcAft>
                <a:spcPts val="400"/>
              </a:spcAft>
              <a:buSzPct val="100000"/>
              <a:buChar char="•"/>
            </a:pPr>
            <a:r>
              <a:rPr lang="en-US" sz="1450" dirty="0">
                <a:solidFill>
                  <a:srgbClr val="2B2B33"/>
                </a:solidFill>
                <a:latin typeface="Calibri" pitchFamily="34" charset="0"/>
                <a:ea typeface="Calibri" pitchFamily="34" charset="-122"/>
                <a:cs typeface="Calibri" pitchFamily="34" charset="-120"/>
              </a:rPr>
              <a:t>urging him to treat duties as a challenge, making him ego-involved rather than merely task-involved</a:t>
            </a:r>
            <a:endParaRPr lang="en-US" sz="1450" dirty="0"/>
          </a:p>
          <a:p>
            <a:pPr marL="342900" indent="-342900">
              <a:lnSpc>
                <a:spcPct val="115000"/>
              </a:lnSpc>
              <a:spcAft>
                <a:spcPts val="800"/>
              </a:spcAft>
              <a:buSzPct val="100000"/>
              <a:buChar char="•"/>
            </a:pPr>
            <a:r>
              <a:rPr lang="en-US" sz="1450" dirty="0">
                <a:solidFill>
                  <a:srgbClr val="2B2B33"/>
                </a:solidFill>
                <a:latin typeface="Calibri" pitchFamily="34" charset="0"/>
                <a:ea typeface="Calibri" pitchFamily="34" charset="-122"/>
                <a:cs typeface="Calibri" pitchFamily="34" charset="-120"/>
              </a:rPr>
              <a:t>providing regular feedback on how to avoid shortcomings</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The superior at every level should lead subordinates from the front, sometimes performing duties himself to set an example.</a:t>
            </a:r>
            <a:endParaRPr lang="en-US" sz="1450" dirty="0"/>
          </a:p>
        </p:txBody>
      </p:sp>
      <p:sp>
        <p:nvSpPr>
          <p:cNvPr id="5" name="Shape 3"/>
          <p:cNvSpPr/>
          <p:nvPr/>
        </p:nvSpPr>
        <p:spPr>
          <a:xfrm>
            <a:off x="7680960" y="1737360"/>
            <a:ext cx="3977640" cy="4206240"/>
          </a:xfrm>
          <a:prstGeom prst="roundRect">
            <a:avLst>
              <a:gd name="adj" fmla="val 2299"/>
            </a:avLst>
          </a:prstGeom>
          <a:solidFill>
            <a:srgbClr val="1E2761"/>
          </a:solidFill>
          <a:ln/>
        </p:spPr>
      </p:sp>
      <p:sp>
        <p:nvSpPr>
          <p:cNvPr id="6" name="Shape 4"/>
          <p:cNvSpPr/>
          <p:nvPr/>
        </p:nvSpPr>
        <p:spPr>
          <a:xfrm>
            <a:off x="8001000" y="201168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78101"/>
            <a:ext cx="307238" cy="307238"/>
          </a:xfrm>
          <a:prstGeom prst="rect">
            <a:avLst/>
          </a:prstGeom>
        </p:spPr>
      </p:pic>
      <p:sp>
        <p:nvSpPr>
          <p:cNvPr id="8" name="Text 5"/>
          <p:cNvSpPr/>
          <p:nvPr/>
        </p:nvSpPr>
        <p:spPr>
          <a:xfrm>
            <a:off x="8001000" y="274320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63240"/>
            <a:ext cx="3383280"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Leading by Example</a:t>
            </a:r>
            <a:endParaRPr lang="en-US" sz="1550" dirty="0"/>
          </a:p>
        </p:txBody>
      </p:sp>
      <p:sp>
        <p:nvSpPr>
          <p:cNvPr id="10" name="Text 7"/>
          <p:cNvSpPr/>
          <p:nvPr/>
        </p:nvSpPr>
        <p:spPr>
          <a:xfrm>
            <a:off x="8001000" y="3566160"/>
            <a:ext cx="3383280" cy="2194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branch manager who occasionally serves customers alongside staff during a rush hour shows the team what excellent performance looks like — leadership from the front.</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1.16 IMPORTANCE OF MANAGEMENT</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1.17. DISTINCTION BETWEEN 'ADMINISTRATION' AND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 Administration and Management – Two Sides of Same Coin</a:t>
            </a:r>
            <a:endParaRPr lang="en-US" sz="3000" dirty="0"/>
          </a:p>
        </p:txBody>
      </p:sp>
      <p:sp>
        <p:nvSpPr>
          <p:cNvPr id="4" name="Text 2"/>
          <p:cNvSpPr/>
          <p:nvPr/>
        </p:nvSpPr>
        <p:spPr>
          <a:xfrm>
            <a:off x="548640" y="1691640"/>
            <a:ext cx="10972800" cy="50292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On the face of it, there is little difference between management and administration. Both are concerned with:</a:t>
            </a:r>
            <a:endParaRPr lang="en-US" sz="1450" dirty="0"/>
          </a:p>
        </p:txBody>
      </p:sp>
      <p:sp>
        <p:nvSpPr>
          <p:cNvPr id="5" name="Shape 3"/>
          <p:cNvSpPr/>
          <p:nvPr/>
        </p:nvSpPr>
        <p:spPr>
          <a:xfrm>
            <a:off x="548640" y="2331720"/>
            <a:ext cx="2148840" cy="2926080"/>
          </a:xfrm>
          <a:prstGeom prst="roundRect">
            <a:avLst>
              <a:gd name="adj" fmla="val 3830"/>
            </a:avLst>
          </a:prstGeom>
          <a:solidFill>
            <a:srgbClr val="EEF3FC"/>
          </a:solidFill>
          <a:ln/>
        </p:spPr>
      </p:sp>
      <p:sp>
        <p:nvSpPr>
          <p:cNvPr id="6" name="Shape 4"/>
          <p:cNvSpPr/>
          <p:nvPr/>
        </p:nvSpPr>
        <p:spPr>
          <a:xfrm>
            <a:off x="1348740" y="2560320"/>
            <a:ext cx="548640" cy="54864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1491386" y="2702966"/>
            <a:ext cx="263347" cy="263347"/>
          </a:xfrm>
          <a:prstGeom prst="rect">
            <a:avLst/>
          </a:prstGeom>
        </p:spPr>
      </p:pic>
      <p:sp>
        <p:nvSpPr>
          <p:cNvPr id="8" name="Text 5"/>
          <p:cNvSpPr/>
          <p:nvPr/>
        </p:nvSpPr>
        <p:spPr>
          <a:xfrm>
            <a:off x="548640" y="3200400"/>
            <a:ext cx="21488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(a)</a:t>
            </a:r>
            <a:endParaRPr lang="en-US" sz="1300" dirty="0"/>
          </a:p>
        </p:txBody>
      </p:sp>
      <p:sp>
        <p:nvSpPr>
          <p:cNvPr id="9" name="Text 6"/>
          <p:cNvSpPr/>
          <p:nvPr/>
        </p:nvSpPr>
        <p:spPr>
          <a:xfrm>
            <a:off x="640080" y="3456432"/>
            <a:ext cx="1965960"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mbria" pitchFamily="34" charset="0"/>
                <a:ea typeface="Cambria" pitchFamily="34" charset="-122"/>
                <a:cs typeface="Cambria" pitchFamily="34" charset="-120"/>
              </a:rPr>
              <a:t>Planning</a:t>
            </a:r>
            <a:endParaRPr lang="en-US" sz="1350" dirty="0"/>
          </a:p>
        </p:txBody>
      </p:sp>
      <p:sp>
        <p:nvSpPr>
          <p:cNvPr id="10" name="Text 7"/>
          <p:cNvSpPr/>
          <p:nvPr/>
        </p:nvSpPr>
        <p:spPr>
          <a:xfrm>
            <a:off x="685800" y="3840480"/>
            <a:ext cx="1874520" cy="1280160"/>
          </a:xfrm>
          <a:prstGeom prst="rect">
            <a:avLst/>
          </a:prstGeom>
          <a:noFill/>
          <a:ln/>
        </p:spPr>
        <p:txBody>
          <a:bodyPr wrap="square"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formulating objectives, policies, procedures, rules and strategies</a:t>
            </a:r>
            <a:endParaRPr lang="en-US" sz="1000" dirty="0"/>
          </a:p>
        </p:txBody>
      </p:sp>
      <p:sp>
        <p:nvSpPr>
          <p:cNvPr id="11" name="Shape 8"/>
          <p:cNvSpPr/>
          <p:nvPr/>
        </p:nvSpPr>
        <p:spPr>
          <a:xfrm>
            <a:off x="2807208" y="2331720"/>
            <a:ext cx="2148840" cy="2926080"/>
          </a:xfrm>
          <a:prstGeom prst="roundRect">
            <a:avLst>
              <a:gd name="adj" fmla="val 3830"/>
            </a:avLst>
          </a:prstGeom>
          <a:solidFill>
            <a:srgbClr val="EEF3FC"/>
          </a:solidFill>
          <a:ln/>
        </p:spPr>
      </p:sp>
      <p:sp>
        <p:nvSpPr>
          <p:cNvPr id="12" name="Shape 9"/>
          <p:cNvSpPr/>
          <p:nvPr/>
        </p:nvSpPr>
        <p:spPr>
          <a:xfrm>
            <a:off x="3607308" y="2560320"/>
            <a:ext cx="548640" cy="54864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3749954" y="2702966"/>
            <a:ext cx="263347" cy="263347"/>
          </a:xfrm>
          <a:prstGeom prst="rect">
            <a:avLst/>
          </a:prstGeom>
        </p:spPr>
      </p:pic>
      <p:sp>
        <p:nvSpPr>
          <p:cNvPr id="14" name="Text 10"/>
          <p:cNvSpPr/>
          <p:nvPr/>
        </p:nvSpPr>
        <p:spPr>
          <a:xfrm>
            <a:off x="2807208" y="3200400"/>
            <a:ext cx="21488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(b)</a:t>
            </a:r>
            <a:endParaRPr lang="en-US" sz="1300" dirty="0"/>
          </a:p>
        </p:txBody>
      </p:sp>
      <p:sp>
        <p:nvSpPr>
          <p:cNvPr id="15" name="Text 11"/>
          <p:cNvSpPr/>
          <p:nvPr/>
        </p:nvSpPr>
        <p:spPr>
          <a:xfrm>
            <a:off x="2898648" y="3456432"/>
            <a:ext cx="1965960"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mbria" pitchFamily="34" charset="0"/>
                <a:ea typeface="Cambria" pitchFamily="34" charset="-122"/>
                <a:cs typeface="Cambria" pitchFamily="34" charset="-120"/>
              </a:rPr>
              <a:t>Organization</a:t>
            </a:r>
            <a:endParaRPr lang="en-US" sz="1350" dirty="0"/>
          </a:p>
        </p:txBody>
      </p:sp>
      <p:sp>
        <p:nvSpPr>
          <p:cNvPr id="16" name="Text 12"/>
          <p:cNvSpPr/>
          <p:nvPr/>
        </p:nvSpPr>
        <p:spPr>
          <a:xfrm>
            <a:off x="2944368" y="3840480"/>
            <a:ext cx="1874520" cy="1280160"/>
          </a:xfrm>
          <a:prstGeom prst="rect">
            <a:avLst/>
          </a:prstGeom>
          <a:noFill/>
          <a:ln/>
        </p:spPr>
        <p:txBody>
          <a:bodyPr wrap="square"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laying down patterns of relationship between human, financial and physical resources</a:t>
            </a:r>
            <a:endParaRPr lang="en-US" sz="1000" dirty="0"/>
          </a:p>
        </p:txBody>
      </p:sp>
      <p:sp>
        <p:nvSpPr>
          <p:cNvPr id="17" name="Shape 13"/>
          <p:cNvSpPr/>
          <p:nvPr/>
        </p:nvSpPr>
        <p:spPr>
          <a:xfrm>
            <a:off x="5065776" y="2331720"/>
            <a:ext cx="2148840" cy="2926080"/>
          </a:xfrm>
          <a:prstGeom prst="roundRect">
            <a:avLst>
              <a:gd name="adj" fmla="val 3830"/>
            </a:avLst>
          </a:prstGeom>
          <a:solidFill>
            <a:srgbClr val="EEF3FC"/>
          </a:solidFill>
          <a:ln/>
        </p:spPr>
      </p:sp>
      <p:sp>
        <p:nvSpPr>
          <p:cNvPr id="18" name="Shape 14"/>
          <p:cNvSpPr/>
          <p:nvPr/>
        </p:nvSpPr>
        <p:spPr>
          <a:xfrm>
            <a:off x="5865876" y="2560320"/>
            <a:ext cx="548640" cy="548640"/>
          </a:xfrm>
          <a:prstGeom prst="ellipse">
            <a:avLst/>
          </a:prstGeom>
          <a:solidFill>
            <a:srgbClr val="1E2761"/>
          </a:solidFill>
          <a:ln/>
        </p:spPr>
      </p:sp>
      <p:pic>
        <p:nvPicPr>
          <p:cNvPr id="19" name="Image 2" descr="preencoded.png">    </p:cNvPr>
          <p:cNvPicPr>
            <a:picLocks noChangeAspect="1"/>
          </p:cNvPicPr>
          <p:nvPr/>
        </p:nvPicPr>
        <p:blipFill>
          <a:blip r:embed="rId3"/>
          <a:stretch>
            <a:fillRect/>
          </a:stretch>
        </p:blipFill>
        <p:spPr>
          <a:xfrm>
            <a:off x="6008522" y="2702966"/>
            <a:ext cx="263347" cy="263347"/>
          </a:xfrm>
          <a:prstGeom prst="rect">
            <a:avLst/>
          </a:prstGeom>
        </p:spPr>
      </p:pic>
      <p:sp>
        <p:nvSpPr>
          <p:cNvPr id="20" name="Text 15"/>
          <p:cNvSpPr/>
          <p:nvPr/>
        </p:nvSpPr>
        <p:spPr>
          <a:xfrm>
            <a:off x="5065776" y="3200400"/>
            <a:ext cx="21488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(c)</a:t>
            </a:r>
            <a:endParaRPr lang="en-US" sz="1300" dirty="0"/>
          </a:p>
        </p:txBody>
      </p:sp>
      <p:sp>
        <p:nvSpPr>
          <p:cNvPr id="21" name="Text 16"/>
          <p:cNvSpPr/>
          <p:nvPr/>
        </p:nvSpPr>
        <p:spPr>
          <a:xfrm>
            <a:off x="5157216" y="3456432"/>
            <a:ext cx="1965960"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mbria" pitchFamily="34" charset="0"/>
                <a:ea typeface="Cambria" pitchFamily="34" charset="-122"/>
                <a:cs typeface="Cambria" pitchFamily="34" charset="-120"/>
              </a:rPr>
              <a:t>Direction</a:t>
            </a:r>
            <a:endParaRPr lang="en-US" sz="1350" dirty="0"/>
          </a:p>
        </p:txBody>
      </p:sp>
      <p:sp>
        <p:nvSpPr>
          <p:cNvPr id="22" name="Text 17"/>
          <p:cNvSpPr/>
          <p:nvPr/>
        </p:nvSpPr>
        <p:spPr>
          <a:xfrm>
            <a:off x="5202936" y="3840480"/>
            <a:ext cx="1874520" cy="1280160"/>
          </a:xfrm>
          <a:prstGeom prst="rect">
            <a:avLst/>
          </a:prstGeom>
          <a:noFill/>
          <a:ln/>
        </p:spPr>
        <p:txBody>
          <a:bodyPr wrap="square"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supervising, motivating and leading human resources toward efficient performance</a:t>
            </a:r>
            <a:endParaRPr lang="en-US" sz="1000" dirty="0"/>
          </a:p>
        </p:txBody>
      </p:sp>
      <p:sp>
        <p:nvSpPr>
          <p:cNvPr id="23" name="Shape 18"/>
          <p:cNvSpPr/>
          <p:nvPr/>
        </p:nvSpPr>
        <p:spPr>
          <a:xfrm>
            <a:off x="7324344" y="2331720"/>
            <a:ext cx="2148840" cy="2926080"/>
          </a:xfrm>
          <a:prstGeom prst="roundRect">
            <a:avLst>
              <a:gd name="adj" fmla="val 3830"/>
            </a:avLst>
          </a:prstGeom>
          <a:solidFill>
            <a:srgbClr val="EEF3FC"/>
          </a:solidFill>
          <a:ln/>
        </p:spPr>
      </p:sp>
      <p:sp>
        <p:nvSpPr>
          <p:cNvPr id="24" name="Shape 19"/>
          <p:cNvSpPr/>
          <p:nvPr/>
        </p:nvSpPr>
        <p:spPr>
          <a:xfrm>
            <a:off x="8124444" y="2560320"/>
            <a:ext cx="548640" cy="548640"/>
          </a:xfrm>
          <a:prstGeom prst="ellipse">
            <a:avLst/>
          </a:prstGeom>
          <a:solidFill>
            <a:srgbClr val="1E2761"/>
          </a:solidFill>
          <a:ln/>
        </p:spPr>
      </p:sp>
      <p:pic>
        <p:nvPicPr>
          <p:cNvPr id="25" name="Image 3" descr="preencoded.png">    </p:cNvPr>
          <p:cNvPicPr>
            <a:picLocks noChangeAspect="1"/>
          </p:cNvPicPr>
          <p:nvPr/>
        </p:nvPicPr>
        <p:blipFill>
          <a:blip r:embed="rId4"/>
          <a:stretch>
            <a:fillRect/>
          </a:stretch>
        </p:blipFill>
        <p:spPr>
          <a:xfrm>
            <a:off x="8267090" y="2702966"/>
            <a:ext cx="263347" cy="263347"/>
          </a:xfrm>
          <a:prstGeom prst="rect">
            <a:avLst/>
          </a:prstGeom>
        </p:spPr>
      </p:pic>
      <p:sp>
        <p:nvSpPr>
          <p:cNvPr id="26" name="Text 20"/>
          <p:cNvSpPr/>
          <p:nvPr/>
        </p:nvSpPr>
        <p:spPr>
          <a:xfrm>
            <a:off x="7324344" y="3200400"/>
            <a:ext cx="21488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(d)</a:t>
            </a:r>
            <a:endParaRPr lang="en-US" sz="1300" dirty="0"/>
          </a:p>
        </p:txBody>
      </p:sp>
      <p:sp>
        <p:nvSpPr>
          <p:cNvPr id="27" name="Text 21"/>
          <p:cNvSpPr/>
          <p:nvPr/>
        </p:nvSpPr>
        <p:spPr>
          <a:xfrm>
            <a:off x="7415784" y="3456432"/>
            <a:ext cx="1965960"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mbria" pitchFamily="34" charset="0"/>
                <a:ea typeface="Cambria" pitchFamily="34" charset="-122"/>
                <a:cs typeface="Cambria" pitchFamily="34" charset="-120"/>
              </a:rPr>
              <a:t>Coordination</a:t>
            </a:r>
            <a:endParaRPr lang="en-US" sz="1350" dirty="0"/>
          </a:p>
        </p:txBody>
      </p:sp>
      <p:sp>
        <p:nvSpPr>
          <p:cNvPr id="28" name="Text 22"/>
          <p:cNvSpPr/>
          <p:nvPr/>
        </p:nvSpPr>
        <p:spPr>
          <a:xfrm>
            <a:off x="7461504" y="3840480"/>
            <a:ext cx="1874520" cy="1280160"/>
          </a:xfrm>
          <a:prstGeom prst="rect">
            <a:avLst/>
          </a:prstGeom>
          <a:noFill/>
          <a:ln/>
        </p:spPr>
        <p:txBody>
          <a:bodyPr wrap="square"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infusing team-spirit among superiors and subordinates at various levels</a:t>
            </a:r>
            <a:endParaRPr lang="en-US" sz="1000" dirty="0"/>
          </a:p>
        </p:txBody>
      </p:sp>
      <p:sp>
        <p:nvSpPr>
          <p:cNvPr id="29" name="Shape 23"/>
          <p:cNvSpPr/>
          <p:nvPr/>
        </p:nvSpPr>
        <p:spPr>
          <a:xfrm>
            <a:off x="9582912" y="2331720"/>
            <a:ext cx="2148840" cy="2926080"/>
          </a:xfrm>
          <a:prstGeom prst="roundRect">
            <a:avLst>
              <a:gd name="adj" fmla="val 3830"/>
            </a:avLst>
          </a:prstGeom>
          <a:solidFill>
            <a:srgbClr val="EEF3FC"/>
          </a:solidFill>
          <a:ln/>
        </p:spPr>
      </p:sp>
      <p:sp>
        <p:nvSpPr>
          <p:cNvPr id="30" name="Shape 24"/>
          <p:cNvSpPr/>
          <p:nvPr/>
        </p:nvSpPr>
        <p:spPr>
          <a:xfrm>
            <a:off x="10383012" y="2560320"/>
            <a:ext cx="548640" cy="548640"/>
          </a:xfrm>
          <a:prstGeom prst="ellipse">
            <a:avLst/>
          </a:prstGeom>
          <a:solidFill>
            <a:srgbClr val="1E2761"/>
          </a:solidFill>
          <a:ln/>
        </p:spPr>
      </p:sp>
      <p:pic>
        <p:nvPicPr>
          <p:cNvPr id="31" name="Image 4" descr="preencoded.png">    </p:cNvPr>
          <p:cNvPicPr>
            <a:picLocks noChangeAspect="1"/>
          </p:cNvPicPr>
          <p:nvPr/>
        </p:nvPicPr>
        <p:blipFill>
          <a:blip r:embed="rId5"/>
          <a:stretch>
            <a:fillRect/>
          </a:stretch>
        </p:blipFill>
        <p:spPr>
          <a:xfrm>
            <a:off x="10525658" y="2702966"/>
            <a:ext cx="263347" cy="263347"/>
          </a:xfrm>
          <a:prstGeom prst="rect">
            <a:avLst/>
          </a:prstGeom>
        </p:spPr>
      </p:pic>
      <p:sp>
        <p:nvSpPr>
          <p:cNvPr id="32" name="Text 25"/>
          <p:cNvSpPr/>
          <p:nvPr/>
        </p:nvSpPr>
        <p:spPr>
          <a:xfrm>
            <a:off x="9582912" y="3200400"/>
            <a:ext cx="21488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(e)</a:t>
            </a:r>
            <a:endParaRPr lang="en-US" sz="1300" dirty="0"/>
          </a:p>
        </p:txBody>
      </p:sp>
      <p:sp>
        <p:nvSpPr>
          <p:cNvPr id="33" name="Text 26"/>
          <p:cNvSpPr/>
          <p:nvPr/>
        </p:nvSpPr>
        <p:spPr>
          <a:xfrm>
            <a:off x="9674352" y="3456432"/>
            <a:ext cx="1965960"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mbria" pitchFamily="34" charset="0"/>
                <a:ea typeface="Cambria" pitchFamily="34" charset="-122"/>
                <a:cs typeface="Cambria" pitchFamily="34" charset="-120"/>
              </a:rPr>
              <a:t>Control</a:t>
            </a:r>
            <a:endParaRPr lang="en-US" sz="1350" dirty="0"/>
          </a:p>
        </p:txBody>
      </p:sp>
      <p:sp>
        <p:nvSpPr>
          <p:cNvPr id="34" name="Text 27"/>
          <p:cNvSpPr/>
          <p:nvPr/>
        </p:nvSpPr>
        <p:spPr>
          <a:xfrm>
            <a:off x="9720072" y="3840480"/>
            <a:ext cx="1874520" cy="1280160"/>
          </a:xfrm>
          <a:prstGeom prst="rect">
            <a:avLst/>
          </a:prstGeom>
          <a:noFill/>
          <a:ln/>
        </p:spPr>
        <p:txBody>
          <a:bodyPr wrap="square"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identifying and correcting deviations from pre-determined performance targets</a:t>
            </a:r>
            <a:endParaRPr lang="en-US" sz="1000" dirty="0"/>
          </a:p>
        </p:txBody>
      </p:sp>
      <p:sp>
        <p:nvSpPr>
          <p:cNvPr id="35" name="Text 28"/>
          <p:cNvSpPr/>
          <p:nvPr/>
        </p:nvSpPr>
        <p:spPr>
          <a:xfrm>
            <a:off x="548640" y="5532120"/>
            <a:ext cx="11064240" cy="822960"/>
          </a:xfrm>
          <a:prstGeom prst="rect">
            <a:avLst/>
          </a:prstGeom>
          <a:noFill/>
          <a:ln/>
        </p:spPr>
        <p:txBody>
          <a:bodyPr wrap="square" rtlCol="0" anchor="t"/>
          <a:lstStyle/>
          <a:p>
            <a:pPr indent="0" marL="0">
              <a:buNone/>
            </a:pPr>
            <a:r>
              <a:rPr lang="en-US" sz="1200" i="1" dirty="0">
                <a:solidFill>
                  <a:srgbClr val="2B2B33"/>
                </a:solidFill>
                <a:latin typeface="Calibri" pitchFamily="34" charset="0"/>
                <a:ea typeface="Calibri" pitchFamily="34" charset="-122"/>
                <a:cs typeface="Calibri" pitchFamily="34" charset="-120"/>
              </a:rPr>
              <a:t>William Newman, for example, makes no distinction between ‘administration’ and ‘management’ — he defines administration only as instruments of guidance, leadership and control of the efforts of a group of individuals toward some common goals.</a:t>
            </a:r>
            <a:endParaRPr lang="en-US" sz="1200" dirty="0"/>
          </a:p>
        </p:txBody>
      </p:sp>
      <p:sp>
        <p:nvSpPr>
          <p:cNvPr id="36" name="Text 29"/>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1.17 ADMINISTRATION vs. MANAGEMENT</a:t>
            </a:r>
            <a:endParaRPr lang="en-US" sz="1000" dirty="0"/>
          </a:p>
        </p:txBody>
      </p:sp>
      <p:sp>
        <p:nvSpPr>
          <p:cNvPr id="37" name="Text 30"/>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32004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1.17. DISTINCTION BETWEEN 'ADMINISTRATION' AND 'MANAGEMENT'</a:t>
            </a:r>
            <a:endParaRPr lang="en-US" sz="13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(2) Some Experts Place 'Administration' Above 'Management'</a:t>
            </a:r>
            <a:endParaRPr lang="en-US" sz="3000" dirty="0"/>
          </a:p>
        </p:txBody>
      </p:sp>
      <p:sp>
        <p:nvSpPr>
          <p:cNvPr id="4" name="Shape 2"/>
          <p:cNvSpPr/>
          <p:nvPr/>
        </p:nvSpPr>
        <p:spPr>
          <a:xfrm>
            <a:off x="548640" y="1737360"/>
            <a:ext cx="5349240" cy="4114800"/>
          </a:xfrm>
          <a:prstGeom prst="roundRect">
            <a:avLst>
              <a:gd name="adj" fmla="val 2222"/>
            </a:avLst>
          </a:prstGeom>
          <a:solidFill>
            <a:srgbClr val="1E2761"/>
          </a:solidFill>
          <a:ln/>
        </p:spPr>
      </p:sp>
      <p:sp>
        <p:nvSpPr>
          <p:cNvPr id="5" name="Shape 3"/>
          <p:cNvSpPr/>
          <p:nvPr/>
        </p:nvSpPr>
        <p:spPr>
          <a:xfrm>
            <a:off x="868680" y="2011680"/>
            <a:ext cx="594360" cy="594360"/>
          </a:xfrm>
          <a:prstGeom prst="ellipse">
            <a:avLst/>
          </a:prstGeom>
          <a:solidFill>
            <a:srgbClr val="C9A24B"/>
          </a:solidFill>
          <a:ln/>
        </p:spPr>
      </p:sp>
      <p:pic>
        <p:nvPicPr>
          <p:cNvPr id="6" name="Image 0" descr="preencoded.png">    </p:cNvPr>
          <p:cNvPicPr>
            <a:picLocks noChangeAspect="1"/>
          </p:cNvPicPr>
          <p:nvPr/>
        </p:nvPicPr>
        <p:blipFill>
          <a:blip r:embed="rId1"/>
          <a:stretch>
            <a:fillRect/>
          </a:stretch>
        </p:blipFill>
        <p:spPr>
          <a:xfrm>
            <a:off x="1023214" y="2166214"/>
            <a:ext cx="285293" cy="285293"/>
          </a:xfrm>
          <a:prstGeom prst="rect">
            <a:avLst/>
          </a:prstGeom>
        </p:spPr>
      </p:pic>
      <p:sp>
        <p:nvSpPr>
          <p:cNvPr id="7" name="Text 4"/>
          <p:cNvSpPr/>
          <p:nvPr/>
        </p:nvSpPr>
        <p:spPr>
          <a:xfrm>
            <a:off x="868680" y="2697480"/>
            <a:ext cx="475488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Administration</a:t>
            </a:r>
            <a:endParaRPr lang="en-US" sz="1800" dirty="0"/>
          </a:p>
        </p:txBody>
      </p:sp>
      <p:sp>
        <p:nvSpPr>
          <p:cNvPr id="8" name="Text 5"/>
          <p:cNvSpPr/>
          <p:nvPr/>
        </p:nvSpPr>
        <p:spPr>
          <a:xfrm>
            <a:off x="868680" y="3063240"/>
            <a:ext cx="4754880" cy="320040"/>
          </a:xfrm>
          <a:prstGeom prst="rect">
            <a:avLst/>
          </a:prstGeom>
          <a:noFill/>
          <a:ln/>
        </p:spPr>
        <p:txBody>
          <a:bodyPr wrap="square" rtlCol="0" anchor="ctr"/>
          <a:lstStyle/>
          <a:p>
            <a:pPr indent="0" marL="0">
              <a:buNone/>
            </a:pPr>
            <a:r>
              <a:rPr lang="en-US" sz="1300" i="1" dirty="0">
                <a:solidFill>
                  <a:srgbClr val="C9A24B"/>
                </a:solidFill>
                <a:latin typeface="Calibri" pitchFamily="34" charset="0"/>
                <a:ea typeface="Calibri" pitchFamily="34" charset="-122"/>
                <a:cs typeface="Calibri" pitchFamily="34" charset="-120"/>
              </a:rPr>
              <a:t>A Higher-Level Activity</a:t>
            </a:r>
            <a:endParaRPr lang="en-US" sz="1300" dirty="0"/>
          </a:p>
        </p:txBody>
      </p:sp>
      <p:sp>
        <p:nvSpPr>
          <p:cNvPr id="9" name="Text 6"/>
          <p:cNvSpPr/>
          <p:nvPr/>
        </p:nvSpPr>
        <p:spPr>
          <a:xfrm>
            <a:off x="868680" y="3474720"/>
            <a:ext cx="4754880" cy="219456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Lays down corporate policies, coordinates finance, production and distribution, and settles the scope of ultimate control of the executive.</a:t>
            </a:r>
            <a:endParaRPr lang="en-US" sz="1350" dirty="0"/>
          </a:p>
        </p:txBody>
      </p:sp>
      <p:sp>
        <p:nvSpPr>
          <p:cNvPr id="10" name="Shape 7"/>
          <p:cNvSpPr/>
          <p:nvPr/>
        </p:nvSpPr>
        <p:spPr>
          <a:xfrm>
            <a:off x="6263640" y="1737360"/>
            <a:ext cx="5349240" cy="4114800"/>
          </a:xfrm>
          <a:prstGeom prst="roundRect">
            <a:avLst>
              <a:gd name="adj" fmla="val 2222"/>
            </a:avLst>
          </a:prstGeom>
          <a:solidFill>
            <a:srgbClr val="EEF3FC"/>
          </a:solidFill>
          <a:ln/>
        </p:spPr>
      </p:sp>
      <p:sp>
        <p:nvSpPr>
          <p:cNvPr id="11" name="Shape 8"/>
          <p:cNvSpPr/>
          <p:nvPr/>
        </p:nvSpPr>
        <p:spPr>
          <a:xfrm>
            <a:off x="6583680" y="2011680"/>
            <a:ext cx="594360" cy="59436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738214" y="2166214"/>
            <a:ext cx="285293" cy="285293"/>
          </a:xfrm>
          <a:prstGeom prst="rect">
            <a:avLst/>
          </a:prstGeom>
        </p:spPr>
      </p:pic>
      <p:sp>
        <p:nvSpPr>
          <p:cNvPr id="13" name="Text 9"/>
          <p:cNvSpPr/>
          <p:nvPr/>
        </p:nvSpPr>
        <p:spPr>
          <a:xfrm>
            <a:off x="6583680" y="2697480"/>
            <a:ext cx="4754880" cy="4114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Management</a:t>
            </a:r>
            <a:endParaRPr lang="en-US" sz="1800" dirty="0"/>
          </a:p>
        </p:txBody>
      </p:sp>
      <p:sp>
        <p:nvSpPr>
          <p:cNvPr id="14" name="Text 10"/>
          <p:cNvSpPr/>
          <p:nvPr/>
        </p:nvSpPr>
        <p:spPr>
          <a:xfrm>
            <a:off x="6583680" y="3063240"/>
            <a:ext cx="4754880" cy="32004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Execution Within the Limits Set</a:t>
            </a:r>
            <a:endParaRPr lang="en-US" sz="1300" dirty="0"/>
          </a:p>
        </p:txBody>
      </p:sp>
      <p:sp>
        <p:nvSpPr>
          <p:cNvPr id="15" name="Text 11"/>
          <p:cNvSpPr/>
          <p:nvPr/>
        </p:nvSpPr>
        <p:spPr>
          <a:xfrm>
            <a:off x="6583680" y="3474720"/>
            <a:ext cx="4754880" cy="2194560"/>
          </a:xfrm>
          <a:prstGeom prst="rect">
            <a:avLst/>
          </a:prstGeom>
          <a:noFill/>
          <a:ln/>
        </p:spPr>
        <p:txBody>
          <a:bodyPr wrap="square" rtlCol="0" anchor="t"/>
          <a:lstStyle/>
          <a:p>
            <a:pPr indent="0" marL="0">
              <a:buNone/>
            </a:pPr>
            <a:r>
              <a:rPr lang="en-US" sz="1350" dirty="0">
                <a:solidFill>
                  <a:srgbClr val="2B2B33"/>
                </a:solidFill>
                <a:latin typeface="Calibri" pitchFamily="34" charset="0"/>
                <a:ea typeface="Calibri" pitchFamily="34" charset="-122"/>
                <a:cs typeface="Calibri" pitchFamily="34" charset="-120"/>
              </a:rPr>
              <a:t>Concerned only with accomplishment of the goals laid down by administration — using the organization's resources to execute policies within the limits set up by administration.</a:t>
            </a:r>
            <a:endParaRPr lang="en-US" sz="1350" dirty="0"/>
          </a:p>
        </p:txBody>
      </p:sp>
      <p:sp>
        <p:nvSpPr>
          <p:cNvPr id="16" name="Text 12"/>
          <p:cNvSpPr/>
          <p:nvPr/>
        </p:nvSpPr>
        <p:spPr>
          <a:xfrm>
            <a:off x="548640" y="598932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Proposed by Oliver Sheldon and Ordway Tead, among others.</a:t>
            </a:r>
            <a:endParaRPr lang="en-US" sz="1200" dirty="0"/>
          </a:p>
        </p:txBody>
      </p:sp>
      <p:sp>
        <p:nvSpPr>
          <p:cNvPr id="17" name="Text 13"/>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1.17 ADMINISTRATION vs. MANAGEMENT</a:t>
            </a:r>
            <a:endParaRPr lang="en-US" sz="1000" dirty="0"/>
          </a:p>
        </p:txBody>
      </p:sp>
      <p:sp>
        <p:nvSpPr>
          <p:cNvPr id="18" name="Text 14"/>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100584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Recap of Today's Lecture</a:t>
            </a:r>
            <a:endParaRPr lang="en-US" sz="3200" dirty="0"/>
          </a:p>
        </p:txBody>
      </p:sp>
      <p:sp>
        <p:nvSpPr>
          <p:cNvPr id="5" name="Text 3"/>
          <p:cNvSpPr/>
          <p:nvPr/>
        </p:nvSpPr>
        <p:spPr>
          <a:xfrm>
            <a:off x="822960" y="2057400"/>
            <a:ext cx="10515600" cy="91440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Meaning: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Management is variously an activity, a process, and a group of people — defined by Fayol, Reynold, Niles, Mee, and Koontz &amp; O'Donnel.</a:t>
            </a:r>
            <a:endParaRPr lang="en-US" sz="1500" dirty="0"/>
          </a:p>
        </p:txBody>
      </p:sp>
      <p:sp>
        <p:nvSpPr>
          <p:cNvPr id="6" name="Text 4"/>
          <p:cNvSpPr/>
          <p:nvPr/>
        </p:nvSpPr>
        <p:spPr>
          <a:xfrm>
            <a:off x="822960" y="3108960"/>
            <a:ext cx="10515600" cy="91440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Nature: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It is as old as civilization, universal, goal-oriented, an abstraction practised by real people, multi-disciplinary, dynamic, and relative.</a:t>
            </a:r>
            <a:endParaRPr lang="en-US" sz="1500" dirty="0"/>
          </a:p>
        </p:txBody>
      </p:sp>
      <p:sp>
        <p:nvSpPr>
          <p:cNvPr id="7" name="Text 5"/>
          <p:cNvSpPr/>
          <p:nvPr/>
        </p:nvSpPr>
        <p:spPr>
          <a:xfrm>
            <a:off x="822960" y="4160520"/>
            <a:ext cx="10515600" cy="91440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Importance: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It converts resources into production, builds sound structure, achieves group goals, and drives efficient performance.</a:t>
            </a:r>
            <a:endParaRPr lang="en-US" sz="1500" dirty="0"/>
          </a:p>
        </p:txBody>
      </p:sp>
      <p:sp>
        <p:nvSpPr>
          <p:cNvPr id="8" name="Text 6"/>
          <p:cNvSpPr/>
          <p:nvPr/>
        </p:nvSpPr>
        <p:spPr>
          <a:xfrm>
            <a:off x="822960" y="5212080"/>
            <a:ext cx="10515600" cy="91440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Administration vs. Management: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Some see them as one; others place Administration above Management as policy-maker, with Management as executor.</a:t>
            </a:r>
            <a:endParaRPr lang="en-US" sz="1500" dirty="0"/>
          </a:p>
        </p:txBody>
      </p:sp>
      <p:sp>
        <p:nvSpPr>
          <p:cNvPr id="9" name="Text 7"/>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PRINCIPLES OF MANAGEMENT</a:t>
            </a:r>
            <a:endParaRPr lang="en-US" sz="10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dc:title>
  <dc:subject>PptxGenJS Presentation</dc:subject>
  <dc:creator>Dr. Rajakrishnan Manivel</dc:creator>
  <cp:lastModifiedBy>Dr. Rajakrishnan Manivel</cp:lastModifiedBy>
  <cp:revision>1</cp:revision>
  <dcterms:created xsi:type="dcterms:W3CDTF">2026-07-06T09:53:30Z</dcterms:created>
  <dcterms:modified xsi:type="dcterms:W3CDTF">2026-07-06T09:53:30Z</dcterms:modified>
</cp:coreProperties>
</file>